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1" r:id="rId1"/>
  </p:sldMasterIdLst>
  <p:notesMasterIdLst>
    <p:notesMasterId r:id="rId65"/>
  </p:notesMasterIdLst>
  <p:handoutMasterIdLst>
    <p:handoutMasterId r:id="rId66"/>
  </p:handoutMasterIdLst>
  <p:sldIdLst>
    <p:sldId id="259" r:id="rId2"/>
    <p:sldId id="289" r:id="rId3"/>
    <p:sldId id="262" r:id="rId4"/>
    <p:sldId id="270" r:id="rId5"/>
    <p:sldId id="274" r:id="rId6"/>
    <p:sldId id="519" r:id="rId7"/>
    <p:sldId id="393" r:id="rId8"/>
    <p:sldId id="291" r:id="rId9"/>
    <p:sldId id="530" r:id="rId10"/>
    <p:sldId id="264" r:id="rId11"/>
    <p:sldId id="282" r:id="rId12"/>
    <p:sldId id="287" r:id="rId13"/>
    <p:sldId id="294" r:id="rId14"/>
    <p:sldId id="528" r:id="rId15"/>
    <p:sldId id="574" r:id="rId16"/>
    <p:sldId id="536" r:id="rId17"/>
    <p:sldId id="537" r:id="rId18"/>
    <p:sldId id="538" r:id="rId19"/>
    <p:sldId id="535" r:id="rId20"/>
    <p:sldId id="394" r:id="rId21"/>
    <p:sldId id="307" r:id="rId22"/>
    <p:sldId id="563" r:id="rId23"/>
    <p:sldId id="398" r:id="rId24"/>
    <p:sldId id="484" r:id="rId25"/>
    <p:sldId id="309" r:id="rId26"/>
    <p:sldId id="507" r:id="rId27"/>
    <p:sldId id="485" r:id="rId28"/>
    <p:sldId id="378" r:id="rId29"/>
    <p:sldId id="495" r:id="rId30"/>
    <p:sldId id="526" r:id="rId31"/>
    <p:sldId id="496" r:id="rId32"/>
    <p:sldId id="564" r:id="rId33"/>
    <p:sldId id="347" r:id="rId34"/>
    <p:sldId id="348" r:id="rId35"/>
    <p:sldId id="512" r:id="rId36"/>
    <p:sldId id="515" r:id="rId37"/>
    <p:sldId id="493" r:id="rId38"/>
    <p:sldId id="503" r:id="rId39"/>
    <p:sldId id="520" r:id="rId40"/>
    <p:sldId id="555" r:id="rId41"/>
    <p:sldId id="533" r:id="rId42"/>
    <p:sldId id="561" r:id="rId43"/>
    <p:sldId id="562" r:id="rId44"/>
    <p:sldId id="565" r:id="rId45"/>
    <p:sldId id="566" r:id="rId46"/>
    <p:sldId id="567" r:id="rId47"/>
    <p:sldId id="569" r:id="rId48"/>
    <p:sldId id="329" r:id="rId49"/>
    <p:sldId id="328" r:id="rId50"/>
    <p:sldId id="330" r:id="rId51"/>
    <p:sldId id="490" r:id="rId52"/>
    <p:sldId id="333" r:id="rId53"/>
    <p:sldId id="335" r:id="rId54"/>
    <p:sldId id="542" r:id="rId55"/>
    <p:sldId id="543" r:id="rId56"/>
    <p:sldId id="544" r:id="rId57"/>
    <p:sldId id="546" r:id="rId58"/>
    <p:sldId id="547" r:id="rId59"/>
    <p:sldId id="570" r:id="rId60"/>
    <p:sldId id="571" r:id="rId61"/>
    <p:sldId id="572" r:id="rId62"/>
    <p:sldId id="573" r:id="rId63"/>
    <p:sldId id="525" r:id="rId64"/>
  </p:sldIdLst>
  <p:sldSz cx="9899650" cy="6858000"/>
  <p:notesSz cx="7099300" cy="10234613"/>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311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S&amp;ADインターリスク総研株式会社" initials="MS&amp;AD" lastIdx="8" clrIdx="0">
    <p:extLst>
      <p:ext uri="{19B8F6BF-5375-455C-9EA6-DF929625EA0E}">
        <p15:presenceInfo xmlns:p15="http://schemas.microsoft.com/office/powerpoint/2012/main" userId="MS&amp;ADインターリスク総研株式会社" providerId="None"/>
      </p:ext>
    </p:extLst>
  </p:cmAuthor>
  <p:cmAuthor id="2" name="佐藤公紀_A6Y41" initials="佐藤公紀_A6Y41" lastIdx="1" clrIdx="1">
    <p:extLst>
      <p:ext uri="{19B8F6BF-5375-455C-9EA6-DF929625EA0E}">
        <p15:presenceInfo xmlns:p15="http://schemas.microsoft.com/office/powerpoint/2012/main" userId="S::6Y730793@msad.ms-ad-ins.com::4db37da8-afcc-4af8-9f24-d2a4e3bd321b" providerId="AD"/>
      </p:ext>
    </p:extLst>
  </p:cmAuthor>
  <p:cmAuthor id="3" name="松村浩_A6Y42" initials="松村浩_A6Y42" lastIdx="3" clrIdx="2">
    <p:extLst>
      <p:ext uri="{19B8F6BF-5375-455C-9EA6-DF929625EA0E}">
        <p15:presenceInfo xmlns:p15="http://schemas.microsoft.com/office/powerpoint/2012/main" userId="S-1-5-21-280667221-3263179891-662001267-454213" providerId="AD"/>
      </p:ext>
    </p:extLst>
  </p:cmAuthor>
  <p:cmAuthor id="4" name="長島睦_A6Y42" initials="長島睦_A6Y42" lastIdx="117" clrIdx="3">
    <p:extLst>
      <p:ext uri="{19B8F6BF-5375-455C-9EA6-DF929625EA0E}">
        <p15:presenceInfo xmlns:p15="http://schemas.microsoft.com/office/powerpoint/2012/main" userId="S::0044733@msad.ms-ad-ins.com::31b7c84b-f529-40e7-9447-8bd758838e93" providerId="AD"/>
      </p:ext>
    </p:extLst>
  </p:cmAuthor>
  <p:cmAuthor id="5" name="伊藤竜平_A6Y42" initials="伊藤竜平_A6Y42" lastIdx="125" clrIdx="4">
    <p:extLst>
      <p:ext uri="{19B8F6BF-5375-455C-9EA6-DF929625EA0E}">
        <p15:presenceInfo xmlns:p15="http://schemas.microsoft.com/office/powerpoint/2012/main" userId="S::6Y734977@msad.ms-ad-ins.com::7cdc4f1f-57bd-4677-8f78-90a2f84a9ad8" providerId="AD"/>
      </p:ext>
    </p:extLst>
  </p:cmAuthor>
  <p:cmAuthor id="6" name="篠塚　義庸" initials="篠" lastIdx="29" clrIdx="5">
    <p:extLst>
      <p:ext uri="{19B8F6BF-5375-455C-9EA6-DF929625EA0E}">
        <p15:presenceInfo xmlns:p15="http://schemas.microsoft.com/office/powerpoint/2012/main" userId="篠塚　義庸"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006659"/>
    <a:srgbClr val="E8F1F0"/>
    <a:srgbClr val="CCE0DE"/>
    <a:srgbClr val="2390B7"/>
    <a:srgbClr val="901006"/>
    <a:srgbClr val="00FFFF"/>
    <a:srgbClr val="C0C0C0"/>
    <a:srgbClr val="DEEAF6"/>
    <a:srgbClr val="00FF00"/>
    <a:srgbClr val="006C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83" autoAdjust="0"/>
    <p:restoredTop sz="94343" autoAdjust="0"/>
  </p:normalViewPr>
  <p:slideViewPr>
    <p:cSldViewPr snapToGrid="0">
      <p:cViewPr varScale="1">
        <p:scale>
          <a:sx n="81" d="100"/>
          <a:sy n="81" d="100"/>
        </p:scale>
        <p:origin x="1068" y="132"/>
      </p:cViewPr>
      <p:guideLst>
        <p:guide orient="horz" pos="2160"/>
        <p:guide pos="311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kumimoji="1" lang="ja-JP" altLang="en-US" dirty="0">
              <a:latin typeface="游ゴシック" panose="020B0400000000000000" pitchFamily="50" charset="-128"/>
              <a:ea typeface="游ゴシック" panose="020B0400000000000000" pitchFamily="50" charset="-128"/>
            </a:endParaRPr>
          </a:p>
        </p:txBody>
      </p:sp>
      <p:sp>
        <p:nvSpPr>
          <p:cNvPr id="3" name="日付プレースホルダー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76E3F02D-3712-4E42-8DC9-520BBCCD0A81}" type="datetimeFigureOut">
              <a:rPr kumimoji="1" lang="ja-JP" altLang="en-US" smtClean="0">
                <a:latin typeface="游ゴシック" panose="020B0400000000000000" pitchFamily="50" charset="-128"/>
                <a:ea typeface="游ゴシック" panose="020B0400000000000000" pitchFamily="50" charset="-128"/>
              </a:rPr>
              <a:t>2026/10/9</a:t>
            </a:fld>
            <a:endParaRPr kumimoji="1" lang="ja-JP" altLang="en-US" dirty="0">
              <a:latin typeface="游ゴシック" panose="020B0400000000000000" pitchFamily="50" charset="-128"/>
              <a:ea typeface="游ゴシック" panose="020B0400000000000000" pitchFamily="50" charset="-128"/>
            </a:endParaRPr>
          </a:p>
        </p:txBody>
      </p:sp>
      <p:sp>
        <p:nvSpPr>
          <p:cNvPr id="4" name="フッター プレースホルダー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kumimoji="1" lang="ja-JP" altLang="en-US" dirty="0">
              <a:latin typeface="游ゴシック" panose="020B0400000000000000" pitchFamily="50" charset="-128"/>
              <a:ea typeface="游ゴシック" panose="020B0400000000000000" pitchFamily="50" charset="-128"/>
            </a:endParaRPr>
          </a:p>
        </p:txBody>
      </p:sp>
      <p:sp>
        <p:nvSpPr>
          <p:cNvPr id="5" name="スライド番号プレースホルダー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594EF654-B44A-C74A-9BC1-FE82E5F7E3E6}" type="slidenum">
              <a:rPr kumimoji="1" lang="ja-JP" altLang="en-US" smtClean="0">
                <a:latin typeface="游ゴシック" panose="020B0400000000000000" pitchFamily="50" charset="-128"/>
                <a:ea typeface="游ゴシック" panose="020B0400000000000000" pitchFamily="50" charset="-128"/>
              </a:rPr>
              <a:t>‹#›</a:t>
            </a:fld>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6039419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atin typeface="游ゴシック" panose="020B0400000000000000" pitchFamily="50" charset="-128"/>
                <a:ea typeface="游ゴシック" panose="020B0400000000000000" pitchFamily="50" charset="-128"/>
              </a:defRPr>
            </a:lvl1pPr>
          </a:lstStyle>
          <a:p>
            <a:endParaRPr lang="ja-JP" altLang="en-US" dirty="0"/>
          </a:p>
        </p:txBody>
      </p:sp>
      <p:sp>
        <p:nvSpPr>
          <p:cNvPr id="3" name="日付プレースホルダー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atin typeface="游ゴシック" panose="020B0400000000000000" pitchFamily="50" charset="-128"/>
                <a:ea typeface="游ゴシック" panose="020B0400000000000000" pitchFamily="50" charset="-128"/>
              </a:defRPr>
            </a:lvl1pPr>
          </a:lstStyle>
          <a:p>
            <a:fld id="{D51A93BC-137E-E44A-8689-C5430A162ABA}" type="datetimeFigureOut">
              <a:rPr lang="ja-JP" altLang="en-US" smtClean="0"/>
              <a:pPr/>
              <a:t>2026/10/9</a:t>
            </a:fld>
            <a:endParaRPr lang="ja-JP" altLang="en-US" dirty="0"/>
          </a:p>
        </p:txBody>
      </p:sp>
      <p:sp>
        <p:nvSpPr>
          <p:cNvPr id="4" name="スライド イメージ プレースホルダー 3"/>
          <p:cNvSpPr>
            <a:spLocks noGrp="1" noRot="1" noChangeAspect="1"/>
          </p:cNvSpPr>
          <p:nvPr>
            <p:ph type="sldImg" idx="2"/>
          </p:nvPr>
        </p:nvSpPr>
        <p:spPr>
          <a:xfrm>
            <a:off x="781050" y="768350"/>
            <a:ext cx="5537200" cy="3836988"/>
          </a:xfrm>
          <a:prstGeom prst="rect">
            <a:avLst/>
          </a:prstGeom>
          <a:noFill/>
          <a:ln w="12700">
            <a:solidFill>
              <a:prstClr val="black"/>
            </a:solidFill>
          </a:ln>
        </p:spPr>
        <p:txBody>
          <a:bodyPr vert="horz" lIns="99048" tIns="49524" rIns="99048" bIns="49524" rtlCol="0" anchor="ctr"/>
          <a:lstStyle/>
          <a:p>
            <a:endParaRPr lang="ja-JP" altLang="en-US" dirty="0"/>
          </a:p>
        </p:txBody>
      </p:sp>
      <p:sp>
        <p:nvSpPr>
          <p:cNvPr id="5" name="ノート プレースホルダー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ー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atin typeface="游ゴシック" panose="020B0400000000000000" pitchFamily="50" charset="-128"/>
                <a:ea typeface="游ゴシック" panose="020B0400000000000000" pitchFamily="50" charset="-128"/>
              </a:defRPr>
            </a:lvl1pPr>
          </a:lstStyle>
          <a:p>
            <a:endParaRPr lang="ja-JP" altLang="en-US" dirty="0"/>
          </a:p>
        </p:txBody>
      </p:sp>
      <p:sp>
        <p:nvSpPr>
          <p:cNvPr id="7" name="スライド番号プレースホルダー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atin typeface="游ゴシック" panose="020B0400000000000000" pitchFamily="50" charset="-128"/>
                <a:ea typeface="游ゴシック" panose="020B0400000000000000" pitchFamily="50" charset="-128"/>
              </a:defRPr>
            </a:lvl1pPr>
          </a:lstStyle>
          <a:p>
            <a:fld id="{C08AE85F-7791-8647-AB55-D4010477209C}" type="slidenum">
              <a:rPr lang="ja-JP" altLang="en-US" smtClean="0"/>
              <a:pPr/>
              <a:t>‹#›</a:t>
            </a:fld>
            <a:endParaRPr lang="ja-JP" altLang="en-US" dirty="0"/>
          </a:p>
        </p:txBody>
      </p:sp>
    </p:spTree>
    <p:extLst>
      <p:ext uri="{BB962C8B-B14F-4D97-AF65-F5344CB8AC3E}">
        <p14:creationId xmlns:p14="http://schemas.microsoft.com/office/powerpoint/2010/main" val="21557014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1pPr>
    <a:lvl2pPr marL="457200" algn="l" defTabSz="4572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2pPr>
    <a:lvl3pPr marL="914400" algn="l" defTabSz="4572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3pPr>
    <a:lvl4pPr marL="1371600" algn="l" defTabSz="4572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4pPr>
    <a:lvl5pPr marL="1828800" algn="l" defTabSz="4572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8AE85F-7791-8647-AB55-D4010477209C}" type="slidenum">
              <a:rPr lang="ja-JP" altLang="en-US" smtClean="0"/>
              <a:pPr/>
              <a:t>59</a:t>
            </a:fld>
            <a:endParaRPr lang="ja-JP" altLang="en-US" dirty="0"/>
          </a:p>
        </p:txBody>
      </p:sp>
    </p:spTree>
    <p:extLst>
      <p:ext uri="{BB962C8B-B14F-4D97-AF65-F5344CB8AC3E}">
        <p14:creationId xmlns:p14="http://schemas.microsoft.com/office/powerpoint/2010/main" val="6015551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表紙">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3" hasCustomPrompt="1"/>
          </p:nvPr>
        </p:nvSpPr>
        <p:spPr>
          <a:xfrm>
            <a:off x="360000" y="360000"/>
            <a:ext cx="7560000" cy="360000"/>
          </a:xfrm>
          <a:prstGeom prst="rect">
            <a:avLst/>
          </a:prstGeom>
        </p:spPr>
        <p:txBody>
          <a:bodyPr wrap="none" lIns="0" tIns="0" rIns="0" bIns="0" anchor="ctr" anchorCtr="0"/>
          <a:lstStyle>
            <a:lvl1pPr marL="0" indent="0">
              <a:spcBef>
                <a:spcPts val="0"/>
              </a:spcBef>
              <a:buNone/>
              <a:defRPr sz="2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顧客名を入力</a:t>
            </a:r>
          </a:p>
        </p:txBody>
      </p:sp>
      <p:sp>
        <p:nvSpPr>
          <p:cNvPr id="9" name="テキスト プレースホルダー 7">
            <a:extLst>
              <a:ext uri="{FF2B5EF4-FFF2-40B4-BE49-F238E27FC236}">
                <a16:creationId xmlns:a16="http://schemas.microsoft.com/office/drawing/2014/main" id="{5B1F81AD-E567-4748-8791-265A0BEF47C2}"/>
              </a:ext>
            </a:extLst>
          </p:cNvPr>
          <p:cNvSpPr>
            <a:spLocks noGrp="1"/>
          </p:cNvSpPr>
          <p:nvPr>
            <p:ph type="body" sz="quarter" idx="14" hasCustomPrompt="1"/>
          </p:nvPr>
        </p:nvSpPr>
        <p:spPr>
          <a:xfrm>
            <a:off x="720000" y="2142000"/>
            <a:ext cx="8640000" cy="1496291"/>
          </a:xfrm>
          <a:prstGeom prst="rect">
            <a:avLst/>
          </a:prstGeom>
        </p:spPr>
        <p:txBody>
          <a:bodyPr lIns="0" tIns="0" rIns="0" bIns="0" anchor="ctr" anchorCtr="0"/>
          <a:lstStyle>
            <a:lvl1pPr marL="0" indent="0">
              <a:spcBef>
                <a:spcPts val="0"/>
              </a:spcBef>
              <a:buNone/>
              <a:defRPr sz="4800" b="1">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調査報告書名を入力</a:t>
            </a:r>
          </a:p>
        </p:txBody>
      </p:sp>
      <p:sp>
        <p:nvSpPr>
          <p:cNvPr id="7"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5" hasCustomPrompt="1"/>
          </p:nvPr>
        </p:nvSpPr>
        <p:spPr>
          <a:xfrm>
            <a:off x="719918" y="3864360"/>
            <a:ext cx="7560000" cy="360000"/>
          </a:xfrm>
          <a:prstGeom prst="rect">
            <a:avLst/>
          </a:prstGeom>
        </p:spPr>
        <p:txBody>
          <a:bodyPr wrap="none" lIns="0" tIns="0" rIns="0" bIns="0" anchor="ctr" anchorCtr="0"/>
          <a:lstStyle>
            <a:lvl1pPr marL="0" indent="0">
              <a:spcBef>
                <a:spcPts val="0"/>
              </a:spcBef>
              <a:buNone/>
              <a:defRPr sz="2400">
                <a:solidFill>
                  <a:srgbClr val="000000"/>
                </a:solidFill>
                <a:latin typeface="游ゴシック" panose="020B0400000000000000" pitchFamily="50" charset="-128"/>
                <a:ea typeface="游ゴシック" panose="020B0400000000000000" pitchFamily="50" charset="-128"/>
              </a:defRPr>
            </a:lvl1pPr>
          </a:lstStyle>
          <a:p>
            <a:pPr lvl="0"/>
            <a:r>
              <a:rPr kumimoji="1" lang="ja-JP" altLang="en-US" dirty="0"/>
              <a:t>評価対象を入力</a:t>
            </a:r>
          </a:p>
        </p:txBody>
      </p:sp>
      <p:sp>
        <p:nvSpPr>
          <p:cNvPr id="10"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6" hasCustomPrompt="1"/>
          </p:nvPr>
        </p:nvSpPr>
        <p:spPr>
          <a:xfrm>
            <a:off x="722905" y="4415167"/>
            <a:ext cx="2700000" cy="324000"/>
          </a:xfrm>
          <a:prstGeom prst="rect">
            <a:avLst/>
          </a:prstGeom>
          <a:solidFill>
            <a:srgbClr val="006659"/>
          </a:solidFill>
        </p:spPr>
        <p:txBody>
          <a:bodyPr wrap="none" lIns="0" tIns="0" rIns="0" bIns="0" anchor="ctr" anchorCtr="0"/>
          <a:lstStyle>
            <a:lvl1pPr marL="0" indent="0" algn="ctr">
              <a:spcBef>
                <a:spcPts val="0"/>
              </a:spcBef>
              <a:buNone/>
              <a:defRPr sz="1600">
                <a:solidFill>
                  <a:schemeClr val="bg1"/>
                </a:solidFill>
                <a:latin typeface="游ゴシック" panose="020B0400000000000000" pitchFamily="50" charset="-128"/>
                <a:ea typeface="游ゴシック" panose="020B0400000000000000" pitchFamily="50" charset="-128"/>
              </a:defRPr>
            </a:lvl1pPr>
          </a:lstStyle>
          <a:p>
            <a:pPr lvl="0"/>
            <a:r>
              <a:rPr kumimoji="1" lang="ja-JP" altLang="en-US" dirty="0"/>
              <a:t>調査日を入力</a:t>
            </a:r>
          </a:p>
        </p:txBody>
      </p:sp>
      <p:sp>
        <p:nvSpPr>
          <p:cNvPr id="11"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7" hasCustomPrompt="1"/>
          </p:nvPr>
        </p:nvSpPr>
        <p:spPr>
          <a:xfrm>
            <a:off x="1468891" y="6033696"/>
            <a:ext cx="3771976" cy="468703"/>
          </a:xfrm>
          <a:prstGeom prst="rect">
            <a:avLst/>
          </a:prstGeom>
        </p:spPr>
        <p:txBody>
          <a:bodyPr wrap="none" lIns="0" tIns="0" rIns="0" bIns="0" anchor="ctr" anchorCtr="0"/>
          <a:lstStyle>
            <a:lvl1pPr marL="0" indent="0">
              <a:spcBef>
                <a:spcPts val="0"/>
              </a:spcBef>
              <a:buNone/>
              <a:defRPr sz="1400">
                <a:solidFill>
                  <a:srgbClr val="000000"/>
                </a:solidFill>
                <a:latin typeface="游ゴシック" panose="020B0400000000000000" pitchFamily="50" charset="-128"/>
                <a:ea typeface="游ゴシック" panose="020B0400000000000000" pitchFamily="50" charset="-128"/>
              </a:defRPr>
            </a:lvl1pPr>
          </a:lstStyle>
          <a:p>
            <a:pPr lvl="0"/>
            <a:r>
              <a:rPr kumimoji="1" lang="ja-JP" altLang="en-US" dirty="0"/>
              <a:t>対応社名を入力</a:t>
            </a:r>
          </a:p>
        </p:txBody>
      </p:sp>
      <p:pic>
        <p:nvPicPr>
          <p:cNvPr id="18" name="図 17" descr="ROGO.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61950" y="6033696"/>
            <a:ext cx="1000024" cy="467999"/>
          </a:xfrm>
          <a:prstGeom prst="rect">
            <a:avLst/>
          </a:prstGeom>
        </p:spPr>
      </p:pic>
      <p:sp>
        <p:nvSpPr>
          <p:cNvPr id="19" name="テキスト ボックス 18"/>
          <p:cNvSpPr txBox="1">
            <a:spLocks noChangeAspect="1"/>
          </p:cNvSpPr>
          <p:nvPr userDrawn="1"/>
        </p:nvSpPr>
        <p:spPr>
          <a:xfrm>
            <a:off x="8207375" y="358031"/>
            <a:ext cx="1332000" cy="180000"/>
          </a:xfrm>
          <a:prstGeom prst="rect">
            <a:avLst/>
          </a:prstGeom>
          <a:solidFill>
            <a:srgbClr val="404040"/>
          </a:solidFill>
        </p:spPr>
        <p:txBody>
          <a:bodyPr wrap="none" lIns="0" tIns="0" rIns="0" bIns="0" rtlCol="0" anchor="ctr" anchorCtr="0">
            <a:noAutofit/>
          </a:bodyPr>
          <a:lstStyle/>
          <a:p>
            <a:pPr algn="ctr"/>
            <a:r>
              <a:rPr kumimoji="1" lang="en-US" altLang="ja-JP" sz="1000" dirty="0">
                <a:solidFill>
                  <a:srgbClr val="FFFFFF"/>
                </a:solidFill>
                <a:latin typeface="游ゴシック" panose="020B0400000000000000" pitchFamily="50" charset="-128"/>
                <a:ea typeface="游ゴシック" panose="020B0400000000000000" pitchFamily="50" charset="-128"/>
              </a:rPr>
              <a:t>Strictly Confidential</a:t>
            </a:r>
            <a:endParaRPr kumimoji="1" lang="ja-JP" altLang="en-US" sz="1000" dirty="0">
              <a:solidFill>
                <a:srgbClr val="FFFFFF"/>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278513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扉">
    <p:bg>
      <p:bgPr>
        <a:blipFill rotWithShape="1">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8" name="テキスト プレースホルダー 7"/>
          <p:cNvSpPr>
            <a:spLocks noGrp="1"/>
          </p:cNvSpPr>
          <p:nvPr>
            <p:ph type="body" sz="quarter" idx="10"/>
          </p:nvPr>
        </p:nvSpPr>
        <p:spPr>
          <a:xfrm>
            <a:off x="3150000" y="2921000"/>
            <a:ext cx="3600000" cy="1008000"/>
          </a:xfrm>
          <a:prstGeom prst="rect">
            <a:avLst/>
          </a:prstGeom>
        </p:spPr>
        <p:txBody>
          <a:bodyPr vert="horz" wrap="none" lIns="0" tIns="0" rIns="0" bIns="0" anchor="ctr" anchorCtr="1">
            <a:normAutofit/>
          </a:bodyPr>
          <a:lstStyle>
            <a:lvl1pPr marL="0" indent="0">
              <a:spcBef>
                <a:spcPts val="0"/>
              </a:spcBef>
              <a:buNone/>
              <a:defRPr sz="3200" b="1" baseline="0">
                <a:latin typeface="游ゴシック" panose="020B0400000000000000" pitchFamily="50" charset="-128"/>
                <a:ea typeface="游ゴシック" panose="020B0400000000000000" pitchFamily="50" charset="-128"/>
              </a:defRPr>
            </a:lvl1pPr>
          </a:lstStyle>
          <a:p>
            <a:pPr lvl="0"/>
            <a:endParaRPr kumimoji="1" lang="ja-JP" altLang="en-US" dirty="0"/>
          </a:p>
        </p:txBody>
      </p:sp>
      <p:sp>
        <p:nvSpPr>
          <p:cNvPr id="9" name="テキスト プレースホルダー 7"/>
          <p:cNvSpPr>
            <a:spLocks noGrp="1"/>
          </p:cNvSpPr>
          <p:nvPr>
            <p:ph type="body" sz="quarter" idx="11" hasCustomPrompt="1"/>
          </p:nvPr>
        </p:nvSpPr>
        <p:spPr>
          <a:xfrm>
            <a:off x="720000" y="723900"/>
            <a:ext cx="1440000" cy="1440000"/>
          </a:xfrm>
          <a:prstGeom prst="rect">
            <a:avLst/>
          </a:prstGeom>
          <a:solidFill>
            <a:srgbClr val="006659"/>
          </a:solidFill>
        </p:spPr>
        <p:txBody>
          <a:bodyPr vert="horz" wrap="none" lIns="0" tIns="0" rIns="0" bIns="0" anchor="ctr" anchorCtr="1">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8000" b="0" baseline="0">
                <a:solidFill>
                  <a:schemeClr val="bg1"/>
                </a:solidFill>
                <a:latin typeface="游ゴシック" panose="020B0400000000000000" pitchFamily="50" charset="-128"/>
                <a:ea typeface="游ゴシック" panose="020B0400000000000000" pitchFamily="50" charset="-128"/>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dirty="0"/>
              <a:t>1</a:t>
            </a:r>
            <a:endParaRPr kumimoji="1" lang="ja-JP" altLang="en-US" dirty="0"/>
          </a:p>
        </p:txBody>
      </p:sp>
      <p:sp>
        <p:nvSpPr>
          <p:cNvPr id="6" name="テキスト ボックス 5"/>
          <p:cNvSpPr txBox="1"/>
          <p:nvPr userDrawn="1"/>
        </p:nvSpPr>
        <p:spPr>
          <a:xfrm>
            <a:off x="367850" y="6464300"/>
            <a:ext cx="9173633" cy="211667"/>
          </a:xfrm>
          <a:prstGeom prst="rect">
            <a:avLst/>
          </a:prstGeom>
          <a:solidFill>
            <a:srgbClr val="006659"/>
          </a:solidFill>
        </p:spPr>
        <p:txBody>
          <a:bodyPr wrap="square" lIns="72000" tIns="0" rIns="0" bIns="0" rtlCol="0" anchor="ctr" anchorCtr="0">
            <a:noAutofit/>
          </a:bodyPr>
          <a:lstStyle/>
          <a:p>
            <a:pPr algn="l"/>
            <a:r>
              <a:rPr kumimoji="1" lang="en-US" altLang="ja-JP" sz="1000" dirty="0">
                <a:solidFill>
                  <a:schemeClr val="bg1"/>
                </a:solidFill>
                <a:latin typeface="游ゴシック" panose="020B0400000000000000" pitchFamily="50" charset="-128"/>
                <a:ea typeface="游ゴシック" panose="020B0400000000000000" pitchFamily="50" charset="-128"/>
              </a:rPr>
              <a:t>© MS&amp;AD </a:t>
            </a:r>
            <a:r>
              <a:rPr kumimoji="1" lang="en-US" altLang="ja-JP" sz="1000" dirty="0" err="1">
                <a:solidFill>
                  <a:schemeClr val="bg1"/>
                </a:solidFill>
                <a:latin typeface="游ゴシック" panose="020B0400000000000000" pitchFamily="50" charset="-128"/>
                <a:ea typeface="游ゴシック" panose="020B0400000000000000" pitchFamily="50" charset="-128"/>
              </a:rPr>
              <a:t>InterRisk</a:t>
            </a:r>
            <a:r>
              <a:rPr kumimoji="1" lang="en-US" altLang="ja-JP" sz="1000" dirty="0">
                <a:solidFill>
                  <a:schemeClr val="bg1"/>
                </a:solidFill>
                <a:latin typeface="游ゴシック" panose="020B0400000000000000" pitchFamily="50" charset="-128"/>
                <a:ea typeface="游ゴシック" panose="020B0400000000000000" pitchFamily="50" charset="-128"/>
              </a:rPr>
              <a:t> Research &amp; Consulting, Inc.</a:t>
            </a:r>
            <a:endParaRPr kumimoji="1" lang="ja-JP" altLang="en-US" sz="1000" dirty="0">
              <a:solidFill>
                <a:schemeClr val="bg1"/>
              </a:solidFill>
              <a:latin typeface="游ゴシック" panose="020B0400000000000000" pitchFamily="50" charset="-128"/>
              <a:ea typeface="游ゴシック" panose="020B0400000000000000" pitchFamily="50" charset="-128"/>
            </a:endParaRPr>
          </a:p>
        </p:txBody>
      </p:sp>
      <p:sp>
        <p:nvSpPr>
          <p:cNvPr id="7" name="テキスト ボックス 6"/>
          <p:cNvSpPr txBox="1">
            <a:spLocks noChangeAspect="1"/>
          </p:cNvSpPr>
          <p:nvPr userDrawn="1"/>
        </p:nvSpPr>
        <p:spPr>
          <a:xfrm>
            <a:off x="8207375" y="358031"/>
            <a:ext cx="1332000" cy="180000"/>
          </a:xfrm>
          <a:prstGeom prst="rect">
            <a:avLst/>
          </a:prstGeom>
          <a:solidFill>
            <a:srgbClr val="404040"/>
          </a:solidFill>
        </p:spPr>
        <p:txBody>
          <a:bodyPr wrap="none" lIns="0" tIns="0" rIns="0" bIns="0" rtlCol="0" anchor="ctr" anchorCtr="0">
            <a:noAutofit/>
          </a:bodyPr>
          <a:lstStyle/>
          <a:p>
            <a:pPr algn="ctr"/>
            <a:r>
              <a:rPr kumimoji="1" lang="en-US" altLang="ja-JP" sz="1000" dirty="0">
                <a:solidFill>
                  <a:srgbClr val="FFFFFF"/>
                </a:solidFill>
                <a:latin typeface="游ゴシック" panose="020B0400000000000000" pitchFamily="50" charset="-128"/>
                <a:ea typeface="游ゴシック" panose="020B0400000000000000" pitchFamily="50" charset="-128"/>
              </a:rPr>
              <a:t>Strictly Confidential</a:t>
            </a:r>
            <a:endParaRPr kumimoji="1" lang="ja-JP" altLang="en-US" sz="1000" dirty="0">
              <a:solidFill>
                <a:srgbClr val="FFFFFF"/>
              </a:solidFill>
              <a:latin typeface="游ゴシック" panose="020B0400000000000000" pitchFamily="50" charset="-128"/>
              <a:ea typeface="游ゴシック" panose="020B0400000000000000" pitchFamily="50" charset="-128"/>
            </a:endParaRPr>
          </a:p>
        </p:txBody>
      </p:sp>
      <p:sp>
        <p:nvSpPr>
          <p:cNvPr id="10" name="スライド番号プレースホルダー 5"/>
          <p:cNvSpPr>
            <a:spLocks noGrp="1"/>
          </p:cNvSpPr>
          <p:nvPr>
            <p:ph type="sldNum" sz="quarter" idx="4"/>
          </p:nvPr>
        </p:nvSpPr>
        <p:spPr>
          <a:xfrm>
            <a:off x="9437983" y="6407679"/>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游ゴシック" panose="020B0400000000000000" pitchFamily="50" charset="-128"/>
                <a:ea typeface="游ゴシック" panose="020B0400000000000000" pitchFamily="50" charset="-128"/>
              </a:defRPr>
            </a:lvl1pPr>
          </a:lstStyle>
          <a:p>
            <a:pPr algn="ctr"/>
            <a:fld id="{3C987C2D-0993-D24A-8F17-67855EAE4BDA}" type="slidenum">
              <a:rPr lang="en-US" altLang="ja-JP" smtClean="0"/>
              <a:pPr algn="ctr"/>
              <a:t>‹#›</a:t>
            </a:fld>
            <a:endParaRPr lang="en-US" dirty="0"/>
          </a:p>
        </p:txBody>
      </p:sp>
    </p:spTree>
    <p:extLst>
      <p:ext uri="{BB962C8B-B14F-4D97-AF65-F5344CB8AC3E}">
        <p14:creationId xmlns:p14="http://schemas.microsoft.com/office/powerpoint/2010/main" val="3139826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ブランク_背景無">
    <p:bg>
      <p:bgPr>
        <a:solidFill>
          <a:schemeClr val="bg1"/>
        </a:solidFill>
        <a:effectLst/>
      </p:bgPr>
    </p:bg>
    <p:spTree>
      <p:nvGrpSpPr>
        <p:cNvPr id="1" name=""/>
        <p:cNvGrpSpPr/>
        <p:nvPr/>
      </p:nvGrpSpPr>
      <p:grpSpPr>
        <a:xfrm>
          <a:off x="0" y="0"/>
          <a:ext cx="0" cy="0"/>
          <a:chOff x="0" y="0"/>
          <a:chExt cx="0" cy="0"/>
        </a:xfrm>
      </p:grpSpPr>
      <p:sp>
        <p:nvSpPr>
          <p:cNvPr id="36" name="テキスト ボックス 35"/>
          <p:cNvSpPr txBox="1"/>
          <p:nvPr userDrawn="1"/>
        </p:nvSpPr>
        <p:spPr>
          <a:xfrm>
            <a:off x="419100" y="6490800"/>
            <a:ext cx="4191000" cy="138499"/>
          </a:xfrm>
          <a:prstGeom prst="rect">
            <a:avLst/>
          </a:prstGeom>
          <a:noFill/>
        </p:spPr>
        <p:txBody>
          <a:bodyPr wrap="square" lIns="0" tIns="0" rIns="0" bIns="0" rtlCol="0" anchor="ctr" anchorCtr="0">
            <a:spAutoFit/>
          </a:bodyPr>
          <a:lstStyle/>
          <a:p>
            <a:r>
              <a:rPr kumimoji="1" lang="en-US" altLang="ja-JP" sz="900" dirty="0">
                <a:solidFill>
                  <a:schemeClr val="bg1"/>
                </a:solidFill>
                <a:latin typeface="游ゴシック" panose="020B0400000000000000" pitchFamily="50" charset="-128"/>
                <a:ea typeface="游ゴシック" panose="020B0400000000000000" pitchFamily="50" charset="-128"/>
              </a:rPr>
              <a:t>© MS&amp;AD </a:t>
            </a:r>
            <a:r>
              <a:rPr kumimoji="1" lang="en-US" altLang="ja-JP" sz="900" dirty="0" err="1">
                <a:solidFill>
                  <a:schemeClr val="bg1"/>
                </a:solidFill>
                <a:latin typeface="游ゴシック" panose="020B0400000000000000" pitchFamily="50" charset="-128"/>
                <a:ea typeface="游ゴシック" panose="020B0400000000000000" pitchFamily="50" charset="-128"/>
              </a:rPr>
              <a:t>InterRisk</a:t>
            </a:r>
            <a:r>
              <a:rPr kumimoji="1" lang="en-US" altLang="ja-JP" sz="900" dirty="0">
                <a:solidFill>
                  <a:schemeClr val="bg1"/>
                </a:solidFill>
                <a:latin typeface="游ゴシック" panose="020B0400000000000000" pitchFamily="50" charset="-128"/>
                <a:ea typeface="游ゴシック" panose="020B0400000000000000" pitchFamily="50" charset="-128"/>
              </a:rPr>
              <a:t> Research &amp; Consulting, Inc.</a:t>
            </a:r>
            <a:endParaRPr kumimoji="1" lang="ja-JP" altLang="en-US" sz="900" dirty="0">
              <a:solidFill>
                <a:schemeClr val="bg1"/>
              </a:solidFill>
              <a:latin typeface="游ゴシック" panose="020B0400000000000000" pitchFamily="50" charset="-128"/>
              <a:ea typeface="游ゴシック" panose="020B0400000000000000" pitchFamily="50" charset="-128"/>
            </a:endParaRPr>
          </a:p>
        </p:txBody>
      </p:sp>
      <p:sp>
        <p:nvSpPr>
          <p:cNvPr id="5" name="テキスト ボックス 4"/>
          <p:cNvSpPr txBox="1"/>
          <p:nvPr userDrawn="1"/>
        </p:nvSpPr>
        <p:spPr>
          <a:xfrm>
            <a:off x="367850" y="6464300"/>
            <a:ext cx="9173633" cy="211667"/>
          </a:xfrm>
          <a:prstGeom prst="rect">
            <a:avLst/>
          </a:prstGeom>
          <a:solidFill>
            <a:srgbClr val="006659"/>
          </a:solidFill>
        </p:spPr>
        <p:txBody>
          <a:bodyPr wrap="square" lIns="72000" tIns="0" rIns="0" bIns="0" rtlCol="0" anchor="ctr" anchorCtr="0">
            <a:noAutofit/>
          </a:bodyPr>
          <a:lstStyle/>
          <a:p>
            <a:pPr algn="l"/>
            <a:r>
              <a:rPr kumimoji="1" lang="en-US" altLang="ja-JP" sz="1000" dirty="0">
                <a:solidFill>
                  <a:schemeClr val="bg1"/>
                </a:solidFill>
                <a:latin typeface="游ゴシック" panose="020B0400000000000000" pitchFamily="50" charset="-128"/>
                <a:ea typeface="游ゴシック" panose="020B0400000000000000" pitchFamily="50" charset="-128"/>
              </a:rPr>
              <a:t>© MS&amp;AD </a:t>
            </a:r>
            <a:r>
              <a:rPr kumimoji="1" lang="en-US" altLang="ja-JP" sz="1000" dirty="0" err="1">
                <a:solidFill>
                  <a:schemeClr val="bg1"/>
                </a:solidFill>
                <a:latin typeface="游ゴシック" panose="020B0400000000000000" pitchFamily="50" charset="-128"/>
                <a:ea typeface="游ゴシック" panose="020B0400000000000000" pitchFamily="50" charset="-128"/>
              </a:rPr>
              <a:t>InterRisk</a:t>
            </a:r>
            <a:r>
              <a:rPr kumimoji="1" lang="en-US" altLang="ja-JP" sz="1000" dirty="0">
                <a:solidFill>
                  <a:schemeClr val="bg1"/>
                </a:solidFill>
                <a:latin typeface="游ゴシック" panose="020B0400000000000000" pitchFamily="50" charset="-128"/>
                <a:ea typeface="游ゴシック" panose="020B0400000000000000" pitchFamily="50" charset="-128"/>
              </a:rPr>
              <a:t> Research &amp; Consulting, Inc.</a:t>
            </a:r>
            <a:endParaRPr kumimoji="1" lang="ja-JP" altLang="en-US" sz="1000" dirty="0">
              <a:solidFill>
                <a:schemeClr val="bg1"/>
              </a:solidFill>
              <a:latin typeface="游ゴシック" panose="020B0400000000000000" pitchFamily="50" charset="-128"/>
              <a:ea typeface="游ゴシック" panose="020B0400000000000000" pitchFamily="50" charset="-128"/>
            </a:endParaRPr>
          </a:p>
        </p:txBody>
      </p:sp>
      <p:sp>
        <p:nvSpPr>
          <p:cNvPr id="6" name="テキスト ボックス 5"/>
          <p:cNvSpPr txBox="1">
            <a:spLocks noChangeAspect="1"/>
          </p:cNvSpPr>
          <p:nvPr userDrawn="1"/>
        </p:nvSpPr>
        <p:spPr>
          <a:xfrm>
            <a:off x="8207375" y="358031"/>
            <a:ext cx="1332000" cy="180000"/>
          </a:xfrm>
          <a:prstGeom prst="rect">
            <a:avLst/>
          </a:prstGeom>
          <a:solidFill>
            <a:srgbClr val="404040"/>
          </a:solidFill>
        </p:spPr>
        <p:txBody>
          <a:bodyPr wrap="none" lIns="0" tIns="0" rIns="0" bIns="0" rtlCol="0" anchor="ctr" anchorCtr="0">
            <a:noAutofit/>
          </a:bodyPr>
          <a:lstStyle/>
          <a:p>
            <a:pPr algn="ctr"/>
            <a:r>
              <a:rPr kumimoji="1" lang="en-US" altLang="ja-JP" sz="1000" dirty="0">
                <a:solidFill>
                  <a:srgbClr val="FFFFFF"/>
                </a:solidFill>
                <a:latin typeface="游ゴシック" panose="020B0400000000000000" pitchFamily="50" charset="-128"/>
                <a:ea typeface="游ゴシック" panose="020B0400000000000000" pitchFamily="50" charset="-128"/>
              </a:rPr>
              <a:t>Strictly Confidential</a:t>
            </a:r>
            <a:endParaRPr kumimoji="1" lang="ja-JP" altLang="en-US" sz="1000" dirty="0">
              <a:solidFill>
                <a:srgbClr val="FFFFFF"/>
              </a:solidFill>
              <a:latin typeface="游ゴシック" panose="020B0400000000000000" pitchFamily="50" charset="-128"/>
              <a:ea typeface="游ゴシック" panose="020B0400000000000000" pitchFamily="50" charset="-128"/>
            </a:endParaRPr>
          </a:p>
        </p:txBody>
      </p:sp>
      <p:sp>
        <p:nvSpPr>
          <p:cNvPr id="7" name="スライド番号プレースホルダー 5"/>
          <p:cNvSpPr>
            <a:spLocks noGrp="1"/>
          </p:cNvSpPr>
          <p:nvPr>
            <p:ph type="sldNum" sz="quarter" idx="4"/>
          </p:nvPr>
        </p:nvSpPr>
        <p:spPr>
          <a:xfrm>
            <a:off x="9437983" y="6407679"/>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游ゴシック" panose="020B0400000000000000" pitchFamily="50" charset="-128"/>
                <a:ea typeface="游ゴシック" panose="020B0400000000000000" pitchFamily="50" charset="-128"/>
              </a:defRPr>
            </a:lvl1pPr>
          </a:lstStyle>
          <a:p>
            <a:pPr algn="ctr"/>
            <a:fld id="{3C987C2D-0993-D24A-8F17-67855EAE4BDA}" type="slidenum">
              <a:rPr lang="en-US" altLang="ja-JP" smtClean="0"/>
              <a:pPr algn="ctr"/>
              <a:t>‹#›</a:t>
            </a:fld>
            <a:endParaRPr lang="en-US" dirty="0"/>
          </a:p>
        </p:txBody>
      </p:sp>
    </p:spTree>
    <p:extLst>
      <p:ext uri="{BB962C8B-B14F-4D97-AF65-F5344CB8AC3E}">
        <p14:creationId xmlns:p14="http://schemas.microsoft.com/office/powerpoint/2010/main" val="4243118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ブランク_背景有">
    <p:bg>
      <p:bgPr>
        <a:blipFill rotWithShape="1">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6" name="テキスト ボックス 35"/>
          <p:cNvSpPr txBox="1"/>
          <p:nvPr userDrawn="1"/>
        </p:nvSpPr>
        <p:spPr>
          <a:xfrm>
            <a:off x="419100" y="6490800"/>
            <a:ext cx="4191000" cy="138499"/>
          </a:xfrm>
          <a:prstGeom prst="rect">
            <a:avLst/>
          </a:prstGeom>
          <a:noFill/>
        </p:spPr>
        <p:txBody>
          <a:bodyPr wrap="square" lIns="0" tIns="0" rIns="0" bIns="0" rtlCol="0" anchor="ctr" anchorCtr="0">
            <a:spAutoFit/>
          </a:bodyPr>
          <a:lstStyle/>
          <a:p>
            <a:r>
              <a:rPr kumimoji="1" lang="en-US" altLang="ja-JP" sz="900" dirty="0">
                <a:solidFill>
                  <a:schemeClr val="bg1"/>
                </a:solidFill>
                <a:latin typeface="游ゴシック" panose="020B0400000000000000" pitchFamily="50" charset="-128"/>
                <a:ea typeface="游ゴシック" panose="020B0400000000000000" pitchFamily="50" charset="-128"/>
              </a:rPr>
              <a:t>© MS&amp;AD </a:t>
            </a:r>
            <a:r>
              <a:rPr kumimoji="1" lang="en-US" altLang="ja-JP" sz="900" dirty="0" err="1">
                <a:solidFill>
                  <a:schemeClr val="bg1"/>
                </a:solidFill>
                <a:latin typeface="游ゴシック" panose="020B0400000000000000" pitchFamily="50" charset="-128"/>
                <a:ea typeface="游ゴシック" panose="020B0400000000000000" pitchFamily="50" charset="-128"/>
              </a:rPr>
              <a:t>InterRisk</a:t>
            </a:r>
            <a:r>
              <a:rPr kumimoji="1" lang="en-US" altLang="ja-JP" sz="900" dirty="0">
                <a:solidFill>
                  <a:schemeClr val="bg1"/>
                </a:solidFill>
                <a:latin typeface="游ゴシック" panose="020B0400000000000000" pitchFamily="50" charset="-128"/>
                <a:ea typeface="游ゴシック" panose="020B0400000000000000" pitchFamily="50" charset="-128"/>
              </a:rPr>
              <a:t> Research &amp; Consulting, Inc.</a:t>
            </a:r>
            <a:endParaRPr kumimoji="1" lang="ja-JP" altLang="en-US" sz="900" dirty="0">
              <a:solidFill>
                <a:schemeClr val="bg1"/>
              </a:solidFill>
              <a:latin typeface="游ゴシック" panose="020B0400000000000000" pitchFamily="50" charset="-128"/>
              <a:ea typeface="游ゴシック" panose="020B0400000000000000" pitchFamily="50" charset="-128"/>
            </a:endParaRPr>
          </a:p>
        </p:txBody>
      </p:sp>
      <p:sp>
        <p:nvSpPr>
          <p:cNvPr id="5" name="テキスト ボックス 4"/>
          <p:cNvSpPr txBox="1"/>
          <p:nvPr userDrawn="1"/>
        </p:nvSpPr>
        <p:spPr>
          <a:xfrm>
            <a:off x="367850" y="6464300"/>
            <a:ext cx="9173633" cy="211667"/>
          </a:xfrm>
          <a:prstGeom prst="rect">
            <a:avLst/>
          </a:prstGeom>
          <a:solidFill>
            <a:srgbClr val="006659"/>
          </a:solidFill>
        </p:spPr>
        <p:txBody>
          <a:bodyPr wrap="square" lIns="72000" tIns="0" rIns="0" bIns="0" rtlCol="0" anchor="ctr" anchorCtr="0">
            <a:noAutofit/>
          </a:bodyPr>
          <a:lstStyle/>
          <a:p>
            <a:pPr algn="l"/>
            <a:r>
              <a:rPr kumimoji="1" lang="en-US" altLang="ja-JP" sz="1000" dirty="0">
                <a:solidFill>
                  <a:schemeClr val="bg1"/>
                </a:solidFill>
                <a:latin typeface="游ゴシック" panose="020B0400000000000000" pitchFamily="50" charset="-128"/>
                <a:ea typeface="游ゴシック" panose="020B0400000000000000" pitchFamily="50" charset="-128"/>
              </a:rPr>
              <a:t>© MS&amp;AD </a:t>
            </a:r>
            <a:r>
              <a:rPr kumimoji="1" lang="en-US" altLang="ja-JP" sz="1000" dirty="0" err="1">
                <a:solidFill>
                  <a:schemeClr val="bg1"/>
                </a:solidFill>
                <a:latin typeface="游ゴシック" panose="020B0400000000000000" pitchFamily="50" charset="-128"/>
                <a:ea typeface="游ゴシック" panose="020B0400000000000000" pitchFamily="50" charset="-128"/>
              </a:rPr>
              <a:t>InterRisk</a:t>
            </a:r>
            <a:r>
              <a:rPr kumimoji="1" lang="en-US" altLang="ja-JP" sz="1000" dirty="0">
                <a:solidFill>
                  <a:schemeClr val="bg1"/>
                </a:solidFill>
                <a:latin typeface="游ゴシック" panose="020B0400000000000000" pitchFamily="50" charset="-128"/>
                <a:ea typeface="游ゴシック" panose="020B0400000000000000" pitchFamily="50" charset="-128"/>
              </a:rPr>
              <a:t> Research &amp; Consulting, Inc.</a:t>
            </a:r>
            <a:endParaRPr kumimoji="1" lang="ja-JP" altLang="en-US" sz="1000" dirty="0">
              <a:solidFill>
                <a:schemeClr val="bg1"/>
              </a:solidFill>
              <a:latin typeface="游ゴシック" panose="020B0400000000000000" pitchFamily="50" charset="-128"/>
              <a:ea typeface="游ゴシック" panose="020B0400000000000000" pitchFamily="50" charset="-128"/>
            </a:endParaRPr>
          </a:p>
        </p:txBody>
      </p:sp>
      <p:sp>
        <p:nvSpPr>
          <p:cNvPr id="6" name="テキスト ボックス 5"/>
          <p:cNvSpPr txBox="1">
            <a:spLocks noChangeAspect="1"/>
          </p:cNvSpPr>
          <p:nvPr userDrawn="1"/>
        </p:nvSpPr>
        <p:spPr>
          <a:xfrm>
            <a:off x="8207375" y="358031"/>
            <a:ext cx="1332000" cy="180000"/>
          </a:xfrm>
          <a:prstGeom prst="rect">
            <a:avLst/>
          </a:prstGeom>
          <a:solidFill>
            <a:srgbClr val="404040"/>
          </a:solidFill>
        </p:spPr>
        <p:txBody>
          <a:bodyPr wrap="none" lIns="0" tIns="0" rIns="0" bIns="0" rtlCol="0" anchor="ctr" anchorCtr="0">
            <a:noAutofit/>
          </a:bodyPr>
          <a:lstStyle/>
          <a:p>
            <a:pPr algn="ctr"/>
            <a:r>
              <a:rPr kumimoji="1" lang="en-US" altLang="ja-JP" sz="1000" dirty="0">
                <a:solidFill>
                  <a:srgbClr val="FFFFFF"/>
                </a:solidFill>
                <a:latin typeface="游ゴシック" panose="020B0400000000000000" pitchFamily="50" charset="-128"/>
                <a:ea typeface="游ゴシック" panose="020B0400000000000000" pitchFamily="50" charset="-128"/>
              </a:rPr>
              <a:t>Strictly Confidential</a:t>
            </a:r>
            <a:endParaRPr kumimoji="1" lang="ja-JP" altLang="en-US" sz="1000" dirty="0">
              <a:solidFill>
                <a:srgbClr val="FFFFFF"/>
              </a:solidFill>
              <a:latin typeface="游ゴシック" panose="020B0400000000000000" pitchFamily="50" charset="-128"/>
              <a:ea typeface="游ゴシック" panose="020B0400000000000000" pitchFamily="50" charset="-128"/>
            </a:endParaRPr>
          </a:p>
        </p:txBody>
      </p:sp>
      <p:sp>
        <p:nvSpPr>
          <p:cNvPr id="7" name="スライド番号プレースホルダー 5"/>
          <p:cNvSpPr>
            <a:spLocks noGrp="1"/>
          </p:cNvSpPr>
          <p:nvPr>
            <p:ph type="sldNum" sz="quarter" idx="4"/>
          </p:nvPr>
        </p:nvSpPr>
        <p:spPr>
          <a:xfrm>
            <a:off x="9437983" y="6407679"/>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游ゴシック" panose="020B0400000000000000" pitchFamily="50" charset="-128"/>
                <a:ea typeface="游ゴシック" panose="020B0400000000000000" pitchFamily="50" charset="-128"/>
              </a:defRPr>
            </a:lvl1pPr>
          </a:lstStyle>
          <a:p>
            <a:pPr algn="ctr"/>
            <a:fld id="{3C987C2D-0993-D24A-8F17-67855EAE4BDA}" type="slidenum">
              <a:rPr lang="en-US" altLang="ja-JP" smtClean="0"/>
              <a:pPr algn="ctr"/>
              <a:t>‹#›</a:t>
            </a:fld>
            <a:endParaRPr lang="en-US" dirty="0"/>
          </a:p>
        </p:txBody>
      </p:sp>
    </p:spTree>
    <p:extLst>
      <p:ext uri="{BB962C8B-B14F-4D97-AF65-F5344CB8AC3E}">
        <p14:creationId xmlns:p14="http://schemas.microsoft.com/office/powerpoint/2010/main" val="378460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調査概況_調査出席者">
    <p:bg>
      <p:bgPr>
        <a:blipFill rotWithShape="1">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テキスト ボックス 5"/>
          <p:cNvSpPr txBox="1"/>
          <p:nvPr userDrawn="1"/>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調査概要</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7" name="正方形/長方形 6"/>
          <p:cNvSpPr>
            <a:spLocks noChangeAspect="1"/>
          </p:cNvSpPr>
          <p:nvPr userDrawn="1"/>
        </p:nvSpPr>
        <p:spPr>
          <a:xfrm>
            <a:off x="360000" y="370800"/>
            <a:ext cx="720000" cy="720000"/>
          </a:xfrm>
          <a:prstGeom prst="rect">
            <a:avLst/>
          </a:prstGeom>
          <a:solidFill>
            <a:srgbClr val="006659"/>
          </a:solidFill>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dirty="0">
              <a:latin typeface="游ゴシック" panose="020B0400000000000000" pitchFamily="50" charset="-128"/>
              <a:ea typeface="游ゴシック" panose="020B0400000000000000" pitchFamily="50" charset="-128"/>
            </a:endParaRPr>
          </a:p>
        </p:txBody>
      </p:sp>
      <p:sp>
        <p:nvSpPr>
          <p:cNvPr id="10" name="テキスト ボックス 9"/>
          <p:cNvSpPr txBox="1">
            <a:spLocks noChangeAspect="1"/>
          </p:cNvSpPr>
          <p:nvPr userDrawn="1"/>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b="0" dirty="0">
                <a:solidFill>
                  <a:schemeClr val="bg1"/>
                </a:solidFill>
                <a:latin typeface="游ゴシック" panose="020B0400000000000000" pitchFamily="50" charset="-128"/>
                <a:ea typeface="游ゴシック" panose="020B0400000000000000" pitchFamily="50" charset="-128"/>
              </a:rPr>
              <a:t>1</a:t>
            </a:r>
          </a:p>
        </p:txBody>
      </p:sp>
      <p:sp>
        <p:nvSpPr>
          <p:cNvPr id="15" name="テキスト ボックス 14"/>
          <p:cNvSpPr txBox="1"/>
          <p:nvPr userDrawn="1"/>
        </p:nvSpPr>
        <p:spPr>
          <a:xfrm>
            <a:off x="535515" y="1288800"/>
            <a:ext cx="1152000" cy="215444"/>
          </a:xfrm>
          <a:prstGeom prst="rect">
            <a:avLst/>
          </a:prstGeom>
          <a:noFill/>
        </p:spPr>
        <p:txBody>
          <a:bodyPr wrap="square" lIns="72000" tIns="0" rIns="72000" bIns="0" rtlCol="0" anchor="ctr" anchorCtr="1">
            <a:spAutoFit/>
          </a:bodyPr>
          <a:lstStyle/>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会　社　名</a:t>
            </a:r>
          </a:p>
        </p:txBody>
      </p:sp>
      <p:sp>
        <p:nvSpPr>
          <p:cNvPr id="16" name="テキスト ボックス 15"/>
          <p:cNvSpPr txBox="1"/>
          <p:nvPr userDrawn="1"/>
        </p:nvSpPr>
        <p:spPr>
          <a:xfrm>
            <a:off x="535515" y="1561850"/>
            <a:ext cx="1152000" cy="215444"/>
          </a:xfrm>
          <a:prstGeom prst="rect">
            <a:avLst/>
          </a:prstGeom>
          <a:noFill/>
        </p:spPr>
        <p:txBody>
          <a:bodyPr wrap="square" lIns="72000" tIns="0" rIns="72000" bIns="0" rtlCol="0" anchor="ctr" anchorCtr="1">
            <a:spAutoFit/>
          </a:bodyPr>
          <a:lstStyle/>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所　在　地</a:t>
            </a:r>
          </a:p>
        </p:txBody>
      </p:sp>
      <p:sp>
        <p:nvSpPr>
          <p:cNvPr id="17" name="テキスト ボックス 16"/>
          <p:cNvSpPr txBox="1"/>
          <p:nvPr userDrawn="1"/>
        </p:nvSpPr>
        <p:spPr>
          <a:xfrm>
            <a:off x="535515" y="2101222"/>
            <a:ext cx="1152000" cy="215444"/>
          </a:xfrm>
          <a:prstGeom prst="rect">
            <a:avLst/>
          </a:prstGeom>
          <a:noFill/>
        </p:spPr>
        <p:txBody>
          <a:bodyPr wrap="square" lIns="72000" tIns="0" rIns="72000" bIns="0" rtlCol="0" anchor="ctr" anchorCtr="1">
            <a:spAutoFit/>
          </a:bodyPr>
          <a:lstStyle/>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調査方法</a:t>
            </a:r>
          </a:p>
        </p:txBody>
      </p:sp>
      <p:sp>
        <p:nvSpPr>
          <p:cNvPr id="18" name="テキスト ボックス 17"/>
          <p:cNvSpPr txBox="1"/>
          <p:nvPr userDrawn="1"/>
        </p:nvSpPr>
        <p:spPr>
          <a:xfrm>
            <a:off x="535515" y="2920372"/>
            <a:ext cx="1152000" cy="215444"/>
          </a:xfrm>
          <a:prstGeom prst="rect">
            <a:avLst/>
          </a:prstGeom>
          <a:noFill/>
        </p:spPr>
        <p:txBody>
          <a:bodyPr wrap="square" lIns="72000" tIns="0" rIns="72000" bIns="0" rtlCol="0" anchor="ctr" anchorCtr="1">
            <a:spAutoFit/>
          </a:bodyPr>
          <a:lstStyle/>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調査立会人</a:t>
            </a:r>
          </a:p>
        </p:txBody>
      </p:sp>
      <p:sp>
        <p:nvSpPr>
          <p:cNvPr id="19" name="テキスト ボックス 18"/>
          <p:cNvSpPr txBox="1"/>
          <p:nvPr userDrawn="1"/>
        </p:nvSpPr>
        <p:spPr>
          <a:xfrm>
            <a:off x="535515" y="3728225"/>
            <a:ext cx="1152000" cy="215444"/>
          </a:xfrm>
          <a:prstGeom prst="rect">
            <a:avLst/>
          </a:prstGeom>
          <a:noFill/>
        </p:spPr>
        <p:txBody>
          <a:bodyPr wrap="square" lIns="72000" tIns="0" rIns="72000" bIns="0" rtlCol="0" anchor="ctr" anchorCtr="1">
            <a:spAutoFit/>
          </a:bodyPr>
          <a:lstStyle/>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調査協力者</a:t>
            </a:r>
          </a:p>
        </p:txBody>
      </p:sp>
      <p:sp>
        <p:nvSpPr>
          <p:cNvPr id="20" name="テキスト ボックス 19"/>
          <p:cNvSpPr txBox="1"/>
          <p:nvPr userDrawn="1"/>
        </p:nvSpPr>
        <p:spPr>
          <a:xfrm>
            <a:off x="535515" y="4611621"/>
            <a:ext cx="1152000" cy="215444"/>
          </a:xfrm>
          <a:prstGeom prst="rect">
            <a:avLst/>
          </a:prstGeom>
          <a:noFill/>
        </p:spPr>
        <p:txBody>
          <a:bodyPr wrap="square" lIns="72000" tIns="0" rIns="72000" bIns="0" rtlCol="0" anchor="ctr" anchorCtr="1">
            <a:spAutoFit/>
          </a:bodyPr>
          <a:lstStyle/>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営業担当者</a:t>
            </a:r>
          </a:p>
        </p:txBody>
      </p:sp>
      <p:sp>
        <p:nvSpPr>
          <p:cNvPr id="21" name="テキスト ボックス 20"/>
          <p:cNvSpPr txBox="1"/>
          <p:nvPr userDrawn="1"/>
        </p:nvSpPr>
        <p:spPr>
          <a:xfrm>
            <a:off x="535515" y="5564121"/>
            <a:ext cx="1152000" cy="215444"/>
          </a:xfrm>
          <a:prstGeom prst="rect">
            <a:avLst/>
          </a:prstGeom>
          <a:noFill/>
        </p:spPr>
        <p:txBody>
          <a:bodyPr wrap="square" lIns="72000" tIns="0" rIns="72000" bIns="0" rtlCol="0" anchor="ctr" anchorCtr="1">
            <a:spAutoFit/>
          </a:bodyPr>
          <a:lstStyle/>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調査担当者</a:t>
            </a:r>
          </a:p>
        </p:txBody>
      </p:sp>
      <p:sp>
        <p:nvSpPr>
          <p:cNvPr id="22" name="テキスト ボックス 21"/>
          <p:cNvSpPr txBox="1"/>
          <p:nvPr userDrawn="1"/>
        </p:nvSpPr>
        <p:spPr>
          <a:xfrm>
            <a:off x="4955115" y="1288799"/>
            <a:ext cx="1152000" cy="215444"/>
          </a:xfrm>
          <a:prstGeom prst="rect">
            <a:avLst/>
          </a:prstGeom>
          <a:noFill/>
        </p:spPr>
        <p:txBody>
          <a:bodyPr wrap="square" lIns="72000" tIns="0" rIns="72000" bIns="0" rtlCol="0" anchor="ctr" anchorCtr="1">
            <a:spAutoFit/>
          </a:bodyPr>
          <a:lstStyle/>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拠点名</a:t>
            </a:r>
          </a:p>
        </p:txBody>
      </p:sp>
      <p:sp>
        <p:nvSpPr>
          <p:cNvPr id="23"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3" hasCustomPrompt="1"/>
          </p:nvPr>
        </p:nvSpPr>
        <p:spPr>
          <a:xfrm>
            <a:off x="1737961" y="1296494"/>
            <a:ext cx="3167991" cy="216000"/>
          </a:xfrm>
          <a:prstGeom prst="rect">
            <a:avLst/>
          </a:prstGeom>
        </p:spPr>
        <p:txBody>
          <a:bodyPr wrap="none" lIns="0" tIns="0" rIns="0" bIns="0" anchor="ctr" anchorCtr="0"/>
          <a:lstStyle>
            <a:lvl1pPr marL="0" indent="0">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会社名を入力</a:t>
            </a:r>
          </a:p>
        </p:txBody>
      </p:sp>
      <p:sp>
        <p:nvSpPr>
          <p:cNvPr id="24"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4" hasCustomPrompt="1"/>
          </p:nvPr>
        </p:nvSpPr>
        <p:spPr>
          <a:xfrm>
            <a:off x="6144861" y="1296494"/>
            <a:ext cx="3167991" cy="216000"/>
          </a:xfrm>
          <a:prstGeom prst="rect">
            <a:avLst/>
          </a:prstGeom>
        </p:spPr>
        <p:txBody>
          <a:bodyPr wrap="none" lIns="0" tIns="0" rIns="0" bIns="0" anchor="ctr" anchorCtr="0"/>
          <a:lstStyle>
            <a:lvl1pPr marL="0" indent="0">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調査対象拠点を入力</a:t>
            </a:r>
          </a:p>
        </p:txBody>
      </p:sp>
      <p:sp>
        <p:nvSpPr>
          <p:cNvPr id="25"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5" hasCustomPrompt="1"/>
          </p:nvPr>
        </p:nvSpPr>
        <p:spPr>
          <a:xfrm>
            <a:off x="1737960" y="1569544"/>
            <a:ext cx="7571139" cy="216000"/>
          </a:xfrm>
          <a:prstGeom prst="rect">
            <a:avLst/>
          </a:prstGeom>
        </p:spPr>
        <p:txBody>
          <a:bodyPr wrap="none" lIns="0" tIns="0" rIns="0" bIns="0" anchor="ctr" anchorCtr="0"/>
          <a:lstStyle>
            <a:lvl1pPr marL="0" indent="0">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所在地を入力</a:t>
            </a:r>
          </a:p>
        </p:txBody>
      </p:sp>
      <p:sp>
        <p:nvSpPr>
          <p:cNvPr id="26"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6" hasCustomPrompt="1"/>
          </p:nvPr>
        </p:nvSpPr>
        <p:spPr>
          <a:xfrm>
            <a:off x="1737960" y="1848944"/>
            <a:ext cx="7596000" cy="719999"/>
          </a:xfrm>
          <a:prstGeom prst="rect">
            <a:avLst/>
          </a:prstGeom>
        </p:spPr>
        <p:txBody>
          <a:bodyPr wrap="none" lIns="0" tIns="0" rIns="0" bIns="0" anchor="ctr" anchorCtr="0"/>
          <a:lstStyle>
            <a:lvl1pPr marL="0" indent="0">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調査方法を入力</a:t>
            </a:r>
          </a:p>
        </p:txBody>
      </p:sp>
      <p:sp>
        <p:nvSpPr>
          <p:cNvPr id="27"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7" hasCustomPrompt="1"/>
          </p:nvPr>
        </p:nvSpPr>
        <p:spPr>
          <a:xfrm>
            <a:off x="1737962" y="2668094"/>
            <a:ext cx="5039997" cy="719999"/>
          </a:xfrm>
          <a:prstGeom prst="rect">
            <a:avLst/>
          </a:prstGeom>
        </p:spPr>
        <p:txBody>
          <a:bodyPr wrap="none" lIns="0" tIns="0" rIns="0" bIns="0" anchor="ctr" anchorCtr="0"/>
          <a:lstStyle>
            <a:lvl1pPr marL="0" indent="0">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社名・所属を入力</a:t>
            </a:r>
          </a:p>
        </p:txBody>
      </p:sp>
      <p:sp>
        <p:nvSpPr>
          <p:cNvPr id="28"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8" hasCustomPrompt="1"/>
          </p:nvPr>
        </p:nvSpPr>
        <p:spPr>
          <a:xfrm>
            <a:off x="1737962" y="3480894"/>
            <a:ext cx="5039997" cy="710105"/>
          </a:xfrm>
          <a:prstGeom prst="rect">
            <a:avLst/>
          </a:prstGeom>
        </p:spPr>
        <p:txBody>
          <a:bodyPr wrap="none" lIns="0" tIns="0" rIns="0" bIns="0" anchor="ctr" anchorCtr="0"/>
          <a:lstStyle>
            <a:lvl1pPr marL="0" indent="0">
              <a:spcBef>
                <a:spcPts val="500"/>
              </a:spcBef>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社名・所属を入力</a:t>
            </a:r>
          </a:p>
        </p:txBody>
      </p:sp>
      <p:sp>
        <p:nvSpPr>
          <p:cNvPr id="29"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9" hasCustomPrompt="1"/>
          </p:nvPr>
        </p:nvSpPr>
        <p:spPr>
          <a:xfrm>
            <a:off x="1737962" y="4287343"/>
            <a:ext cx="5039997" cy="863998"/>
          </a:xfrm>
          <a:prstGeom prst="rect">
            <a:avLst/>
          </a:prstGeom>
        </p:spPr>
        <p:txBody>
          <a:bodyPr wrap="none" lIns="0" tIns="0" rIns="0" bIns="0" anchor="ctr" anchorCtr="0"/>
          <a:lstStyle>
            <a:lvl1pPr marL="0" indent="0">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社名・所属を入力</a:t>
            </a:r>
          </a:p>
        </p:txBody>
      </p:sp>
      <p:sp>
        <p:nvSpPr>
          <p:cNvPr id="31"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1" hasCustomPrompt="1"/>
          </p:nvPr>
        </p:nvSpPr>
        <p:spPr>
          <a:xfrm>
            <a:off x="1737962" y="5239843"/>
            <a:ext cx="5039997" cy="863998"/>
          </a:xfrm>
          <a:prstGeom prst="rect">
            <a:avLst/>
          </a:prstGeom>
        </p:spPr>
        <p:txBody>
          <a:bodyPr wrap="none" lIns="0" tIns="0" rIns="0" bIns="0" anchor="ctr" anchorCtr="0"/>
          <a:lstStyle>
            <a:lvl1pPr marL="0" indent="0">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社名・所属を入力</a:t>
            </a:r>
          </a:p>
        </p:txBody>
      </p:sp>
      <p:sp>
        <p:nvSpPr>
          <p:cNvPr id="32"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2" hasCustomPrompt="1"/>
          </p:nvPr>
        </p:nvSpPr>
        <p:spPr>
          <a:xfrm>
            <a:off x="6906869" y="2668094"/>
            <a:ext cx="2159987" cy="719999"/>
          </a:xfrm>
          <a:prstGeom prst="rect">
            <a:avLst/>
          </a:prstGeom>
        </p:spPr>
        <p:txBody>
          <a:bodyPr wrap="none" lIns="0" tIns="0" rIns="0" bIns="0" anchor="ctr" anchorCtr="0"/>
          <a:lstStyle>
            <a:lvl1pPr marL="0" indent="0" algn="r">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名前を入力</a:t>
            </a:r>
          </a:p>
        </p:txBody>
      </p:sp>
      <p:sp>
        <p:nvSpPr>
          <p:cNvPr id="33"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3" hasCustomPrompt="1"/>
          </p:nvPr>
        </p:nvSpPr>
        <p:spPr>
          <a:xfrm>
            <a:off x="6906869" y="3480894"/>
            <a:ext cx="2159987" cy="710105"/>
          </a:xfrm>
          <a:prstGeom prst="rect">
            <a:avLst/>
          </a:prstGeom>
        </p:spPr>
        <p:txBody>
          <a:bodyPr wrap="none" lIns="0" tIns="0" rIns="0" bIns="0" anchor="ctr" anchorCtr="0"/>
          <a:lstStyle>
            <a:lvl1pPr marL="0" indent="0" algn="r">
              <a:spcBef>
                <a:spcPts val="500"/>
              </a:spcBef>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名前を入力</a:t>
            </a:r>
          </a:p>
        </p:txBody>
      </p:sp>
      <p:sp>
        <p:nvSpPr>
          <p:cNvPr id="34"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4" hasCustomPrompt="1"/>
          </p:nvPr>
        </p:nvSpPr>
        <p:spPr>
          <a:xfrm>
            <a:off x="6906869" y="4287343"/>
            <a:ext cx="2159987" cy="863998"/>
          </a:xfrm>
          <a:prstGeom prst="rect">
            <a:avLst/>
          </a:prstGeom>
        </p:spPr>
        <p:txBody>
          <a:bodyPr wrap="none" lIns="0" tIns="0" rIns="0" bIns="0" anchor="ctr" anchorCtr="0"/>
          <a:lstStyle>
            <a:lvl1pPr marL="0" indent="0" algn="r">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名前を入力</a:t>
            </a:r>
          </a:p>
        </p:txBody>
      </p:sp>
      <p:sp>
        <p:nvSpPr>
          <p:cNvPr id="35"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5" hasCustomPrompt="1"/>
          </p:nvPr>
        </p:nvSpPr>
        <p:spPr>
          <a:xfrm>
            <a:off x="6906869" y="5239843"/>
            <a:ext cx="2159987" cy="863998"/>
          </a:xfrm>
          <a:prstGeom prst="rect">
            <a:avLst/>
          </a:prstGeom>
        </p:spPr>
        <p:txBody>
          <a:bodyPr wrap="none" lIns="0" tIns="0" rIns="0" bIns="0" anchor="ctr" anchorCtr="0"/>
          <a:lstStyle>
            <a:lvl1pPr marL="0" indent="0" algn="r">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名前を入力</a:t>
            </a:r>
          </a:p>
        </p:txBody>
      </p:sp>
      <p:sp>
        <p:nvSpPr>
          <p:cNvPr id="30" name="テキスト ボックス 29"/>
          <p:cNvSpPr txBox="1"/>
          <p:nvPr userDrawn="1"/>
        </p:nvSpPr>
        <p:spPr>
          <a:xfrm>
            <a:off x="367850" y="6464300"/>
            <a:ext cx="9173633" cy="211667"/>
          </a:xfrm>
          <a:prstGeom prst="rect">
            <a:avLst/>
          </a:prstGeom>
          <a:solidFill>
            <a:srgbClr val="006659"/>
          </a:solidFill>
        </p:spPr>
        <p:txBody>
          <a:bodyPr wrap="square" lIns="72000" tIns="0" rIns="0" bIns="0" rtlCol="0" anchor="ctr" anchorCtr="0">
            <a:noAutofit/>
          </a:bodyPr>
          <a:lstStyle/>
          <a:p>
            <a:pPr algn="l"/>
            <a:r>
              <a:rPr kumimoji="1" lang="en-US" altLang="ja-JP" sz="900" dirty="0">
                <a:solidFill>
                  <a:schemeClr val="bg1"/>
                </a:solidFill>
                <a:latin typeface="游ゴシック" panose="020B0400000000000000" pitchFamily="50" charset="-128"/>
                <a:ea typeface="游ゴシック" panose="020B0400000000000000" pitchFamily="50" charset="-128"/>
              </a:rPr>
              <a:t>© MS&amp;AD </a:t>
            </a:r>
            <a:r>
              <a:rPr kumimoji="1" lang="en-US" altLang="ja-JP" sz="900" dirty="0" err="1">
                <a:solidFill>
                  <a:schemeClr val="bg1"/>
                </a:solidFill>
                <a:latin typeface="游ゴシック" panose="020B0400000000000000" pitchFamily="50" charset="-128"/>
                <a:ea typeface="游ゴシック" panose="020B0400000000000000" pitchFamily="50" charset="-128"/>
              </a:rPr>
              <a:t>InterRisk</a:t>
            </a:r>
            <a:r>
              <a:rPr kumimoji="1" lang="en-US" altLang="ja-JP" sz="900" dirty="0">
                <a:solidFill>
                  <a:schemeClr val="bg1"/>
                </a:solidFill>
                <a:latin typeface="游ゴシック" panose="020B0400000000000000" pitchFamily="50" charset="-128"/>
                <a:ea typeface="游ゴシック" panose="020B0400000000000000" pitchFamily="50" charset="-128"/>
              </a:rPr>
              <a:t> Research &amp; Consulting, Inc.</a:t>
            </a:r>
            <a:endParaRPr kumimoji="1" lang="ja-JP" altLang="en-US" sz="900" dirty="0">
              <a:solidFill>
                <a:schemeClr val="bg1"/>
              </a:solidFill>
              <a:latin typeface="游ゴシック" panose="020B0400000000000000" pitchFamily="50" charset="-128"/>
              <a:ea typeface="游ゴシック" panose="020B0400000000000000" pitchFamily="50" charset="-128"/>
            </a:endParaRPr>
          </a:p>
        </p:txBody>
      </p:sp>
      <p:sp>
        <p:nvSpPr>
          <p:cNvPr id="37" name="テキスト ボックス 36"/>
          <p:cNvSpPr txBox="1">
            <a:spLocks noChangeAspect="1"/>
          </p:cNvSpPr>
          <p:nvPr userDrawn="1"/>
        </p:nvSpPr>
        <p:spPr>
          <a:xfrm>
            <a:off x="8207375" y="358031"/>
            <a:ext cx="1332000" cy="180000"/>
          </a:xfrm>
          <a:prstGeom prst="rect">
            <a:avLst/>
          </a:prstGeom>
          <a:solidFill>
            <a:srgbClr val="404040"/>
          </a:solidFill>
        </p:spPr>
        <p:txBody>
          <a:bodyPr wrap="none" lIns="0" tIns="0" rIns="0" bIns="0" rtlCol="0" anchor="ctr" anchorCtr="0">
            <a:noAutofit/>
          </a:bodyPr>
          <a:lstStyle/>
          <a:p>
            <a:pPr algn="ctr"/>
            <a:r>
              <a:rPr kumimoji="1" lang="en-US" altLang="ja-JP" sz="1000" dirty="0">
                <a:solidFill>
                  <a:srgbClr val="FFFFFF"/>
                </a:solidFill>
                <a:latin typeface="游ゴシック" panose="020B0400000000000000" pitchFamily="50" charset="-128"/>
                <a:ea typeface="游ゴシック" panose="020B0400000000000000" pitchFamily="50" charset="-128"/>
              </a:rPr>
              <a:t>Strictly Confidential</a:t>
            </a:r>
            <a:endParaRPr kumimoji="1" lang="ja-JP" altLang="en-US" sz="1000" dirty="0">
              <a:solidFill>
                <a:srgbClr val="FFFFFF"/>
              </a:solidFill>
              <a:latin typeface="游ゴシック" panose="020B0400000000000000" pitchFamily="50" charset="-128"/>
              <a:ea typeface="游ゴシック" panose="020B0400000000000000" pitchFamily="50" charset="-128"/>
            </a:endParaRPr>
          </a:p>
        </p:txBody>
      </p:sp>
      <p:sp>
        <p:nvSpPr>
          <p:cNvPr id="36" name="スライド番号プレースホルダー 5"/>
          <p:cNvSpPr>
            <a:spLocks noGrp="1"/>
          </p:cNvSpPr>
          <p:nvPr>
            <p:ph type="sldNum" sz="quarter" idx="4"/>
          </p:nvPr>
        </p:nvSpPr>
        <p:spPr>
          <a:xfrm>
            <a:off x="9437983" y="6407679"/>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游ゴシック" panose="020B0400000000000000" pitchFamily="50" charset="-128"/>
                <a:ea typeface="游ゴシック" panose="020B0400000000000000" pitchFamily="50" charset="-128"/>
              </a:defRPr>
            </a:lvl1pPr>
          </a:lstStyle>
          <a:p>
            <a:pPr algn="ctr"/>
            <a:fld id="{3C987C2D-0993-D24A-8F17-67855EAE4BDA}" type="slidenum">
              <a:rPr lang="en-US" altLang="ja-JP" smtClean="0"/>
              <a:pPr algn="ctr"/>
              <a:t>‹#›</a:t>
            </a:fld>
            <a:endParaRPr lang="en-US" dirty="0"/>
          </a:p>
        </p:txBody>
      </p:sp>
    </p:spTree>
    <p:extLst>
      <p:ext uri="{BB962C8B-B14F-4D97-AF65-F5344CB8AC3E}">
        <p14:creationId xmlns:p14="http://schemas.microsoft.com/office/powerpoint/2010/main" val="595450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調査概況_現地調査結果サマリー">
    <p:bg>
      <p:bgPr>
        <a:blipFill rotWithShape="1">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テキスト ボックス 5"/>
          <p:cNvSpPr txBox="1"/>
          <p:nvPr userDrawn="1"/>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調査概要</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7" name="正方形/長方形 6"/>
          <p:cNvSpPr>
            <a:spLocks noChangeAspect="1"/>
          </p:cNvSpPr>
          <p:nvPr userDrawn="1"/>
        </p:nvSpPr>
        <p:spPr>
          <a:xfrm>
            <a:off x="360000" y="370800"/>
            <a:ext cx="720000" cy="720000"/>
          </a:xfrm>
          <a:prstGeom prst="rect">
            <a:avLst/>
          </a:prstGeom>
          <a:solidFill>
            <a:srgbClr val="006659"/>
          </a:solidFill>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dirty="0">
              <a:latin typeface="游ゴシック" panose="020B0400000000000000" pitchFamily="50" charset="-128"/>
              <a:ea typeface="游ゴシック" panose="020B0400000000000000" pitchFamily="50" charset="-128"/>
            </a:endParaRPr>
          </a:p>
        </p:txBody>
      </p:sp>
      <p:sp>
        <p:nvSpPr>
          <p:cNvPr id="10" name="テキスト ボックス 9"/>
          <p:cNvSpPr txBox="1">
            <a:spLocks noChangeAspect="1"/>
          </p:cNvSpPr>
          <p:nvPr userDrawn="1"/>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b="0" dirty="0">
                <a:solidFill>
                  <a:schemeClr val="bg1"/>
                </a:solidFill>
                <a:latin typeface="游ゴシック" panose="020B0400000000000000" pitchFamily="50" charset="-128"/>
                <a:ea typeface="游ゴシック" panose="020B0400000000000000" pitchFamily="50" charset="-128"/>
              </a:rPr>
              <a:t>1</a:t>
            </a:r>
          </a:p>
        </p:txBody>
      </p:sp>
      <p:sp>
        <p:nvSpPr>
          <p:cNvPr id="15" name="テキスト ボックス 14"/>
          <p:cNvSpPr txBox="1"/>
          <p:nvPr userDrawn="1"/>
        </p:nvSpPr>
        <p:spPr>
          <a:xfrm>
            <a:off x="535515" y="1288800"/>
            <a:ext cx="1152000" cy="215444"/>
          </a:xfrm>
          <a:prstGeom prst="rect">
            <a:avLst/>
          </a:prstGeom>
          <a:noFill/>
        </p:spPr>
        <p:txBody>
          <a:bodyPr wrap="square" lIns="180000" tIns="0" rIns="180000" bIns="0" rtlCol="0" anchor="ctr" anchorCtr="1">
            <a:spAutoFit/>
          </a:bodyPr>
          <a:lstStyle/>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項目</a:t>
            </a:r>
          </a:p>
        </p:txBody>
      </p:sp>
      <p:sp>
        <p:nvSpPr>
          <p:cNvPr id="16" name="テキスト ボックス 15"/>
          <p:cNvSpPr txBox="1"/>
          <p:nvPr userDrawn="1"/>
        </p:nvSpPr>
        <p:spPr>
          <a:xfrm>
            <a:off x="535515" y="2091050"/>
            <a:ext cx="1152000" cy="430887"/>
          </a:xfrm>
          <a:prstGeom prst="rect">
            <a:avLst/>
          </a:prstGeom>
          <a:noFill/>
        </p:spPr>
        <p:txBody>
          <a:bodyPr wrap="square" lIns="180000" tIns="0" rIns="180000" bIns="0" rtlCol="0" anchor="ctr" anchorCtr="1">
            <a:spAutoFit/>
          </a:bodyPr>
          <a:lstStyle/>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立地リスク</a:t>
            </a:r>
          </a:p>
        </p:txBody>
      </p:sp>
      <p:sp>
        <p:nvSpPr>
          <p:cNvPr id="17" name="テキスト ボックス 16"/>
          <p:cNvSpPr txBox="1"/>
          <p:nvPr userDrawn="1"/>
        </p:nvSpPr>
        <p:spPr>
          <a:xfrm>
            <a:off x="535515" y="3627365"/>
            <a:ext cx="1152000" cy="430887"/>
          </a:xfrm>
          <a:prstGeom prst="rect">
            <a:avLst/>
          </a:prstGeom>
          <a:noFill/>
        </p:spPr>
        <p:txBody>
          <a:bodyPr wrap="square" lIns="180000" tIns="0" rIns="180000" bIns="0" rtlCol="0" anchor="ctr" anchorCtr="1">
            <a:spAutoFit/>
          </a:bodyPr>
          <a:lstStyle/>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施設リスク</a:t>
            </a:r>
          </a:p>
        </p:txBody>
      </p:sp>
      <p:sp>
        <p:nvSpPr>
          <p:cNvPr id="18" name="テキスト ボックス 17"/>
          <p:cNvSpPr txBox="1"/>
          <p:nvPr userDrawn="1"/>
        </p:nvSpPr>
        <p:spPr>
          <a:xfrm>
            <a:off x="535515" y="5159295"/>
            <a:ext cx="1152000" cy="430887"/>
          </a:xfrm>
          <a:prstGeom prst="rect">
            <a:avLst/>
          </a:prstGeom>
          <a:noFill/>
        </p:spPr>
        <p:txBody>
          <a:bodyPr wrap="square" lIns="180000" tIns="0" rIns="180000" bIns="0" rtlCol="0" anchor="ctr" anchorCtr="1">
            <a:spAutoFit/>
          </a:bodyPr>
          <a:lstStyle/>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重要改善</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dist"/>
            <a:r>
              <a:rPr kumimoji="1" lang="ja-JP" altLang="en-US" sz="1400" dirty="0">
                <a:solidFill>
                  <a:schemeClr val="tx1"/>
                </a:solidFill>
                <a:latin typeface="游ゴシック" panose="020B0400000000000000" pitchFamily="50" charset="-128"/>
                <a:ea typeface="游ゴシック" panose="020B0400000000000000" pitchFamily="50" charset="-128"/>
              </a:rPr>
              <a:t>提案事項</a:t>
            </a:r>
          </a:p>
        </p:txBody>
      </p:sp>
      <p:sp>
        <p:nvSpPr>
          <p:cNvPr id="22" name="テキスト ボックス 21"/>
          <p:cNvSpPr txBox="1"/>
          <p:nvPr userDrawn="1"/>
        </p:nvSpPr>
        <p:spPr>
          <a:xfrm>
            <a:off x="1737960" y="1288800"/>
            <a:ext cx="7596000" cy="215444"/>
          </a:xfrm>
          <a:prstGeom prst="rect">
            <a:avLst/>
          </a:prstGeom>
          <a:noFill/>
        </p:spPr>
        <p:txBody>
          <a:bodyPr wrap="square" lIns="72000" tIns="0" rIns="72000" bIns="0" rtlCol="0" anchor="ctr" anchorCtr="1">
            <a:spAutoFit/>
          </a:body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概　　　　　要</a:t>
            </a:r>
          </a:p>
        </p:txBody>
      </p:sp>
      <p:sp>
        <p:nvSpPr>
          <p:cNvPr id="26"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6" hasCustomPrompt="1"/>
          </p:nvPr>
        </p:nvSpPr>
        <p:spPr>
          <a:xfrm>
            <a:off x="1846800" y="1594944"/>
            <a:ext cx="7380000" cy="1427656"/>
          </a:xfrm>
          <a:prstGeom prst="rect">
            <a:avLst/>
          </a:prstGeom>
        </p:spPr>
        <p:txBody>
          <a:bodyPr wrap="none" lIns="0" tIns="0" rIns="0" bIns="0" anchor="t" anchorCtr="0"/>
          <a:lstStyle>
            <a:lvl1pPr marL="0" indent="0">
              <a:spcBef>
                <a:spcPts val="600"/>
              </a:spcBef>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テキストを入力</a:t>
            </a:r>
          </a:p>
        </p:txBody>
      </p:sp>
      <p:sp>
        <p:nvSpPr>
          <p:cNvPr id="30"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7" hasCustomPrompt="1"/>
          </p:nvPr>
        </p:nvSpPr>
        <p:spPr>
          <a:xfrm>
            <a:off x="1846800" y="3128469"/>
            <a:ext cx="7380000" cy="1427656"/>
          </a:xfrm>
          <a:prstGeom prst="rect">
            <a:avLst/>
          </a:prstGeom>
        </p:spPr>
        <p:txBody>
          <a:bodyPr wrap="none" lIns="0" tIns="0" rIns="0" bIns="0" anchor="t" anchorCtr="0"/>
          <a:lstStyle>
            <a:lvl1pPr marL="0" indent="0">
              <a:spcBef>
                <a:spcPts val="600"/>
              </a:spcBef>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テキストを入力</a:t>
            </a:r>
          </a:p>
        </p:txBody>
      </p:sp>
      <p:sp>
        <p:nvSpPr>
          <p:cNvPr id="37"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8" hasCustomPrompt="1"/>
          </p:nvPr>
        </p:nvSpPr>
        <p:spPr>
          <a:xfrm>
            <a:off x="1846800" y="4661994"/>
            <a:ext cx="7380000" cy="1427656"/>
          </a:xfrm>
          <a:prstGeom prst="rect">
            <a:avLst/>
          </a:prstGeom>
        </p:spPr>
        <p:txBody>
          <a:bodyPr wrap="none" lIns="0" tIns="0" rIns="0" bIns="0" anchor="t" anchorCtr="0"/>
          <a:lstStyle>
            <a:lvl1pPr marL="0" indent="0">
              <a:spcBef>
                <a:spcPts val="600"/>
              </a:spcBef>
              <a:buNone/>
              <a:defRPr sz="14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テキストを入力</a:t>
            </a:r>
          </a:p>
        </p:txBody>
      </p:sp>
      <p:sp>
        <p:nvSpPr>
          <p:cNvPr id="19" name="テキスト ボックス 18"/>
          <p:cNvSpPr txBox="1"/>
          <p:nvPr userDrawn="1"/>
        </p:nvSpPr>
        <p:spPr>
          <a:xfrm>
            <a:off x="367850" y="6464300"/>
            <a:ext cx="9173633" cy="211667"/>
          </a:xfrm>
          <a:prstGeom prst="rect">
            <a:avLst/>
          </a:prstGeom>
          <a:solidFill>
            <a:srgbClr val="006659"/>
          </a:solidFill>
        </p:spPr>
        <p:txBody>
          <a:bodyPr wrap="square" lIns="72000" tIns="0" rIns="0" bIns="0" rtlCol="0" anchor="ctr" anchorCtr="0">
            <a:noAutofit/>
          </a:bodyPr>
          <a:lstStyle/>
          <a:p>
            <a:pPr algn="l"/>
            <a:r>
              <a:rPr kumimoji="1" lang="en-US" altLang="ja-JP" sz="900" dirty="0">
                <a:solidFill>
                  <a:schemeClr val="bg1"/>
                </a:solidFill>
                <a:latin typeface="游ゴシック" panose="020B0400000000000000" pitchFamily="50" charset="-128"/>
                <a:ea typeface="游ゴシック" panose="020B0400000000000000" pitchFamily="50" charset="-128"/>
              </a:rPr>
              <a:t>© MS&amp;AD </a:t>
            </a:r>
            <a:r>
              <a:rPr kumimoji="1" lang="en-US" altLang="ja-JP" sz="900" dirty="0" err="1">
                <a:solidFill>
                  <a:schemeClr val="bg1"/>
                </a:solidFill>
                <a:latin typeface="游ゴシック" panose="020B0400000000000000" pitchFamily="50" charset="-128"/>
                <a:ea typeface="游ゴシック" panose="020B0400000000000000" pitchFamily="50" charset="-128"/>
              </a:rPr>
              <a:t>InterRisk</a:t>
            </a:r>
            <a:r>
              <a:rPr kumimoji="1" lang="en-US" altLang="ja-JP" sz="900" dirty="0">
                <a:solidFill>
                  <a:schemeClr val="bg1"/>
                </a:solidFill>
                <a:latin typeface="游ゴシック" panose="020B0400000000000000" pitchFamily="50" charset="-128"/>
                <a:ea typeface="游ゴシック" panose="020B0400000000000000" pitchFamily="50" charset="-128"/>
              </a:rPr>
              <a:t> Research &amp; Consulting, Inc.</a:t>
            </a:r>
            <a:endParaRPr kumimoji="1" lang="ja-JP" altLang="en-US" sz="900" dirty="0">
              <a:solidFill>
                <a:schemeClr val="bg1"/>
              </a:solidFill>
              <a:latin typeface="游ゴシック" panose="020B0400000000000000" pitchFamily="50" charset="-128"/>
              <a:ea typeface="游ゴシック" panose="020B0400000000000000" pitchFamily="50" charset="-128"/>
            </a:endParaRPr>
          </a:p>
        </p:txBody>
      </p:sp>
      <p:sp>
        <p:nvSpPr>
          <p:cNvPr id="20" name="テキスト ボックス 19"/>
          <p:cNvSpPr txBox="1">
            <a:spLocks noChangeAspect="1"/>
          </p:cNvSpPr>
          <p:nvPr userDrawn="1"/>
        </p:nvSpPr>
        <p:spPr>
          <a:xfrm>
            <a:off x="8207375" y="358031"/>
            <a:ext cx="1332000" cy="180000"/>
          </a:xfrm>
          <a:prstGeom prst="rect">
            <a:avLst/>
          </a:prstGeom>
          <a:solidFill>
            <a:srgbClr val="404040"/>
          </a:solidFill>
        </p:spPr>
        <p:txBody>
          <a:bodyPr wrap="none" lIns="0" tIns="0" rIns="0" bIns="0" rtlCol="0" anchor="ctr" anchorCtr="0">
            <a:noAutofit/>
          </a:bodyPr>
          <a:lstStyle/>
          <a:p>
            <a:pPr algn="ctr"/>
            <a:r>
              <a:rPr kumimoji="1" lang="en-US" altLang="ja-JP" sz="1000" dirty="0">
                <a:solidFill>
                  <a:srgbClr val="FFFFFF"/>
                </a:solidFill>
                <a:latin typeface="游ゴシック" panose="020B0400000000000000" pitchFamily="50" charset="-128"/>
                <a:ea typeface="游ゴシック" panose="020B0400000000000000" pitchFamily="50" charset="-128"/>
              </a:rPr>
              <a:t>Strictly Confidential</a:t>
            </a:r>
            <a:endParaRPr kumimoji="1" lang="ja-JP" altLang="en-US" sz="1000" dirty="0">
              <a:solidFill>
                <a:srgbClr val="FFFFFF"/>
              </a:solidFill>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437983" y="6407679"/>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游ゴシック" panose="020B0400000000000000" pitchFamily="50" charset="-128"/>
                <a:ea typeface="游ゴシック" panose="020B0400000000000000" pitchFamily="50" charset="-128"/>
              </a:defRPr>
            </a:lvl1pPr>
          </a:lstStyle>
          <a:p>
            <a:pPr algn="ctr"/>
            <a:fld id="{3C987C2D-0993-D24A-8F17-67855EAE4BDA}" type="slidenum">
              <a:rPr lang="en-US" altLang="ja-JP" smtClean="0"/>
              <a:pPr algn="ctr"/>
              <a:t>‹#›</a:t>
            </a:fld>
            <a:endParaRPr lang="en-US" dirty="0"/>
          </a:p>
        </p:txBody>
      </p:sp>
    </p:spTree>
    <p:extLst>
      <p:ext uri="{BB962C8B-B14F-4D97-AF65-F5344CB8AC3E}">
        <p14:creationId xmlns:p14="http://schemas.microsoft.com/office/powerpoint/2010/main" val="2312709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リスク低減に向けたご提案事項_追加 ">
    <p:bg>
      <p:bgPr>
        <a:blipFill rotWithShape="1">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テキスト ボックス 5"/>
          <p:cNvSpPr txBox="1"/>
          <p:nvPr userDrawn="1"/>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リスク低減に向けたご提案事項</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7" name="正方形/長方形 6"/>
          <p:cNvSpPr>
            <a:spLocks noChangeAspect="1"/>
          </p:cNvSpPr>
          <p:nvPr userDrawn="1"/>
        </p:nvSpPr>
        <p:spPr>
          <a:xfrm>
            <a:off x="360000" y="370800"/>
            <a:ext cx="720000" cy="720000"/>
          </a:xfrm>
          <a:prstGeom prst="rect">
            <a:avLst/>
          </a:prstGeom>
          <a:solidFill>
            <a:srgbClr val="006659"/>
          </a:solidFill>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dirty="0">
              <a:latin typeface="游ゴシック" panose="020B0400000000000000" pitchFamily="50" charset="-128"/>
              <a:ea typeface="游ゴシック" panose="020B0400000000000000" pitchFamily="50" charset="-128"/>
            </a:endParaRPr>
          </a:p>
        </p:txBody>
      </p:sp>
      <p:sp>
        <p:nvSpPr>
          <p:cNvPr id="10" name="テキスト ボックス 9"/>
          <p:cNvSpPr txBox="1">
            <a:spLocks noChangeAspect="1"/>
          </p:cNvSpPr>
          <p:nvPr userDrawn="1"/>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2</a:t>
            </a:r>
          </a:p>
        </p:txBody>
      </p:sp>
      <p:graphicFrame>
        <p:nvGraphicFramePr>
          <p:cNvPr id="30" name="表 29"/>
          <p:cNvGraphicFramePr>
            <a:graphicFrameLocks noGrp="1"/>
          </p:cNvGraphicFramePr>
          <p:nvPr userDrawn="1">
            <p:extLst>
              <p:ext uri="{D42A27DB-BD31-4B8C-83A1-F6EECF244321}">
                <p14:modId xmlns:p14="http://schemas.microsoft.com/office/powerpoint/2010/main" val="1465379935"/>
              </p:ext>
            </p:extLst>
          </p:nvPr>
        </p:nvGraphicFramePr>
        <p:xfrm>
          <a:off x="528638" y="5156200"/>
          <a:ext cx="5770562" cy="1219200"/>
        </p:xfrm>
        <a:graphic>
          <a:graphicData uri="http://schemas.openxmlformats.org/drawingml/2006/table">
            <a:tbl>
              <a:tblPr firstRow="1" bandRow="1">
                <a:tableStyleId>{2D5ABB26-0587-4C30-8999-92F81FD0307C}</a:tableStyleId>
              </a:tblPr>
              <a:tblGrid>
                <a:gridCol w="998553">
                  <a:extLst>
                    <a:ext uri="{9D8B030D-6E8A-4147-A177-3AD203B41FA5}">
                      <a16:colId xmlns:a16="http://schemas.microsoft.com/office/drawing/2014/main" val="20000"/>
                    </a:ext>
                  </a:extLst>
                </a:gridCol>
                <a:gridCol w="347964">
                  <a:extLst>
                    <a:ext uri="{9D8B030D-6E8A-4147-A177-3AD203B41FA5}">
                      <a16:colId xmlns:a16="http://schemas.microsoft.com/office/drawing/2014/main" val="20001"/>
                    </a:ext>
                  </a:extLst>
                </a:gridCol>
                <a:gridCol w="4424045">
                  <a:extLst>
                    <a:ext uri="{9D8B030D-6E8A-4147-A177-3AD203B41FA5}">
                      <a16:colId xmlns:a16="http://schemas.microsoft.com/office/drawing/2014/main" val="20002"/>
                    </a:ext>
                  </a:extLst>
                </a:gridCol>
              </a:tblGrid>
              <a:tr h="378003">
                <a:tc rowSpan="3">
                  <a:txBody>
                    <a:bodyPr/>
                    <a:lstStyle/>
                    <a:p>
                      <a:pPr algn="ctr"/>
                      <a:r>
                        <a:rPr kumimoji="1" lang="ja-JP" altLang="en-US" sz="1000" b="0" i="0" dirty="0">
                          <a:latin typeface="游ゴシック" panose="020B0400000000000000" pitchFamily="50" charset="-128"/>
                          <a:ea typeface="游ゴシック" panose="020B0400000000000000" pitchFamily="50" charset="-128"/>
                        </a:rPr>
                        <a:t>提案事項の</a:t>
                      </a:r>
                      <a:endParaRPr kumimoji="1" lang="en-US" altLang="ja-JP" sz="1000" b="0" i="0" dirty="0">
                        <a:latin typeface="游ゴシック" panose="020B0400000000000000" pitchFamily="50" charset="-128"/>
                        <a:ea typeface="游ゴシック" panose="020B0400000000000000" pitchFamily="50" charset="-128"/>
                      </a:endParaRPr>
                    </a:p>
                    <a:p>
                      <a:pPr algn="ctr"/>
                      <a:r>
                        <a:rPr kumimoji="1" lang="ja-JP" altLang="en-US" sz="1000" b="0" i="0" dirty="0">
                          <a:latin typeface="游ゴシック" panose="020B0400000000000000" pitchFamily="50" charset="-128"/>
                          <a:ea typeface="游ゴシック" panose="020B0400000000000000" pitchFamily="50" charset="-128"/>
                        </a:rPr>
                        <a:t>重要度指標</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1000" b="0" i="0" dirty="0">
                          <a:latin typeface="游ゴシック" panose="020B0400000000000000" pitchFamily="50" charset="-128"/>
                          <a:ea typeface="游ゴシック" panose="020B0400000000000000" pitchFamily="50" charset="-128"/>
                        </a:rPr>
                        <a:t>A</a:t>
                      </a:r>
                      <a:r>
                        <a:rPr kumimoji="1" lang="ja-JP" altLang="en-US" sz="1000" b="0" i="0" dirty="0">
                          <a:latin typeface="游ゴシック" panose="020B0400000000000000" pitchFamily="50" charset="-128"/>
                          <a:ea typeface="游ゴシック" panose="020B0400000000000000" pitchFamily="50" charset="-128"/>
                        </a:rPr>
                        <a:t>：</a:t>
                      </a:r>
                      <a:endParaRPr kumimoji="1" lang="en-US" altLang="ja-JP" sz="1000" b="0" i="0" dirty="0">
                        <a:latin typeface="游ゴシック" panose="020B0400000000000000" pitchFamily="50" charset="-128"/>
                        <a:ea typeface="游ゴシック" panose="020B0400000000000000" pitchFamily="50" charset="-128"/>
                      </a:endParaRPr>
                    </a:p>
                    <a:p>
                      <a:pPr algn="ctr"/>
                      <a:endParaRPr kumimoji="1" lang="ja-JP" altLang="en-US" sz="1000" b="0" i="0" dirty="0">
                        <a:latin typeface="游ゴシック" panose="020B0400000000000000" pitchFamily="50" charset="-128"/>
                        <a:ea typeface="游ゴシック" panose="020B0400000000000000" pitchFamily="50" charset="-128"/>
                      </a:endParaRPr>
                    </a:p>
                  </a:txBody>
                  <a:tcPr marL="72000" marR="7200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kumimoji="1" lang="ja-JP" altLang="en-US" sz="1000" b="0" i="0" dirty="0">
                          <a:latin typeface="游ゴシック" panose="020B0400000000000000" pitchFamily="50" charset="-128"/>
                          <a:ea typeface="游ゴシック" panose="020B0400000000000000" pitchFamily="50" charset="-128"/>
                        </a:rPr>
                        <a:t>改善策を講じない場合に事業への影響が大きい、または人命や事業所資産の危険が大きいと考えられる事項</a:t>
                      </a:r>
                    </a:p>
                  </a:txBody>
                  <a:tcPr marL="72000" marR="7200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8003">
                <a:tc vMerge="1">
                  <a:txBody>
                    <a:bodyPr/>
                    <a:lstStyle/>
                    <a:p>
                      <a:endParaRPr kumimoji="1" lang="ja-JP" altLang="en-US" sz="1100" dirty="0"/>
                    </a:p>
                  </a:txBody>
                  <a:tcPr/>
                </a:tc>
                <a:tc>
                  <a:txBody>
                    <a:bodyPr/>
                    <a:lstStyle/>
                    <a:p>
                      <a:pPr algn="ctr"/>
                      <a:r>
                        <a:rPr kumimoji="1" lang="en-US" altLang="ja-JP" sz="1000" b="0" i="0" dirty="0">
                          <a:latin typeface="游ゴシック" panose="020B0400000000000000" pitchFamily="50" charset="-128"/>
                          <a:ea typeface="游ゴシック" panose="020B0400000000000000" pitchFamily="50" charset="-128"/>
                        </a:rPr>
                        <a:t>B</a:t>
                      </a:r>
                      <a:r>
                        <a:rPr kumimoji="1" lang="ja-JP" altLang="en-US" sz="1000" b="0" i="0" dirty="0">
                          <a:latin typeface="游ゴシック" panose="020B0400000000000000" pitchFamily="50" charset="-128"/>
                          <a:ea typeface="游ゴシック" panose="020B0400000000000000" pitchFamily="50" charset="-128"/>
                        </a:rPr>
                        <a:t>：</a:t>
                      </a:r>
                      <a:endParaRPr kumimoji="1" lang="en-US" altLang="ja-JP" sz="1000" b="0" i="0" dirty="0">
                        <a:latin typeface="游ゴシック" panose="020B0400000000000000" pitchFamily="50" charset="-128"/>
                        <a:ea typeface="游ゴシック" panose="020B0400000000000000" pitchFamily="50" charset="-128"/>
                      </a:endParaRPr>
                    </a:p>
                    <a:p>
                      <a:pPr algn="ctr"/>
                      <a:endParaRPr kumimoji="1" lang="ja-JP" altLang="en-US" sz="1000" b="0" i="0" dirty="0">
                        <a:latin typeface="游ゴシック" panose="020B0400000000000000" pitchFamily="50" charset="-128"/>
                        <a:ea typeface="游ゴシック" panose="020B0400000000000000" pitchFamily="50" charset="-128"/>
                      </a:endParaRPr>
                    </a:p>
                  </a:txBody>
                  <a:tcPr marL="72000" marR="72000" marT="0" marB="0" anchor="ctr">
                    <a:lnL w="12700" cap="flat" cmpd="sng" algn="ctr">
                      <a:solidFill>
                        <a:schemeClr val="tx1"/>
                      </a:solid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dirty="0">
                          <a:latin typeface="游ゴシック" panose="020B0400000000000000" pitchFamily="50" charset="-128"/>
                          <a:ea typeface="游ゴシック" panose="020B0400000000000000" pitchFamily="50" charset="-128"/>
                        </a:rPr>
                        <a:t>改善策を講じない場合に事業への影響がある、または人命や事業所資産の危険が少なくないと考えられる事項</a:t>
                      </a:r>
                    </a:p>
                  </a:txBody>
                  <a:tcPr marL="72000" marR="72000" marT="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32627">
                <a:tc vMerge="1">
                  <a:txBody>
                    <a:bodyPr/>
                    <a:lstStyle/>
                    <a:p>
                      <a:endParaRPr kumimoji="1" lang="ja-JP" altLang="en-US" sz="1100" dirty="0"/>
                    </a:p>
                  </a:txBody>
                  <a:tcPr/>
                </a:tc>
                <a:tc>
                  <a:txBody>
                    <a:bodyPr/>
                    <a:lstStyle/>
                    <a:p>
                      <a:pPr algn="ctr"/>
                      <a:r>
                        <a:rPr kumimoji="1" lang="en-US" altLang="ja-JP" sz="1000" b="0" i="0" dirty="0">
                          <a:latin typeface="游ゴシック" panose="020B0400000000000000" pitchFamily="50" charset="-128"/>
                          <a:ea typeface="游ゴシック" panose="020B0400000000000000" pitchFamily="50" charset="-128"/>
                        </a:rPr>
                        <a:t>C</a:t>
                      </a:r>
                      <a:r>
                        <a:rPr kumimoji="1" lang="ja-JP" altLang="en-US" sz="1000" b="0" i="0" dirty="0">
                          <a:latin typeface="游ゴシック" panose="020B0400000000000000" pitchFamily="50" charset="-128"/>
                          <a:ea typeface="游ゴシック" panose="020B0400000000000000" pitchFamily="50" charset="-128"/>
                        </a:rPr>
                        <a:t>：</a:t>
                      </a:r>
                    </a:p>
                  </a:txBody>
                  <a:tcPr marL="72000" marR="7200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kumimoji="1" lang="ja-JP" altLang="en-US" sz="1000" b="0" i="0" dirty="0">
                          <a:latin typeface="游ゴシック" panose="020B0400000000000000" pitchFamily="50" charset="-128"/>
                          <a:ea typeface="游ゴシック" panose="020B0400000000000000" pitchFamily="50" charset="-128"/>
                        </a:rPr>
                        <a:t>その他、リスク管理上、改善することが望まれるもの</a:t>
                      </a:r>
                    </a:p>
                  </a:txBody>
                  <a:tcPr marL="72000" marR="7200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テキスト ボックス 4"/>
          <p:cNvSpPr txBox="1"/>
          <p:nvPr userDrawn="1"/>
        </p:nvSpPr>
        <p:spPr>
          <a:xfrm>
            <a:off x="6451600" y="5188852"/>
            <a:ext cx="2921000" cy="923330"/>
          </a:xfrm>
          <a:prstGeom prst="rect">
            <a:avLst/>
          </a:prstGeom>
          <a:noFill/>
        </p:spPr>
        <p:txBody>
          <a:bodyPr wrap="square" lIns="0" tIns="0" rIns="0" bIns="0" rtlCol="0" anchor="ctr" anchorCtr="0">
            <a:spAutoFit/>
          </a:bodyPr>
          <a:lstStyle/>
          <a:p>
            <a:pPr algn="just"/>
            <a:r>
              <a:rPr kumimoji="1" lang="en-US" altLang="ja-JP" sz="1000" dirty="0">
                <a:solidFill>
                  <a:srgbClr val="000000"/>
                </a:solidFill>
                <a:latin typeface="游ゴシック" panose="020B0400000000000000" pitchFamily="50" charset="-128"/>
                <a:ea typeface="游ゴシック" panose="020B0400000000000000" pitchFamily="50" charset="-128"/>
              </a:rPr>
              <a:t>※</a:t>
            </a:r>
            <a:r>
              <a:rPr kumimoji="1" lang="ja-JP" altLang="en-US" sz="1000" dirty="0">
                <a:solidFill>
                  <a:srgbClr val="000000"/>
                </a:solidFill>
                <a:latin typeface="游ゴシック" panose="020B0400000000000000" pitchFamily="50" charset="-128"/>
                <a:ea typeface="游ゴシック" panose="020B0400000000000000" pitchFamily="50" charset="-128"/>
              </a:rPr>
              <a:t>各改善提案事項に対しまして、左記指標に基づき重要度の符号を記載しています。貴事業所のご事情により対策の優先度が必ずしもこのとおりにならないこともあるかと存じますが、ここでは第</a:t>
            </a:r>
            <a:r>
              <a:rPr kumimoji="1" lang="en-US" altLang="ja-JP" sz="1000" dirty="0">
                <a:solidFill>
                  <a:srgbClr val="000000"/>
                </a:solidFill>
                <a:latin typeface="游ゴシック" panose="020B0400000000000000" pitchFamily="50" charset="-128"/>
                <a:ea typeface="游ゴシック" panose="020B0400000000000000" pitchFamily="50" charset="-128"/>
              </a:rPr>
              <a:t>3</a:t>
            </a:r>
            <a:r>
              <a:rPr kumimoji="1" lang="ja-JP" altLang="en-US" sz="1000" dirty="0">
                <a:solidFill>
                  <a:srgbClr val="000000"/>
                </a:solidFill>
                <a:latin typeface="游ゴシック" panose="020B0400000000000000" pitchFamily="50" charset="-128"/>
                <a:ea typeface="游ゴシック" panose="020B0400000000000000" pitchFamily="50" charset="-128"/>
              </a:rPr>
              <a:t>者として調査担当者の判断により区分していることをお含みおき願います。</a:t>
            </a:r>
          </a:p>
        </p:txBody>
      </p:sp>
      <p:sp>
        <p:nvSpPr>
          <p:cNvPr id="3" name="テキスト ボックス 2"/>
          <p:cNvSpPr txBox="1"/>
          <p:nvPr userDrawn="1"/>
        </p:nvSpPr>
        <p:spPr>
          <a:xfrm>
            <a:off x="533400" y="1585040"/>
            <a:ext cx="1158875" cy="246221"/>
          </a:xfrm>
          <a:prstGeom prst="rect">
            <a:avLst/>
          </a:prstGeom>
          <a:noFill/>
        </p:spPr>
        <p:txBody>
          <a:bodyPr wrap="square" lIns="0" tIns="0" rIns="0" bIns="0" rtlCol="0" anchor="ctr" anchorCtr="0">
            <a:spAutoFit/>
          </a:bodyPr>
          <a:lstStyle/>
          <a:p>
            <a:pPr algn="ctr"/>
            <a:r>
              <a:rPr kumimoji="1" lang="ja-JP" altLang="en-US" sz="1600" dirty="0">
                <a:solidFill>
                  <a:schemeClr val="bg1"/>
                </a:solidFill>
                <a:latin typeface="游ゴシック" panose="020B0400000000000000" pitchFamily="50" charset="-128"/>
                <a:ea typeface="游ゴシック" panose="020B0400000000000000" pitchFamily="50" charset="-128"/>
              </a:rPr>
              <a:t>提案</a:t>
            </a:r>
            <a:r>
              <a:rPr kumimoji="1" lang="en-US" altLang="ja-JP" sz="1600" dirty="0">
                <a:solidFill>
                  <a:schemeClr val="bg1"/>
                </a:solidFill>
                <a:latin typeface="游ゴシック" panose="020B0400000000000000" pitchFamily="50" charset="-128"/>
                <a:ea typeface="游ゴシック" panose="020B0400000000000000" pitchFamily="50" charset="-128"/>
              </a:rPr>
              <a:t>No</a:t>
            </a:r>
            <a:endParaRPr kumimoji="1" lang="ja-JP" altLang="en-US" sz="1600" dirty="0">
              <a:solidFill>
                <a:schemeClr val="bg1"/>
              </a:solidFill>
              <a:latin typeface="游ゴシック" panose="020B0400000000000000" pitchFamily="50" charset="-128"/>
              <a:ea typeface="游ゴシック" panose="020B0400000000000000" pitchFamily="50" charset="-128"/>
            </a:endParaRPr>
          </a:p>
        </p:txBody>
      </p:sp>
      <p:sp>
        <p:nvSpPr>
          <p:cNvPr id="43" name="テキスト ボックス 42"/>
          <p:cNvSpPr txBox="1"/>
          <p:nvPr userDrawn="1"/>
        </p:nvSpPr>
        <p:spPr>
          <a:xfrm>
            <a:off x="1698625" y="1585040"/>
            <a:ext cx="1158875" cy="246221"/>
          </a:xfrm>
          <a:prstGeom prst="rect">
            <a:avLst/>
          </a:prstGeom>
          <a:noFill/>
        </p:spPr>
        <p:txBody>
          <a:bodyPr wrap="square" lIns="0" tIns="0" rIns="0" bIns="0" rtlCol="0" anchor="ctr" anchorCtr="0">
            <a:spAutoFit/>
          </a:bodyPr>
          <a:lstStyle/>
          <a:p>
            <a:pPr algn="ctr"/>
            <a:r>
              <a:rPr kumimoji="1" lang="ja-JP" altLang="en-US" sz="1600" dirty="0">
                <a:solidFill>
                  <a:schemeClr val="bg1"/>
                </a:solidFill>
                <a:latin typeface="游ゴシック" panose="020B0400000000000000" pitchFamily="50" charset="-128"/>
                <a:ea typeface="游ゴシック" panose="020B0400000000000000" pitchFamily="50" charset="-128"/>
              </a:rPr>
              <a:t>重要度</a:t>
            </a:r>
          </a:p>
        </p:txBody>
      </p:sp>
      <p:sp>
        <p:nvSpPr>
          <p:cNvPr id="44" name="テキスト ボックス 43"/>
          <p:cNvSpPr txBox="1"/>
          <p:nvPr userDrawn="1"/>
        </p:nvSpPr>
        <p:spPr>
          <a:xfrm>
            <a:off x="2851151" y="1585040"/>
            <a:ext cx="4629150" cy="246221"/>
          </a:xfrm>
          <a:prstGeom prst="rect">
            <a:avLst/>
          </a:prstGeom>
          <a:noFill/>
        </p:spPr>
        <p:txBody>
          <a:bodyPr wrap="square" lIns="0" tIns="0" rIns="0" bIns="0" rtlCol="0" anchor="ctr" anchorCtr="0">
            <a:spAutoFit/>
          </a:bodyPr>
          <a:lstStyle/>
          <a:p>
            <a:pPr algn="ctr"/>
            <a:r>
              <a:rPr kumimoji="1" lang="ja-JP" altLang="en-US" sz="1600" dirty="0">
                <a:solidFill>
                  <a:schemeClr val="bg1"/>
                </a:solidFill>
                <a:latin typeface="游ゴシック" panose="020B0400000000000000" pitchFamily="50" charset="-128"/>
                <a:ea typeface="游ゴシック" panose="020B0400000000000000" pitchFamily="50" charset="-128"/>
              </a:rPr>
              <a:t>内容</a:t>
            </a:r>
          </a:p>
        </p:txBody>
      </p:sp>
      <p:sp>
        <p:nvSpPr>
          <p:cNvPr id="45" name="テキスト ボックス 44"/>
          <p:cNvSpPr txBox="1"/>
          <p:nvPr userDrawn="1"/>
        </p:nvSpPr>
        <p:spPr>
          <a:xfrm>
            <a:off x="7505700" y="1585040"/>
            <a:ext cx="1854200" cy="246221"/>
          </a:xfrm>
          <a:prstGeom prst="rect">
            <a:avLst/>
          </a:prstGeom>
          <a:noFill/>
        </p:spPr>
        <p:txBody>
          <a:bodyPr wrap="square" lIns="0" tIns="0" rIns="0" bIns="0" rtlCol="0" anchor="ctr" anchorCtr="0">
            <a:spAutoFit/>
          </a:bodyPr>
          <a:lstStyle/>
          <a:p>
            <a:pPr algn="ctr"/>
            <a:r>
              <a:rPr kumimoji="1" lang="ja-JP" altLang="en-US" sz="1600" dirty="0">
                <a:solidFill>
                  <a:schemeClr val="bg1"/>
                </a:solidFill>
                <a:latin typeface="游ゴシック" panose="020B0400000000000000" pitchFamily="50" charset="-128"/>
                <a:ea typeface="游ゴシック" panose="020B0400000000000000" pitchFamily="50" charset="-128"/>
              </a:rPr>
              <a:t>対象とするリスク</a:t>
            </a:r>
          </a:p>
        </p:txBody>
      </p:sp>
      <p:cxnSp>
        <p:nvCxnSpPr>
          <p:cNvPr id="9" name="直線コネクタ 8"/>
          <p:cNvCxnSpPr/>
          <p:nvPr userDrawn="1"/>
        </p:nvCxnSpPr>
        <p:spPr>
          <a:xfrm>
            <a:off x="2851150" y="1884891"/>
            <a:ext cx="0" cy="31750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直線コネクタ 46"/>
          <p:cNvCxnSpPr/>
          <p:nvPr userDrawn="1"/>
        </p:nvCxnSpPr>
        <p:spPr>
          <a:xfrm>
            <a:off x="1695450" y="1884891"/>
            <a:ext cx="0" cy="31750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9"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3" hasCustomPrompt="1"/>
          </p:nvPr>
        </p:nvSpPr>
        <p:spPr>
          <a:xfrm>
            <a:off x="539928" y="1891301"/>
            <a:ext cx="1152347" cy="512199"/>
          </a:xfrm>
          <a:prstGeom prst="rect">
            <a:avLst/>
          </a:prstGeom>
          <a:noFill/>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en-US" altLang="ja-JP" dirty="0"/>
              <a:t>No</a:t>
            </a:r>
            <a:r>
              <a:rPr kumimoji="1" lang="ja-JP" altLang="en-US" dirty="0"/>
              <a:t>を入力</a:t>
            </a:r>
          </a:p>
        </p:txBody>
      </p:sp>
      <p:sp>
        <p:nvSpPr>
          <p:cNvPr id="40"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4" hasCustomPrompt="1"/>
          </p:nvPr>
        </p:nvSpPr>
        <p:spPr>
          <a:xfrm>
            <a:off x="1698625" y="1886400"/>
            <a:ext cx="1148400" cy="522000"/>
          </a:xfrm>
          <a:prstGeom prst="rect">
            <a:avLst/>
          </a:prstGeom>
          <a:noFill/>
          <a:ln w="3810">
            <a:solidFill>
              <a:schemeClr val="tx1"/>
            </a:solidFill>
          </a:ln>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重要度を入力</a:t>
            </a:r>
          </a:p>
        </p:txBody>
      </p:sp>
      <p:sp>
        <p:nvSpPr>
          <p:cNvPr id="41"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5" hasCustomPrompt="1"/>
          </p:nvPr>
        </p:nvSpPr>
        <p:spPr>
          <a:xfrm>
            <a:off x="2854502" y="1891301"/>
            <a:ext cx="4625797" cy="512199"/>
          </a:xfrm>
          <a:prstGeom prst="rect">
            <a:avLst/>
          </a:prstGeom>
        </p:spPr>
        <p:txBody>
          <a:bodyPr wrap="none" lIns="72000" tIns="0" rIns="72000" bIns="0" anchor="ctr" anchorCtr="0"/>
          <a:lstStyle>
            <a:lvl1pPr marL="0" indent="0" algn="l">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内容を入力</a:t>
            </a:r>
          </a:p>
        </p:txBody>
      </p:sp>
      <p:sp>
        <p:nvSpPr>
          <p:cNvPr id="42"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6" hasCustomPrompt="1"/>
          </p:nvPr>
        </p:nvSpPr>
        <p:spPr>
          <a:xfrm>
            <a:off x="7493178" y="1891301"/>
            <a:ext cx="1869897" cy="512199"/>
          </a:xfrm>
          <a:prstGeom prst="rect">
            <a:avLst/>
          </a:prstGeom>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リスクを入力</a:t>
            </a:r>
          </a:p>
        </p:txBody>
      </p:sp>
      <p:cxnSp>
        <p:nvCxnSpPr>
          <p:cNvPr id="46" name="直線コネクタ 45"/>
          <p:cNvCxnSpPr/>
          <p:nvPr userDrawn="1"/>
        </p:nvCxnSpPr>
        <p:spPr>
          <a:xfrm>
            <a:off x="2851150" y="1884891"/>
            <a:ext cx="0" cy="31750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直線コネクタ 47"/>
          <p:cNvCxnSpPr/>
          <p:nvPr userDrawn="1"/>
        </p:nvCxnSpPr>
        <p:spPr>
          <a:xfrm>
            <a:off x="1695450" y="1884891"/>
            <a:ext cx="0" cy="31750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7" hasCustomPrompt="1"/>
          </p:nvPr>
        </p:nvSpPr>
        <p:spPr>
          <a:xfrm>
            <a:off x="539928" y="2421526"/>
            <a:ext cx="1152347" cy="512199"/>
          </a:xfrm>
          <a:prstGeom prst="rect">
            <a:avLst/>
          </a:prstGeom>
          <a:noFill/>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en-US" altLang="ja-JP" dirty="0"/>
              <a:t>No</a:t>
            </a:r>
            <a:r>
              <a:rPr kumimoji="1" lang="ja-JP" altLang="en-US" dirty="0"/>
              <a:t>を入力</a:t>
            </a:r>
          </a:p>
        </p:txBody>
      </p:sp>
      <p:sp>
        <p:nvSpPr>
          <p:cNvPr id="50"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8" hasCustomPrompt="1"/>
          </p:nvPr>
        </p:nvSpPr>
        <p:spPr>
          <a:xfrm>
            <a:off x="1698625" y="2416625"/>
            <a:ext cx="1148400" cy="522000"/>
          </a:xfrm>
          <a:prstGeom prst="rect">
            <a:avLst/>
          </a:prstGeom>
          <a:noFill/>
          <a:ln w="3810">
            <a:solidFill>
              <a:schemeClr val="tx1"/>
            </a:solidFill>
          </a:ln>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重要度を入力</a:t>
            </a:r>
          </a:p>
        </p:txBody>
      </p:sp>
      <p:sp>
        <p:nvSpPr>
          <p:cNvPr id="51"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19" hasCustomPrompt="1"/>
          </p:nvPr>
        </p:nvSpPr>
        <p:spPr>
          <a:xfrm>
            <a:off x="2854502" y="2421526"/>
            <a:ext cx="4625797" cy="512199"/>
          </a:xfrm>
          <a:prstGeom prst="rect">
            <a:avLst/>
          </a:prstGeom>
        </p:spPr>
        <p:txBody>
          <a:bodyPr wrap="none" lIns="72000" tIns="0" rIns="72000" bIns="0" anchor="ctr" anchorCtr="0"/>
          <a:lstStyle>
            <a:lvl1pPr marL="0" indent="0" algn="l">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内容を入力</a:t>
            </a:r>
          </a:p>
        </p:txBody>
      </p:sp>
      <p:sp>
        <p:nvSpPr>
          <p:cNvPr id="52"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0" hasCustomPrompt="1"/>
          </p:nvPr>
        </p:nvSpPr>
        <p:spPr>
          <a:xfrm>
            <a:off x="7493178" y="2421526"/>
            <a:ext cx="1869897" cy="512199"/>
          </a:xfrm>
          <a:prstGeom prst="rect">
            <a:avLst/>
          </a:prstGeom>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リスクを入力</a:t>
            </a:r>
          </a:p>
        </p:txBody>
      </p:sp>
      <p:sp>
        <p:nvSpPr>
          <p:cNvPr id="53"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1" hasCustomPrompt="1"/>
          </p:nvPr>
        </p:nvSpPr>
        <p:spPr>
          <a:xfrm>
            <a:off x="539928" y="2952476"/>
            <a:ext cx="1152347" cy="512199"/>
          </a:xfrm>
          <a:prstGeom prst="rect">
            <a:avLst/>
          </a:prstGeom>
          <a:noFill/>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en-US" altLang="ja-JP" dirty="0"/>
              <a:t>No</a:t>
            </a:r>
            <a:r>
              <a:rPr kumimoji="1" lang="ja-JP" altLang="en-US" dirty="0"/>
              <a:t>を入力</a:t>
            </a:r>
          </a:p>
        </p:txBody>
      </p:sp>
      <p:sp>
        <p:nvSpPr>
          <p:cNvPr id="54"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2" hasCustomPrompt="1"/>
          </p:nvPr>
        </p:nvSpPr>
        <p:spPr>
          <a:xfrm>
            <a:off x="1698625" y="2947575"/>
            <a:ext cx="1148400" cy="522000"/>
          </a:xfrm>
          <a:prstGeom prst="rect">
            <a:avLst/>
          </a:prstGeom>
          <a:noFill/>
          <a:ln w="3810">
            <a:solidFill>
              <a:schemeClr val="tx1"/>
            </a:solidFill>
          </a:ln>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重要度を入力</a:t>
            </a:r>
          </a:p>
        </p:txBody>
      </p:sp>
      <p:sp>
        <p:nvSpPr>
          <p:cNvPr id="55"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3" hasCustomPrompt="1"/>
          </p:nvPr>
        </p:nvSpPr>
        <p:spPr>
          <a:xfrm>
            <a:off x="2854502" y="2952476"/>
            <a:ext cx="4625797" cy="512199"/>
          </a:xfrm>
          <a:prstGeom prst="rect">
            <a:avLst/>
          </a:prstGeom>
        </p:spPr>
        <p:txBody>
          <a:bodyPr wrap="none" lIns="72000" tIns="0" rIns="72000" bIns="0" anchor="ctr" anchorCtr="0"/>
          <a:lstStyle>
            <a:lvl1pPr marL="0" indent="0" algn="l">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内容を入力</a:t>
            </a:r>
          </a:p>
        </p:txBody>
      </p:sp>
      <p:sp>
        <p:nvSpPr>
          <p:cNvPr id="56"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4" hasCustomPrompt="1"/>
          </p:nvPr>
        </p:nvSpPr>
        <p:spPr>
          <a:xfrm>
            <a:off x="7493178" y="2952476"/>
            <a:ext cx="1869897" cy="512199"/>
          </a:xfrm>
          <a:prstGeom prst="rect">
            <a:avLst/>
          </a:prstGeom>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リスクを入力</a:t>
            </a:r>
          </a:p>
        </p:txBody>
      </p:sp>
      <p:sp>
        <p:nvSpPr>
          <p:cNvPr id="57"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5" hasCustomPrompt="1"/>
          </p:nvPr>
        </p:nvSpPr>
        <p:spPr>
          <a:xfrm>
            <a:off x="539928" y="3481976"/>
            <a:ext cx="1152347" cy="512199"/>
          </a:xfrm>
          <a:prstGeom prst="rect">
            <a:avLst/>
          </a:prstGeom>
          <a:noFill/>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en-US" altLang="ja-JP" dirty="0"/>
              <a:t>No</a:t>
            </a:r>
            <a:r>
              <a:rPr kumimoji="1" lang="ja-JP" altLang="en-US" dirty="0"/>
              <a:t>を入力</a:t>
            </a:r>
          </a:p>
        </p:txBody>
      </p:sp>
      <p:sp>
        <p:nvSpPr>
          <p:cNvPr id="58"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6" hasCustomPrompt="1"/>
          </p:nvPr>
        </p:nvSpPr>
        <p:spPr>
          <a:xfrm>
            <a:off x="1698625" y="3477075"/>
            <a:ext cx="1148400" cy="522000"/>
          </a:xfrm>
          <a:prstGeom prst="rect">
            <a:avLst/>
          </a:prstGeom>
          <a:noFill/>
          <a:ln w="3810">
            <a:solidFill>
              <a:schemeClr val="tx1"/>
            </a:solidFill>
          </a:ln>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重要度を入力</a:t>
            </a:r>
          </a:p>
        </p:txBody>
      </p:sp>
      <p:sp>
        <p:nvSpPr>
          <p:cNvPr id="59"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7" hasCustomPrompt="1"/>
          </p:nvPr>
        </p:nvSpPr>
        <p:spPr>
          <a:xfrm>
            <a:off x="2854502" y="3481976"/>
            <a:ext cx="4625797" cy="512199"/>
          </a:xfrm>
          <a:prstGeom prst="rect">
            <a:avLst/>
          </a:prstGeom>
        </p:spPr>
        <p:txBody>
          <a:bodyPr wrap="none" lIns="72000" tIns="0" rIns="72000" bIns="0" anchor="ctr" anchorCtr="0"/>
          <a:lstStyle>
            <a:lvl1pPr marL="0" indent="0" algn="l">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内容を入力</a:t>
            </a:r>
          </a:p>
        </p:txBody>
      </p:sp>
      <p:sp>
        <p:nvSpPr>
          <p:cNvPr id="60"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8" hasCustomPrompt="1"/>
          </p:nvPr>
        </p:nvSpPr>
        <p:spPr>
          <a:xfrm>
            <a:off x="7493178" y="3481976"/>
            <a:ext cx="1869897" cy="512199"/>
          </a:xfrm>
          <a:prstGeom prst="rect">
            <a:avLst/>
          </a:prstGeom>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リスクを入力</a:t>
            </a:r>
          </a:p>
        </p:txBody>
      </p:sp>
      <p:sp>
        <p:nvSpPr>
          <p:cNvPr id="61"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29" hasCustomPrompt="1"/>
          </p:nvPr>
        </p:nvSpPr>
        <p:spPr>
          <a:xfrm>
            <a:off x="539928" y="4011476"/>
            <a:ext cx="1152347" cy="512199"/>
          </a:xfrm>
          <a:prstGeom prst="rect">
            <a:avLst/>
          </a:prstGeom>
          <a:noFill/>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en-US" altLang="ja-JP" dirty="0"/>
              <a:t>No</a:t>
            </a:r>
            <a:r>
              <a:rPr kumimoji="1" lang="ja-JP" altLang="en-US" dirty="0"/>
              <a:t>を入力</a:t>
            </a:r>
          </a:p>
        </p:txBody>
      </p:sp>
      <p:sp>
        <p:nvSpPr>
          <p:cNvPr id="62"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30" hasCustomPrompt="1"/>
          </p:nvPr>
        </p:nvSpPr>
        <p:spPr>
          <a:xfrm>
            <a:off x="1698625" y="4006575"/>
            <a:ext cx="1148400" cy="522000"/>
          </a:xfrm>
          <a:prstGeom prst="rect">
            <a:avLst/>
          </a:prstGeom>
          <a:noFill/>
          <a:ln w="3810">
            <a:solidFill>
              <a:schemeClr val="tx1"/>
            </a:solidFill>
          </a:ln>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重要度を入力</a:t>
            </a:r>
          </a:p>
        </p:txBody>
      </p:sp>
      <p:sp>
        <p:nvSpPr>
          <p:cNvPr id="63"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31" hasCustomPrompt="1"/>
          </p:nvPr>
        </p:nvSpPr>
        <p:spPr>
          <a:xfrm>
            <a:off x="2854502" y="4011476"/>
            <a:ext cx="4625797" cy="512199"/>
          </a:xfrm>
          <a:prstGeom prst="rect">
            <a:avLst/>
          </a:prstGeom>
        </p:spPr>
        <p:txBody>
          <a:bodyPr wrap="none" lIns="72000" tIns="0" rIns="72000" bIns="0" anchor="ctr" anchorCtr="0"/>
          <a:lstStyle>
            <a:lvl1pPr marL="0" indent="0" algn="l">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内容を入力</a:t>
            </a:r>
          </a:p>
        </p:txBody>
      </p:sp>
      <p:sp>
        <p:nvSpPr>
          <p:cNvPr id="64"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32" hasCustomPrompt="1"/>
          </p:nvPr>
        </p:nvSpPr>
        <p:spPr>
          <a:xfrm>
            <a:off x="7493178" y="4011476"/>
            <a:ext cx="1869897" cy="512199"/>
          </a:xfrm>
          <a:prstGeom prst="rect">
            <a:avLst/>
          </a:prstGeom>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リスクを入力</a:t>
            </a:r>
          </a:p>
        </p:txBody>
      </p:sp>
      <p:sp>
        <p:nvSpPr>
          <p:cNvPr id="65"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33" hasCustomPrompt="1"/>
          </p:nvPr>
        </p:nvSpPr>
        <p:spPr>
          <a:xfrm>
            <a:off x="539928" y="4542426"/>
            <a:ext cx="1152347" cy="512199"/>
          </a:xfrm>
          <a:prstGeom prst="rect">
            <a:avLst/>
          </a:prstGeom>
          <a:noFill/>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en-US" altLang="ja-JP" dirty="0"/>
              <a:t>No</a:t>
            </a:r>
            <a:r>
              <a:rPr kumimoji="1" lang="ja-JP" altLang="en-US" dirty="0"/>
              <a:t>を入力</a:t>
            </a:r>
          </a:p>
        </p:txBody>
      </p:sp>
      <p:sp>
        <p:nvSpPr>
          <p:cNvPr id="66"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34" hasCustomPrompt="1"/>
          </p:nvPr>
        </p:nvSpPr>
        <p:spPr>
          <a:xfrm>
            <a:off x="1698625" y="4537525"/>
            <a:ext cx="1148400" cy="522000"/>
          </a:xfrm>
          <a:prstGeom prst="rect">
            <a:avLst/>
          </a:prstGeom>
          <a:noFill/>
          <a:ln w="3810">
            <a:solidFill>
              <a:schemeClr val="tx1"/>
            </a:solidFill>
          </a:ln>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重要度を入力</a:t>
            </a:r>
          </a:p>
        </p:txBody>
      </p:sp>
      <p:sp>
        <p:nvSpPr>
          <p:cNvPr id="67"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35" hasCustomPrompt="1"/>
          </p:nvPr>
        </p:nvSpPr>
        <p:spPr>
          <a:xfrm>
            <a:off x="2854502" y="4542426"/>
            <a:ext cx="4625797" cy="512199"/>
          </a:xfrm>
          <a:prstGeom prst="rect">
            <a:avLst/>
          </a:prstGeom>
        </p:spPr>
        <p:txBody>
          <a:bodyPr wrap="none" lIns="72000" tIns="0" rIns="72000" bIns="0" anchor="ctr" anchorCtr="0"/>
          <a:lstStyle>
            <a:lvl1pPr marL="0" indent="0" algn="l">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内容を入力</a:t>
            </a:r>
          </a:p>
        </p:txBody>
      </p:sp>
      <p:sp>
        <p:nvSpPr>
          <p:cNvPr id="68" name="テキスト プレースホルダー 7">
            <a:extLst>
              <a:ext uri="{FF2B5EF4-FFF2-40B4-BE49-F238E27FC236}">
                <a16:creationId xmlns:a16="http://schemas.microsoft.com/office/drawing/2014/main" id="{FC2F0FD4-82C4-40F7-8777-28479FC8A641}"/>
              </a:ext>
            </a:extLst>
          </p:cNvPr>
          <p:cNvSpPr>
            <a:spLocks noGrp="1"/>
          </p:cNvSpPr>
          <p:nvPr>
            <p:ph type="body" sz="quarter" idx="36" hasCustomPrompt="1"/>
          </p:nvPr>
        </p:nvSpPr>
        <p:spPr>
          <a:xfrm>
            <a:off x="7493178" y="4542426"/>
            <a:ext cx="1869897" cy="512199"/>
          </a:xfrm>
          <a:prstGeom prst="rect">
            <a:avLst/>
          </a:prstGeom>
        </p:spPr>
        <p:txBody>
          <a:bodyPr wrap="none" lIns="0" tIns="0" rIns="0" bIns="0" anchor="ctr" anchorCtr="0"/>
          <a:lstStyle>
            <a:lvl1pPr marL="0" indent="0" algn="ctr">
              <a:buNone/>
              <a:defRPr sz="1300">
                <a:solidFill>
                  <a:schemeClr val="tx1"/>
                </a:solidFill>
                <a:latin typeface="游ゴシック" panose="020B0400000000000000" pitchFamily="50" charset="-128"/>
                <a:ea typeface="游ゴシック" panose="020B0400000000000000" pitchFamily="50" charset="-128"/>
              </a:defRPr>
            </a:lvl1pPr>
          </a:lstStyle>
          <a:p>
            <a:pPr lvl="0"/>
            <a:r>
              <a:rPr kumimoji="1" lang="ja-JP" altLang="en-US" dirty="0"/>
              <a:t>リスクを入力</a:t>
            </a:r>
          </a:p>
        </p:txBody>
      </p:sp>
      <p:sp>
        <p:nvSpPr>
          <p:cNvPr id="69" name="テキスト ボックス 68"/>
          <p:cNvSpPr txBox="1"/>
          <p:nvPr userDrawn="1"/>
        </p:nvSpPr>
        <p:spPr>
          <a:xfrm>
            <a:off x="367850" y="6464300"/>
            <a:ext cx="9173633" cy="211667"/>
          </a:xfrm>
          <a:prstGeom prst="rect">
            <a:avLst/>
          </a:prstGeom>
          <a:solidFill>
            <a:srgbClr val="006659"/>
          </a:solidFill>
        </p:spPr>
        <p:txBody>
          <a:bodyPr wrap="square" lIns="72000" tIns="0" rIns="0" bIns="0" rtlCol="0" anchor="ctr" anchorCtr="0">
            <a:noAutofit/>
          </a:bodyPr>
          <a:lstStyle/>
          <a:p>
            <a:pPr algn="l"/>
            <a:r>
              <a:rPr kumimoji="1" lang="en-US" altLang="ja-JP" sz="900" dirty="0">
                <a:solidFill>
                  <a:schemeClr val="bg1"/>
                </a:solidFill>
                <a:latin typeface="游ゴシック" panose="020B0400000000000000" pitchFamily="50" charset="-128"/>
                <a:ea typeface="游ゴシック" panose="020B0400000000000000" pitchFamily="50" charset="-128"/>
              </a:rPr>
              <a:t>© MS&amp;AD </a:t>
            </a:r>
            <a:r>
              <a:rPr kumimoji="1" lang="en-US" altLang="ja-JP" sz="900" dirty="0" err="1">
                <a:solidFill>
                  <a:schemeClr val="bg1"/>
                </a:solidFill>
                <a:latin typeface="游ゴシック" panose="020B0400000000000000" pitchFamily="50" charset="-128"/>
                <a:ea typeface="游ゴシック" panose="020B0400000000000000" pitchFamily="50" charset="-128"/>
              </a:rPr>
              <a:t>InterRisk</a:t>
            </a:r>
            <a:r>
              <a:rPr kumimoji="1" lang="en-US" altLang="ja-JP" sz="900" dirty="0">
                <a:solidFill>
                  <a:schemeClr val="bg1"/>
                </a:solidFill>
                <a:latin typeface="游ゴシック" panose="020B0400000000000000" pitchFamily="50" charset="-128"/>
                <a:ea typeface="游ゴシック" panose="020B0400000000000000" pitchFamily="50" charset="-128"/>
              </a:rPr>
              <a:t> Research &amp; Consulting, Inc.</a:t>
            </a:r>
            <a:endParaRPr kumimoji="1" lang="ja-JP" altLang="en-US" sz="900" dirty="0">
              <a:solidFill>
                <a:schemeClr val="bg1"/>
              </a:solidFill>
              <a:latin typeface="游ゴシック" panose="020B0400000000000000" pitchFamily="50" charset="-128"/>
              <a:ea typeface="游ゴシック" panose="020B0400000000000000" pitchFamily="50" charset="-128"/>
            </a:endParaRPr>
          </a:p>
        </p:txBody>
      </p:sp>
      <p:sp>
        <p:nvSpPr>
          <p:cNvPr id="70" name="テキスト ボックス 69"/>
          <p:cNvSpPr txBox="1">
            <a:spLocks noChangeAspect="1"/>
          </p:cNvSpPr>
          <p:nvPr userDrawn="1"/>
        </p:nvSpPr>
        <p:spPr>
          <a:xfrm>
            <a:off x="8207375" y="358031"/>
            <a:ext cx="1332000" cy="180000"/>
          </a:xfrm>
          <a:prstGeom prst="rect">
            <a:avLst/>
          </a:prstGeom>
          <a:solidFill>
            <a:srgbClr val="404040"/>
          </a:solidFill>
        </p:spPr>
        <p:txBody>
          <a:bodyPr wrap="none" lIns="0" tIns="0" rIns="0" bIns="0" rtlCol="0" anchor="ctr" anchorCtr="0">
            <a:noAutofit/>
          </a:bodyPr>
          <a:lstStyle/>
          <a:p>
            <a:pPr algn="ctr"/>
            <a:r>
              <a:rPr kumimoji="1" lang="en-US" altLang="ja-JP" sz="1000" dirty="0">
                <a:solidFill>
                  <a:srgbClr val="FFFFFF"/>
                </a:solidFill>
                <a:latin typeface="游ゴシック" panose="020B0400000000000000" pitchFamily="50" charset="-128"/>
                <a:ea typeface="游ゴシック" panose="020B0400000000000000" pitchFamily="50" charset="-128"/>
              </a:rPr>
              <a:t>Strictly Confidential</a:t>
            </a:r>
            <a:endParaRPr kumimoji="1" lang="ja-JP" altLang="en-US" sz="1000" dirty="0">
              <a:solidFill>
                <a:srgbClr val="FFFFFF"/>
              </a:solidFill>
              <a:latin typeface="游ゴシック" panose="020B0400000000000000" pitchFamily="50" charset="-128"/>
              <a:ea typeface="游ゴシック" panose="020B0400000000000000" pitchFamily="50" charset="-128"/>
            </a:endParaRPr>
          </a:p>
        </p:txBody>
      </p:sp>
      <p:sp>
        <p:nvSpPr>
          <p:cNvPr id="71" name="スライド番号プレースホルダー 5"/>
          <p:cNvSpPr>
            <a:spLocks noGrp="1"/>
          </p:cNvSpPr>
          <p:nvPr>
            <p:ph type="sldNum" sz="quarter" idx="4"/>
          </p:nvPr>
        </p:nvSpPr>
        <p:spPr>
          <a:xfrm>
            <a:off x="9437983" y="6407679"/>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游ゴシック" panose="020B0400000000000000" pitchFamily="50" charset="-128"/>
                <a:ea typeface="游ゴシック" panose="020B0400000000000000" pitchFamily="50" charset="-128"/>
              </a:defRPr>
            </a:lvl1pPr>
          </a:lstStyle>
          <a:p>
            <a:pPr algn="ctr"/>
            <a:fld id="{3C987C2D-0993-D24A-8F17-67855EAE4BDA}" type="slidenum">
              <a:rPr lang="en-US" altLang="ja-JP" smtClean="0"/>
              <a:pPr algn="ctr"/>
              <a:t>‹#›</a:t>
            </a:fld>
            <a:endParaRPr lang="en-US" dirty="0"/>
          </a:p>
        </p:txBody>
      </p:sp>
    </p:spTree>
    <p:extLst>
      <p:ext uri="{BB962C8B-B14F-4D97-AF65-F5344CB8AC3E}">
        <p14:creationId xmlns:p14="http://schemas.microsoft.com/office/powerpoint/2010/main" val="511164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ブランク_背景無">
    <p:bg>
      <p:bgPr>
        <a:solidFill>
          <a:schemeClr val="bg1"/>
        </a:solidFill>
        <a:effectLst/>
      </p:bgPr>
    </p:bg>
    <p:spTree>
      <p:nvGrpSpPr>
        <p:cNvPr id="1" name=""/>
        <p:cNvGrpSpPr/>
        <p:nvPr/>
      </p:nvGrpSpPr>
      <p:grpSpPr>
        <a:xfrm>
          <a:off x="0" y="0"/>
          <a:ext cx="0" cy="0"/>
          <a:chOff x="0" y="0"/>
          <a:chExt cx="0" cy="0"/>
        </a:xfrm>
      </p:grpSpPr>
      <p:sp>
        <p:nvSpPr>
          <p:cNvPr id="36" name="テキスト ボックス 35"/>
          <p:cNvSpPr txBox="1"/>
          <p:nvPr userDrawn="1"/>
        </p:nvSpPr>
        <p:spPr>
          <a:xfrm>
            <a:off x="419100" y="6490800"/>
            <a:ext cx="4191000" cy="138499"/>
          </a:xfrm>
          <a:prstGeom prst="rect">
            <a:avLst/>
          </a:prstGeom>
          <a:noFill/>
        </p:spPr>
        <p:txBody>
          <a:bodyPr wrap="square" lIns="0" tIns="0" rIns="0" bIns="0" rtlCol="0" anchor="ctr" anchorCtr="0">
            <a:spAutoFit/>
          </a:bodyPr>
          <a:lstStyle/>
          <a:p>
            <a:r>
              <a:rPr kumimoji="1" lang="en-US" altLang="ja-JP" sz="900" dirty="0">
                <a:solidFill>
                  <a:schemeClr val="bg1"/>
                </a:solidFill>
                <a:latin typeface="游ゴシック" panose="020B0400000000000000" pitchFamily="50" charset="-128"/>
                <a:ea typeface="游ゴシック" panose="020B0400000000000000" pitchFamily="50" charset="-128"/>
              </a:rPr>
              <a:t>© MS&amp;AD </a:t>
            </a:r>
            <a:r>
              <a:rPr kumimoji="1" lang="en-US" altLang="ja-JP" sz="900" dirty="0" err="1">
                <a:solidFill>
                  <a:schemeClr val="bg1"/>
                </a:solidFill>
                <a:latin typeface="游ゴシック" panose="020B0400000000000000" pitchFamily="50" charset="-128"/>
                <a:ea typeface="游ゴシック" panose="020B0400000000000000" pitchFamily="50" charset="-128"/>
              </a:rPr>
              <a:t>InterRisk</a:t>
            </a:r>
            <a:r>
              <a:rPr kumimoji="1" lang="en-US" altLang="ja-JP" sz="900" dirty="0">
                <a:solidFill>
                  <a:schemeClr val="bg1"/>
                </a:solidFill>
                <a:latin typeface="游ゴシック" panose="020B0400000000000000" pitchFamily="50" charset="-128"/>
                <a:ea typeface="游ゴシック" panose="020B0400000000000000" pitchFamily="50" charset="-128"/>
              </a:rPr>
              <a:t> Research &amp; Consulting, Inc.</a:t>
            </a:r>
            <a:endParaRPr kumimoji="1" lang="ja-JP" altLang="en-US" sz="900" dirty="0">
              <a:solidFill>
                <a:schemeClr val="bg1"/>
              </a:solidFill>
              <a:latin typeface="游ゴシック" panose="020B0400000000000000" pitchFamily="50" charset="-128"/>
              <a:ea typeface="游ゴシック" panose="020B0400000000000000" pitchFamily="50" charset="-128"/>
            </a:endParaRPr>
          </a:p>
        </p:txBody>
      </p:sp>
      <p:sp>
        <p:nvSpPr>
          <p:cNvPr id="5" name="テキスト ボックス 4"/>
          <p:cNvSpPr txBox="1"/>
          <p:nvPr userDrawn="1"/>
        </p:nvSpPr>
        <p:spPr>
          <a:xfrm>
            <a:off x="367850" y="6464300"/>
            <a:ext cx="9173633" cy="211667"/>
          </a:xfrm>
          <a:prstGeom prst="rect">
            <a:avLst/>
          </a:prstGeom>
          <a:solidFill>
            <a:srgbClr val="006659"/>
          </a:solidFill>
        </p:spPr>
        <p:txBody>
          <a:bodyPr wrap="square" lIns="72000" tIns="0" rIns="0" bIns="0" rtlCol="0" anchor="ctr" anchorCtr="0">
            <a:noAutofit/>
          </a:bodyPr>
          <a:lstStyle/>
          <a:p>
            <a:pPr algn="l"/>
            <a:r>
              <a:rPr kumimoji="1" lang="en-US" altLang="ja-JP" sz="900" dirty="0">
                <a:solidFill>
                  <a:schemeClr val="bg1"/>
                </a:solidFill>
                <a:latin typeface="游ゴシック" panose="020B0400000000000000" pitchFamily="50" charset="-128"/>
                <a:ea typeface="游ゴシック" panose="020B0400000000000000" pitchFamily="50" charset="-128"/>
              </a:rPr>
              <a:t>© MS&amp;AD </a:t>
            </a:r>
            <a:r>
              <a:rPr kumimoji="1" lang="en-US" altLang="ja-JP" sz="900" dirty="0" err="1">
                <a:solidFill>
                  <a:schemeClr val="bg1"/>
                </a:solidFill>
                <a:latin typeface="游ゴシック" panose="020B0400000000000000" pitchFamily="50" charset="-128"/>
                <a:ea typeface="游ゴシック" panose="020B0400000000000000" pitchFamily="50" charset="-128"/>
              </a:rPr>
              <a:t>InterRisk</a:t>
            </a:r>
            <a:r>
              <a:rPr kumimoji="1" lang="en-US" altLang="ja-JP" sz="900" dirty="0">
                <a:solidFill>
                  <a:schemeClr val="bg1"/>
                </a:solidFill>
                <a:latin typeface="游ゴシック" panose="020B0400000000000000" pitchFamily="50" charset="-128"/>
                <a:ea typeface="游ゴシック" panose="020B0400000000000000" pitchFamily="50" charset="-128"/>
              </a:rPr>
              <a:t> Research &amp; Consulting, Inc.</a:t>
            </a:r>
            <a:endParaRPr kumimoji="1" lang="ja-JP" altLang="en-US" sz="900" dirty="0">
              <a:solidFill>
                <a:schemeClr val="bg1"/>
              </a:solidFill>
              <a:latin typeface="游ゴシック" panose="020B0400000000000000" pitchFamily="50" charset="-128"/>
              <a:ea typeface="游ゴシック" panose="020B0400000000000000" pitchFamily="50" charset="-128"/>
            </a:endParaRPr>
          </a:p>
        </p:txBody>
      </p:sp>
      <p:sp>
        <p:nvSpPr>
          <p:cNvPr id="11" name="テキスト ボックス 10"/>
          <p:cNvSpPr txBox="1"/>
          <p:nvPr userDrawn="1"/>
        </p:nvSpPr>
        <p:spPr>
          <a:xfrm>
            <a:off x="685800" y="1737440"/>
            <a:ext cx="1158875" cy="246221"/>
          </a:xfrm>
          <a:prstGeom prst="rect">
            <a:avLst/>
          </a:prstGeom>
          <a:noFill/>
        </p:spPr>
        <p:txBody>
          <a:bodyPr wrap="square" lIns="0" tIns="0" rIns="0" bIns="0" rtlCol="0" anchor="ctr" anchorCtr="0">
            <a:spAutoFit/>
          </a:bodyPr>
          <a:lstStyle/>
          <a:p>
            <a:pPr algn="ctr"/>
            <a:r>
              <a:rPr kumimoji="1" lang="ja-JP" altLang="en-US" sz="1600" dirty="0">
                <a:solidFill>
                  <a:schemeClr val="bg1"/>
                </a:solidFill>
                <a:latin typeface="游ゴシック" panose="020B0400000000000000" pitchFamily="50" charset="-128"/>
                <a:ea typeface="游ゴシック" panose="020B0400000000000000" pitchFamily="50" charset="-128"/>
              </a:rPr>
              <a:t>提案</a:t>
            </a:r>
            <a:r>
              <a:rPr kumimoji="1" lang="en-US" altLang="ja-JP" sz="1600" dirty="0">
                <a:solidFill>
                  <a:schemeClr val="bg1"/>
                </a:solidFill>
                <a:latin typeface="游ゴシック" panose="020B0400000000000000" pitchFamily="50" charset="-128"/>
                <a:ea typeface="游ゴシック" panose="020B0400000000000000" pitchFamily="50" charset="-128"/>
              </a:rPr>
              <a:t>No</a:t>
            </a:r>
            <a:endParaRPr kumimoji="1" lang="ja-JP" altLang="en-US" sz="1600" dirty="0">
              <a:solidFill>
                <a:schemeClr val="bg1"/>
              </a:solidFill>
              <a:latin typeface="游ゴシック" panose="020B0400000000000000" pitchFamily="50" charset="-128"/>
              <a:ea typeface="游ゴシック" panose="020B0400000000000000" pitchFamily="50" charset="-128"/>
            </a:endParaRPr>
          </a:p>
        </p:txBody>
      </p:sp>
      <p:sp>
        <p:nvSpPr>
          <p:cNvPr id="12" name="テキスト ボックス 11"/>
          <p:cNvSpPr txBox="1"/>
          <p:nvPr userDrawn="1"/>
        </p:nvSpPr>
        <p:spPr>
          <a:xfrm>
            <a:off x="1851025" y="1737440"/>
            <a:ext cx="1158875" cy="246221"/>
          </a:xfrm>
          <a:prstGeom prst="rect">
            <a:avLst/>
          </a:prstGeom>
          <a:noFill/>
        </p:spPr>
        <p:txBody>
          <a:bodyPr wrap="square" lIns="0" tIns="0" rIns="0" bIns="0" rtlCol="0" anchor="ctr" anchorCtr="0">
            <a:spAutoFit/>
          </a:bodyPr>
          <a:lstStyle/>
          <a:p>
            <a:pPr algn="ctr"/>
            <a:r>
              <a:rPr kumimoji="1" lang="ja-JP" altLang="en-US" sz="1600" dirty="0">
                <a:solidFill>
                  <a:schemeClr val="bg1"/>
                </a:solidFill>
                <a:latin typeface="游ゴシック" panose="020B0400000000000000" pitchFamily="50" charset="-128"/>
                <a:ea typeface="游ゴシック" panose="020B0400000000000000" pitchFamily="50" charset="-128"/>
              </a:rPr>
              <a:t>重要度</a:t>
            </a:r>
          </a:p>
        </p:txBody>
      </p:sp>
      <p:sp>
        <p:nvSpPr>
          <p:cNvPr id="13" name="テキスト ボックス 12"/>
          <p:cNvSpPr txBox="1"/>
          <p:nvPr userDrawn="1"/>
        </p:nvSpPr>
        <p:spPr>
          <a:xfrm>
            <a:off x="3003551" y="1737440"/>
            <a:ext cx="4629150" cy="246221"/>
          </a:xfrm>
          <a:prstGeom prst="rect">
            <a:avLst/>
          </a:prstGeom>
          <a:noFill/>
        </p:spPr>
        <p:txBody>
          <a:bodyPr wrap="square" lIns="0" tIns="0" rIns="0" bIns="0" rtlCol="0" anchor="ctr" anchorCtr="0">
            <a:spAutoFit/>
          </a:bodyPr>
          <a:lstStyle/>
          <a:p>
            <a:pPr algn="ctr"/>
            <a:r>
              <a:rPr kumimoji="1" lang="ja-JP" altLang="en-US" sz="1600" dirty="0">
                <a:solidFill>
                  <a:schemeClr val="bg1"/>
                </a:solidFill>
                <a:latin typeface="游ゴシック" panose="020B0400000000000000" pitchFamily="50" charset="-128"/>
                <a:ea typeface="游ゴシック" panose="020B0400000000000000" pitchFamily="50" charset="-128"/>
              </a:rPr>
              <a:t>内容</a:t>
            </a:r>
          </a:p>
        </p:txBody>
      </p:sp>
      <p:sp>
        <p:nvSpPr>
          <p:cNvPr id="14" name="テキスト ボックス 13"/>
          <p:cNvSpPr txBox="1"/>
          <p:nvPr userDrawn="1"/>
        </p:nvSpPr>
        <p:spPr>
          <a:xfrm>
            <a:off x="7658100" y="1737440"/>
            <a:ext cx="1854200" cy="246221"/>
          </a:xfrm>
          <a:prstGeom prst="rect">
            <a:avLst/>
          </a:prstGeom>
          <a:noFill/>
        </p:spPr>
        <p:txBody>
          <a:bodyPr wrap="square" lIns="0" tIns="0" rIns="0" bIns="0" rtlCol="0" anchor="ctr" anchorCtr="0">
            <a:spAutoFit/>
          </a:bodyPr>
          <a:lstStyle/>
          <a:p>
            <a:pPr algn="ctr"/>
            <a:r>
              <a:rPr kumimoji="1" lang="ja-JP" altLang="en-US" sz="1600" dirty="0">
                <a:solidFill>
                  <a:schemeClr val="bg1"/>
                </a:solidFill>
                <a:latin typeface="游ゴシック" panose="020B0400000000000000" pitchFamily="50" charset="-128"/>
                <a:ea typeface="游ゴシック" panose="020B0400000000000000" pitchFamily="50" charset="-128"/>
              </a:rPr>
              <a:t>対象とするリスク</a:t>
            </a:r>
          </a:p>
        </p:txBody>
      </p:sp>
      <p:graphicFrame>
        <p:nvGraphicFramePr>
          <p:cNvPr id="16" name="表 15"/>
          <p:cNvGraphicFramePr>
            <a:graphicFrameLocks noGrp="1"/>
          </p:cNvGraphicFramePr>
          <p:nvPr userDrawn="1">
            <p:extLst>
              <p:ext uri="{D42A27DB-BD31-4B8C-83A1-F6EECF244321}">
                <p14:modId xmlns:p14="http://schemas.microsoft.com/office/powerpoint/2010/main" val="169544249"/>
              </p:ext>
            </p:extLst>
          </p:nvPr>
        </p:nvGraphicFramePr>
        <p:xfrm>
          <a:off x="539035" y="5675839"/>
          <a:ext cx="8831262" cy="623657"/>
        </p:xfrm>
        <a:graphic>
          <a:graphicData uri="http://schemas.openxmlformats.org/drawingml/2006/table">
            <a:tbl>
              <a:tblPr firstRow="1" bandRow="1">
                <a:tableStyleId>{2D5ABB26-0587-4C30-8999-92F81FD0307C}</a:tableStyleId>
              </a:tblPr>
              <a:tblGrid>
                <a:gridCol w="1528184">
                  <a:extLst>
                    <a:ext uri="{9D8B030D-6E8A-4147-A177-3AD203B41FA5}">
                      <a16:colId xmlns:a16="http://schemas.microsoft.com/office/drawing/2014/main" val="20000"/>
                    </a:ext>
                  </a:extLst>
                </a:gridCol>
                <a:gridCol w="532524">
                  <a:extLst>
                    <a:ext uri="{9D8B030D-6E8A-4147-A177-3AD203B41FA5}">
                      <a16:colId xmlns:a16="http://schemas.microsoft.com/office/drawing/2014/main" val="20001"/>
                    </a:ext>
                  </a:extLst>
                </a:gridCol>
                <a:gridCol w="6770554">
                  <a:extLst>
                    <a:ext uri="{9D8B030D-6E8A-4147-A177-3AD203B41FA5}">
                      <a16:colId xmlns:a16="http://schemas.microsoft.com/office/drawing/2014/main" val="20002"/>
                    </a:ext>
                  </a:extLst>
                </a:gridCol>
              </a:tblGrid>
              <a:tr h="195942">
                <a:tc rowSpan="3">
                  <a:txBody>
                    <a:bodyPr/>
                    <a:lstStyle/>
                    <a:p>
                      <a:pPr algn="ctr"/>
                      <a:r>
                        <a:rPr kumimoji="1" lang="ja-JP" altLang="en-US" sz="1000" b="0" i="0" dirty="0">
                          <a:latin typeface="游ゴシック" panose="020B0400000000000000" pitchFamily="50" charset="-128"/>
                          <a:ea typeface="游ゴシック" panose="020B0400000000000000" pitchFamily="50" charset="-128"/>
                        </a:rPr>
                        <a:t>提案事項の</a:t>
                      </a:r>
                      <a:endParaRPr kumimoji="1" lang="en-US" altLang="ja-JP" sz="1000" b="0" i="0" dirty="0">
                        <a:latin typeface="游ゴシック" panose="020B0400000000000000" pitchFamily="50" charset="-128"/>
                        <a:ea typeface="游ゴシック" panose="020B0400000000000000" pitchFamily="50" charset="-128"/>
                      </a:endParaRPr>
                    </a:p>
                    <a:p>
                      <a:pPr algn="ctr"/>
                      <a:r>
                        <a:rPr kumimoji="1" lang="ja-JP" altLang="en-US" sz="1000" b="0" i="0" dirty="0">
                          <a:latin typeface="游ゴシック" panose="020B0400000000000000" pitchFamily="50" charset="-128"/>
                          <a:ea typeface="游ゴシック" panose="020B0400000000000000" pitchFamily="50" charset="-128"/>
                        </a:rPr>
                        <a:t>重要度指標</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indent="0" algn="ctr"/>
                      <a:r>
                        <a:rPr kumimoji="1" lang="en-US" altLang="ja-JP" sz="1000" b="0" i="0" dirty="0">
                          <a:latin typeface="游ゴシック" panose="020B0400000000000000" pitchFamily="50" charset="-128"/>
                          <a:ea typeface="游ゴシック" panose="020B0400000000000000" pitchFamily="50" charset="-128"/>
                        </a:rPr>
                        <a:t>A</a:t>
                      </a:r>
                      <a:r>
                        <a:rPr kumimoji="1" lang="ja-JP" altLang="en-US" sz="1000" b="0" i="0" dirty="0">
                          <a:latin typeface="游ゴシック" panose="020B0400000000000000" pitchFamily="50" charset="-128"/>
                          <a:ea typeface="游ゴシック" panose="020B0400000000000000" pitchFamily="50" charset="-128"/>
                        </a:rPr>
                        <a:t>：</a:t>
                      </a:r>
                    </a:p>
                  </a:txBody>
                  <a:tcPr marL="72000" marR="7200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kumimoji="1" lang="ja-JP" altLang="en-US" sz="1000" b="0" i="0" dirty="0">
                          <a:latin typeface="游ゴシック" panose="020B0400000000000000" pitchFamily="50" charset="-128"/>
                          <a:ea typeface="游ゴシック" panose="020B0400000000000000" pitchFamily="50" charset="-128"/>
                        </a:rPr>
                        <a:t>改善策を講じない場合に事業への影響が大きい、または人命や事業所資産の危険が大きいと考えられる事項</a:t>
                      </a:r>
                    </a:p>
                  </a:txBody>
                  <a:tcPr marL="72000" marR="7200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228600">
                <a:tc vMerge="1">
                  <a:txBody>
                    <a:bodyPr/>
                    <a:lstStyle/>
                    <a:p>
                      <a:endParaRPr kumimoji="1" lang="ja-JP" altLang="en-US" sz="1100" dirty="0"/>
                    </a:p>
                  </a:txBody>
                  <a:tcPr/>
                </a:tc>
                <a:tc>
                  <a:txBody>
                    <a:bodyPr/>
                    <a:lstStyle/>
                    <a:p>
                      <a:pPr algn="ctr"/>
                      <a:r>
                        <a:rPr kumimoji="1" lang="en-US" altLang="ja-JP" sz="1000" b="0" i="0" dirty="0">
                          <a:latin typeface="游ゴシック" panose="020B0400000000000000" pitchFamily="50" charset="-128"/>
                          <a:ea typeface="游ゴシック" panose="020B0400000000000000" pitchFamily="50" charset="-128"/>
                        </a:rPr>
                        <a:t>B</a:t>
                      </a:r>
                      <a:r>
                        <a:rPr kumimoji="1" lang="ja-JP" altLang="en-US" sz="1000" b="0" i="0" dirty="0">
                          <a:latin typeface="游ゴシック" panose="020B0400000000000000" pitchFamily="50" charset="-128"/>
                          <a:ea typeface="游ゴシック" panose="020B0400000000000000" pitchFamily="50" charset="-128"/>
                        </a:rPr>
                        <a:t>：</a:t>
                      </a:r>
                    </a:p>
                  </a:txBody>
                  <a:tcPr marL="72000" marR="72000" marT="0" marB="0" anchor="ctr">
                    <a:lnL w="12700" cap="flat" cmpd="sng" algn="ctr">
                      <a:solidFill>
                        <a:schemeClr val="tx1"/>
                      </a:solid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dirty="0">
                          <a:latin typeface="游ゴシック" panose="020B0400000000000000" pitchFamily="50" charset="-128"/>
                          <a:ea typeface="游ゴシック" panose="020B0400000000000000" pitchFamily="50" charset="-128"/>
                        </a:rPr>
                        <a:t>改善策を講じない場合に事業への影響がある、または人命や事業所資産の危険が少なくないと考えられる事項</a:t>
                      </a:r>
                    </a:p>
                  </a:txBody>
                  <a:tcPr marL="72000" marR="72000" marT="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99115">
                <a:tc vMerge="1">
                  <a:txBody>
                    <a:bodyPr/>
                    <a:lstStyle/>
                    <a:p>
                      <a:endParaRPr kumimoji="1" lang="ja-JP" altLang="en-US" sz="1100" dirty="0"/>
                    </a:p>
                  </a:txBody>
                  <a:tcPr/>
                </a:tc>
                <a:tc>
                  <a:txBody>
                    <a:bodyPr/>
                    <a:lstStyle/>
                    <a:p>
                      <a:pPr algn="ctr"/>
                      <a:r>
                        <a:rPr kumimoji="1" lang="en-US" altLang="ja-JP" sz="1000" b="0" i="0" dirty="0">
                          <a:latin typeface="游ゴシック" panose="020B0400000000000000" pitchFamily="50" charset="-128"/>
                          <a:ea typeface="游ゴシック" panose="020B0400000000000000" pitchFamily="50" charset="-128"/>
                        </a:rPr>
                        <a:t>C</a:t>
                      </a:r>
                      <a:r>
                        <a:rPr kumimoji="1" lang="ja-JP" altLang="en-US" sz="1000" b="0" i="0" dirty="0">
                          <a:latin typeface="游ゴシック" panose="020B0400000000000000" pitchFamily="50" charset="-128"/>
                          <a:ea typeface="游ゴシック" panose="020B0400000000000000" pitchFamily="50" charset="-128"/>
                        </a:rPr>
                        <a:t>：</a:t>
                      </a:r>
                    </a:p>
                  </a:txBody>
                  <a:tcPr marL="72000" marR="7200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kumimoji="1" lang="ja-JP" altLang="en-US" sz="1000" b="0" i="0" dirty="0">
                          <a:latin typeface="游ゴシック" panose="020B0400000000000000" pitchFamily="50" charset="-128"/>
                          <a:ea typeface="游ゴシック" panose="020B0400000000000000" pitchFamily="50" charset="-128"/>
                        </a:rPr>
                        <a:t>その他、リスク管理上、改善することが望まれるもの</a:t>
                      </a:r>
                    </a:p>
                  </a:txBody>
                  <a:tcPr marL="72000" marR="7200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7" name="テキスト ボックス 16"/>
          <p:cNvSpPr txBox="1"/>
          <p:nvPr userDrawn="1"/>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リスク低減に向けたご提案事項</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18" name="正方形/長方形 17"/>
          <p:cNvSpPr>
            <a:spLocks noChangeAspect="1"/>
          </p:cNvSpPr>
          <p:nvPr userDrawn="1"/>
        </p:nvSpPr>
        <p:spPr>
          <a:xfrm>
            <a:off x="360000" y="370800"/>
            <a:ext cx="720000" cy="720000"/>
          </a:xfrm>
          <a:prstGeom prst="rect">
            <a:avLst/>
          </a:prstGeom>
          <a:solidFill>
            <a:srgbClr val="006659"/>
          </a:solidFill>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dirty="0">
              <a:latin typeface="游ゴシック" panose="020B0400000000000000" pitchFamily="50" charset="-128"/>
              <a:ea typeface="游ゴシック" panose="020B0400000000000000" pitchFamily="50" charset="-128"/>
            </a:endParaRPr>
          </a:p>
        </p:txBody>
      </p:sp>
      <p:sp>
        <p:nvSpPr>
          <p:cNvPr id="19" name="テキスト ボックス 18"/>
          <p:cNvSpPr txBox="1">
            <a:spLocks noChangeAspect="1"/>
          </p:cNvSpPr>
          <p:nvPr userDrawn="1"/>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b="0" dirty="0">
                <a:solidFill>
                  <a:schemeClr val="bg1"/>
                </a:solidFill>
                <a:latin typeface="游ゴシック" panose="020B0400000000000000" pitchFamily="50" charset="-128"/>
                <a:ea typeface="游ゴシック" panose="020B0400000000000000" pitchFamily="50" charset="-128"/>
              </a:rPr>
              <a:t>2</a:t>
            </a:r>
          </a:p>
        </p:txBody>
      </p:sp>
      <p:sp>
        <p:nvSpPr>
          <p:cNvPr id="20" name="テキスト ボックス 19"/>
          <p:cNvSpPr txBox="1"/>
          <p:nvPr userDrawn="1"/>
        </p:nvSpPr>
        <p:spPr>
          <a:xfrm>
            <a:off x="355600" y="1243200"/>
            <a:ext cx="9226550" cy="215444"/>
          </a:xfrm>
          <a:prstGeom prst="rect">
            <a:avLst/>
          </a:prstGeom>
          <a:noFill/>
        </p:spPr>
        <p:txBody>
          <a:bodyPr wrap="square" lIns="0" tIns="0" rIns="0" bIns="0" rtlCol="0" anchor="ctr" anchorCtr="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ja-JP" altLang="en-US" sz="1400" b="0" dirty="0">
                <a:latin typeface="游ゴシック" panose="020B0400000000000000" pitchFamily="50" charset="-128"/>
                <a:ea typeface="游ゴシック" panose="020B0400000000000000" pitchFamily="50" charset="-128"/>
              </a:rPr>
              <a:t>　今回の調査時に気付きましたリスク管理上ご留意頂きたい事項を、以下にとりまとめてご報告します。</a:t>
            </a:r>
            <a:endParaRPr kumimoji="1" lang="ja-JP" altLang="en-US" sz="1400" b="0" dirty="0">
              <a:solidFill>
                <a:srgbClr val="FF0000"/>
              </a:solidFill>
              <a:latin typeface="游ゴシック" panose="020B0400000000000000" pitchFamily="50" charset="-128"/>
              <a:ea typeface="游ゴシック" panose="020B0400000000000000" pitchFamily="50" charset="-128"/>
            </a:endParaRPr>
          </a:p>
        </p:txBody>
      </p:sp>
      <p:sp>
        <p:nvSpPr>
          <p:cNvPr id="21" name="テキスト ボックス 20"/>
          <p:cNvSpPr txBox="1"/>
          <p:nvPr userDrawn="1"/>
        </p:nvSpPr>
        <p:spPr>
          <a:xfrm>
            <a:off x="533400" y="1585040"/>
            <a:ext cx="1158875" cy="246221"/>
          </a:xfrm>
          <a:prstGeom prst="rect">
            <a:avLst/>
          </a:prstGeom>
          <a:noFill/>
        </p:spPr>
        <p:txBody>
          <a:bodyPr wrap="square" lIns="0" tIns="0" rIns="0" bIns="0" rtlCol="0" anchor="ctr" anchorCtr="0">
            <a:spAutoFit/>
          </a:bodyPr>
          <a:lstStyle/>
          <a:p>
            <a:pPr algn="ctr"/>
            <a:r>
              <a:rPr kumimoji="1" lang="ja-JP" altLang="en-US" sz="1600" dirty="0">
                <a:solidFill>
                  <a:schemeClr val="bg1"/>
                </a:solidFill>
                <a:latin typeface="游ゴシック" panose="020B0400000000000000" pitchFamily="50" charset="-128"/>
                <a:ea typeface="游ゴシック" panose="020B0400000000000000" pitchFamily="50" charset="-128"/>
              </a:rPr>
              <a:t>提案</a:t>
            </a:r>
            <a:r>
              <a:rPr kumimoji="1" lang="en-US" altLang="ja-JP" sz="1600" dirty="0">
                <a:solidFill>
                  <a:schemeClr val="bg1"/>
                </a:solidFill>
                <a:latin typeface="游ゴシック" panose="020B0400000000000000" pitchFamily="50" charset="-128"/>
                <a:ea typeface="游ゴシック" panose="020B0400000000000000" pitchFamily="50" charset="-128"/>
              </a:rPr>
              <a:t>No</a:t>
            </a:r>
            <a:endParaRPr kumimoji="1" lang="ja-JP" altLang="en-US" sz="1600" dirty="0">
              <a:solidFill>
                <a:schemeClr val="bg1"/>
              </a:solidFill>
              <a:latin typeface="游ゴシック" panose="020B0400000000000000" pitchFamily="50" charset="-128"/>
              <a:ea typeface="游ゴシック" panose="020B0400000000000000" pitchFamily="50" charset="-128"/>
            </a:endParaRPr>
          </a:p>
        </p:txBody>
      </p:sp>
      <p:sp>
        <p:nvSpPr>
          <p:cNvPr id="22" name="テキスト ボックス 21"/>
          <p:cNvSpPr txBox="1"/>
          <p:nvPr userDrawn="1"/>
        </p:nvSpPr>
        <p:spPr>
          <a:xfrm>
            <a:off x="1698625" y="1585040"/>
            <a:ext cx="1158875" cy="246221"/>
          </a:xfrm>
          <a:prstGeom prst="rect">
            <a:avLst/>
          </a:prstGeom>
          <a:noFill/>
        </p:spPr>
        <p:txBody>
          <a:bodyPr wrap="square" lIns="0" tIns="0" rIns="0" bIns="0" rtlCol="0" anchor="ctr" anchorCtr="0">
            <a:spAutoFit/>
          </a:bodyPr>
          <a:lstStyle/>
          <a:p>
            <a:pPr algn="ctr"/>
            <a:r>
              <a:rPr kumimoji="1" lang="ja-JP" altLang="en-US" sz="1600" dirty="0">
                <a:solidFill>
                  <a:schemeClr val="bg1"/>
                </a:solidFill>
                <a:latin typeface="游ゴシック" panose="020B0400000000000000" pitchFamily="50" charset="-128"/>
                <a:ea typeface="游ゴシック" panose="020B0400000000000000" pitchFamily="50" charset="-128"/>
              </a:rPr>
              <a:t>重要度</a:t>
            </a:r>
          </a:p>
        </p:txBody>
      </p:sp>
      <p:sp>
        <p:nvSpPr>
          <p:cNvPr id="23" name="テキスト ボックス 22"/>
          <p:cNvSpPr txBox="1"/>
          <p:nvPr userDrawn="1"/>
        </p:nvSpPr>
        <p:spPr>
          <a:xfrm>
            <a:off x="2851151" y="1585040"/>
            <a:ext cx="4629150" cy="246221"/>
          </a:xfrm>
          <a:prstGeom prst="rect">
            <a:avLst/>
          </a:prstGeom>
          <a:noFill/>
        </p:spPr>
        <p:txBody>
          <a:bodyPr wrap="square" lIns="0" tIns="0" rIns="0" bIns="0" rtlCol="0" anchor="ctr" anchorCtr="0">
            <a:spAutoFit/>
          </a:bodyPr>
          <a:lstStyle/>
          <a:p>
            <a:pPr algn="ctr"/>
            <a:r>
              <a:rPr kumimoji="1" lang="ja-JP" altLang="en-US" sz="1600" dirty="0">
                <a:solidFill>
                  <a:schemeClr val="bg1"/>
                </a:solidFill>
                <a:latin typeface="游ゴシック" panose="020B0400000000000000" pitchFamily="50" charset="-128"/>
                <a:ea typeface="游ゴシック" panose="020B0400000000000000" pitchFamily="50" charset="-128"/>
              </a:rPr>
              <a:t>内容</a:t>
            </a:r>
          </a:p>
        </p:txBody>
      </p:sp>
      <p:sp>
        <p:nvSpPr>
          <p:cNvPr id="24" name="テキスト ボックス 23"/>
          <p:cNvSpPr txBox="1"/>
          <p:nvPr userDrawn="1"/>
        </p:nvSpPr>
        <p:spPr>
          <a:xfrm>
            <a:off x="7505700" y="1585040"/>
            <a:ext cx="1854200" cy="246221"/>
          </a:xfrm>
          <a:prstGeom prst="rect">
            <a:avLst/>
          </a:prstGeom>
          <a:noFill/>
        </p:spPr>
        <p:txBody>
          <a:bodyPr wrap="square" lIns="0" tIns="0" rIns="0" bIns="0" rtlCol="0" anchor="ctr" anchorCtr="0">
            <a:spAutoFit/>
          </a:bodyPr>
          <a:lstStyle/>
          <a:p>
            <a:pPr algn="ctr"/>
            <a:r>
              <a:rPr kumimoji="1" lang="ja-JP" altLang="en-US" sz="1600" dirty="0">
                <a:solidFill>
                  <a:schemeClr val="bg1"/>
                </a:solidFill>
                <a:latin typeface="游ゴシック" panose="020B0400000000000000" pitchFamily="50" charset="-128"/>
                <a:ea typeface="游ゴシック" panose="020B0400000000000000" pitchFamily="50" charset="-128"/>
              </a:rPr>
              <a:t>対象とするリスク</a:t>
            </a:r>
          </a:p>
        </p:txBody>
      </p:sp>
      <p:sp>
        <p:nvSpPr>
          <p:cNvPr id="25" name="テキスト ボックス 24"/>
          <p:cNvSpPr txBox="1">
            <a:spLocks noChangeAspect="1"/>
          </p:cNvSpPr>
          <p:nvPr userDrawn="1"/>
        </p:nvSpPr>
        <p:spPr>
          <a:xfrm>
            <a:off x="8207375" y="358031"/>
            <a:ext cx="1332000" cy="180000"/>
          </a:xfrm>
          <a:prstGeom prst="rect">
            <a:avLst/>
          </a:prstGeom>
          <a:solidFill>
            <a:srgbClr val="404040"/>
          </a:solidFill>
        </p:spPr>
        <p:txBody>
          <a:bodyPr wrap="none" lIns="0" tIns="0" rIns="0" bIns="0" rtlCol="0" anchor="ctr" anchorCtr="0">
            <a:noAutofit/>
          </a:bodyPr>
          <a:lstStyle/>
          <a:p>
            <a:pPr algn="ctr"/>
            <a:r>
              <a:rPr kumimoji="1" lang="en-US" altLang="ja-JP" sz="1000" dirty="0">
                <a:solidFill>
                  <a:srgbClr val="FFFFFF"/>
                </a:solidFill>
                <a:latin typeface="游ゴシック" panose="020B0400000000000000" pitchFamily="50" charset="-128"/>
                <a:ea typeface="游ゴシック" panose="020B0400000000000000" pitchFamily="50" charset="-128"/>
              </a:rPr>
              <a:t>Strictly Confidential</a:t>
            </a:r>
            <a:endParaRPr kumimoji="1" lang="ja-JP" altLang="en-US" sz="1000" dirty="0">
              <a:solidFill>
                <a:srgbClr val="FFFFFF"/>
              </a:solidFill>
              <a:latin typeface="游ゴシック" panose="020B0400000000000000" pitchFamily="50" charset="-128"/>
              <a:ea typeface="游ゴシック" panose="020B0400000000000000" pitchFamily="50" charset="-128"/>
            </a:endParaRPr>
          </a:p>
        </p:txBody>
      </p:sp>
      <p:sp>
        <p:nvSpPr>
          <p:cNvPr id="26" name="スライド番号プレースホルダー 5"/>
          <p:cNvSpPr>
            <a:spLocks noGrp="1"/>
          </p:cNvSpPr>
          <p:nvPr>
            <p:ph type="sldNum" sz="quarter" idx="4"/>
          </p:nvPr>
        </p:nvSpPr>
        <p:spPr>
          <a:xfrm>
            <a:off x="9437983" y="6407679"/>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游ゴシック" panose="020B0400000000000000" pitchFamily="50" charset="-128"/>
                <a:ea typeface="游ゴシック" panose="020B0400000000000000" pitchFamily="50" charset="-128"/>
              </a:defRPr>
            </a:lvl1pPr>
          </a:lstStyle>
          <a:p>
            <a:pPr algn="ctr"/>
            <a:fld id="{3C987C2D-0993-D24A-8F17-67855EAE4BDA}" type="slidenum">
              <a:rPr lang="en-US" altLang="ja-JP" smtClean="0"/>
              <a:pPr algn="ctr"/>
              <a:t>‹#›</a:t>
            </a:fld>
            <a:endParaRPr lang="en-US" dirty="0"/>
          </a:p>
        </p:txBody>
      </p:sp>
    </p:spTree>
    <p:extLst>
      <p:ext uri="{BB962C8B-B14F-4D97-AF65-F5344CB8AC3E}">
        <p14:creationId xmlns:p14="http://schemas.microsoft.com/office/powerpoint/2010/main" val="261781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ブランク_背景無">
    <p:bg>
      <p:bgPr>
        <a:solidFill>
          <a:schemeClr val="bg1"/>
        </a:solidFill>
        <a:effectLst/>
      </p:bgPr>
    </p:bg>
    <p:spTree>
      <p:nvGrpSpPr>
        <p:cNvPr id="1" name=""/>
        <p:cNvGrpSpPr/>
        <p:nvPr/>
      </p:nvGrpSpPr>
      <p:grpSpPr>
        <a:xfrm>
          <a:off x="0" y="0"/>
          <a:ext cx="0" cy="0"/>
          <a:chOff x="0" y="0"/>
          <a:chExt cx="0" cy="0"/>
        </a:xfrm>
      </p:grpSpPr>
      <p:sp>
        <p:nvSpPr>
          <p:cNvPr id="36" name="テキスト ボックス 35"/>
          <p:cNvSpPr txBox="1"/>
          <p:nvPr userDrawn="1"/>
        </p:nvSpPr>
        <p:spPr>
          <a:xfrm>
            <a:off x="419100" y="6490800"/>
            <a:ext cx="4191000" cy="138499"/>
          </a:xfrm>
          <a:prstGeom prst="rect">
            <a:avLst/>
          </a:prstGeom>
          <a:noFill/>
        </p:spPr>
        <p:txBody>
          <a:bodyPr wrap="square" lIns="0" tIns="0" rIns="0" bIns="0" rtlCol="0" anchor="ctr" anchorCtr="0">
            <a:spAutoFit/>
          </a:bodyPr>
          <a:lstStyle/>
          <a:p>
            <a:r>
              <a:rPr kumimoji="1" lang="en-US" altLang="ja-JP" sz="900" dirty="0">
                <a:solidFill>
                  <a:schemeClr val="bg1"/>
                </a:solidFill>
                <a:latin typeface="游ゴシック" panose="020B0400000000000000" pitchFamily="50" charset="-128"/>
                <a:ea typeface="游ゴシック" panose="020B0400000000000000" pitchFamily="50" charset="-128"/>
              </a:rPr>
              <a:t>© MS&amp;AD </a:t>
            </a:r>
            <a:r>
              <a:rPr kumimoji="1" lang="en-US" altLang="ja-JP" sz="900" dirty="0" err="1">
                <a:solidFill>
                  <a:schemeClr val="bg1"/>
                </a:solidFill>
                <a:latin typeface="游ゴシック" panose="020B0400000000000000" pitchFamily="50" charset="-128"/>
                <a:ea typeface="游ゴシック" panose="020B0400000000000000" pitchFamily="50" charset="-128"/>
              </a:rPr>
              <a:t>InterRisk</a:t>
            </a:r>
            <a:r>
              <a:rPr kumimoji="1" lang="en-US" altLang="ja-JP" sz="900" dirty="0">
                <a:solidFill>
                  <a:schemeClr val="bg1"/>
                </a:solidFill>
                <a:latin typeface="游ゴシック" panose="020B0400000000000000" pitchFamily="50" charset="-128"/>
                <a:ea typeface="游ゴシック" panose="020B0400000000000000" pitchFamily="50" charset="-128"/>
              </a:rPr>
              <a:t> Research &amp; Consulting, Inc.</a:t>
            </a:r>
            <a:endParaRPr kumimoji="1" lang="ja-JP" altLang="en-US" sz="900" dirty="0">
              <a:solidFill>
                <a:schemeClr val="bg1"/>
              </a:solidFill>
              <a:latin typeface="游ゴシック" panose="020B0400000000000000" pitchFamily="50" charset="-128"/>
              <a:ea typeface="游ゴシック" panose="020B0400000000000000" pitchFamily="50" charset="-128"/>
            </a:endParaRPr>
          </a:p>
        </p:txBody>
      </p:sp>
      <p:sp>
        <p:nvSpPr>
          <p:cNvPr id="5" name="テキスト ボックス 4"/>
          <p:cNvSpPr txBox="1"/>
          <p:nvPr userDrawn="1"/>
        </p:nvSpPr>
        <p:spPr>
          <a:xfrm>
            <a:off x="367850" y="6464300"/>
            <a:ext cx="9173633" cy="211667"/>
          </a:xfrm>
          <a:prstGeom prst="rect">
            <a:avLst/>
          </a:prstGeom>
          <a:solidFill>
            <a:srgbClr val="006659"/>
          </a:solidFill>
        </p:spPr>
        <p:txBody>
          <a:bodyPr wrap="square" lIns="72000" tIns="0" rIns="0" bIns="0" rtlCol="0" anchor="ctr" anchorCtr="0">
            <a:noAutofit/>
          </a:bodyPr>
          <a:lstStyle/>
          <a:p>
            <a:pPr algn="l"/>
            <a:r>
              <a:rPr kumimoji="1" lang="en-US" altLang="ja-JP" sz="900" dirty="0">
                <a:solidFill>
                  <a:schemeClr val="bg1"/>
                </a:solidFill>
                <a:latin typeface="游ゴシック" panose="020B0400000000000000" pitchFamily="50" charset="-128"/>
                <a:ea typeface="游ゴシック" panose="020B0400000000000000" pitchFamily="50" charset="-128"/>
              </a:rPr>
              <a:t>© MS&amp;AD </a:t>
            </a:r>
            <a:r>
              <a:rPr kumimoji="1" lang="en-US" altLang="ja-JP" sz="900" dirty="0" err="1">
                <a:solidFill>
                  <a:schemeClr val="bg1"/>
                </a:solidFill>
                <a:latin typeface="游ゴシック" panose="020B0400000000000000" pitchFamily="50" charset="-128"/>
                <a:ea typeface="游ゴシック" panose="020B0400000000000000" pitchFamily="50" charset="-128"/>
              </a:rPr>
              <a:t>InterRisk</a:t>
            </a:r>
            <a:r>
              <a:rPr kumimoji="1" lang="en-US" altLang="ja-JP" sz="900" dirty="0">
                <a:solidFill>
                  <a:schemeClr val="bg1"/>
                </a:solidFill>
                <a:latin typeface="游ゴシック" panose="020B0400000000000000" pitchFamily="50" charset="-128"/>
                <a:ea typeface="游ゴシック" panose="020B0400000000000000" pitchFamily="50" charset="-128"/>
              </a:rPr>
              <a:t> Research &amp; Consulting, Inc.</a:t>
            </a:r>
            <a:endParaRPr kumimoji="1" lang="ja-JP" altLang="en-US" sz="900" dirty="0">
              <a:solidFill>
                <a:schemeClr val="bg1"/>
              </a:solidFill>
              <a:latin typeface="游ゴシック" panose="020B0400000000000000" pitchFamily="50" charset="-128"/>
              <a:ea typeface="游ゴシック" panose="020B0400000000000000" pitchFamily="50" charset="-128"/>
            </a:endParaRPr>
          </a:p>
        </p:txBody>
      </p:sp>
      <p:graphicFrame>
        <p:nvGraphicFramePr>
          <p:cNvPr id="16" name="表 15"/>
          <p:cNvGraphicFramePr>
            <a:graphicFrameLocks noGrp="1"/>
          </p:cNvGraphicFramePr>
          <p:nvPr userDrawn="1">
            <p:extLst>
              <p:ext uri="{D42A27DB-BD31-4B8C-83A1-F6EECF244321}">
                <p14:modId xmlns:p14="http://schemas.microsoft.com/office/powerpoint/2010/main" val="1465490126"/>
              </p:ext>
            </p:extLst>
          </p:nvPr>
        </p:nvGraphicFramePr>
        <p:xfrm>
          <a:off x="539035" y="5675839"/>
          <a:ext cx="8831262" cy="623657"/>
        </p:xfrm>
        <a:graphic>
          <a:graphicData uri="http://schemas.openxmlformats.org/drawingml/2006/table">
            <a:tbl>
              <a:tblPr firstRow="1" bandRow="1">
                <a:tableStyleId>{2D5ABB26-0587-4C30-8999-92F81FD0307C}</a:tableStyleId>
              </a:tblPr>
              <a:tblGrid>
                <a:gridCol w="1528184">
                  <a:extLst>
                    <a:ext uri="{9D8B030D-6E8A-4147-A177-3AD203B41FA5}">
                      <a16:colId xmlns:a16="http://schemas.microsoft.com/office/drawing/2014/main" val="20000"/>
                    </a:ext>
                  </a:extLst>
                </a:gridCol>
                <a:gridCol w="532524">
                  <a:extLst>
                    <a:ext uri="{9D8B030D-6E8A-4147-A177-3AD203B41FA5}">
                      <a16:colId xmlns:a16="http://schemas.microsoft.com/office/drawing/2014/main" val="20001"/>
                    </a:ext>
                  </a:extLst>
                </a:gridCol>
                <a:gridCol w="6770554">
                  <a:extLst>
                    <a:ext uri="{9D8B030D-6E8A-4147-A177-3AD203B41FA5}">
                      <a16:colId xmlns:a16="http://schemas.microsoft.com/office/drawing/2014/main" val="20002"/>
                    </a:ext>
                  </a:extLst>
                </a:gridCol>
              </a:tblGrid>
              <a:tr h="195942">
                <a:tc rowSpan="3">
                  <a:txBody>
                    <a:bodyPr/>
                    <a:lstStyle/>
                    <a:p>
                      <a:pPr algn="ctr"/>
                      <a:r>
                        <a:rPr kumimoji="1" lang="ja-JP" altLang="en-US" sz="1000" b="0" i="0" dirty="0">
                          <a:latin typeface="游ゴシック" panose="020B0400000000000000" pitchFamily="50" charset="-128"/>
                          <a:ea typeface="游ゴシック" panose="020B0400000000000000" pitchFamily="50" charset="-128"/>
                        </a:rPr>
                        <a:t>提案事項の</a:t>
                      </a:r>
                      <a:endParaRPr kumimoji="1" lang="en-US" altLang="ja-JP" sz="1000" b="0" i="0" dirty="0">
                        <a:latin typeface="游ゴシック" panose="020B0400000000000000" pitchFamily="50" charset="-128"/>
                        <a:ea typeface="游ゴシック" panose="020B0400000000000000" pitchFamily="50" charset="-128"/>
                      </a:endParaRPr>
                    </a:p>
                    <a:p>
                      <a:pPr algn="ctr"/>
                      <a:r>
                        <a:rPr kumimoji="1" lang="ja-JP" altLang="en-US" sz="1000" b="0" i="0" dirty="0">
                          <a:latin typeface="游ゴシック" panose="020B0400000000000000" pitchFamily="50" charset="-128"/>
                          <a:ea typeface="游ゴシック" panose="020B0400000000000000" pitchFamily="50" charset="-128"/>
                        </a:rPr>
                        <a:t>重要度指標</a:t>
                      </a: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1000" b="0" i="0" dirty="0">
                          <a:latin typeface="游ゴシック" panose="020B0400000000000000" pitchFamily="50" charset="-128"/>
                          <a:ea typeface="游ゴシック" panose="020B0400000000000000" pitchFamily="50" charset="-128"/>
                        </a:rPr>
                        <a:t>A</a:t>
                      </a:r>
                      <a:r>
                        <a:rPr kumimoji="1" lang="ja-JP" altLang="en-US" sz="1000" b="0" i="0" dirty="0">
                          <a:latin typeface="游ゴシック" panose="020B0400000000000000" pitchFamily="50" charset="-128"/>
                          <a:ea typeface="游ゴシック" panose="020B0400000000000000" pitchFamily="50" charset="-128"/>
                        </a:rPr>
                        <a:t>：</a:t>
                      </a:r>
                    </a:p>
                  </a:txBody>
                  <a:tcPr marL="72000" marR="7200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kumimoji="1" lang="ja-JP" altLang="en-US" sz="1000" b="0" i="0" dirty="0">
                          <a:latin typeface="游ゴシック" panose="020B0400000000000000" pitchFamily="50" charset="-128"/>
                          <a:ea typeface="游ゴシック" panose="020B0400000000000000" pitchFamily="50" charset="-128"/>
                        </a:rPr>
                        <a:t>改善策を講じない場合に事業への影響が大きい、または人命や事業所資産の危険が大きいと考えられる事項</a:t>
                      </a:r>
                    </a:p>
                  </a:txBody>
                  <a:tcPr marL="72000" marR="7200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228600">
                <a:tc vMerge="1">
                  <a:txBody>
                    <a:bodyPr/>
                    <a:lstStyle/>
                    <a:p>
                      <a:endParaRPr kumimoji="1" lang="ja-JP" altLang="en-US" sz="1100" dirty="0"/>
                    </a:p>
                  </a:txBody>
                  <a:tcPr/>
                </a:tc>
                <a:tc>
                  <a:txBody>
                    <a:bodyPr/>
                    <a:lstStyle/>
                    <a:p>
                      <a:pPr algn="ctr"/>
                      <a:r>
                        <a:rPr kumimoji="1" lang="en-US" altLang="ja-JP" sz="1000" b="0" i="0" dirty="0">
                          <a:latin typeface="游ゴシック" panose="020B0400000000000000" pitchFamily="50" charset="-128"/>
                          <a:ea typeface="游ゴシック" panose="020B0400000000000000" pitchFamily="50" charset="-128"/>
                        </a:rPr>
                        <a:t>B</a:t>
                      </a:r>
                      <a:r>
                        <a:rPr kumimoji="1" lang="ja-JP" altLang="en-US" sz="1000" b="0" i="0" dirty="0">
                          <a:latin typeface="游ゴシック" panose="020B0400000000000000" pitchFamily="50" charset="-128"/>
                          <a:ea typeface="游ゴシック" panose="020B0400000000000000" pitchFamily="50" charset="-128"/>
                        </a:rPr>
                        <a:t>：</a:t>
                      </a:r>
                    </a:p>
                  </a:txBody>
                  <a:tcPr marL="72000" marR="72000" marT="0" marB="0" anchor="ctr">
                    <a:lnL w="12700" cap="flat" cmpd="sng" algn="ctr">
                      <a:solidFill>
                        <a:schemeClr val="tx1"/>
                      </a:solid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dirty="0">
                          <a:latin typeface="游ゴシック" panose="020B0400000000000000" pitchFamily="50" charset="-128"/>
                          <a:ea typeface="游ゴシック" panose="020B0400000000000000" pitchFamily="50" charset="-128"/>
                        </a:rPr>
                        <a:t>改善策を講じない場合に事業への影響がある、または人命や事業所資産の危険が少なくないと考えられる事項</a:t>
                      </a:r>
                    </a:p>
                  </a:txBody>
                  <a:tcPr marL="72000" marR="72000" marT="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99115">
                <a:tc vMerge="1">
                  <a:txBody>
                    <a:bodyPr/>
                    <a:lstStyle/>
                    <a:p>
                      <a:endParaRPr kumimoji="1" lang="ja-JP" altLang="en-US" sz="1100" dirty="0"/>
                    </a:p>
                  </a:txBody>
                  <a:tcPr/>
                </a:tc>
                <a:tc>
                  <a:txBody>
                    <a:bodyPr/>
                    <a:lstStyle/>
                    <a:p>
                      <a:pPr algn="ctr"/>
                      <a:r>
                        <a:rPr kumimoji="1" lang="en-US" altLang="ja-JP" sz="1000" b="0" i="0" dirty="0">
                          <a:latin typeface="游ゴシック" panose="020B0400000000000000" pitchFamily="50" charset="-128"/>
                          <a:ea typeface="游ゴシック" panose="020B0400000000000000" pitchFamily="50" charset="-128"/>
                        </a:rPr>
                        <a:t>C</a:t>
                      </a:r>
                      <a:r>
                        <a:rPr kumimoji="1" lang="ja-JP" altLang="en-US" sz="1000" b="0" i="0" dirty="0">
                          <a:latin typeface="游ゴシック" panose="020B0400000000000000" pitchFamily="50" charset="-128"/>
                          <a:ea typeface="游ゴシック" panose="020B0400000000000000" pitchFamily="50" charset="-128"/>
                        </a:rPr>
                        <a:t>：</a:t>
                      </a:r>
                    </a:p>
                  </a:txBody>
                  <a:tcPr marL="72000" marR="7200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kumimoji="1" lang="ja-JP" altLang="en-US" sz="1000" b="0" i="0" dirty="0">
                          <a:latin typeface="游ゴシック" panose="020B0400000000000000" pitchFamily="50" charset="-128"/>
                          <a:ea typeface="游ゴシック" panose="020B0400000000000000" pitchFamily="50" charset="-128"/>
                        </a:rPr>
                        <a:t>その他、リスク管理上、改善することが望まれるもの</a:t>
                      </a:r>
                    </a:p>
                  </a:txBody>
                  <a:tcPr marL="72000" marR="7200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7" name="テキスト ボックス 16"/>
          <p:cNvSpPr txBox="1"/>
          <p:nvPr userDrawn="1"/>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リスク低減に向けたご提案事項</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18" name="正方形/長方形 17"/>
          <p:cNvSpPr>
            <a:spLocks noChangeAspect="1"/>
          </p:cNvSpPr>
          <p:nvPr userDrawn="1"/>
        </p:nvSpPr>
        <p:spPr>
          <a:xfrm>
            <a:off x="360000" y="370800"/>
            <a:ext cx="720000" cy="720000"/>
          </a:xfrm>
          <a:prstGeom prst="rect">
            <a:avLst/>
          </a:prstGeom>
          <a:solidFill>
            <a:srgbClr val="006659"/>
          </a:solidFill>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dirty="0">
              <a:latin typeface="游ゴシック" panose="020B0400000000000000" pitchFamily="50" charset="-128"/>
              <a:ea typeface="游ゴシック" panose="020B0400000000000000" pitchFamily="50" charset="-128"/>
            </a:endParaRPr>
          </a:p>
        </p:txBody>
      </p:sp>
      <p:sp>
        <p:nvSpPr>
          <p:cNvPr id="19" name="テキスト ボックス 18"/>
          <p:cNvSpPr txBox="1">
            <a:spLocks noChangeAspect="1"/>
          </p:cNvSpPr>
          <p:nvPr userDrawn="1"/>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b="0" dirty="0">
                <a:solidFill>
                  <a:schemeClr val="bg1"/>
                </a:solidFill>
                <a:latin typeface="游ゴシック" panose="020B0400000000000000" pitchFamily="50" charset="-128"/>
                <a:ea typeface="游ゴシック" panose="020B0400000000000000" pitchFamily="50" charset="-128"/>
              </a:rPr>
              <a:t>2</a:t>
            </a:r>
          </a:p>
        </p:txBody>
      </p:sp>
      <p:sp>
        <p:nvSpPr>
          <p:cNvPr id="25" name="テキスト ボックス 24"/>
          <p:cNvSpPr txBox="1">
            <a:spLocks noChangeAspect="1"/>
          </p:cNvSpPr>
          <p:nvPr userDrawn="1"/>
        </p:nvSpPr>
        <p:spPr>
          <a:xfrm>
            <a:off x="8207375" y="358031"/>
            <a:ext cx="1332000" cy="180000"/>
          </a:xfrm>
          <a:prstGeom prst="rect">
            <a:avLst/>
          </a:prstGeom>
          <a:solidFill>
            <a:srgbClr val="404040"/>
          </a:solidFill>
        </p:spPr>
        <p:txBody>
          <a:bodyPr wrap="none" lIns="0" tIns="0" rIns="0" bIns="0" rtlCol="0" anchor="ctr" anchorCtr="0">
            <a:noAutofit/>
          </a:bodyPr>
          <a:lstStyle/>
          <a:p>
            <a:pPr algn="ctr"/>
            <a:r>
              <a:rPr kumimoji="1" lang="en-US" altLang="ja-JP" sz="1000" dirty="0">
                <a:solidFill>
                  <a:srgbClr val="FFFFFF"/>
                </a:solidFill>
                <a:latin typeface="游ゴシック" panose="020B0400000000000000" pitchFamily="50" charset="-128"/>
                <a:ea typeface="游ゴシック" panose="020B0400000000000000" pitchFamily="50" charset="-128"/>
              </a:rPr>
              <a:t>Strictly Confidential</a:t>
            </a:r>
            <a:endParaRPr kumimoji="1" lang="ja-JP" altLang="en-US" sz="1000" dirty="0">
              <a:solidFill>
                <a:srgbClr val="FFFFFF"/>
              </a:solidFill>
              <a:latin typeface="游ゴシック" panose="020B0400000000000000" pitchFamily="50" charset="-128"/>
              <a:ea typeface="游ゴシック" panose="020B0400000000000000" pitchFamily="50" charset="-128"/>
            </a:endParaRPr>
          </a:p>
        </p:txBody>
      </p:sp>
      <p:sp>
        <p:nvSpPr>
          <p:cNvPr id="9" name="スライド番号プレースホルダー 5"/>
          <p:cNvSpPr>
            <a:spLocks noGrp="1"/>
          </p:cNvSpPr>
          <p:nvPr>
            <p:ph type="sldNum" sz="quarter" idx="4"/>
          </p:nvPr>
        </p:nvSpPr>
        <p:spPr>
          <a:xfrm>
            <a:off x="9437983" y="6407679"/>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游ゴシック" panose="020B0400000000000000" pitchFamily="50" charset="-128"/>
                <a:ea typeface="游ゴシック" panose="020B0400000000000000" pitchFamily="50" charset="-128"/>
              </a:defRPr>
            </a:lvl1pPr>
          </a:lstStyle>
          <a:p>
            <a:pPr algn="ctr"/>
            <a:fld id="{3C987C2D-0993-D24A-8F17-67855EAE4BDA}" type="slidenum">
              <a:rPr lang="en-US" altLang="ja-JP" smtClean="0"/>
              <a:pPr algn="ctr"/>
              <a:t>‹#›</a:t>
            </a:fld>
            <a:endParaRPr lang="en-US" dirty="0"/>
          </a:p>
        </p:txBody>
      </p:sp>
    </p:spTree>
    <p:extLst>
      <p:ext uri="{BB962C8B-B14F-4D97-AF65-F5344CB8AC3E}">
        <p14:creationId xmlns:p14="http://schemas.microsoft.com/office/powerpoint/2010/main" val="1376020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タイトル スライド">
    <p:spTree>
      <p:nvGrpSpPr>
        <p:cNvPr id="1" name=""/>
        <p:cNvGrpSpPr/>
        <p:nvPr/>
      </p:nvGrpSpPr>
      <p:grpSpPr>
        <a:xfrm>
          <a:off x="10982325" y="6448425"/>
          <a:ext cx="11582400" cy="6724650"/>
          <a:chOff x="10982325" y="6448425"/>
          <a:chExt cx="11582400" cy="6724650"/>
        </a:xfrm>
      </p:grpSpPr>
      <p:sp>
        <p:nvSpPr>
          <p:cNvPr id="2" name="スライド番号プレースホルダー 3"/>
          <p:cNvSpPr txBox="1"/>
          <p:nvPr/>
        </p:nvSpPr>
        <p:spPr>
          <a:xfrm>
            <a:off x="10982325" y="6448425"/>
            <a:ext cx="600075" cy="276225"/>
          </a:xfrm>
          <a:prstGeom prst="rect">
            <a:avLst/>
          </a:prstGeom>
        </p:spPr>
        <p:txBody>
          <a:bodyPr vert="horz" lIns="0" tIns="0" rIns="0" bIns="0" rtlCol="0" anchorCtr="1">
            <a:spAutoFit/>
          </a:bodyPr>
          <a:lstStyle/>
          <a:p>
            <a:pPr marL="0" marR="0" lvl="0" indent="0" algn="ctr" rtl="0" fontAlgn="base">
              <a:lnSpc>
                <a:spcPct val="100000"/>
              </a:lnSpc>
              <a:spcBef>
                <a:spcPts val="0"/>
              </a:spcBef>
              <a:spcAft>
                <a:spcPts val="0"/>
              </a:spcAft>
            </a:pPr>
            <a:endParaRPr/>
          </a:p>
        </p:txBody>
      </p:sp>
    </p:spTree>
    <p:extLst>
      <p:ext uri="{BB962C8B-B14F-4D97-AF65-F5344CB8AC3E}">
        <p14:creationId xmlns:p14="http://schemas.microsoft.com/office/powerpoint/2010/main" val="1535873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タイトル プレースホルダー 1"/>
          <p:cNvSpPr>
            <a:spLocks noGrp="1"/>
          </p:cNvSpPr>
          <p:nvPr>
            <p:ph type="title"/>
          </p:nvPr>
        </p:nvSpPr>
        <p:spPr bwMode="auto">
          <a:xfrm>
            <a:off x="128506" y="115888"/>
            <a:ext cx="964264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36000" rIns="91440" bIns="18000" numCol="1" anchor="b" anchorCtr="0" compatLnSpc="1">
            <a:prstTxWarp prst="textNoShape">
              <a:avLst/>
            </a:prstTxWarp>
          </a:bodyPr>
          <a:lstStyle/>
          <a:p>
            <a:pPr lvl="0"/>
            <a:r>
              <a:rPr lang="ja-JP" altLang="en-US" dirty="0"/>
              <a:t>マスター タイトルの書式設定</a:t>
            </a:r>
          </a:p>
        </p:txBody>
      </p:sp>
      <p:sp>
        <p:nvSpPr>
          <p:cNvPr id="1027" name="テキスト プレースホルダー 2"/>
          <p:cNvSpPr>
            <a:spLocks noGrp="1"/>
          </p:cNvSpPr>
          <p:nvPr>
            <p:ph type="body" idx="1"/>
          </p:nvPr>
        </p:nvSpPr>
        <p:spPr bwMode="auto">
          <a:xfrm>
            <a:off x="128506" y="1844675"/>
            <a:ext cx="964264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スライド番号プレースホルダー 5"/>
          <p:cNvSpPr>
            <a:spLocks noGrp="1"/>
          </p:cNvSpPr>
          <p:nvPr>
            <p:ph type="sldNum" sz="quarter" idx="4"/>
          </p:nvPr>
        </p:nvSpPr>
        <p:spPr>
          <a:xfrm>
            <a:off x="9268230" y="6486525"/>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游ゴシック" panose="020B0400000000000000" pitchFamily="50" charset="-128"/>
                <a:ea typeface="游ゴシック" panose="020B0400000000000000" pitchFamily="50" charset="-128"/>
              </a:defRPr>
            </a:lvl1pPr>
          </a:lstStyle>
          <a:p>
            <a:pPr algn="ctr"/>
            <a:fld id="{3C987C2D-0993-D24A-8F17-67855EAE4BDA}" type="slidenum">
              <a:rPr lang="en-US" altLang="ja-JP" smtClean="0"/>
              <a:pPr algn="ctr"/>
              <a:t>‹#›</a:t>
            </a:fld>
            <a:endParaRPr lang="en-US" dirty="0"/>
          </a:p>
        </p:txBody>
      </p:sp>
      <p:grpSp>
        <p:nvGrpSpPr>
          <p:cNvPr id="7" name="グループ化 10"/>
          <p:cNvGrpSpPr>
            <a:grpSpLocks/>
          </p:cNvGrpSpPr>
          <p:nvPr/>
        </p:nvGrpSpPr>
        <p:grpSpPr bwMode="auto">
          <a:xfrm>
            <a:off x="-1167651" y="-1035050"/>
            <a:ext cx="11801843" cy="817562"/>
            <a:chOff x="-1168400" y="-1035050"/>
            <a:chExt cx="11809413" cy="817562"/>
          </a:xfrm>
        </p:grpSpPr>
        <p:sp>
          <p:nvSpPr>
            <p:cNvPr id="8" name="正方形/長方形 7"/>
            <p:cNvSpPr/>
            <p:nvPr/>
          </p:nvSpPr>
          <p:spPr bwMode="auto">
            <a:xfrm>
              <a:off x="-1168400" y="-1035050"/>
              <a:ext cx="11809413" cy="817562"/>
            </a:xfrm>
            <a:prstGeom prst="rect">
              <a:avLst/>
            </a:prstGeom>
            <a:noFill/>
            <a:ln w="9525">
              <a:solidFill>
                <a:srgbClr val="414243"/>
              </a:solidFill>
            </a:ln>
            <a:extLst>
              <a:ext uri="{909E8E84-426E-40DD-AFC4-6F175D3DCCD1}">
                <a14:hiddenFill xmlns:a14="http://schemas.microsoft.com/office/drawing/2010/main">
                  <a:solidFill>
                    <a:srgbClr val="0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sz="1799" dirty="0">
                <a:solidFill>
                  <a:srgbClr val="737677"/>
                </a:solidFill>
                <a:latin typeface="游ゴシック" panose="020B0400000000000000" pitchFamily="50" charset="-128"/>
                <a:ea typeface="游ゴシック" panose="020B0400000000000000" pitchFamily="50" charset="-128"/>
              </a:endParaRPr>
            </a:p>
          </p:txBody>
        </p:sp>
        <p:sp>
          <p:nvSpPr>
            <p:cNvPr id="9" name="テキスト ボックス 7"/>
            <p:cNvSpPr txBox="1">
              <a:spLocks noChangeArrowheads="1"/>
            </p:cNvSpPr>
            <p:nvPr/>
          </p:nvSpPr>
          <p:spPr bwMode="auto">
            <a:xfrm>
              <a:off x="200025" y="-968375"/>
              <a:ext cx="7488238" cy="13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a:solidFill>
                    <a:schemeClr val="tx1"/>
                  </a:solidFill>
                  <a:latin typeface="Arial" charset="0"/>
                  <a:ea typeface="ＭＳ Ｐゴシック" charset="-128"/>
                </a:defRPr>
              </a:lvl1pPr>
              <a:lvl2pPr marL="742950" indent="-285750">
                <a:defRPr kumimoji="1">
                  <a:solidFill>
                    <a:schemeClr val="tx1"/>
                  </a:solidFill>
                  <a:latin typeface="Arial" charset="0"/>
                  <a:ea typeface="ＭＳ Ｐゴシック" charset="-128"/>
                </a:defRPr>
              </a:lvl2pPr>
              <a:lvl3pPr marL="1143000" indent="-228600">
                <a:defRPr kumimoji="1">
                  <a:solidFill>
                    <a:schemeClr val="tx1"/>
                  </a:solidFill>
                  <a:latin typeface="Arial" charset="0"/>
                  <a:ea typeface="ＭＳ Ｐゴシック" charset="-128"/>
                </a:defRPr>
              </a:lvl3pPr>
              <a:lvl4pPr marL="1600200" indent="-228600">
                <a:defRPr kumimoji="1">
                  <a:solidFill>
                    <a:schemeClr val="tx1"/>
                  </a:solidFill>
                  <a:latin typeface="Arial" charset="0"/>
                  <a:ea typeface="ＭＳ Ｐゴシック" charset="-128"/>
                </a:defRPr>
              </a:lvl4pPr>
              <a:lvl5pPr marL="2057400" indent="-228600">
                <a:defRPr kumimoji="1">
                  <a:solidFill>
                    <a:schemeClr val="tx1"/>
                  </a:solidFill>
                  <a:latin typeface="Arial" charset="0"/>
                  <a:ea typeface="ＭＳ Ｐゴシック" charset="-128"/>
                </a:defRPr>
              </a:lvl5pPr>
              <a:lvl6pPr marL="2514600" indent="-228600" fontAlgn="base">
                <a:spcBef>
                  <a:spcPct val="0"/>
                </a:spcBef>
                <a:spcAft>
                  <a:spcPct val="0"/>
                </a:spcAft>
                <a:defRPr kumimoji="1">
                  <a:solidFill>
                    <a:schemeClr val="tx1"/>
                  </a:solidFill>
                  <a:latin typeface="Arial" charset="0"/>
                  <a:ea typeface="ＭＳ Ｐゴシック" charset="-128"/>
                </a:defRPr>
              </a:lvl6pPr>
              <a:lvl7pPr marL="2971800" indent="-228600" fontAlgn="base">
                <a:spcBef>
                  <a:spcPct val="0"/>
                </a:spcBef>
                <a:spcAft>
                  <a:spcPct val="0"/>
                </a:spcAft>
                <a:defRPr kumimoji="1">
                  <a:solidFill>
                    <a:schemeClr val="tx1"/>
                  </a:solidFill>
                  <a:latin typeface="Arial" charset="0"/>
                  <a:ea typeface="ＭＳ Ｐゴシック" charset="-128"/>
                </a:defRPr>
              </a:lvl7pPr>
              <a:lvl8pPr marL="3429000" indent="-228600" fontAlgn="base">
                <a:spcBef>
                  <a:spcPct val="0"/>
                </a:spcBef>
                <a:spcAft>
                  <a:spcPct val="0"/>
                </a:spcAft>
                <a:defRPr kumimoji="1">
                  <a:solidFill>
                    <a:schemeClr val="tx1"/>
                  </a:solidFill>
                  <a:latin typeface="Arial" charset="0"/>
                  <a:ea typeface="ＭＳ Ｐゴシック" charset="-128"/>
                </a:defRPr>
              </a:lvl8pPr>
              <a:lvl9pPr marL="3886200" indent="-228600" fontAlgn="base">
                <a:spcBef>
                  <a:spcPct val="0"/>
                </a:spcBef>
                <a:spcAft>
                  <a:spcPct val="0"/>
                </a:spcAft>
                <a:defRPr kumimoji="1">
                  <a:solidFill>
                    <a:schemeClr val="tx1"/>
                  </a:solidFill>
                  <a:latin typeface="Arial" charset="0"/>
                  <a:ea typeface="ＭＳ Ｐゴシック" charset="-128"/>
                </a:defRPr>
              </a:lvl9pPr>
            </a:lstStyle>
            <a:p>
              <a:pPr>
                <a:defRPr/>
              </a:pPr>
              <a:r>
                <a:rPr lang="en-US" altLang="ja-JP" sz="899" dirty="0">
                  <a:solidFill>
                    <a:srgbClr val="414243"/>
                  </a:solidFill>
                  <a:latin typeface="游ゴシック" panose="020B0400000000000000" pitchFamily="50" charset="-128"/>
                  <a:ea typeface="游ゴシック" panose="020B0400000000000000" pitchFamily="50" charset="-128"/>
                </a:rPr>
                <a:t>※</a:t>
              </a:r>
              <a:r>
                <a:rPr lang="ja-JP" altLang="en-US" sz="899" dirty="0">
                  <a:solidFill>
                    <a:srgbClr val="414243"/>
                  </a:solidFill>
                  <a:latin typeface="游ゴシック" panose="020B0400000000000000" pitchFamily="50" charset="-128"/>
                  <a:ea typeface="游ゴシック" panose="020B0400000000000000" pitchFamily="50" charset="-128"/>
                </a:rPr>
                <a:t>緑・灰・茶・赤系統を優先的に使用すると、色選びの際の負荷が軽減します。</a:t>
              </a:r>
            </a:p>
          </p:txBody>
        </p:sp>
        <p:sp>
          <p:nvSpPr>
            <p:cNvPr id="10" name="テキスト ボックス 15"/>
            <p:cNvSpPr txBox="1">
              <a:spLocks noChangeArrowheads="1"/>
            </p:cNvSpPr>
            <p:nvPr/>
          </p:nvSpPr>
          <p:spPr bwMode="auto">
            <a:xfrm>
              <a:off x="-1162050" y="-723900"/>
              <a:ext cx="238125" cy="469900"/>
            </a:xfrm>
            <a:prstGeom prst="rect">
              <a:avLst/>
            </a:prstGeom>
            <a:noFill/>
            <a:ln>
              <a:noFill/>
            </a:ln>
            <a:extLst>
              <a:ext uri="{909E8E84-426E-40DD-AFC4-6F175D3DCCD1}">
                <a14:hiddenFill xmlns:a14="http://schemas.microsoft.com/office/drawing/2010/main">
                  <a:pattFill prst="ltUpDiag">
                    <a:fgClr>
                      <a:srgbClr val="000000"/>
                    </a:fgClr>
                    <a:bgClr>
                      <a:srgbClr val="000000"/>
                    </a:bgClr>
                  </a:patt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ctr">
                <a:buClr>
                  <a:srgbClr val="353C83"/>
                </a:buClr>
                <a:buSzPct val="100000"/>
                <a:defRPr/>
              </a:pPr>
              <a:r>
                <a:rPr lang="pt-BR" altLang="ja-JP" sz="899" dirty="0">
                  <a:solidFill>
                    <a:srgbClr val="414243"/>
                  </a:solidFill>
                  <a:latin typeface="游ゴシック" panose="020B0400000000000000" pitchFamily="50" charset="-128"/>
                  <a:ea typeface="游ゴシック" panose="020B0400000000000000" pitchFamily="50" charset="-128"/>
                </a:rPr>
                <a:t>R:</a:t>
              </a:r>
            </a:p>
            <a:p>
              <a:pPr algn="ctr">
                <a:buClr>
                  <a:srgbClr val="353C83"/>
                </a:buClr>
                <a:buSzPct val="100000"/>
                <a:defRPr/>
              </a:pPr>
              <a:r>
                <a:rPr lang="pt-BR" altLang="ja-JP" sz="899" dirty="0">
                  <a:solidFill>
                    <a:srgbClr val="414243"/>
                  </a:solidFill>
                  <a:latin typeface="游ゴシック" panose="020B0400000000000000" pitchFamily="50" charset="-128"/>
                  <a:ea typeface="游ゴシック" panose="020B0400000000000000" pitchFamily="50" charset="-128"/>
                </a:rPr>
                <a:t>G:</a:t>
              </a:r>
            </a:p>
            <a:p>
              <a:pPr algn="ctr">
                <a:buClr>
                  <a:srgbClr val="353C83"/>
                </a:buClr>
                <a:buSzPct val="100000"/>
                <a:defRPr/>
              </a:pPr>
              <a:r>
                <a:rPr lang="pt-BR" altLang="ja-JP" sz="899" dirty="0">
                  <a:solidFill>
                    <a:srgbClr val="414243"/>
                  </a:solidFill>
                  <a:latin typeface="游ゴシック" panose="020B0400000000000000" pitchFamily="50" charset="-128"/>
                  <a:ea typeface="游ゴシック" panose="020B0400000000000000" pitchFamily="50" charset="-128"/>
                </a:rPr>
                <a:t>B:</a:t>
              </a:r>
              <a:endParaRPr lang="en-US" altLang="ja-JP" sz="899" dirty="0">
                <a:solidFill>
                  <a:srgbClr val="414243"/>
                </a:solidFill>
                <a:latin typeface="游ゴシック" panose="020B0400000000000000" pitchFamily="50" charset="-128"/>
                <a:ea typeface="游ゴシック" panose="020B0400000000000000" pitchFamily="50" charset="-128"/>
              </a:endParaRPr>
            </a:p>
          </p:txBody>
        </p:sp>
        <p:sp>
          <p:nvSpPr>
            <p:cNvPr id="11" name="テキスト ボックス 32"/>
            <p:cNvSpPr txBox="1">
              <a:spLocks noChangeArrowheads="1"/>
            </p:cNvSpPr>
            <p:nvPr/>
          </p:nvSpPr>
          <p:spPr bwMode="auto">
            <a:xfrm>
              <a:off x="8027988" y="-723900"/>
              <a:ext cx="287337" cy="469900"/>
            </a:xfrm>
            <a:prstGeom prst="rect">
              <a:avLst/>
            </a:prstGeom>
            <a:pattFill prst="ltUpDiag">
              <a:fgClr>
                <a:srgbClr val="006C60"/>
              </a:fgClr>
              <a:bgClr>
                <a:srgbClr val="006C60"/>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0</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108</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96</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12" name="テキスト ボックス 33"/>
            <p:cNvSpPr txBox="1">
              <a:spLocks noChangeArrowheads="1"/>
            </p:cNvSpPr>
            <p:nvPr/>
          </p:nvSpPr>
          <p:spPr bwMode="auto">
            <a:xfrm>
              <a:off x="8350250" y="-723900"/>
              <a:ext cx="287338" cy="469900"/>
            </a:xfrm>
            <a:prstGeom prst="rect">
              <a:avLst/>
            </a:prstGeom>
            <a:pattFill prst="ltUpDiag">
              <a:fgClr>
                <a:srgbClr val="9EA0A1"/>
              </a:fgClr>
              <a:bgClr>
                <a:srgbClr val="9EA0A1"/>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158</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160</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161</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13" name="テキスト ボックス 34"/>
            <p:cNvSpPr txBox="1">
              <a:spLocks noChangeArrowheads="1"/>
            </p:cNvSpPr>
            <p:nvPr/>
          </p:nvSpPr>
          <p:spPr bwMode="auto">
            <a:xfrm>
              <a:off x="8672513" y="-723900"/>
              <a:ext cx="287337" cy="469900"/>
            </a:xfrm>
            <a:prstGeom prst="rect">
              <a:avLst/>
            </a:prstGeom>
            <a:pattFill prst="ltUpDiag">
              <a:fgClr>
                <a:srgbClr val="22AF93"/>
              </a:fgClr>
              <a:bgClr>
                <a:srgbClr val="22AF93"/>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34</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175</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147</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14" name="テキスト ボックス 35"/>
            <p:cNvSpPr txBox="1">
              <a:spLocks noChangeArrowheads="1"/>
            </p:cNvSpPr>
            <p:nvPr/>
          </p:nvSpPr>
          <p:spPr bwMode="auto">
            <a:xfrm>
              <a:off x="8994775" y="-723900"/>
              <a:ext cx="287338" cy="469900"/>
            </a:xfrm>
            <a:prstGeom prst="rect">
              <a:avLst/>
            </a:prstGeom>
            <a:pattFill prst="ltUpDiag">
              <a:fgClr>
                <a:srgbClr val="DEB35F"/>
              </a:fgClr>
              <a:bgClr>
                <a:srgbClr val="DEB35F"/>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222</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179</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95</a:t>
              </a:r>
              <a:endParaRPr lang="en-US" altLang="ja-JP" sz="899" dirty="0">
                <a:solidFill>
                  <a:srgbClr val="000000"/>
                </a:solidFill>
                <a:latin typeface="游ゴシック" panose="020B0400000000000000" pitchFamily="50" charset="-128"/>
                <a:ea typeface="游ゴシック" panose="020B0400000000000000" pitchFamily="50" charset="-128"/>
              </a:endParaRPr>
            </a:p>
          </p:txBody>
        </p:sp>
        <p:sp>
          <p:nvSpPr>
            <p:cNvPr id="15" name="テキスト ボックス 36"/>
            <p:cNvSpPr txBox="1">
              <a:spLocks noChangeArrowheads="1"/>
            </p:cNvSpPr>
            <p:nvPr/>
          </p:nvSpPr>
          <p:spPr bwMode="auto">
            <a:xfrm>
              <a:off x="9317038" y="-723900"/>
              <a:ext cx="287337" cy="469900"/>
            </a:xfrm>
            <a:prstGeom prst="rect">
              <a:avLst/>
            </a:prstGeom>
            <a:pattFill prst="ltUpDiag">
              <a:fgClr>
                <a:srgbClr val="901006"/>
              </a:fgClr>
              <a:bgClr>
                <a:srgbClr val="901006"/>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144</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16</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6</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16" name="テキスト ボックス 37"/>
            <p:cNvSpPr txBox="1">
              <a:spLocks noChangeArrowheads="1"/>
            </p:cNvSpPr>
            <p:nvPr/>
          </p:nvSpPr>
          <p:spPr bwMode="auto">
            <a:xfrm>
              <a:off x="9639300" y="-723900"/>
              <a:ext cx="287338" cy="469900"/>
            </a:xfrm>
            <a:prstGeom prst="rect">
              <a:avLst/>
            </a:prstGeom>
            <a:pattFill prst="ltUpDiag">
              <a:fgClr>
                <a:srgbClr val="2390B7"/>
              </a:fgClr>
              <a:bgClr>
                <a:srgbClr val="2390B7"/>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35</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144</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183</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17" name="テキスト ボックス 38"/>
            <p:cNvSpPr txBox="1">
              <a:spLocks noChangeArrowheads="1"/>
            </p:cNvSpPr>
            <p:nvPr/>
          </p:nvSpPr>
          <p:spPr bwMode="auto">
            <a:xfrm>
              <a:off x="9961563" y="-723900"/>
              <a:ext cx="287337" cy="469900"/>
            </a:xfrm>
            <a:prstGeom prst="rect">
              <a:avLst/>
            </a:prstGeom>
            <a:pattFill prst="ltUpDiag">
              <a:fgClr>
                <a:srgbClr val="59DEC4"/>
              </a:fgClr>
              <a:bgClr>
                <a:srgbClr val="59DEC4"/>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89</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222</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196</a:t>
              </a:r>
              <a:endParaRPr lang="en-US" altLang="ja-JP" sz="899" dirty="0">
                <a:solidFill>
                  <a:srgbClr val="000000"/>
                </a:solidFill>
                <a:latin typeface="游ゴシック" panose="020B0400000000000000" pitchFamily="50" charset="-128"/>
                <a:ea typeface="游ゴシック" panose="020B0400000000000000" pitchFamily="50" charset="-128"/>
              </a:endParaRPr>
            </a:p>
          </p:txBody>
        </p:sp>
        <p:sp>
          <p:nvSpPr>
            <p:cNvPr id="18" name="テキスト ボックス 39"/>
            <p:cNvSpPr txBox="1">
              <a:spLocks noChangeArrowheads="1"/>
            </p:cNvSpPr>
            <p:nvPr/>
          </p:nvSpPr>
          <p:spPr bwMode="auto">
            <a:xfrm>
              <a:off x="10283825" y="-723900"/>
              <a:ext cx="287338" cy="469900"/>
            </a:xfrm>
            <a:prstGeom prst="rect">
              <a:avLst/>
            </a:prstGeom>
            <a:pattFill prst="ltUpDiag">
              <a:fgClr>
                <a:srgbClr val="B87226"/>
              </a:fgClr>
              <a:bgClr>
                <a:srgbClr val="B87226"/>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184</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114</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38</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cxnSp>
          <p:nvCxnSpPr>
            <p:cNvPr id="19" name="直線矢印コネクタ 18"/>
            <p:cNvCxnSpPr/>
            <p:nvPr/>
          </p:nvCxnSpPr>
          <p:spPr bwMode="auto">
            <a:xfrm>
              <a:off x="8061325" y="-803275"/>
              <a:ext cx="2509838" cy="0"/>
            </a:xfrm>
            <a:prstGeom prst="straightConnector1">
              <a:avLst/>
            </a:prstGeom>
            <a:ln>
              <a:solidFill>
                <a:srgbClr val="414243"/>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20" name="テキスト ボックス 43"/>
            <p:cNvSpPr txBox="1">
              <a:spLocks noChangeArrowheads="1"/>
            </p:cNvSpPr>
            <p:nvPr/>
          </p:nvSpPr>
          <p:spPr bwMode="auto">
            <a:xfrm>
              <a:off x="8078788" y="-987425"/>
              <a:ext cx="2379662" cy="276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a:solidFill>
                    <a:schemeClr val="tx1"/>
                  </a:solidFill>
                  <a:latin typeface="Arial" charset="0"/>
                  <a:ea typeface="ＭＳ Ｐゴシック" charset="-128"/>
                </a:defRPr>
              </a:lvl1pPr>
              <a:lvl2pPr marL="742950" indent="-285750">
                <a:defRPr kumimoji="1">
                  <a:solidFill>
                    <a:schemeClr val="tx1"/>
                  </a:solidFill>
                  <a:latin typeface="Arial" charset="0"/>
                  <a:ea typeface="ＭＳ Ｐゴシック" charset="-128"/>
                </a:defRPr>
              </a:lvl2pPr>
              <a:lvl3pPr marL="1143000" indent="-228600">
                <a:defRPr kumimoji="1">
                  <a:solidFill>
                    <a:schemeClr val="tx1"/>
                  </a:solidFill>
                  <a:latin typeface="Arial" charset="0"/>
                  <a:ea typeface="ＭＳ Ｐゴシック" charset="-128"/>
                </a:defRPr>
              </a:lvl3pPr>
              <a:lvl4pPr marL="1600200" indent="-228600">
                <a:defRPr kumimoji="1">
                  <a:solidFill>
                    <a:schemeClr val="tx1"/>
                  </a:solidFill>
                  <a:latin typeface="Arial" charset="0"/>
                  <a:ea typeface="ＭＳ Ｐゴシック" charset="-128"/>
                </a:defRPr>
              </a:lvl4pPr>
              <a:lvl5pPr marL="2057400" indent="-228600">
                <a:defRPr kumimoji="1">
                  <a:solidFill>
                    <a:schemeClr val="tx1"/>
                  </a:solidFill>
                  <a:latin typeface="Arial" charset="0"/>
                  <a:ea typeface="ＭＳ Ｐゴシック" charset="-128"/>
                </a:defRPr>
              </a:lvl5pPr>
              <a:lvl6pPr marL="2514600" indent="-228600" fontAlgn="base">
                <a:spcBef>
                  <a:spcPct val="0"/>
                </a:spcBef>
                <a:spcAft>
                  <a:spcPct val="0"/>
                </a:spcAft>
                <a:defRPr kumimoji="1">
                  <a:solidFill>
                    <a:schemeClr val="tx1"/>
                  </a:solidFill>
                  <a:latin typeface="Arial" charset="0"/>
                  <a:ea typeface="ＭＳ Ｐゴシック" charset="-128"/>
                </a:defRPr>
              </a:lvl6pPr>
              <a:lvl7pPr marL="2971800" indent="-228600" fontAlgn="base">
                <a:spcBef>
                  <a:spcPct val="0"/>
                </a:spcBef>
                <a:spcAft>
                  <a:spcPct val="0"/>
                </a:spcAft>
                <a:defRPr kumimoji="1">
                  <a:solidFill>
                    <a:schemeClr val="tx1"/>
                  </a:solidFill>
                  <a:latin typeface="Arial" charset="0"/>
                  <a:ea typeface="ＭＳ Ｐゴシック" charset="-128"/>
                </a:defRPr>
              </a:lvl7pPr>
              <a:lvl8pPr marL="3429000" indent="-228600" fontAlgn="base">
                <a:spcBef>
                  <a:spcPct val="0"/>
                </a:spcBef>
                <a:spcAft>
                  <a:spcPct val="0"/>
                </a:spcAft>
                <a:defRPr kumimoji="1">
                  <a:solidFill>
                    <a:schemeClr val="tx1"/>
                  </a:solidFill>
                  <a:latin typeface="Arial" charset="0"/>
                  <a:ea typeface="ＭＳ Ｐゴシック" charset="-128"/>
                </a:defRPr>
              </a:lvl8pPr>
              <a:lvl9pPr marL="3886200" indent="-228600" fontAlgn="base">
                <a:spcBef>
                  <a:spcPct val="0"/>
                </a:spcBef>
                <a:spcAft>
                  <a:spcPct val="0"/>
                </a:spcAft>
                <a:defRPr kumimoji="1">
                  <a:solidFill>
                    <a:schemeClr val="tx1"/>
                  </a:solidFill>
                  <a:latin typeface="Arial" charset="0"/>
                  <a:ea typeface="ＭＳ Ｐゴシック" charset="-128"/>
                </a:defRPr>
              </a:lvl9pPr>
            </a:lstStyle>
            <a:p>
              <a:pPr>
                <a:defRPr/>
              </a:pPr>
              <a:r>
                <a:rPr lang="ja-JP" altLang="en-US" sz="899" dirty="0">
                  <a:solidFill>
                    <a:srgbClr val="414243"/>
                  </a:solidFill>
                  <a:latin typeface="游ゴシック" panose="020B0400000000000000" pitchFamily="50" charset="-128"/>
                  <a:ea typeface="游ゴシック" panose="020B0400000000000000" pitchFamily="50" charset="-128"/>
                </a:rPr>
                <a:t>グラフの色順（可能であれば</a:t>
              </a:r>
              <a:r>
                <a:rPr lang="en-US" altLang="ja-JP" sz="899" dirty="0">
                  <a:solidFill>
                    <a:srgbClr val="414243"/>
                  </a:solidFill>
                  <a:latin typeface="游ゴシック" panose="020B0400000000000000" pitchFamily="50" charset="-128"/>
                  <a:ea typeface="游ゴシック" panose="020B0400000000000000" pitchFamily="50" charset="-128"/>
                </a:rPr>
                <a:t>4</a:t>
              </a:r>
              <a:r>
                <a:rPr lang="ja-JP" altLang="en-US" sz="899" dirty="0">
                  <a:solidFill>
                    <a:srgbClr val="414243"/>
                  </a:solidFill>
                  <a:latin typeface="游ゴシック" panose="020B0400000000000000" pitchFamily="50" charset="-128"/>
                  <a:ea typeface="游ゴシック" panose="020B0400000000000000" pitchFamily="50" charset="-128"/>
                </a:rPr>
                <a:t>色以内に抑えます）</a:t>
              </a:r>
            </a:p>
          </p:txBody>
        </p:sp>
        <p:sp>
          <p:nvSpPr>
            <p:cNvPr id="21" name="テキスト ボックス 20"/>
            <p:cNvSpPr txBox="1">
              <a:spLocks noChangeArrowheads="1"/>
            </p:cNvSpPr>
            <p:nvPr/>
          </p:nvSpPr>
          <p:spPr bwMode="auto">
            <a:xfrm>
              <a:off x="214313" y="-723900"/>
              <a:ext cx="287337" cy="469900"/>
            </a:xfrm>
            <a:prstGeom prst="rect">
              <a:avLst/>
            </a:prstGeom>
            <a:pattFill prst="ltUpDiag">
              <a:fgClr>
                <a:srgbClr val="006C60"/>
              </a:fgClr>
              <a:bgClr>
                <a:srgbClr val="006C60"/>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0</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108</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96</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22" name="テキスト ボックス 20"/>
            <p:cNvSpPr txBox="1">
              <a:spLocks noChangeArrowheads="1"/>
            </p:cNvSpPr>
            <p:nvPr/>
          </p:nvSpPr>
          <p:spPr bwMode="auto">
            <a:xfrm>
              <a:off x="547688" y="-723900"/>
              <a:ext cx="287337" cy="469900"/>
            </a:xfrm>
            <a:prstGeom prst="rect">
              <a:avLst/>
            </a:prstGeom>
            <a:pattFill prst="ltUpDiag">
              <a:fgClr>
                <a:srgbClr val="22AF93"/>
              </a:fgClr>
              <a:bgClr>
                <a:srgbClr val="22AF93"/>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34</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175</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147</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23" name="テキスト ボックス 20"/>
            <p:cNvSpPr txBox="1">
              <a:spLocks noChangeArrowheads="1"/>
            </p:cNvSpPr>
            <p:nvPr/>
          </p:nvSpPr>
          <p:spPr bwMode="auto">
            <a:xfrm>
              <a:off x="879475" y="-723900"/>
              <a:ext cx="287338" cy="469900"/>
            </a:xfrm>
            <a:prstGeom prst="rect">
              <a:avLst/>
            </a:prstGeom>
            <a:pattFill prst="ltUpDiag">
              <a:fgClr>
                <a:srgbClr val="59DEC4"/>
              </a:fgClr>
              <a:bgClr>
                <a:srgbClr val="59DEC4"/>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89</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222</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196</a:t>
              </a:r>
              <a:endParaRPr lang="en-US" altLang="ja-JP" sz="899" dirty="0">
                <a:solidFill>
                  <a:srgbClr val="000000"/>
                </a:solidFill>
                <a:latin typeface="游ゴシック" panose="020B0400000000000000" pitchFamily="50" charset="-128"/>
                <a:ea typeface="游ゴシック" panose="020B0400000000000000" pitchFamily="50" charset="-128"/>
              </a:endParaRPr>
            </a:p>
          </p:txBody>
        </p:sp>
        <p:sp>
          <p:nvSpPr>
            <p:cNvPr id="24" name="テキスト ボックス 20"/>
            <p:cNvSpPr txBox="1">
              <a:spLocks noChangeArrowheads="1"/>
            </p:cNvSpPr>
            <p:nvPr/>
          </p:nvSpPr>
          <p:spPr bwMode="auto">
            <a:xfrm>
              <a:off x="1212850" y="-723900"/>
              <a:ext cx="287338" cy="469900"/>
            </a:xfrm>
            <a:prstGeom prst="rect">
              <a:avLst/>
            </a:prstGeom>
            <a:pattFill prst="ltUpDiag">
              <a:fgClr>
                <a:srgbClr val="AEEFE2"/>
              </a:fgClr>
              <a:bgClr>
                <a:srgbClr val="AEEFE2"/>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174</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239</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226</a:t>
              </a:r>
              <a:endParaRPr lang="en-US" altLang="ja-JP" sz="899" dirty="0">
                <a:solidFill>
                  <a:srgbClr val="000000"/>
                </a:solidFill>
                <a:latin typeface="游ゴシック" panose="020B0400000000000000" pitchFamily="50" charset="-128"/>
                <a:ea typeface="游ゴシック" panose="020B0400000000000000" pitchFamily="50" charset="-128"/>
              </a:endParaRPr>
            </a:p>
          </p:txBody>
        </p:sp>
        <p:sp>
          <p:nvSpPr>
            <p:cNvPr id="25" name="テキスト ボックス 20"/>
            <p:cNvSpPr txBox="1">
              <a:spLocks noChangeArrowheads="1"/>
            </p:cNvSpPr>
            <p:nvPr/>
          </p:nvSpPr>
          <p:spPr bwMode="auto">
            <a:xfrm>
              <a:off x="1546225" y="-723900"/>
              <a:ext cx="287338" cy="469900"/>
            </a:xfrm>
            <a:prstGeom prst="rect">
              <a:avLst/>
            </a:prstGeom>
            <a:pattFill prst="ltUpDiag">
              <a:fgClr>
                <a:srgbClr val="414243"/>
              </a:fgClr>
              <a:bgClr>
                <a:srgbClr val="414243"/>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65</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66</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67</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26" name="テキスト ボックス 20"/>
            <p:cNvSpPr txBox="1">
              <a:spLocks noChangeArrowheads="1"/>
            </p:cNvSpPr>
            <p:nvPr/>
          </p:nvSpPr>
          <p:spPr bwMode="auto">
            <a:xfrm>
              <a:off x="1878013" y="-723900"/>
              <a:ext cx="288925" cy="469900"/>
            </a:xfrm>
            <a:prstGeom prst="rect">
              <a:avLst/>
            </a:prstGeom>
            <a:pattFill prst="ltUpDiag">
              <a:fgClr>
                <a:srgbClr val="737677"/>
              </a:fgClr>
              <a:bgClr>
                <a:srgbClr val="737677"/>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115</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118</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119</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27" name="テキスト ボックス 20"/>
            <p:cNvSpPr txBox="1">
              <a:spLocks noChangeArrowheads="1"/>
            </p:cNvSpPr>
            <p:nvPr/>
          </p:nvSpPr>
          <p:spPr bwMode="auto">
            <a:xfrm>
              <a:off x="2212975" y="-723900"/>
              <a:ext cx="287338" cy="469900"/>
            </a:xfrm>
            <a:prstGeom prst="rect">
              <a:avLst/>
            </a:prstGeom>
            <a:pattFill prst="ltUpDiag">
              <a:fgClr>
                <a:srgbClr val="9EA0A1"/>
              </a:fgClr>
              <a:bgClr>
                <a:srgbClr val="9EA0A1"/>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158</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160</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161</a:t>
              </a:r>
              <a:endParaRPr lang="en-US" altLang="ja-JP" sz="899" dirty="0">
                <a:solidFill>
                  <a:srgbClr val="000000"/>
                </a:solidFill>
                <a:latin typeface="游ゴシック" panose="020B0400000000000000" pitchFamily="50" charset="-128"/>
                <a:ea typeface="游ゴシック" panose="020B0400000000000000" pitchFamily="50" charset="-128"/>
              </a:endParaRPr>
            </a:p>
          </p:txBody>
        </p:sp>
        <p:sp>
          <p:nvSpPr>
            <p:cNvPr id="28" name="テキスト ボックス 20"/>
            <p:cNvSpPr txBox="1">
              <a:spLocks noChangeArrowheads="1"/>
            </p:cNvSpPr>
            <p:nvPr/>
          </p:nvSpPr>
          <p:spPr bwMode="auto">
            <a:xfrm>
              <a:off x="2546350" y="-723900"/>
              <a:ext cx="287338" cy="469900"/>
            </a:xfrm>
            <a:prstGeom prst="rect">
              <a:avLst/>
            </a:prstGeom>
            <a:pattFill prst="ltUpDiag">
              <a:fgClr>
                <a:srgbClr val="5F3713"/>
              </a:fgClr>
              <a:bgClr>
                <a:srgbClr val="5F3713"/>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95</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55</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19</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29" name="テキスト ボックス 20"/>
            <p:cNvSpPr txBox="1">
              <a:spLocks noChangeArrowheads="1"/>
            </p:cNvSpPr>
            <p:nvPr/>
          </p:nvSpPr>
          <p:spPr bwMode="auto">
            <a:xfrm>
              <a:off x="2878138" y="-723900"/>
              <a:ext cx="287337" cy="469900"/>
            </a:xfrm>
            <a:prstGeom prst="rect">
              <a:avLst/>
            </a:prstGeom>
            <a:pattFill prst="ltUpDiag">
              <a:fgClr>
                <a:srgbClr val="B87226"/>
              </a:fgClr>
              <a:bgClr>
                <a:srgbClr val="B87226"/>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184</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114</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38</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30" name="テキスト ボックス 20"/>
            <p:cNvSpPr txBox="1">
              <a:spLocks noChangeArrowheads="1"/>
            </p:cNvSpPr>
            <p:nvPr/>
          </p:nvSpPr>
          <p:spPr bwMode="auto">
            <a:xfrm>
              <a:off x="3211513" y="-723900"/>
              <a:ext cx="287337" cy="469900"/>
            </a:xfrm>
            <a:prstGeom prst="rect">
              <a:avLst/>
            </a:prstGeom>
            <a:pattFill prst="ltUpDiag">
              <a:fgClr>
                <a:srgbClr val="DEB35F"/>
              </a:fgClr>
              <a:bgClr>
                <a:srgbClr val="DEB35F"/>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222</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179</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95</a:t>
              </a:r>
              <a:endParaRPr lang="en-US" altLang="ja-JP" sz="899" dirty="0">
                <a:solidFill>
                  <a:srgbClr val="000000"/>
                </a:solidFill>
                <a:latin typeface="游ゴシック" panose="020B0400000000000000" pitchFamily="50" charset="-128"/>
                <a:ea typeface="游ゴシック" panose="020B0400000000000000" pitchFamily="50" charset="-128"/>
              </a:endParaRPr>
            </a:p>
          </p:txBody>
        </p:sp>
        <p:sp>
          <p:nvSpPr>
            <p:cNvPr id="31" name="テキスト ボックス 20"/>
            <p:cNvSpPr txBox="1">
              <a:spLocks noChangeArrowheads="1"/>
            </p:cNvSpPr>
            <p:nvPr/>
          </p:nvSpPr>
          <p:spPr bwMode="auto">
            <a:xfrm>
              <a:off x="3544888" y="-723900"/>
              <a:ext cx="287337" cy="469900"/>
            </a:xfrm>
            <a:prstGeom prst="rect">
              <a:avLst/>
            </a:prstGeom>
            <a:pattFill prst="ltUpDiag">
              <a:fgClr>
                <a:srgbClr val="EFDBB3"/>
              </a:fgClr>
              <a:bgClr>
                <a:srgbClr val="EFDBB3"/>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239</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219</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179</a:t>
              </a:r>
              <a:endParaRPr lang="en-US" altLang="ja-JP" sz="899" dirty="0">
                <a:solidFill>
                  <a:srgbClr val="000000"/>
                </a:solidFill>
                <a:latin typeface="游ゴシック" panose="020B0400000000000000" pitchFamily="50" charset="-128"/>
                <a:ea typeface="游ゴシック" panose="020B0400000000000000" pitchFamily="50" charset="-128"/>
              </a:endParaRPr>
            </a:p>
          </p:txBody>
        </p:sp>
        <p:sp>
          <p:nvSpPr>
            <p:cNvPr id="32" name="テキスト ボックス 21"/>
            <p:cNvSpPr txBox="1">
              <a:spLocks noChangeArrowheads="1"/>
            </p:cNvSpPr>
            <p:nvPr/>
          </p:nvSpPr>
          <p:spPr bwMode="auto">
            <a:xfrm>
              <a:off x="3876675" y="-723900"/>
              <a:ext cx="287338" cy="469900"/>
            </a:xfrm>
            <a:prstGeom prst="rect">
              <a:avLst/>
            </a:prstGeom>
            <a:pattFill prst="ltUpDiag">
              <a:fgClr>
                <a:srgbClr val="901006"/>
              </a:fgClr>
              <a:bgClr>
                <a:srgbClr val="901006"/>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144</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16</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6</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33" name="テキスト ボックス 22"/>
            <p:cNvSpPr txBox="1">
              <a:spLocks noChangeArrowheads="1"/>
            </p:cNvSpPr>
            <p:nvPr/>
          </p:nvSpPr>
          <p:spPr bwMode="auto">
            <a:xfrm>
              <a:off x="4210050" y="-723900"/>
              <a:ext cx="287338" cy="469900"/>
            </a:xfrm>
            <a:prstGeom prst="rect">
              <a:avLst/>
            </a:prstGeom>
            <a:pattFill prst="ltUpDiag">
              <a:fgClr>
                <a:srgbClr val="D33C31"/>
              </a:fgClr>
              <a:bgClr>
                <a:srgbClr val="D33C31"/>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211</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60</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49</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34" name="テキスト ボックス 23"/>
            <p:cNvSpPr txBox="1">
              <a:spLocks noChangeArrowheads="1"/>
            </p:cNvSpPr>
            <p:nvPr/>
          </p:nvSpPr>
          <p:spPr bwMode="auto">
            <a:xfrm>
              <a:off x="4543425" y="-723900"/>
              <a:ext cx="287338" cy="469900"/>
            </a:xfrm>
            <a:prstGeom prst="rect">
              <a:avLst/>
            </a:prstGeom>
            <a:pattFill prst="ltUpDiag">
              <a:fgClr>
                <a:srgbClr val="E27E77"/>
              </a:fgClr>
              <a:bgClr>
                <a:srgbClr val="E27E77"/>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226</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126</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119</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35" name="テキスト ボックス 24"/>
            <p:cNvSpPr txBox="1">
              <a:spLocks noChangeArrowheads="1"/>
            </p:cNvSpPr>
            <p:nvPr/>
          </p:nvSpPr>
          <p:spPr bwMode="auto">
            <a:xfrm>
              <a:off x="4875213" y="-723900"/>
              <a:ext cx="287337" cy="469900"/>
            </a:xfrm>
            <a:prstGeom prst="rect">
              <a:avLst/>
            </a:prstGeom>
            <a:pattFill prst="ltUpDiag">
              <a:fgClr>
                <a:srgbClr val="F4CECB"/>
              </a:fgClr>
              <a:bgClr>
                <a:srgbClr val="F4CECB"/>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244</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206</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203</a:t>
              </a:r>
              <a:endParaRPr lang="en-US" altLang="ja-JP" sz="899" dirty="0">
                <a:solidFill>
                  <a:srgbClr val="000000"/>
                </a:solidFill>
                <a:latin typeface="游ゴシック" panose="020B0400000000000000" pitchFamily="50" charset="-128"/>
                <a:ea typeface="游ゴシック" panose="020B0400000000000000" pitchFamily="50" charset="-128"/>
              </a:endParaRPr>
            </a:p>
          </p:txBody>
        </p:sp>
        <p:sp>
          <p:nvSpPr>
            <p:cNvPr id="36" name="テキスト ボックス 25"/>
            <p:cNvSpPr txBox="1">
              <a:spLocks noChangeArrowheads="1"/>
            </p:cNvSpPr>
            <p:nvPr/>
          </p:nvSpPr>
          <p:spPr bwMode="auto">
            <a:xfrm>
              <a:off x="5208588" y="-723900"/>
              <a:ext cx="287337" cy="469900"/>
            </a:xfrm>
            <a:prstGeom prst="rect">
              <a:avLst/>
            </a:prstGeom>
            <a:pattFill prst="ltUpDiag">
              <a:fgClr>
                <a:srgbClr val="1B1B8D"/>
              </a:fgClr>
              <a:bgClr>
                <a:srgbClr val="1B1B8D"/>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27</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27</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141</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37" name="テキスト ボックス 26"/>
            <p:cNvSpPr txBox="1">
              <a:spLocks noChangeArrowheads="1"/>
            </p:cNvSpPr>
            <p:nvPr/>
          </p:nvSpPr>
          <p:spPr bwMode="auto">
            <a:xfrm>
              <a:off x="5541963" y="-723900"/>
              <a:ext cx="287337" cy="469900"/>
            </a:xfrm>
            <a:prstGeom prst="rect">
              <a:avLst/>
            </a:prstGeom>
            <a:pattFill prst="ltUpDiag">
              <a:fgClr>
                <a:srgbClr val="2390B7"/>
              </a:fgClr>
              <a:bgClr>
                <a:srgbClr val="2390B7"/>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35</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144</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183</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38" name="テキスト ボックス 27"/>
            <p:cNvSpPr txBox="1">
              <a:spLocks noChangeArrowheads="1"/>
            </p:cNvSpPr>
            <p:nvPr/>
          </p:nvSpPr>
          <p:spPr bwMode="auto">
            <a:xfrm>
              <a:off x="5875338" y="-723900"/>
              <a:ext cx="287337" cy="469900"/>
            </a:xfrm>
            <a:prstGeom prst="rect">
              <a:avLst/>
            </a:prstGeom>
            <a:pattFill prst="ltUpDiag">
              <a:fgClr>
                <a:srgbClr val="60BEE0"/>
              </a:fgClr>
              <a:bgClr>
                <a:srgbClr val="60BEE0"/>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96</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190</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224</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39" name="テキスト ボックス 28"/>
            <p:cNvSpPr txBox="1">
              <a:spLocks noChangeArrowheads="1"/>
            </p:cNvSpPr>
            <p:nvPr/>
          </p:nvSpPr>
          <p:spPr bwMode="auto">
            <a:xfrm>
              <a:off x="6207125" y="-723900"/>
              <a:ext cx="287338" cy="469900"/>
            </a:xfrm>
            <a:prstGeom prst="rect">
              <a:avLst/>
            </a:prstGeom>
            <a:pattFill prst="ltUpDiag">
              <a:fgClr>
                <a:srgbClr val="C3E7F3"/>
              </a:fgClr>
              <a:bgClr>
                <a:srgbClr val="C3E7F3"/>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195</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231</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243</a:t>
              </a:r>
              <a:endParaRPr lang="en-US" altLang="ja-JP" sz="899" dirty="0">
                <a:solidFill>
                  <a:srgbClr val="000000"/>
                </a:solidFill>
                <a:latin typeface="游ゴシック" panose="020B0400000000000000" pitchFamily="50" charset="-128"/>
                <a:ea typeface="游ゴシック" panose="020B0400000000000000" pitchFamily="50" charset="-128"/>
              </a:endParaRPr>
            </a:p>
          </p:txBody>
        </p:sp>
        <p:sp>
          <p:nvSpPr>
            <p:cNvPr id="40" name="テキスト ボックス 29"/>
            <p:cNvSpPr txBox="1">
              <a:spLocks noChangeArrowheads="1"/>
            </p:cNvSpPr>
            <p:nvPr/>
          </p:nvSpPr>
          <p:spPr bwMode="auto">
            <a:xfrm>
              <a:off x="6540500" y="-723900"/>
              <a:ext cx="287338" cy="469900"/>
            </a:xfrm>
            <a:prstGeom prst="rect">
              <a:avLst/>
            </a:prstGeom>
            <a:pattFill prst="ltUpDiag">
              <a:fgClr>
                <a:srgbClr val="540084"/>
              </a:fgClr>
              <a:bgClr>
                <a:srgbClr val="540084"/>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84</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0</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132</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41" name="テキスト ボックス 30"/>
            <p:cNvSpPr txBox="1">
              <a:spLocks noChangeArrowheads="1"/>
            </p:cNvSpPr>
            <p:nvPr/>
          </p:nvSpPr>
          <p:spPr bwMode="auto">
            <a:xfrm>
              <a:off x="6873875" y="-723900"/>
              <a:ext cx="287338" cy="469900"/>
            </a:xfrm>
            <a:prstGeom prst="rect">
              <a:avLst/>
            </a:prstGeom>
            <a:pattFill prst="ltUpDiag">
              <a:fgClr>
                <a:srgbClr val="704B85"/>
              </a:fgClr>
              <a:bgClr>
                <a:srgbClr val="704B85"/>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112</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75</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133</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42" name="テキスト ボックス 31"/>
            <p:cNvSpPr txBox="1">
              <a:spLocks noChangeArrowheads="1"/>
            </p:cNvSpPr>
            <p:nvPr/>
          </p:nvSpPr>
          <p:spPr bwMode="auto">
            <a:xfrm>
              <a:off x="7205663" y="-723900"/>
              <a:ext cx="287337" cy="469900"/>
            </a:xfrm>
            <a:prstGeom prst="rect">
              <a:avLst/>
            </a:prstGeom>
            <a:pattFill prst="ltUpDiag">
              <a:fgClr>
                <a:srgbClr val="A37FB7"/>
              </a:fgClr>
              <a:bgClr>
                <a:srgbClr val="A37FB7"/>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163</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127</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183</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43" name="テキスト ボックス 45"/>
            <p:cNvSpPr txBox="1">
              <a:spLocks noChangeArrowheads="1"/>
            </p:cNvSpPr>
            <p:nvPr/>
          </p:nvSpPr>
          <p:spPr bwMode="auto">
            <a:xfrm>
              <a:off x="7539038" y="-723900"/>
              <a:ext cx="287337" cy="469900"/>
            </a:xfrm>
            <a:prstGeom prst="rect">
              <a:avLst/>
            </a:prstGeom>
            <a:pattFill prst="ltUpDiag">
              <a:fgClr>
                <a:srgbClr val="DACBE2"/>
              </a:fgClr>
              <a:bgClr>
                <a:srgbClr val="DACBE2"/>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218</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203</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226</a:t>
              </a:r>
              <a:endParaRPr lang="en-US" altLang="ja-JP" sz="899" dirty="0">
                <a:solidFill>
                  <a:srgbClr val="000000"/>
                </a:solidFill>
                <a:latin typeface="游ゴシック" panose="020B0400000000000000" pitchFamily="50" charset="-128"/>
                <a:ea typeface="游ゴシック" panose="020B0400000000000000" pitchFamily="50" charset="-128"/>
              </a:endParaRPr>
            </a:p>
          </p:txBody>
        </p:sp>
        <p:sp>
          <p:nvSpPr>
            <p:cNvPr id="44" name="テキスト ボックス 20"/>
            <p:cNvSpPr txBox="1">
              <a:spLocks noChangeArrowheads="1"/>
            </p:cNvSpPr>
            <p:nvPr/>
          </p:nvSpPr>
          <p:spPr bwMode="auto">
            <a:xfrm>
              <a:off x="-904875" y="-723900"/>
              <a:ext cx="287337" cy="469900"/>
            </a:xfrm>
            <a:prstGeom prst="rect">
              <a:avLst/>
            </a:prstGeom>
            <a:pattFill prst="ltUpDiag">
              <a:fgClr>
                <a:srgbClr val="000000"/>
              </a:fgClr>
              <a:bgClr>
                <a:srgbClr val="000000"/>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0</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0</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0</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45" name="テキスト ボックス 20"/>
            <p:cNvSpPr txBox="1">
              <a:spLocks noChangeArrowheads="1"/>
            </p:cNvSpPr>
            <p:nvPr/>
          </p:nvSpPr>
          <p:spPr bwMode="auto">
            <a:xfrm>
              <a:off x="-582613" y="-723900"/>
              <a:ext cx="287338" cy="469900"/>
            </a:xfrm>
            <a:prstGeom prst="rect">
              <a:avLst/>
            </a:prstGeom>
            <a:pattFill prst="ltUpDiag">
              <a:fgClr>
                <a:srgbClr val="FF0000"/>
              </a:fgClr>
              <a:bgClr>
                <a:srgbClr val="FF0000"/>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255</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0</a:t>
              </a:r>
            </a:p>
            <a:p>
              <a:pPr algn="r">
                <a:buClr>
                  <a:srgbClr val="353C83"/>
                </a:buClr>
                <a:buSzPct val="100000"/>
                <a:defRPr/>
              </a:pPr>
              <a:r>
                <a:rPr lang="pt-BR" altLang="ja-JP" sz="899" dirty="0">
                  <a:solidFill>
                    <a:srgbClr val="FFFFFF"/>
                  </a:solidFill>
                  <a:latin typeface="游ゴシック" panose="020B0400000000000000" pitchFamily="50" charset="-128"/>
                  <a:ea typeface="游ゴシック" panose="020B0400000000000000" pitchFamily="50" charset="-128"/>
                </a:rPr>
                <a:t>0</a:t>
              </a:r>
              <a:endParaRPr lang="en-US" altLang="ja-JP" sz="899" dirty="0">
                <a:solidFill>
                  <a:srgbClr val="FFFFFF"/>
                </a:solidFill>
                <a:latin typeface="游ゴシック" panose="020B0400000000000000" pitchFamily="50" charset="-128"/>
                <a:ea typeface="游ゴシック" panose="020B0400000000000000" pitchFamily="50" charset="-128"/>
              </a:endParaRPr>
            </a:p>
          </p:txBody>
        </p:sp>
        <p:sp>
          <p:nvSpPr>
            <p:cNvPr id="46" name="テキスト ボックス 20"/>
            <p:cNvSpPr txBox="1">
              <a:spLocks noChangeArrowheads="1"/>
            </p:cNvSpPr>
            <p:nvPr/>
          </p:nvSpPr>
          <p:spPr bwMode="auto">
            <a:xfrm>
              <a:off x="-260350" y="-723900"/>
              <a:ext cx="287338" cy="469900"/>
            </a:xfrm>
            <a:prstGeom prst="rect">
              <a:avLst/>
            </a:prstGeom>
            <a:pattFill prst="ltUpDiag">
              <a:fgClr>
                <a:srgbClr val="FCC12C"/>
              </a:fgClr>
              <a:bgClr>
                <a:srgbClr val="FCC12C"/>
              </a:bgClr>
            </a:pattFill>
            <a:ln w="9525">
              <a:solidFill>
                <a:srgbClr val="000000"/>
              </a:solidFill>
              <a:miter lim="800000"/>
              <a:headEnd/>
              <a:tailEnd/>
            </a:ln>
          </p:spPr>
          <p:txBody>
            <a:bodyPr lIns="0" tIns="0" rIns="36000" bIns="0" anchor="ctr"/>
            <a:lstStyle>
              <a:lvl1pPr>
                <a:tabLst>
                  <a:tab pos="536575" algn="r"/>
                </a:tabLst>
                <a:defRPr kumimoji="1">
                  <a:solidFill>
                    <a:schemeClr val="tx1"/>
                  </a:solidFill>
                  <a:latin typeface="Arial" charset="0"/>
                  <a:ea typeface="ＭＳ Ｐゴシック" charset="-128"/>
                </a:defRPr>
              </a:lvl1pPr>
              <a:lvl2pPr marL="742950" indent="-285750">
                <a:tabLst>
                  <a:tab pos="536575" algn="r"/>
                </a:tabLst>
                <a:defRPr kumimoji="1">
                  <a:solidFill>
                    <a:schemeClr val="tx1"/>
                  </a:solidFill>
                  <a:latin typeface="Arial" charset="0"/>
                  <a:ea typeface="ＭＳ Ｐゴシック" charset="-128"/>
                </a:defRPr>
              </a:lvl2pPr>
              <a:lvl3pPr marL="1143000" indent="-228600">
                <a:tabLst>
                  <a:tab pos="536575" algn="r"/>
                </a:tabLst>
                <a:defRPr kumimoji="1">
                  <a:solidFill>
                    <a:schemeClr val="tx1"/>
                  </a:solidFill>
                  <a:latin typeface="Arial" charset="0"/>
                  <a:ea typeface="ＭＳ Ｐゴシック" charset="-128"/>
                </a:defRPr>
              </a:lvl3pPr>
              <a:lvl4pPr marL="1600200" indent="-228600">
                <a:tabLst>
                  <a:tab pos="536575" algn="r"/>
                </a:tabLst>
                <a:defRPr kumimoji="1">
                  <a:solidFill>
                    <a:schemeClr val="tx1"/>
                  </a:solidFill>
                  <a:latin typeface="Arial" charset="0"/>
                  <a:ea typeface="ＭＳ Ｐゴシック" charset="-128"/>
                </a:defRPr>
              </a:lvl4pPr>
              <a:lvl5pPr marL="2057400" indent="-228600">
                <a:tabLst>
                  <a:tab pos="536575" algn="r"/>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536575" algn="r"/>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536575" algn="r"/>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536575" algn="r"/>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536575" algn="r"/>
                </a:tabLst>
                <a:defRPr kumimoji="1">
                  <a:solidFill>
                    <a:schemeClr val="tx1"/>
                  </a:solidFill>
                  <a:latin typeface="Arial" charset="0"/>
                  <a:ea typeface="ＭＳ Ｐゴシック" charset="-128"/>
                </a:defRPr>
              </a:lvl9pPr>
            </a:lstStyle>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252</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193</a:t>
              </a:r>
            </a:p>
            <a:p>
              <a:pPr algn="r">
                <a:buClr>
                  <a:srgbClr val="353C83"/>
                </a:buClr>
                <a:buSzPct val="100000"/>
                <a:defRPr/>
              </a:pPr>
              <a:r>
                <a:rPr lang="pt-BR" altLang="ja-JP" sz="899" dirty="0">
                  <a:solidFill>
                    <a:srgbClr val="000000"/>
                  </a:solidFill>
                  <a:latin typeface="游ゴシック" panose="020B0400000000000000" pitchFamily="50" charset="-128"/>
                  <a:ea typeface="游ゴシック" panose="020B0400000000000000" pitchFamily="50" charset="-128"/>
                </a:rPr>
                <a:t>44</a:t>
              </a:r>
              <a:endParaRPr lang="en-US" altLang="ja-JP" sz="899" dirty="0">
                <a:solidFill>
                  <a:srgbClr val="000000"/>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1876631363"/>
      </p:ext>
    </p:extLst>
  </p:cSld>
  <p:clrMap bg1="lt1" tx1="dk1" bg2="lt2" tx2="dk2" accent1="accent1" accent2="accent2" accent3="accent3" accent4="accent4" accent5="accent5" accent6="accent6" hlink="hlink" folHlink="folHlink"/>
  <p:sldLayoutIdLst>
    <p:sldLayoutId id="2147483692" r:id="rId1"/>
    <p:sldLayoutId id="2147483694" r:id="rId2"/>
    <p:sldLayoutId id="2147483695" r:id="rId3"/>
    <p:sldLayoutId id="2147483701" r:id="rId4"/>
    <p:sldLayoutId id="2147483665" r:id="rId5"/>
    <p:sldLayoutId id="2147483666" r:id="rId6"/>
    <p:sldLayoutId id="2147483678" r:id="rId7"/>
    <p:sldLayoutId id="2147483679" r:id="rId8"/>
    <p:sldLayoutId id="2147483680" r:id="rId9"/>
    <p:sldLayoutId id="2147483702" r:id="rId10"/>
  </p:sldLayoutIdLst>
  <p:hf hdr="0" ftr="0" dt="0"/>
  <p:txStyles>
    <p:titleStyle>
      <a:lvl1pPr algn="l" rtl="0" eaLnBrk="1" fontAlgn="base" hangingPunct="1">
        <a:spcBef>
          <a:spcPct val="0"/>
        </a:spcBef>
        <a:spcAft>
          <a:spcPct val="0"/>
        </a:spcAft>
        <a:defRPr kumimoji="1" lang="ja-JP" altLang="en-US" sz="2399" b="1" kern="1200">
          <a:solidFill>
            <a:srgbClr val="000000"/>
          </a:solidFill>
          <a:latin typeface="游ゴシック" panose="020B0400000000000000" pitchFamily="50" charset="-128"/>
          <a:ea typeface="游ゴシック" panose="020B0400000000000000" pitchFamily="50" charset="-128"/>
          <a:cs typeface="+mj-cs"/>
        </a:defRPr>
      </a:lvl1pPr>
      <a:lvl2pPr algn="l" rtl="0" eaLnBrk="1" fontAlgn="base" hangingPunct="1">
        <a:spcBef>
          <a:spcPct val="0"/>
        </a:spcBef>
        <a:spcAft>
          <a:spcPct val="0"/>
        </a:spcAft>
        <a:defRPr kumimoji="1" sz="2399" b="1">
          <a:solidFill>
            <a:srgbClr val="000000"/>
          </a:solidFill>
          <a:latin typeface="Arial" charset="0"/>
          <a:ea typeface="ＭＳ Ｐゴシック" charset="-128"/>
        </a:defRPr>
      </a:lvl2pPr>
      <a:lvl3pPr algn="l" rtl="0" eaLnBrk="1" fontAlgn="base" hangingPunct="1">
        <a:spcBef>
          <a:spcPct val="0"/>
        </a:spcBef>
        <a:spcAft>
          <a:spcPct val="0"/>
        </a:spcAft>
        <a:defRPr kumimoji="1" sz="2399" b="1">
          <a:solidFill>
            <a:srgbClr val="000000"/>
          </a:solidFill>
          <a:latin typeface="Arial" charset="0"/>
          <a:ea typeface="ＭＳ Ｐゴシック" charset="-128"/>
        </a:defRPr>
      </a:lvl3pPr>
      <a:lvl4pPr algn="l" rtl="0" eaLnBrk="1" fontAlgn="base" hangingPunct="1">
        <a:spcBef>
          <a:spcPct val="0"/>
        </a:spcBef>
        <a:spcAft>
          <a:spcPct val="0"/>
        </a:spcAft>
        <a:defRPr kumimoji="1" sz="2399" b="1">
          <a:solidFill>
            <a:srgbClr val="000000"/>
          </a:solidFill>
          <a:latin typeface="Arial" charset="0"/>
          <a:ea typeface="ＭＳ Ｐゴシック" charset="-128"/>
        </a:defRPr>
      </a:lvl4pPr>
      <a:lvl5pPr algn="l" rtl="0" eaLnBrk="1" fontAlgn="base" hangingPunct="1">
        <a:spcBef>
          <a:spcPct val="0"/>
        </a:spcBef>
        <a:spcAft>
          <a:spcPct val="0"/>
        </a:spcAft>
        <a:defRPr kumimoji="1" sz="2399" b="1">
          <a:solidFill>
            <a:srgbClr val="000000"/>
          </a:solidFill>
          <a:latin typeface="Arial" charset="0"/>
          <a:ea typeface="ＭＳ Ｐゴシック" charset="-128"/>
        </a:defRPr>
      </a:lvl5pPr>
      <a:lvl6pPr marL="456926" algn="l" rtl="0" eaLnBrk="1" fontAlgn="base" hangingPunct="1">
        <a:spcBef>
          <a:spcPct val="0"/>
        </a:spcBef>
        <a:spcAft>
          <a:spcPct val="0"/>
        </a:spcAft>
        <a:defRPr kumimoji="1" sz="2399" b="1">
          <a:solidFill>
            <a:srgbClr val="000000"/>
          </a:solidFill>
          <a:latin typeface="Arial" charset="0"/>
          <a:ea typeface="ＭＳ Ｐゴシック" charset="-128"/>
        </a:defRPr>
      </a:lvl6pPr>
      <a:lvl7pPr marL="913851" algn="l" rtl="0" eaLnBrk="1" fontAlgn="base" hangingPunct="1">
        <a:spcBef>
          <a:spcPct val="0"/>
        </a:spcBef>
        <a:spcAft>
          <a:spcPct val="0"/>
        </a:spcAft>
        <a:defRPr kumimoji="1" sz="2399" b="1">
          <a:solidFill>
            <a:srgbClr val="000000"/>
          </a:solidFill>
          <a:latin typeface="Arial" charset="0"/>
          <a:ea typeface="ＭＳ Ｐゴシック" charset="-128"/>
        </a:defRPr>
      </a:lvl7pPr>
      <a:lvl8pPr marL="1370777" algn="l" rtl="0" eaLnBrk="1" fontAlgn="base" hangingPunct="1">
        <a:spcBef>
          <a:spcPct val="0"/>
        </a:spcBef>
        <a:spcAft>
          <a:spcPct val="0"/>
        </a:spcAft>
        <a:defRPr kumimoji="1" sz="2399" b="1">
          <a:solidFill>
            <a:srgbClr val="000000"/>
          </a:solidFill>
          <a:latin typeface="Arial" charset="0"/>
          <a:ea typeface="ＭＳ Ｐゴシック" charset="-128"/>
        </a:defRPr>
      </a:lvl8pPr>
      <a:lvl9pPr marL="1827703" algn="l" rtl="0" eaLnBrk="1" fontAlgn="base" hangingPunct="1">
        <a:spcBef>
          <a:spcPct val="0"/>
        </a:spcBef>
        <a:spcAft>
          <a:spcPct val="0"/>
        </a:spcAft>
        <a:defRPr kumimoji="1" sz="2399" b="1">
          <a:solidFill>
            <a:srgbClr val="000000"/>
          </a:solidFill>
          <a:latin typeface="Arial" charset="0"/>
          <a:ea typeface="ＭＳ Ｐゴシック" charset="-128"/>
        </a:defRPr>
      </a:lvl9pPr>
    </p:titleStyle>
    <p:bodyStyle>
      <a:lvl1pPr marL="172934" indent="-172934" algn="l" rtl="0" eaLnBrk="1" fontAlgn="base" hangingPunct="1">
        <a:spcBef>
          <a:spcPct val="20000"/>
        </a:spcBef>
        <a:spcAft>
          <a:spcPct val="0"/>
        </a:spcAft>
        <a:buClr>
          <a:srgbClr val="9EA0A1"/>
        </a:buClr>
        <a:buSzPct val="110000"/>
        <a:buFont typeface="Wingdings" pitchFamily="2" charset="2"/>
        <a:buChar char="n"/>
        <a:defRPr kumimoji="1" sz="1199" kern="1200">
          <a:solidFill>
            <a:schemeClr val="tx1"/>
          </a:solidFill>
          <a:latin typeface="游ゴシック" panose="020B0400000000000000" pitchFamily="50" charset="-128"/>
          <a:ea typeface="游ゴシック" panose="020B0400000000000000" pitchFamily="50" charset="-128"/>
          <a:cs typeface="+mn-cs"/>
        </a:defRPr>
      </a:lvl1pPr>
      <a:lvl2pPr marL="358560" indent="-185627" algn="l" rtl="0" eaLnBrk="1" fontAlgn="base" hangingPunct="1">
        <a:spcBef>
          <a:spcPct val="20000"/>
        </a:spcBef>
        <a:spcAft>
          <a:spcPct val="0"/>
        </a:spcAft>
        <a:buClr>
          <a:srgbClr val="9EA0A1"/>
        </a:buClr>
        <a:buSzPct val="120000"/>
        <a:buFont typeface="Arial" charset="0"/>
        <a:buChar char="»"/>
        <a:defRPr kumimoji="1" sz="1199" kern="1200">
          <a:solidFill>
            <a:schemeClr val="tx1"/>
          </a:solidFill>
          <a:latin typeface="游ゴシック" panose="020B0400000000000000" pitchFamily="50" charset="-128"/>
          <a:ea typeface="游ゴシック" panose="020B0400000000000000" pitchFamily="50" charset="-128"/>
          <a:cs typeface="+mn-cs"/>
        </a:defRPr>
      </a:lvl2pPr>
      <a:lvl3pPr marL="531494" indent="-172934" algn="l" rtl="0" eaLnBrk="1" fontAlgn="base" hangingPunct="1">
        <a:spcBef>
          <a:spcPct val="20000"/>
        </a:spcBef>
        <a:spcAft>
          <a:spcPct val="0"/>
        </a:spcAft>
        <a:buClr>
          <a:srgbClr val="9EA0A1"/>
        </a:buClr>
        <a:buFont typeface="Arial" charset="0"/>
        <a:buChar char="-"/>
        <a:defRPr kumimoji="1" sz="1199" kern="1200">
          <a:solidFill>
            <a:schemeClr val="tx1"/>
          </a:solidFill>
          <a:latin typeface="游ゴシック" panose="020B0400000000000000" pitchFamily="50" charset="-128"/>
          <a:ea typeface="游ゴシック" panose="020B0400000000000000" pitchFamily="50" charset="-128"/>
          <a:cs typeface="+mn-cs"/>
        </a:defRPr>
      </a:lvl3pPr>
      <a:lvl4pPr marL="717119" indent="-185627" algn="l" rtl="0" eaLnBrk="1" fontAlgn="base" hangingPunct="1">
        <a:spcBef>
          <a:spcPct val="20000"/>
        </a:spcBef>
        <a:spcAft>
          <a:spcPct val="0"/>
        </a:spcAft>
        <a:buClr>
          <a:srgbClr val="9EA0A1"/>
        </a:buClr>
        <a:buFont typeface="Arial" charset="0"/>
        <a:buChar char="-"/>
        <a:defRPr kumimoji="1" sz="1199" kern="1200">
          <a:solidFill>
            <a:schemeClr val="tx1"/>
          </a:solidFill>
          <a:latin typeface="游ゴシック" panose="020B0400000000000000" pitchFamily="50" charset="-128"/>
          <a:ea typeface="游ゴシック" panose="020B0400000000000000" pitchFamily="50" charset="-128"/>
          <a:cs typeface="+mn-cs"/>
        </a:defRPr>
      </a:lvl4pPr>
      <a:lvl5pPr marL="890054" indent="-172934" algn="l" rtl="0" eaLnBrk="1" fontAlgn="base" hangingPunct="1">
        <a:spcBef>
          <a:spcPct val="20000"/>
        </a:spcBef>
        <a:spcAft>
          <a:spcPct val="0"/>
        </a:spcAft>
        <a:buClr>
          <a:srgbClr val="9EA0A1"/>
        </a:buClr>
        <a:buFont typeface="Arial" charset="0"/>
        <a:buChar char="-"/>
        <a:defRPr kumimoji="1" sz="1199" kern="1200">
          <a:solidFill>
            <a:schemeClr val="tx1"/>
          </a:solidFill>
          <a:latin typeface="游ゴシック" panose="020B0400000000000000" pitchFamily="50" charset="-128"/>
          <a:ea typeface="游ゴシック" panose="020B0400000000000000" pitchFamily="50" charset="-128"/>
          <a:cs typeface="+mn-cs"/>
        </a:defRPr>
      </a:lvl5pPr>
      <a:lvl6pPr marL="2513091"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6pPr>
      <a:lvl7pPr marL="2970017"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7pPr>
      <a:lvl8pPr marL="3426943"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8pPr>
      <a:lvl9pPr marL="3883868"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9pPr>
    </p:bodyStyle>
    <p:otherStyle>
      <a:defPPr>
        <a:defRPr lang="ja-JP"/>
      </a:defPPr>
      <a:lvl1pPr marL="0" algn="l" defTabSz="913851" rtl="0" eaLnBrk="1" latinLnBrk="0" hangingPunct="1">
        <a:defRPr kumimoji="1" sz="1799" kern="1200">
          <a:solidFill>
            <a:schemeClr val="tx1"/>
          </a:solidFill>
          <a:latin typeface="+mn-lt"/>
          <a:ea typeface="+mn-ea"/>
          <a:cs typeface="+mn-cs"/>
        </a:defRPr>
      </a:lvl1pPr>
      <a:lvl2pPr marL="456926" algn="l" defTabSz="913851" rtl="0" eaLnBrk="1" latinLnBrk="0" hangingPunct="1">
        <a:defRPr kumimoji="1" sz="1799" kern="1200">
          <a:solidFill>
            <a:schemeClr val="tx1"/>
          </a:solidFill>
          <a:latin typeface="+mn-lt"/>
          <a:ea typeface="+mn-ea"/>
          <a:cs typeface="+mn-cs"/>
        </a:defRPr>
      </a:lvl2pPr>
      <a:lvl3pPr marL="913851" algn="l" defTabSz="913851" rtl="0" eaLnBrk="1" latinLnBrk="0" hangingPunct="1">
        <a:defRPr kumimoji="1" sz="1799" kern="1200">
          <a:solidFill>
            <a:schemeClr val="tx1"/>
          </a:solidFill>
          <a:latin typeface="+mn-lt"/>
          <a:ea typeface="+mn-ea"/>
          <a:cs typeface="+mn-cs"/>
        </a:defRPr>
      </a:lvl3pPr>
      <a:lvl4pPr marL="1370777" algn="l" defTabSz="913851" rtl="0" eaLnBrk="1" latinLnBrk="0" hangingPunct="1">
        <a:defRPr kumimoji="1" sz="1799" kern="1200">
          <a:solidFill>
            <a:schemeClr val="tx1"/>
          </a:solidFill>
          <a:latin typeface="+mn-lt"/>
          <a:ea typeface="+mn-ea"/>
          <a:cs typeface="+mn-cs"/>
        </a:defRPr>
      </a:lvl4pPr>
      <a:lvl5pPr marL="1827703" algn="l" defTabSz="913851" rtl="0" eaLnBrk="1" latinLnBrk="0" hangingPunct="1">
        <a:defRPr kumimoji="1" sz="1799" kern="1200">
          <a:solidFill>
            <a:schemeClr val="tx1"/>
          </a:solidFill>
          <a:latin typeface="+mn-lt"/>
          <a:ea typeface="+mn-ea"/>
          <a:cs typeface="+mn-cs"/>
        </a:defRPr>
      </a:lvl5pPr>
      <a:lvl6pPr marL="2284628" algn="l" defTabSz="913851" rtl="0" eaLnBrk="1" latinLnBrk="0" hangingPunct="1">
        <a:defRPr kumimoji="1" sz="1799" kern="1200">
          <a:solidFill>
            <a:schemeClr val="tx1"/>
          </a:solidFill>
          <a:latin typeface="+mn-lt"/>
          <a:ea typeface="+mn-ea"/>
          <a:cs typeface="+mn-cs"/>
        </a:defRPr>
      </a:lvl6pPr>
      <a:lvl7pPr marL="2741554" algn="l" defTabSz="913851" rtl="0" eaLnBrk="1" latinLnBrk="0" hangingPunct="1">
        <a:defRPr kumimoji="1" sz="1799" kern="1200">
          <a:solidFill>
            <a:schemeClr val="tx1"/>
          </a:solidFill>
          <a:latin typeface="+mn-lt"/>
          <a:ea typeface="+mn-ea"/>
          <a:cs typeface="+mn-cs"/>
        </a:defRPr>
      </a:lvl7pPr>
      <a:lvl8pPr marL="3198480" algn="l" defTabSz="913851" rtl="0" eaLnBrk="1" latinLnBrk="0" hangingPunct="1">
        <a:defRPr kumimoji="1" sz="1799" kern="1200">
          <a:solidFill>
            <a:schemeClr val="tx1"/>
          </a:solidFill>
          <a:latin typeface="+mn-lt"/>
          <a:ea typeface="+mn-ea"/>
          <a:cs typeface="+mn-cs"/>
        </a:defRPr>
      </a:lvl8pPr>
      <a:lvl9pPr marL="3655405" algn="l" defTabSz="913851" rtl="0" eaLnBrk="1" latinLnBrk="0" hangingPunct="1">
        <a:defRPr kumimoji="1"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3.xml"/><Relationship Id="rId4" Type="http://schemas.openxmlformats.org/officeDocument/2006/relationships/image" Target="../media/image21.jpeg"/></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3.xml"/><Relationship Id="rId5" Type="http://schemas.openxmlformats.org/officeDocument/2006/relationships/image" Target="../media/image30.jpeg"/><Relationship Id="rId4" Type="http://schemas.openxmlformats.org/officeDocument/2006/relationships/image" Target="../media/image29.jpeg"/></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3.xml"/><Relationship Id="rId5" Type="http://schemas.openxmlformats.org/officeDocument/2006/relationships/image" Target="../media/image34.jpeg"/><Relationship Id="rId4" Type="http://schemas.openxmlformats.org/officeDocument/2006/relationships/image" Target="../media/image33.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8" Type="http://schemas.openxmlformats.org/officeDocument/2006/relationships/image" Target="../media/image67.jpeg"/><Relationship Id="rId3" Type="http://schemas.openxmlformats.org/officeDocument/2006/relationships/image" Target="../media/image62.jpeg"/><Relationship Id="rId7" Type="http://schemas.openxmlformats.org/officeDocument/2006/relationships/image" Target="../media/image66.jpeg"/><Relationship Id="rId2" Type="http://schemas.openxmlformats.org/officeDocument/2006/relationships/image" Target="../media/image61.jpeg"/><Relationship Id="rId1" Type="http://schemas.openxmlformats.org/officeDocument/2006/relationships/slideLayout" Target="../slideLayouts/slideLayout10.xml"/><Relationship Id="rId6" Type="http://schemas.openxmlformats.org/officeDocument/2006/relationships/image" Target="../media/image65.jpg"/><Relationship Id="rId5" Type="http://schemas.openxmlformats.org/officeDocument/2006/relationships/image" Target="../media/image64.jpeg"/><Relationship Id="rId4" Type="http://schemas.openxmlformats.org/officeDocument/2006/relationships/image" Target="../media/image63.jpeg"/></Relationships>
</file>

<file path=ppt/slides/_rels/slide57.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jpeg"/><Relationship Id="rId1" Type="http://schemas.openxmlformats.org/officeDocument/2006/relationships/slideLayout" Target="../slideLayouts/slideLayout10.xml"/><Relationship Id="rId6" Type="http://schemas.openxmlformats.org/officeDocument/2006/relationships/image" Target="../media/image72.png"/><Relationship Id="rId5" Type="http://schemas.openxmlformats.org/officeDocument/2006/relationships/image" Target="../media/image71.jpeg"/><Relationship Id="rId4" Type="http://schemas.openxmlformats.org/officeDocument/2006/relationships/image" Target="../media/image70.png"/></Relationships>
</file>

<file path=ppt/slides/_rels/slide58.xml.rels><?xml version="1.0" encoding="UTF-8" standalone="yes"?>
<Relationships xmlns="http://schemas.openxmlformats.org/package/2006/relationships"><Relationship Id="rId8" Type="http://schemas.openxmlformats.org/officeDocument/2006/relationships/hyperlink" Target="http://bunka-s-pro.jp/product/aquard/" TargetMode="External"/><Relationship Id="rId3" Type="http://schemas.openxmlformats.org/officeDocument/2006/relationships/hyperlink" Target="https://www.aquafence.jp/furasshuuru" TargetMode="External"/><Relationship Id="rId7" Type="http://schemas.openxmlformats.org/officeDocument/2006/relationships/hyperlink" Target="http://bunka-s-pro.jp/product/shisui_03/" TargetMode="External"/><Relationship Id="rId2" Type="http://schemas.openxmlformats.org/officeDocument/2006/relationships/hyperlink" Target="http://donou.jp/about/seihin.html" TargetMode="External"/><Relationship Id="rId1" Type="http://schemas.openxmlformats.org/officeDocument/2006/relationships/slideLayout" Target="../slideLayouts/slideLayout10.xml"/><Relationship Id="rId6" Type="http://schemas.openxmlformats.org/officeDocument/2006/relationships/hyperlink" Target="https://www.hitachizosen.co.jp/products/products026.html#anc02" TargetMode="External"/><Relationship Id="rId5" Type="http://schemas.openxmlformats.org/officeDocument/2006/relationships/hyperlink" Target="http://www.nihon-pit.co.jp/HP/bousui-6swing.html" TargetMode="External"/><Relationship Id="rId10" Type="http://schemas.openxmlformats.org/officeDocument/2006/relationships/hyperlink" Target="https://tigerdam.jp/" TargetMode="External"/><Relationship Id="rId4" Type="http://schemas.openxmlformats.org/officeDocument/2006/relationships/hyperlink" Target="http://bunka-s-pro.jp/product/rakuset/" TargetMode="External"/><Relationship Id="rId9" Type="http://schemas.openxmlformats.org/officeDocument/2006/relationships/hyperlink" Target="http://www.gadelius.com/news/2019/news20190704.html"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6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p:cNvSpPr>
            <a:spLocks noGrp="1"/>
          </p:cNvSpPr>
          <p:nvPr>
            <p:ph type="body" sz="quarter" idx="13"/>
          </p:nvPr>
        </p:nvSpPr>
        <p:spPr/>
        <p:txBody>
          <a:bodyPr/>
          <a:lstStyle/>
          <a:p>
            <a:r>
              <a:rPr kumimoji="1" lang="zh-TW" altLang="en-US" dirty="0"/>
              <a:t>株式会社神戸製鋼所</a:t>
            </a:r>
            <a:r>
              <a:rPr kumimoji="1" lang="ja-JP" altLang="en-US" dirty="0"/>
              <a:t>　御中</a:t>
            </a:r>
          </a:p>
        </p:txBody>
      </p:sp>
      <p:sp>
        <p:nvSpPr>
          <p:cNvPr id="8" name="テキスト プレースホルダー 7"/>
          <p:cNvSpPr>
            <a:spLocks noGrp="1"/>
          </p:cNvSpPr>
          <p:nvPr>
            <p:ph type="body" sz="quarter" idx="14"/>
          </p:nvPr>
        </p:nvSpPr>
        <p:spPr/>
        <p:txBody>
          <a:bodyPr/>
          <a:lstStyle/>
          <a:p>
            <a:r>
              <a:rPr kumimoji="1" lang="ja-JP" altLang="en-US" dirty="0"/>
              <a:t>水災リスク調査報告書</a:t>
            </a:r>
          </a:p>
        </p:txBody>
      </p:sp>
      <p:sp>
        <p:nvSpPr>
          <p:cNvPr id="9" name="テキスト プレースホルダー 8"/>
          <p:cNvSpPr>
            <a:spLocks noGrp="1"/>
          </p:cNvSpPr>
          <p:nvPr>
            <p:ph type="body" sz="quarter" idx="15"/>
          </p:nvPr>
        </p:nvSpPr>
        <p:spPr>
          <a:xfrm>
            <a:off x="719917" y="3864360"/>
            <a:ext cx="8256657" cy="360000"/>
          </a:xfrm>
        </p:spPr>
        <p:txBody>
          <a:bodyPr/>
          <a:lstStyle/>
          <a:p>
            <a:r>
              <a:rPr kumimoji="1" lang="ja-JP" altLang="en-US" dirty="0"/>
              <a:t>調査対象：大安製作所</a:t>
            </a:r>
          </a:p>
        </p:txBody>
      </p:sp>
      <p:sp>
        <p:nvSpPr>
          <p:cNvPr id="10" name="テキスト プレースホルダー 9"/>
          <p:cNvSpPr>
            <a:spLocks noGrp="1"/>
          </p:cNvSpPr>
          <p:nvPr>
            <p:ph type="body" sz="quarter" idx="16"/>
          </p:nvPr>
        </p:nvSpPr>
        <p:spPr/>
        <p:txBody>
          <a:bodyPr/>
          <a:lstStyle/>
          <a:p>
            <a:r>
              <a:rPr kumimoji="1" lang="ja-JP" altLang="en-US" dirty="0"/>
              <a:t>調査日：</a:t>
            </a:r>
            <a:r>
              <a:rPr kumimoji="1" lang="en-US" altLang="ja-JP" dirty="0"/>
              <a:t>2026</a:t>
            </a:r>
            <a:r>
              <a:rPr kumimoji="1" lang="ja-JP" altLang="en-US" dirty="0"/>
              <a:t>年</a:t>
            </a:r>
            <a:r>
              <a:rPr kumimoji="1" lang="en-US" altLang="ja-JP" dirty="0"/>
              <a:t>9</a:t>
            </a:r>
            <a:r>
              <a:rPr lang="ja-JP" altLang="en-US" dirty="0"/>
              <a:t>月</a:t>
            </a:r>
            <a:r>
              <a:rPr lang="en-US" altLang="ja-JP" dirty="0"/>
              <a:t>15</a:t>
            </a:r>
            <a:r>
              <a:rPr lang="ja-JP" altLang="en-US" dirty="0"/>
              <a:t>日</a:t>
            </a:r>
            <a:endParaRPr kumimoji="1" lang="ja-JP" altLang="en-US" dirty="0">
              <a:solidFill>
                <a:srgbClr val="FFFF00"/>
              </a:solidFill>
            </a:endParaRPr>
          </a:p>
        </p:txBody>
      </p:sp>
      <p:sp>
        <p:nvSpPr>
          <p:cNvPr id="11" name="テキスト プレースホルダー 10"/>
          <p:cNvSpPr>
            <a:spLocks noGrp="1"/>
          </p:cNvSpPr>
          <p:nvPr>
            <p:ph type="body" sz="quarter" idx="17"/>
          </p:nvPr>
        </p:nvSpPr>
        <p:spPr>
          <a:xfrm>
            <a:off x="1426643" y="6029297"/>
            <a:ext cx="3688281" cy="468703"/>
          </a:xfrm>
        </p:spPr>
        <p:txBody>
          <a:bodyPr/>
          <a:lstStyle/>
          <a:p>
            <a:pPr>
              <a:spcBef>
                <a:spcPts val="0"/>
              </a:spcBef>
            </a:pPr>
            <a:r>
              <a:rPr kumimoji="1" lang="ja-JP" altLang="en-US" sz="1400" dirty="0"/>
              <a:t>あいおいニッセイ同和損害保険株式会社</a:t>
            </a:r>
            <a:endParaRPr kumimoji="1" lang="en-US" altLang="ja-JP" sz="1400" dirty="0"/>
          </a:p>
          <a:p>
            <a:pPr>
              <a:spcBef>
                <a:spcPts val="0"/>
              </a:spcBef>
            </a:pPr>
            <a:r>
              <a:rPr lang="ja-JP" altLang="en-US" sz="1400" dirty="0"/>
              <a:t>ＭＳ＆ＡＤインターリスク総研株式会社</a:t>
            </a:r>
            <a:endParaRPr kumimoji="1" lang="ja-JP" altLang="en-US" sz="1400" dirty="0"/>
          </a:p>
        </p:txBody>
      </p:sp>
    </p:spTree>
    <p:extLst>
      <p:ext uri="{BB962C8B-B14F-4D97-AF65-F5344CB8AC3E}">
        <p14:creationId xmlns:p14="http://schemas.microsoft.com/office/powerpoint/2010/main" val="183589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7">
            <a:extLst>
              <a:ext uri="{FF2B5EF4-FFF2-40B4-BE49-F238E27FC236}">
                <a16:creationId xmlns:a16="http://schemas.microsoft.com/office/drawing/2014/main" id="{FC2F0FD4-82C4-40F7-8777-28479FC8A641}"/>
              </a:ext>
            </a:extLst>
          </p:cNvPr>
          <p:cNvSpPr txBox="1">
            <a:spLocks/>
          </p:cNvSpPr>
          <p:nvPr/>
        </p:nvSpPr>
        <p:spPr>
          <a:xfrm>
            <a:off x="1080000" y="381000"/>
            <a:ext cx="6878600" cy="728133"/>
          </a:xfrm>
          <a:prstGeom prst="rect">
            <a:avLst/>
          </a:prstGeom>
        </p:spPr>
        <p:txBody>
          <a:bodyPr wrap="none" lIns="0" tIns="0" rIns="0" bIns="0" anchor="ctr" anchorCtr="0"/>
          <a:lstStyle>
            <a:lvl1pPr marL="0" indent="0" algn="l" rtl="0" eaLnBrk="1" fontAlgn="base" hangingPunct="1">
              <a:spcBef>
                <a:spcPct val="20000"/>
              </a:spcBef>
              <a:spcAft>
                <a:spcPct val="0"/>
              </a:spcAft>
              <a:buClr>
                <a:srgbClr val="9EA0A1"/>
              </a:buClr>
              <a:buSzPct val="110000"/>
              <a:buFont typeface="Wingdings" pitchFamily="2" charset="2"/>
              <a:buNone/>
              <a:defRPr kumimoji="1" sz="3500" kern="1200">
                <a:solidFill>
                  <a:schemeClr val="tx1"/>
                </a:solidFill>
                <a:latin typeface="ＭＳ Ｐゴシック" panose="020B0600070205080204" pitchFamily="50" charset="-128"/>
                <a:ea typeface="ＭＳ Ｐゴシック" panose="020B0600070205080204" pitchFamily="50" charset="-128"/>
                <a:cs typeface="+mn-cs"/>
              </a:defRPr>
            </a:lvl1pPr>
            <a:lvl2pPr marL="358560" indent="-185627" algn="l" rtl="0" eaLnBrk="1" fontAlgn="base" hangingPunct="1">
              <a:spcBef>
                <a:spcPct val="20000"/>
              </a:spcBef>
              <a:spcAft>
                <a:spcPct val="0"/>
              </a:spcAft>
              <a:buClr>
                <a:srgbClr val="9EA0A1"/>
              </a:buClr>
              <a:buSzPct val="120000"/>
              <a:buFont typeface="Arial" charset="0"/>
              <a:buChar char="»"/>
              <a:defRPr kumimoji="1" sz="1199" kern="1200">
                <a:solidFill>
                  <a:schemeClr val="tx1"/>
                </a:solidFill>
                <a:latin typeface="+mn-lt"/>
                <a:ea typeface="+mn-ea"/>
                <a:cs typeface="+mn-cs"/>
              </a:defRPr>
            </a:lvl2pPr>
            <a:lvl3pPr marL="531494" indent="-172934"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3pPr>
            <a:lvl4pPr marL="717119" indent="-185627"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4pPr>
            <a:lvl5pPr marL="890054" indent="-172934"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5pPr>
            <a:lvl6pPr marL="2513091"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6pPr>
            <a:lvl7pPr marL="2970017"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7pPr>
            <a:lvl8pPr marL="3426943"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8pPr>
            <a:lvl9pPr marL="3883868"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9pPr>
          </a:lstStyle>
          <a:p>
            <a:r>
              <a:rPr lang="ja-JP" altLang="en-US" sz="2400" dirty="0">
                <a:latin typeface="游ゴシック" panose="020B0400000000000000" pitchFamily="50" charset="-128"/>
                <a:ea typeface="游ゴシック" panose="020B0400000000000000" pitchFamily="50" charset="-128"/>
              </a:rPr>
              <a:t>目次</a:t>
            </a:r>
          </a:p>
        </p:txBody>
      </p:sp>
      <p:grpSp>
        <p:nvGrpSpPr>
          <p:cNvPr id="3" name="図形グループ 12"/>
          <p:cNvGrpSpPr/>
          <p:nvPr/>
        </p:nvGrpSpPr>
        <p:grpSpPr>
          <a:xfrm>
            <a:off x="1080000" y="1204383"/>
            <a:ext cx="7868869" cy="540000"/>
            <a:chOff x="1117600" y="1261533"/>
            <a:chExt cx="7868869" cy="540000"/>
          </a:xfrm>
        </p:grpSpPr>
        <p:sp>
          <p:nvSpPr>
            <p:cNvPr id="4" name="テキスト ボックス 3"/>
            <p:cNvSpPr txBox="1"/>
            <p:nvPr userDrawn="1"/>
          </p:nvSpPr>
          <p:spPr>
            <a:xfrm>
              <a:off x="1786469" y="1261533"/>
              <a:ext cx="7200000" cy="54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調査概要</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5" name="正方形/長方形 4"/>
            <p:cNvSpPr/>
            <p:nvPr userDrawn="1"/>
          </p:nvSpPr>
          <p:spPr>
            <a:xfrm>
              <a:off x="1117600" y="1261533"/>
              <a:ext cx="540000" cy="540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6" name="テキスト ボックス 5"/>
            <p:cNvSpPr txBox="1">
              <a:spLocks noChangeAspect="1"/>
            </p:cNvSpPr>
            <p:nvPr userDrawn="1"/>
          </p:nvSpPr>
          <p:spPr>
            <a:xfrm>
              <a:off x="1117600" y="1264941"/>
              <a:ext cx="540000" cy="536592"/>
            </a:xfrm>
            <a:prstGeom prst="rect">
              <a:avLst/>
            </a:prstGeom>
            <a:noFill/>
          </p:spPr>
          <p:txBody>
            <a:bodyPr wrap="square" lIns="0" tIns="0" rIns="0" bIns="0" numCol="1" rtlCol="0" anchor="ctr" anchorCtr="0">
              <a:noAutofit/>
            </a:bodyPr>
            <a:lstStyle/>
            <a:p>
              <a:pPr marL="0" indent="0" algn="ctr">
                <a:buFont typeface="Wingdings" charset="2"/>
                <a:buNone/>
              </a:pPr>
              <a:r>
                <a:rPr kumimoji="1" lang="en-US" altLang="ja-JP" sz="2400" dirty="0">
                  <a:solidFill>
                    <a:schemeClr val="bg1"/>
                  </a:solidFill>
                  <a:latin typeface="游ゴシック" panose="020B0400000000000000" pitchFamily="50" charset="-128"/>
                  <a:ea typeface="游ゴシック" panose="020B0400000000000000" pitchFamily="50" charset="-128"/>
                </a:rPr>
                <a:t>1</a:t>
              </a:r>
            </a:p>
          </p:txBody>
        </p:sp>
      </p:grpSp>
      <p:grpSp>
        <p:nvGrpSpPr>
          <p:cNvPr id="7" name="図形グループ 16"/>
          <p:cNvGrpSpPr/>
          <p:nvPr/>
        </p:nvGrpSpPr>
        <p:grpSpPr>
          <a:xfrm>
            <a:off x="1080000" y="1839361"/>
            <a:ext cx="7868869" cy="540000"/>
            <a:chOff x="1117600" y="1261533"/>
            <a:chExt cx="7868869" cy="540000"/>
          </a:xfrm>
        </p:grpSpPr>
        <p:sp>
          <p:nvSpPr>
            <p:cNvPr id="8" name="テキスト ボックス 7"/>
            <p:cNvSpPr txBox="1"/>
            <p:nvPr userDrawn="1"/>
          </p:nvSpPr>
          <p:spPr>
            <a:xfrm>
              <a:off x="1786469" y="1261533"/>
              <a:ext cx="7200000" cy="54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拠点概要</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9" name="正方形/長方形 8"/>
            <p:cNvSpPr/>
            <p:nvPr userDrawn="1"/>
          </p:nvSpPr>
          <p:spPr>
            <a:xfrm>
              <a:off x="1117600" y="1261533"/>
              <a:ext cx="540000" cy="540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0" name="テキスト ボックス 9"/>
            <p:cNvSpPr txBox="1">
              <a:spLocks noChangeAspect="1"/>
            </p:cNvSpPr>
            <p:nvPr userDrawn="1"/>
          </p:nvSpPr>
          <p:spPr>
            <a:xfrm>
              <a:off x="1117600" y="1261533"/>
              <a:ext cx="540000" cy="536592"/>
            </a:xfrm>
            <a:prstGeom prst="rect">
              <a:avLst/>
            </a:prstGeom>
            <a:noFill/>
          </p:spPr>
          <p:txBody>
            <a:bodyPr wrap="square" lIns="0" tIns="0" rIns="0" bIns="0" numCol="1" rtlCol="0" anchor="ctr" anchorCtr="0">
              <a:noAutofit/>
            </a:bodyPr>
            <a:lstStyle/>
            <a:p>
              <a:pPr marL="0" indent="0" algn="ctr">
                <a:buFont typeface="Wingdings" charset="2"/>
                <a:buNone/>
              </a:pPr>
              <a:r>
                <a:rPr kumimoji="1" lang="en-US" altLang="ja-JP" sz="2400" dirty="0">
                  <a:solidFill>
                    <a:schemeClr val="bg1"/>
                  </a:solidFill>
                  <a:latin typeface="游ゴシック" panose="020B0400000000000000" pitchFamily="50" charset="-128"/>
                  <a:ea typeface="游ゴシック" panose="020B0400000000000000" pitchFamily="50" charset="-128"/>
                </a:rPr>
                <a:t>2</a:t>
              </a:r>
            </a:p>
          </p:txBody>
        </p:sp>
      </p:grpSp>
      <p:grpSp>
        <p:nvGrpSpPr>
          <p:cNvPr id="11" name="図形グループ 20"/>
          <p:cNvGrpSpPr/>
          <p:nvPr/>
        </p:nvGrpSpPr>
        <p:grpSpPr>
          <a:xfrm>
            <a:off x="1080000" y="2470931"/>
            <a:ext cx="7868869" cy="540000"/>
            <a:chOff x="1117600" y="1261533"/>
            <a:chExt cx="7868869" cy="540000"/>
          </a:xfrm>
        </p:grpSpPr>
        <p:sp>
          <p:nvSpPr>
            <p:cNvPr id="12" name="テキスト ボックス 11"/>
            <p:cNvSpPr txBox="1"/>
            <p:nvPr userDrawn="1"/>
          </p:nvSpPr>
          <p:spPr>
            <a:xfrm>
              <a:off x="1786469" y="1261533"/>
              <a:ext cx="7200000" cy="54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リスク低減に向けたご提案事項</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13" name="正方形/長方形 12"/>
            <p:cNvSpPr/>
            <p:nvPr userDrawn="1"/>
          </p:nvSpPr>
          <p:spPr>
            <a:xfrm>
              <a:off x="1117600" y="1261533"/>
              <a:ext cx="540000" cy="540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4" name="テキスト ボックス 13"/>
            <p:cNvSpPr txBox="1">
              <a:spLocks noChangeAspect="1"/>
            </p:cNvSpPr>
            <p:nvPr userDrawn="1"/>
          </p:nvSpPr>
          <p:spPr>
            <a:xfrm>
              <a:off x="1117600" y="1261533"/>
              <a:ext cx="540000" cy="540000"/>
            </a:xfrm>
            <a:prstGeom prst="rect">
              <a:avLst/>
            </a:prstGeom>
            <a:noFill/>
          </p:spPr>
          <p:txBody>
            <a:bodyPr wrap="square" lIns="0" tIns="0" rIns="0" bIns="0" numCol="1" rtlCol="0" anchor="ctr" anchorCtr="0">
              <a:noAutofit/>
            </a:bodyPr>
            <a:lstStyle/>
            <a:p>
              <a:pPr marL="0" indent="0" algn="ctr">
                <a:buFont typeface="Wingdings" charset="2"/>
                <a:buNone/>
              </a:pPr>
              <a:r>
                <a:rPr kumimoji="1" lang="en-US" altLang="ja-JP" sz="2400" dirty="0">
                  <a:solidFill>
                    <a:schemeClr val="bg1"/>
                  </a:solidFill>
                  <a:latin typeface="游ゴシック" panose="020B0400000000000000" pitchFamily="50" charset="-128"/>
                  <a:ea typeface="游ゴシック" panose="020B0400000000000000" pitchFamily="50" charset="-128"/>
                </a:rPr>
                <a:t>3</a:t>
              </a:r>
            </a:p>
          </p:txBody>
        </p:sp>
      </p:grpSp>
      <p:sp>
        <p:nvSpPr>
          <p:cNvPr id="15" name="正方形/長方形 14"/>
          <p:cNvSpPr/>
          <p:nvPr/>
        </p:nvSpPr>
        <p:spPr>
          <a:xfrm>
            <a:off x="1080000" y="3102501"/>
            <a:ext cx="540000" cy="540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6" name="テキスト ボックス 15"/>
          <p:cNvSpPr txBox="1">
            <a:spLocks noChangeAspect="1"/>
          </p:cNvSpPr>
          <p:nvPr/>
        </p:nvSpPr>
        <p:spPr>
          <a:xfrm>
            <a:off x="1080000" y="3102501"/>
            <a:ext cx="540000" cy="540000"/>
          </a:xfrm>
          <a:prstGeom prst="rect">
            <a:avLst/>
          </a:prstGeom>
          <a:noFill/>
        </p:spPr>
        <p:txBody>
          <a:bodyPr wrap="square" lIns="0" tIns="0" rIns="0" bIns="0" numCol="1" rtlCol="0" anchor="ctr" anchorCtr="0">
            <a:noAutofit/>
          </a:bodyPr>
          <a:lstStyle/>
          <a:p>
            <a:pPr marL="0" indent="0" algn="ctr">
              <a:buFont typeface="Wingdings" charset="2"/>
              <a:buNone/>
            </a:pPr>
            <a:r>
              <a:rPr kumimoji="1" lang="en-US" altLang="ja-JP" sz="2400" dirty="0">
                <a:solidFill>
                  <a:schemeClr val="bg1"/>
                </a:solidFill>
                <a:latin typeface="游ゴシック" panose="020B0400000000000000" pitchFamily="50" charset="-128"/>
                <a:ea typeface="游ゴシック" panose="020B0400000000000000" pitchFamily="50" charset="-128"/>
              </a:rPr>
              <a:t>4</a:t>
            </a:r>
          </a:p>
        </p:txBody>
      </p:sp>
      <p:sp>
        <p:nvSpPr>
          <p:cNvPr id="17" name="テキスト プレースホルダー 8"/>
          <p:cNvSpPr txBox="1">
            <a:spLocks/>
          </p:cNvSpPr>
          <p:nvPr/>
        </p:nvSpPr>
        <p:spPr>
          <a:xfrm>
            <a:off x="1748869" y="3102501"/>
            <a:ext cx="7200000" cy="540000"/>
          </a:xfrm>
          <a:prstGeom prst="rect">
            <a:avLst/>
          </a:prstGeom>
        </p:spPr>
        <p:txBody>
          <a:bodyPr vert="horz" lIns="0" rIns="0" anchor="ctr" anchorCtr="0"/>
          <a:lstStyle>
            <a:lvl1pPr marL="0" indent="0" algn="l" rtl="0" eaLnBrk="1" fontAlgn="base" hangingPunct="1">
              <a:spcBef>
                <a:spcPct val="20000"/>
              </a:spcBef>
              <a:spcAft>
                <a:spcPct val="0"/>
              </a:spcAft>
              <a:buClr>
                <a:srgbClr val="9EA0A1"/>
              </a:buClr>
              <a:buSzPct val="110000"/>
              <a:buFont typeface="Wingdings" pitchFamily="2" charset="2"/>
              <a:buNone/>
              <a:defRPr kumimoji="1" sz="3000" kern="1200">
                <a:solidFill>
                  <a:schemeClr val="tx1"/>
                </a:solidFill>
                <a:latin typeface="+mn-lt"/>
                <a:ea typeface="+mn-ea"/>
                <a:cs typeface="+mn-cs"/>
              </a:defRPr>
            </a:lvl1pPr>
            <a:lvl2pPr marL="358560" indent="-185627" algn="l" rtl="0" eaLnBrk="1" fontAlgn="base" hangingPunct="1">
              <a:spcBef>
                <a:spcPct val="20000"/>
              </a:spcBef>
              <a:spcAft>
                <a:spcPct val="0"/>
              </a:spcAft>
              <a:buClr>
                <a:srgbClr val="9EA0A1"/>
              </a:buClr>
              <a:buSzPct val="120000"/>
              <a:buFont typeface="Arial" charset="0"/>
              <a:buChar char="»"/>
              <a:defRPr kumimoji="1" sz="1199" kern="1200">
                <a:solidFill>
                  <a:schemeClr val="tx1"/>
                </a:solidFill>
                <a:latin typeface="+mn-lt"/>
                <a:ea typeface="+mn-ea"/>
                <a:cs typeface="+mn-cs"/>
              </a:defRPr>
            </a:lvl2pPr>
            <a:lvl3pPr marL="531494" indent="-172934"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3pPr>
            <a:lvl4pPr marL="717119" indent="-185627"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4pPr>
            <a:lvl5pPr marL="890054" indent="-172934"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5pPr>
            <a:lvl6pPr marL="2513091"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6pPr>
            <a:lvl7pPr marL="2970017"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7pPr>
            <a:lvl8pPr marL="3426943"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8pPr>
            <a:lvl9pPr marL="3883868"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9pPr>
          </a:lstStyle>
          <a:p>
            <a:r>
              <a:rPr lang="ja-JP" altLang="en-US" sz="2400" dirty="0">
                <a:latin typeface="游ゴシック" panose="020B0400000000000000" pitchFamily="50" charset="-128"/>
                <a:ea typeface="游ゴシック" panose="020B0400000000000000" pitchFamily="50" charset="-128"/>
              </a:rPr>
              <a:t>好取組事例</a:t>
            </a:r>
          </a:p>
        </p:txBody>
      </p:sp>
      <p:pic>
        <p:nvPicPr>
          <p:cNvPr id="18" name="図 17" descr="さんかく.jp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15950" y="547327"/>
            <a:ext cx="278892" cy="395478"/>
          </a:xfrm>
          <a:prstGeom prst="rect">
            <a:avLst/>
          </a:prstGeom>
        </p:spPr>
      </p:pic>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2</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56" name="図形グループ 20">
            <a:extLst>
              <a:ext uri="{FF2B5EF4-FFF2-40B4-BE49-F238E27FC236}">
                <a16:creationId xmlns:a16="http://schemas.microsoft.com/office/drawing/2014/main" id="{DD73DE1C-DF5F-4BA1-A5CE-AA3D141C642F}"/>
              </a:ext>
            </a:extLst>
          </p:cNvPr>
          <p:cNvGrpSpPr/>
          <p:nvPr/>
        </p:nvGrpSpPr>
        <p:grpSpPr>
          <a:xfrm>
            <a:off x="1080000" y="3730663"/>
            <a:ext cx="7868869" cy="540000"/>
            <a:chOff x="1117600" y="1261533"/>
            <a:chExt cx="7868869" cy="540000"/>
          </a:xfrm>
        </p:grpSpPr>
        <p:sp>
          <p:nvSpPr>
            <p:cNvPr id="57" name="テキスト ボックス 56">
              <a:extLst>
                <a:ext uri="{FF2B5EF4-FFF2-40B4-BE49-F238E27FC236}">
                  <a16:creationId xmlns:a16="http://schemas.microsoft.com/office/drawing/2014/main" id="{08EF515A-D796-4C08-8E68-88A1F6330446}"/>
                </a:ext>
              </a:extLst>
            </p:cNvPr>
            <p:cNvSpPr txBox="1"/>
            <p:nvPr userDrawn="1"/>
          </p:nvSpPr>
          <p:spPr>
            <a:xfrm>
              <a:off x="1786469" y="1261533"/>
              <a:ext cx="7200000" cy="54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水災リスク</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58" name="正方形/長方形 57">
              <a:extLst>
                <a:ext uri="{FF2B5EF4-FFF2-40B4-BE49-F238E27FC236}">
                  <a16:creationId xmlns:a16="http://schemas.microsoft.com/office/drawing/2014/main" id="{F0E59D12-43F5-414D-B57B-AB8AE45B2A3E}"/>
                </a:ext>
              </a:extLst>
            </p:cNvPr>
            <p:cNvSpPr/>
            <p:nvPr userDrawn="1"/>
          </p:nvSpPr>
          <p:spPr>
            <a:xfrm>
              <a:off x="1117600" y="1261533"/>
              <a:ext cx="540000" cy="540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59" name="テキスト ボックス 58">
              <a:extLst>
                <a:ext uri="{FF2B5EF4-FFF2-40B4-BE49-F238E27FC236}">
                  <a16:creationId xmlns:a16="http://schemas.microsoft.com/office/drawing/2014/main" id="{7955D281-2B2C-47DE-BEB2-EC19889040BE}"/>
                </a:ext>
              </a:extLst>
            </p:cNvPr>
            <p:cNvSpPr txBox="1">
              <a:spLocks noChangeAspect="1"/>
            </p:cNvSpPr>
            <p:nvPr userDrawn="1"/>
          </p:nvSpPr>
          <p:spPr>
            <a:xfrm>
              <a:off x="1117600" y="1261533"/>
              <a:ext cx="540000" cy="540000"/>
            </a:xfrm>
            <a:prstGeom prst="rect">
              <a:avLst/>
            </a:prstGeom>
            <a:noFill/>
          </p:spPr>
          <p:txBody>
            <a:bodyPr wrap="square" lIns="0" tIns="0" rIns="0" bIns="0" numCol="1" rtlCol="0" anchor="ctr" anchorCtr="0">
              <a:noAutofit/>
            </a:bodyPr>
            <a:lstStyle/>
            <a:p>
              <a:pPr marL="0" indent="0" algn="ctr">
                <a:buFont typeface="Wingdings" charset="2"/>
                <a:buNone/>
              </a:pPr>
              <a:r>
                <a:rPr kumimoji="1" lang="en-US" altLang="ja-JP" sz="2400" dirty="0">
                  <a:solidFill>
                    <a:schemeClr val="bg1"/>
                  </a:solidFill>
                  <a:latin typeface="游ゴシック" panose="020B0400000000000000" pitchFamily="50" charset="-128"/>
                  <a:ea typeface="游ゴシック" panose="020B0400000000000000" pitchFamily="50" charset="-128"/>
                </a:rPr>
                <a:t>5</a:t>
              </a:r>
            </a:p>
          </p:txBody>
        </p:sp>
      </p:grpSp>
      <p:sp>
        <p:nvSpPr>
          <p:cNvPr id="60" name="正方形/長方形 59">
            <a:extLst>
              <a:ext uri="{FF2B5EF4-FFF2-40B4-BE49-F238E27FC236}">
                <a16:creationId xmlns:a16="http://schemas.microsoft.com/office/drawing/2014/main" id="{95D6E7A9-341C-48CC-876F-CD69727623C8}"/>
              </a:ext>
            </a:extLst>
          </p:cNvPr>
          <p:cNvSpPr/>
          <p:nvPr/>
        </p:nvSpPr>
        <p:spPr>
          <a:xfrm>
            <a:off x="1080000" y="4351920"/>
            <a:ext cx="540000" cy="540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61" name="テキスト ボックス 60">
            <a:extLst>
              <a:ext uri="{FF2B5EF4-FFF2-40B4-BE49-F238E27FC236}">
                <a16:creationId xmlns:a16="http://schemas.microsoft.com/office/drawing/2014/main" id="{1FB9E49D-56D0-4366-9862-36FA3186A919}"/>
              </a:ext>
            </a:extLst>
          </p:cNvPr>
          <p:cNvSpPr txBox="1">
            <a:spLocks noChangeAspect="1"/>
          </p:cNvSpPr>
          <p:nvPr/>
        </p:nvSpPr>
        <p:spPr>
          <a:xfrm>
            <a:off x="1080000" y="4369049"/>
            <a:ext cx="540000" cy="540000"/>
          </a:xfrm>
          <a:prstGeom prst="rect">
            <a:avLst/>
          </a:prstGeom>
          <a:noFill/>
        </p:spPr>
        <p:txBody>
          <a:bodyPr wrap="square" lIns="0" tIns="0" rIns="0" bIns="0" numCol="1" rtlCol="0" anchor="ctr" anchorCtr="0">
            <a:noAutofit/>
          </a:bodyPr>
          <a:lstStyle/>
          <a:p>
            <a:pPr marL="0" indent="0" algn="ctr">
              <a:buFont typeface="Wingdings" charset="2"/>
              <a:buNone/>
            </a:pPr>
            <a:r>
              <a:rPr lang="en-US" altLang="ja-JP" sz="2400" dirty="0">
                <a:solidFill>
                  <a:schemeClr val="bg1"/>
                </a:solidFill>
                <a:latin typeface="游ゴシック" panose="020B0400000000000000" pitchFamily="50" charset="-128"/>
                <a:ea typeface="游ゴシック" panose="020B0400000000000000" pitchFamily="50" charset="-128"/>
              </a:rPr>
              <a:t>6</a:t>
            </a:r>
            <a:endParaRPr kumimoji="1" lang="en-US" altLang="ja-JP" sz="2400" dirty="0">
              <a:solidFill>
                <a:schemeClr val="bg1"/>
              </a:solidFill>
              <a:latin typeface="游ゴシック" panose="020B0400000000000000" pitchFamily="50" charset="-128"/>
              <a:ea typeface="游ゴシック" panose="020B0400000000000000" pitchFamily="50" charset="-128"/>
            </a:endParaRPr>
          </a:p>
        </p:txBody>
      </p:sp>
      <p:sp>
        <p:nvSpPr>
          <p:cNvPr id="62" name="テキスト プレースホルダー 8">
            <a:extLst>
              <a:ext uri="{FF2B5EF4-FFF2-40B4-BE49-F238E27FC236}">
                <a16:creationId xmlns:a16="http://schemas.microsoft.com/office/drawing/2014/main" id="{9B9E777D-A63F-4491-BA1F-886B145231A4}"/>
              </a:ext>
            </a:extLst>
          </p:cNvPr>
          <p:cNvSpPr txBox="1">
            <a:spLocks/>
          </p:cNvSpPr>
          <p:nvPr/>
        </p:nvSpPr>
        <p:spPr>
          <a:xfrm>
            <a:off x="1748869" y="4369302"/>
            <a:ext cx="7200000" cy="540000"/>
          </a:xfrm>
          <a:prstGeom prst="rect">
            <a:avLst/>
          </a:prstGeom>
        </p:spPr>
        <p:txBody>
          <a:bodyPr vert="horz" lIns="0" rIns="0" anchor="ctr" anchorCtr="0"/>
          <a:lstStyle>
            <a:lvl1pPr marL="0" indent="0" algn="l" rtl="0" eaLnBrk="1" fontAlgn="base" hangingPunct="1">
              <a:spcBef>
                <a:spcPct val="20000"/>
              </a:spcBef>
              <a:spcAft>
                <a:spcPct val="0"/>
              </a:spcAft>
              <a:buClr>
                <a:srgbClr val="9EA0A1"/>
              </a:buClr>
              <a:buSzPct val="110000"/>
              <a:buFont typeface="Wingdings" pitchFamily="2" charset="2"/>
              <a:buNone/>
              <a:defRPr kumimoji="1" sz="3000" kern="1200">
                <a:solidFill>
                  <a:schemeClr val="tx1"/>
                </a:solidFill>
                <a:latin typeface="+mn-lt"/>
                <a:ea typeface="+mn-ea"/>
                <a:cs typeface="+mn-cs"/>
              </a:defRPr>
            </a:lvl1pPr>
            <a:lvl2pPr marL="358560" indent="-185627" algn="l" rtl="0" eaLnBrk="1" fontAlgn="base" hangingPunct="1">
              <a:spcBef>
                <a:spcPct val="20000"/>
              </a:spcBef>
              <a:spcAft>
                <a:spcPct val="0"/>
              </a:spcAft>
              <a:buClr>
                <a:srgbClr val="9EA0A1"/>
              </a:buClr>
              <a:buSzPct val="120000"/>
              <a:buFont typeface="Arial" charset="0"/>
              <a:buChar char="»"/>
              <a:defRPr kumimoji="1" sz="1199" kern="1200">
                <a:solidFill>
                  <a:schemeClr val="tx1"/>
                </a:solidFill>
                <a:latin typeface="+mn-lt"/>
                <a:ea typeface="+mn-ea"/>
                <a:cs typeface="+mn-cs"/>
              </a:defRPr>
            </a:lvl2pPr>
            <a:lvl3pPr marL="531494" indent="-172934"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3pPr>
            <a:lvl4pPr marL="717119" indent="-185627"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4pPr>
            <a:lvl5pPr marL="890054" indent="-172934"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5pPr>
            <a:lvl6pPr marL="2513091"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6pPr>
            <a:lvl7pPr marL="2970017"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7pPr>
            <a:lvl8pPr marL="3426943"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8pPr>
            <a:lvl9pPr marL="3883868"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9pPr>
          </a:lstStyle>
          <a:p>
            <a:r>
              <a:rPr lang="ja-JP" altLang="en-US" sz="2400" dirty="0">
                <a:latin typeface="游ゴシック" panose="020B0400000000000000" pitchFamily="50" charset="-128"/>
                <a:ea typeface="游ゴシック" panose="020B0400000000000000" pitchFamily="50" charset="-128"/>
              </a:rPr>
              <a:t>被害想定</a:t>
            </a:r>
          </a:p>
        </p:txBody>
      </p:sp>
      <p:sp>
        <p:nvSpPr>
          <p:cNvPr id="63" name="正方形/長方形 62">
            <a:extLst>
              <a:ext uri="{FF2B5EF4-FFF2-40B4-BE49-F238E27FC236}">
                <a16:creationId xmlns:a16="http://schemas.microsoft.com/office/drawing/2014/main" id="{E01431EB-FC41-49DF-931B-1563873C2CAD}"/>
              </a:ext>
            </a:extLst>
          </p:cNvPr>
          <p:cNvSpPr/>
          <p:nvPr/>
        </p:nvSpPr>
        <p:spPr>
          <a:xfrm>
            <a:off x="1084526" y="4993672"/>
            <a:ext cx="540000" cy="540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64" name="テキスト ボックス 63">
            <a:extLst>
              <a:ext uri="{FF2B5EF4-FFF2-40B4-BE49-F238E27FC236}">
                <a16:creationId xmlns:a16="http://schemas.microsoft.com/office/drawing/2014/main" id="{3D1A163C-A7F6-42CD-9B6F-975F0475B527}"/>
              </a:ext>
            </a:extLst>
          </p:cNvPr>
          <p:cNvSpPr txBox="1">
            <a:spLocks noChangeAspect="1"/>
          </p:cNvSpPr>
          <p:nvPr/>
        </p:nvSpPr>
        <p:spPr>
          <a:xfrm>
            <a:off x="1080000" y="4990264"/>
            <a:ext cx="540000" cy="540000"/>
          </a:xfrm>
          <a:prstGeom prst="rect">
            <a:avLst/>
          </a:prstGeom>
          <a:noFill/>
        </p:spPr>
        <p:txBody>
          <a:bodyPr wrap="square" lIns="0" tIns="0" rIns="0" bIns="0" numCol="1" rtlCol="0" anchor="ctr" anchorCtr="0">
            <a:noAutofit/>
          </a:bodyPr>
          <a:lstStyle/>
          <a:p>
            <a:pPr marL="0" indent="0" algn="ctr">
              <a:buFont typeface="Wingdings" charset="2"/>
              <a:buNone/>
            </a:pPr>
            <a:r>
              <a:rPr kumimoji="1" lang="en-US" altLang="ja-JP" sz="2400" dirty="0">
                <a:solidFill>
                  <a:schemeClr val="bg1"/>
                </a:solidFill>
                <a:latin typeface="游ゴシック" panose="020B0400000000000000" pitchFamily="50" charset="-128"/>
                <a:ea typeface="游ゴシック" panose="020B0400000000000000" pitchFamily="50" charset="-128"/>
              </a:rPr>
              <a:t>7</a:t>
            </a:r>
          </a:p>
        </p:txBody>
      </p:sp>
      <p:sp>
        <p:nvSpPr>
          <p:cNvPr id="65" name="テキスト プレースホルダー 8">
            <a:extLst>
              <a:ext uri="{FF2B5EF4-FFF2-40B4-BE49-F238E27FC236}">
                <a16:creationId xmlns:a16="http://schemas.microsoft.com/office/drawing/2014/main" id="{E57B8EBA-31A2-4A85-BC08-29D0D112FCA2}"/>
              </a:ext>
            </a:extLst>
          </p:cNvPr>
          <p:cNvSpPr txBox="1">
            <a:spLocks/>
          </p:cNvSpPr>
          <p:nvPr/>
        </p:nvSpPr>
        <p:spPr>
          <a:xfrm>
            <a:off x="1748869" y="5007941"/>
            <a:ext cx="7200000" cy="540000"/>
          </a:xfrm>
          <a:prstGeom prst="rect">
            <a:avLst/>
          </a:prstGeom>
        </p:spPr>
        <p:txBody>
          <a:bodyPr vert="horz" lIns="0" rIns="0" anchor="ctr" anchorCtr="0"/>
          <a:lstStyle>
            <a:lvl1pPr marL="0" indent="0" algn="l" rtl="0" eaLnBrk="1" fontAlgn="base" hangingPunct="1">
              <a:spcBef>
                <a:spcPct val="20000"/>
              </a:spcBef>
              <a:spcAft>
                <a:spcPct val="0"/>
              </a:spcAft>
              <a:buClr>
                <a:srgbClr val="9EA0A1"/>
              </a:buClr>
              <a:buSzPct val="110000"/>
              <a:buFont typeface="Wingdings" pitchFamily="2" charset="2"/>
              <a:buNone/>
              <a:defRPr kumimoji="1" sz="3000" kern="1200">
                <a:solidFill>
                  <a:schemeClr val="tx1"/>
                </a:solidFill>
                <a:latin typeface="+mn-lt"/>
                <a:ea typeface="+mn-ea"/>
                <a:cs typeface="+mn-cs"/>
              </a:defRPr>
            </a:lvl1pPr>
            <a:lvl2pPr marL="358560" indent="-185627" algn="l" rtl="0" eaLnBrk="1" fontAlgn="base" hangingPunct="1">
              <a:spcBef>
                <a:spcPct val="20000"/>
              </a:spcBef>
              <a:spcAft>
                <a:spcPct val="0"/>
              </a:spcAft>
              <a:buClr>
                <a:srgbClr val="9EA0A1"/>
              </a:buClr>
              <a:buSzPct val="120000"/>
              <a:buFont typeface="Arial" charset="0"/>
              <a:buChar char="»"/>
              <a:defRPr kumimoji="1" sz="1199" kern="1200">
                <a:solidFill>
                  <a:schemeClr val="tx1"/>
                </a:solidFill>
                <a:latin typeface="+mn-lt"/>
                <a:ea typeface="+mn-ea"/>
                <a:cs typeface="+mn-cs"/>
              </a:defRPr>
            </a:lvl2pPr>
            <a:lvl3pPr marL="531494" indent="-172934"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3pPr>
            <a:lvl4pPr marL="717119" indent="-185627"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4pPr>
            <a:lvl5pPr marL="890054" indent="-172934"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5pPr>
            <a:lvl6pPr marL="2513091"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6pPr>
            <a:lvl7pPr marL="2970017"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7pPr>
            <a:lvl8pPr marL="3426943"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8pPr>
            <a:lvl9pPr marL="3883868"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9pPr>
          </a:lstStyle>
          <a:p>
            <a:r>
              <a:rPr lang="ja-JP" altLang="en-US" sz="2400" dirty="0">
                <a:effectLst>
                  <a:glow rad="190500">
                    <a:schemeClr val="bg1">
                      <a:alpha val="60000"/>
                    </a:schemeClr>
                  </a:glow>
                </a:effectLst>
              </a:rPr>
              <a:t>過去の保険金支払事故</a:t>
            </a:r>
            <a:endParaRPr kumimoji="1" lang="ja-JP" altLang="en-US" sz="2400" dirty="0">
              <a:effectLst>
                <a:glow rad="190500">
                  <a:schemeClr val="bg1">
                    <a:alpha val="60000"/>
                  </a:schemeClr>
                </a:glow>
              </a:effectLst>
            </a:endParaRPr>
          </a:p>
        </p:txBody>
      </p:sp>
      <p:sp>
        <p:nvSpPr>
          <p:cNvPr id="30" name="正方形/長方形 29">
            <a:extLst>
              <a:ext uri="{FF2B5EF4-FFF2-40B4-BE49-F238E27FC236}">
                <a16:creationId xmlns:a16="http://schemas.microsoft.com/office/drawing/2014/main" id="{5E6E9105-10A0-4D4C-A4A2-711ABC906213}"/>
              </a:ext>
            </a:extLst>
          </p:cNvPr>
          <p:cNvSpPr/>
          <p:nvPr/>
        </p:nvSpPr>
        <p:spPr>
          <a:xfrm>
            <a:off x="1080000" y="5628650"/>
            <a:ext cx="540000" cy="540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31" name="テキスト ボックス 30">
            <a:extLst>
              <a:ext uri="{FF2B5EF4-FFF2-40B4-BE49-F238E27FC236}">
                <a16:creationId xmlns:a16="http://schemas.microsoft.com/office/drawing/2014/main" id="{9D794C02-ED1B-4BBF-8B38-0BA57B070D44}"/>
              </a:ext>
            </a:extLst>
          </p:cNvPr>
          <p:cNvSpPr txBox="1">
            <a:spLocks noChangeAspect="1"/>
          </p:cNvSpPr>
          <p:nvPr/>
        </p:nvSpPr>
        <p:spPr>
          <a:xfrm>
            <a:off x="1080000" y="5643282"/>
            <a:ext cx="540000" cy="540000"/>
          </a:xfrm>
          <a:prstGeom prst="rect">
            <a:avLst/>
          </a:prstGeom>
          <a:noFill/>
        </p:spPr>
        <p:txBody>
          <a:bodyPr wrap="square" lIns="0" tIns="0" rIns="0" bIns="0" numCol="1" rtlCol="0" anchor="ctr" anchorCtr="0">
            <a:noAutofit/>
          </a:bodyPr>
          <a:lstStyle/>
          <a:p>
            <a:pPr marL="0" indent="0" algn="ctr">
              <a:buFont typeface="Wingdings" charset="2"/>
              <a:buNone/>
            </a:pPr>
            <a:r>
              <a:rPr kumimoji="1" lang="en-US" altLang="ja-JP" sz="2400" dirty="0">
                <a:solidFill>
                  <a:schemeClr val="bg1"/>
                </a:solidFill>
                <a:latin typeface="游ゴシック" panose="020B0400000000000000" pitchFamily="50" charset="-128"/>
                <a:ea typeface="游ゴシック" panose="020B0400000000000000" pitchFamily="50" charset="-128"/>
              </a:rPr>
              <a:t>8</a:t>
            </a:r>
          </a:p>
        </p:txBody>
      </p:sp>
      <p:sp>
        <p:nvSpPr>
          <p:cNvPr id="32" name="テキスト プレースホルダー 8">
            <a:extLst>
              <a:ext uri="{FF2B5EF4-FFF2-40B4-BE49-F238E27FC236}">
                <a16:creationId xmlns:a16="http://schemas.microsoft.com/office/drawing/2014/main" id="{65DAB0C8-7826-4120-885F-B83FD0150BA3}"/>
              </a:ext>
            </a:extLst>
          </p:cNvPr>
          <p:cNvSpPr txBox="1">
            <a:spLocks/>
          </p:cNvSpPr>
          <p:nvPr/>
        </p:nvSpPr>
        <p:spPr>
          <a:xfrm>
            <a:off x="1748869" y="5628650"/>
            <a:ext cx="7200000" cy="540000"/>
          </a:xfrm>
          <a:prstGeom prst="rect">
            <a:avLst/>
          </a:prstGeom>
        </p:spPr>
        <p:txBody>
          <a:bodyPr vert="horz" lIns="0" rIns="0" anchor="ctr" anchorCtr="0"/>
          <a:lstStyle>
            <a:lvl1pPr marL="0" indent="0" algn="l" rtl="0" eaLnBrk="1" fontAlgn="base" hangingPunct="1">
              <a:spcBef>
                <a:spcPct val="20000"/>
              </a:spcBef>
              <a:spcAft>
                <a:spcPct val="0"/>
              </a:spcAft>
              <a:buClr>
                <a:srgbClr val="9EA0A1"/>
              </a:buClr>
              <a:buSzPct val="110000"/>
              <a:buFont typeface="Wingdings" pitchFamily="2" charset="2"/>
              <a:buNone/>
              <a:defRPr kumimoji="1" sz="3000" kern="1200">
                <a:solidFill>
                  <a:schemeClr val="tx1"/>
                </a:solidFill>
                <a:latin typeface="+mn-lt"/>
                <a:ea typeface="+mn-ea"/>
                <a:cs typeface="+mn-cs"/>
              </a:defRPr>
            </a:lvl1pPr>
            <a:lvl2pPr marL="358560" indent="-185627" algn="l" rtl="0" eaLnBrk="1" fontAlgn="base" hangingPunct="1">
              <a:spcBef>
                <a:spcPct val="20000"/>
              </a:spcBef>
              <a:spcAft>
                <a:spcPct val="0"/>
              </a:spcAft>
              <a:buClr>
                <a:srgbClr val="9EA0A1"/>
              </a:buClr>
              <a:buSzPct val="120000"/>
              <a:buFont typeface="Arial" charset="0"/>
              <a:buChar char="»"/>
              <a:defRPr kumimoji="1" sz="1199" kern="1200">
                <a:solidFill>
                  <a:schemeClr val="tx1"/>
                </a:solidFill>
                <a:latin typeface="+mn-lt"/>
                <a:ea typeface="+mn-ea"/>
                <a:cs typeface="+mn-cs"/>
              </a:defRPr>
            </a:lvl2pPr>
            <a:lvl3pPr marL="531494" indent="-172934"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3pPr>
            <a:lvl4pPr marL="717119" indent="-185627"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4pPr>
            <a:lvl5pPr marL="890054" indent="-172934" algn="l" rtl="0" eaLnBrk="1" fontAlgn="base" hangingPunct="1">
              <a:spcBef>
                <a:spcPct val="20000"/>
              </a:spcBef>
              <a:spcAft>
                <a:spcPct val="0"/>
              </a:spcAft>
              <a:buClr>
                <a:srgbClr val="9EA0A1"/>
              </a:buClr>
              <a:buFont typeface="Arial" charset="0"/>
              <a:buChar char="-"/>
              <a:defRPr kumimoji="1" sz="1199" kern="1200">
                <a:solidFill>
                  <a:schemeClr val="tx1"/>
                </a:solidFill>
                <a:latin typeface="+mn-lt"/>
                <a:ea typeface="+mn-ea"/>
                <a:cs typeface="+mn-cs"/>
              </a:defRPr>
            </a:lvl5pPr>
            <a:lvl6pPr marL="2513091"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6pPr>
            <a:lvl7pPr marL="2970017"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7pPr>
            <a:lvl8pPr marL="3426943"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8pPr>
            <a:lvl9pPr marL="3883868" indent="-228463" algn="l" defTabSz="913851" rtl="0" eaLnBrk="1" latinLnBrk="0" hangingPunct="1">
              <a:spcBef>
                <a:spcPct val="20000"/>
              </a:spcBef>
              <a:buFont typeface="Arial" panose="020B0604020202020204" pitchFamily="34" charset="0"/>
              <a:buChar char="•"/>
              <a:defRPr kumimoji="1" sz="1999" kern="1200">
                <a:solidFill>
                  <a:schemeClr val="tx1"/>
                </a:solidFill>
                <a:latin typeface="+mn-lt"/>
                <a:ea typeface="+mn-ea"/>
                <a:cs typeface="+mn-cs"/>
              </a:defRPr>
            </a:lvl9pPr>
          </a:lstStyle>
          <a:p>
            <a:r>
              <a:rPr lang="ja-JP" altLang="en-US" sz="2400" dirty="0">
                <a:latin typeface="游ゴシック" panose="020B0400000000000000" pitchFamily="50" charset="-128"/>
                <a:ea typeface="游ゴシック" panose="020B0400000000000000" pitchFamily="50" charset="-128"/>
              </a:rPr>
              <a:t>参考資料</a:t>
            </a:r>
          </a:p>
        </p:txBody>
      </p:sp>
    </p:spTree>
    <p:extLst>
      <p:ext uri="{BB962C8B-B14F-4D97-AF65-F5344CB8AC3E}">
        <p14:creationId xmlns:p14="http://schemas.microsoft.com/office/powerpoint/2010/main" val="169638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kumimoji="1" lang="ja-JP" altLang="en-US" dirty="0">
                <a:effectLst>
                  <a:glow rad="190500">
                    <a:schemeClr val="bg1">
                      <a:alpha val="60000"/>
                    </a:schemeClr>
                  </a:glow>
                </a:effectLst>
              </a:rPr>
              <a:t>調査概要</a:t>
            </a:r>
          </a:p>
        </p:txBody>
      </p:sp>
      <p:sp>
        <p:nvSpPr>
          <p:cNvPr id="5" name="テキスト プレースホルダー 4"/>
          <p:cNvSpPr>
            <a:spLocks noGrp="1"/>
          </p:cNvSpPr>
          <p:nvPr>
            <p:ph type="body" sz="quarter" idx="11"/>
          </p:nvPr>
        </p:nvSpPr>
        <p:spPr/>
        <p:txBody>
          <a:bodyPr>
            <a:normAutofit/>
          </a:bodyPr>
          <a:lstStyle/>
          <a:p>
            <a:pPr>
              <a:lnSpc>
                <a:spcPct val="100000"/>
              </a:lnSpc>
              <a:spcBef>
                <a:spcPts val="0"/>
              </a:spcBef>
            </a:pPr>
            <a:r>
              <a:rPr kumimoji="1" lang="en-US" altLang="ja-JP" dirty="0"/>
              <a:t>1</a:t>
            </a:r>
            <a:endParaRPr kumimoji="1" lang="ja-JP" altLang="en-US" dirty="0"/>
          </a:p>
        </p:txBody>
      </p:sp>
      <p:sp>
        <p:nvSpPr>
          <p:cNvPr id="7"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3</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06421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調査対象・参加者</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grpSp>
        <p:nvGrpSpPr>
          <p:cNvPr id="5" name="グループ化 4">
            <a:extLst>
              <a:ext uri="{FF2B5EF4-FFF2-40B4-BE49-F238E27FC236}">
                <a16:creationId xmlns:a16="http://schemas.microsoft.com/office/drawing/2014/main" id="{2F2FDC2C-0CB4-48A8-BDED-B4D18A94BD20}"/>
              </a:ext>
            </a:extLst>
          </p:cNvPr>
          <p:cNvGrpSpPr/>
          <p:nvPr/>
        </p:nvGrpSpPr>
        <p:grpSpPr>
          <a:xfrm>
            <a:off x="360000" y="370800"/>
            <a:ext cx="720000" cy="672000"/>
            <a:chOff x="360000" y="370800"/>
            <a:chExt cx="720000" cy="672000"/>
          </a:xfrm>
        </p:grpSpPr>
        <p:sp>
          <p:nvSpPr>
            <p:cNvPr id="3" name="正方形/長方形 2"/>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4" name="テキスト ボックス 3"/>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1</a:t>
              </a:r>
            </a:p>
          </p:txBody>
        </p:sp>
      </p:grpSp>
      <p:sp>
        <p:nvSpPr>
          <p:cNvPr id="8"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4</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aphicFrame>
        <p:nvGraphicFramePr>
          <p:cNvPr id="10" name="コンテンツ プレースホルダー 2">
            <a:extLst>
              <a:ext uri="{FF2B5EF4-FFF2-40B4-BE49-F238E27FC236}">
                <a16:creationId xmlns:a16="http://schemas.microsoft.com/office/drawing/2014/main" id="{910B1373-0C6A-46C4-A857-8F7C4335A20D}"/>
              </a:ext>
            </a:extLst>
          </p:cNvPr>
          <p:cNvGraphicFramePr>
            <a:graphicFrameLocks/>
          </p:cNvGraphicFramePr>
          <p:nvPr>
            <p:extLst>
              <p:ext uri="{D42A27DB-BD31-4B8C-83A1-F6EECF244321}">
                <p14:modId xmlns:p14="http://schemas.microsoft.com/office/powerpoint/2010/main" val="3555456038"/>
              </p:ext>
            </p:extLst>
          </p:nvPr>
        </p:nvGraphicFramePr>
        <p:xfrm>
          <a:off x="426839" y="1334090"/>
          <a:ext cx="9034756" cy="4665952"/>
        </p:xfrm>
        <a:graphic>
          <a:graphicData uri="http://schemas.openxmlformats.org/drawingml/2006/table">
            <a:tbl>
              <a:tblPr>
                <a:tableStyleId>{5C22544A-7EE6-4342-B048-85BDC9FD1C3A}</a:tableStyleId>
              </a:tblPr>
              <a:tblGrid>
                <a:gridCol w="1162728">
                  <a:extLst>
                    <a:ext uri="{9D8B030D-6E8A-4147-A177-3AD203B41FA5}">
                      <a16:colId xmlns:a16="http://schemas.microsoft.com/office/drawing/2014/main" val="20000"/>
                    </a:ext>
                  </a:extLst>
                </a:gridCol>
                <a:gridCol w="227189">
                  <a:extLst>
                    <a:ext uri="{9D8B030D-6E8A-4147-A177-3AD203B41FA5}">
                      <a16:colId xmlns:a16="http://schemas.microsoft.com/office/drawing/2014/main" val="20001"/>
                    </a:ext>
                  </a:extLst>
                </a:gridCol>
                <a:gridCol w="2606961">
                  <a:extLst>
                    <a:ext uri="{9D8B030D-6E8A-4147-A177-3AD203B41FA5}">
                      <a16:colId xmlns:a16="http://schemas.microsoft.com/office/drawing/2014/main" val="2689442208"/>
                    </a:ext>
                  </a:extLst>
                </a:gridCol>
                <a:gridCol w="1440450">
                  <a:extLst>
                    <a:ext uri="{9D8B030D-6E8A-4147-A177-3AD203B41FA5}">
                      <a16:colId xmlns:a16="http://schemas.microsoft.com/office/drawing/2014/main" val="20003"/>
                    </a:ext>
                  </a:extLst>
                </a:gridCol>
                <a:gridCol w="2009218">
                  <a:extLst>
                    <a:ext uri="{9D8B030D-6E8A-4147-A177-3AD203B41FA5}">
                      <a16:colId xmlns:a16="http://schemas.microsoft.com/office/drawing/2014/main" val="20004"/>
                    </a:ext>
                  </a:extLst>
                </a:gridCol>
                <a:gridCol w="1189724">
                  <a:extLst>
                    <a:ext uri="{9D8B030D-6E8A-4147-A177-3AD203B41FA5}">
                      <a16:colId xmlns:a16="http://schemas.microsoft.com/office/drawing/2014/main" val="20005"/>
                    </a:ext>
                  </a:extLst>
                </a:gridCol>
                <a:gridCol w="398486">
                  <a:extLst>
                    <a:ext uri="{9D8B030D-6E8A-4147-A177-3AD203B41FA5}">
                      <a16:colId xmlns:a16="http://schemas.microsoft.com/office/drawing/2014/main" val="20006"/>
                    </a:ext>
                  </a:extLst>
                </a:gridCol>
              </a:tblGrid>
              <a:tr h="331431">
                <a:tc>
                  <a:txBody>
                    <a:bodyPr/>
                    <a:lstStyle/>
                    <a:p>
                      <a:pPr marL="85725" indent="0" algn="l" defTabSz="914400" rtl="0" eaLnBrk="1" fontAlgn="ctr" latinLnBrk="0" hangingPunct="1"/>
                      <a:r>
                        <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rPr>
                        <a:t>会社名</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DA"/>
                    </a:solidFill>
                  </a:tcPr>
                </a:tc>
                <a:tc gridSpan="2">
                  <a:txBody>
                    <a:bodyPr/>
                    <a:lstStyle/>
                    <a:p>
                      <a:pPr marL="85725" indent="0" algn="l" defTabSz="914400" rtl="0" eaLnBrk="1" fontAlgn="ctr" latinLnBrk="0" hangingPunct="1"/>
                      <a:r>
                        <a:rPr kumimoji="1" lang="ja-JP" altLang="en-US" sz="1400" dirty="0">
                          <a:solidFill>
                            <a:schemeClr val="tx1"/>
                          </a:solidFill>
                        </a:rPr>
                        <a:t>株式会社神戸製鋼所</a:t>
                      </a:r>
                      <a:endParaRPr kumimoji="1" lang="ja-JP" altLang="en-US" sz="1400" u="none" strike="noStrike" kern="1200" dirty="0">
                        <a:solidFill>
                          <a:schemeClr val="tx1"/>
                        </a:solidFill>
                        <a:effectLst/>
                        <a:highlight>
                          <a:srgbClr val="FFFF00"/>
                        </a:highlight>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調査対象拠点</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DA"/>
                    </a:solidFill>
                  </a:tcPr>
                </a:tc>
                <a:tc gridSpan="3">
                  <a:txBody>
                    <a:bodyPr/>
                    <a:lstStyle/>
                    <a:p>
                      <a:pPr marL="85725" marR="0" indent="0" algn="l" defTabSz="914400" rtl="0" eaLnBrk="1" fontAlgn="ctr" latinLnBrk="0" hangingPunct="1">
                        <a:lnSpc>
                          <a:spcPct val="100000"/>
                        </a:lnSpc>
                        <a:spcBef>
                          <a:spcPts val="0"/>
                        </a:spcBef>
                        <a:spcAft>
                          <a:spcPts val="0"/>
                        </a:spcAft>
                        <a:buClrTx/>
                        <a:buSzTx/>
                        <a:buFontTx/>
                        <a:buNone/>
                        <a:tabLst/>
                        <a:defRPr/>
                      </a:pP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大安製造所</a:t>
                      </a: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kumimoji="1" lang="ja-JP" altLang="en-US" sz="1400" u="none" strike="noStrike" kern="1200" dirty="0">
                        <a:solidFill>
                          <a:schemeClr val="dk1"/>
                        </a:solidFill>
                        <a:effectLst/>
                        <a:latin typeface="+mn-ea"/>
                        <a:ea typeface="+mn-ea"/>
                        <a:cs typeface="+mn-cs"/>
                      </a:endParaRPr>
                    </a:p>
                  </a:txBody>
                  <a:tcPr marL="0" marR="0" marT="0" marB="0" anchor="ctr">
                    <a:lnL w="9525" cap="flat" cmpd="sng" algn="ctr">
                      <a:solidFill>
                        <a:schemeClr val="tx1"/>
                      </a:solidFill>
                      <a:prstDash val="sysDash"/>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ysDash"/>
                      <a:round/>
                      <a:headEnd type="none" w="med" len="med"/>
                      <a:tailEnd type="none" w="med" len="med"/>
                    </a:lnB>
                    <a:solidFill>
                      <a:schemeClr val="bg1">
                        <a:lumMod val="65000"/>
                      </a:schemeClr>
                    </a:solidFill>
                  </a:tcPr>
                </a:tc>
                <a:tc hMerge="1">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kumimoji="1" lang="ja-JP" altLang="en-US" sz="1400" u="none" strike="noStrike" kern="1200" dirty="0">
                        <a:solidFill>
                          <a:schemeClr val="dk1"/>
                        </a:solidFill>
                        <a:effectLst/>
                        <a:latin typeface="+mn-ea"/>
                        <a:ea typeface="+mn-ea"/>
                        <a:cs typeface="+mn-cs"/>
                      </a:endParaRPr>
                    </a:p>
                  </a:txBody>
                  <a:tcPr marL="0" marR="0" marT="0" marB="0" anchor="ctr"/>
                </a:tc>
                <a:extLst>
                  <a:ext uri="{0D108BD9-81ED-4DB2-BD59-A6C34878D82A}">
                    <a16:rowId xmlns:a16="http://schemas.microsoft.com/office/drawing/2014/main" val="10000"/>
                  </a:ext>
                </a:extLst>
              </a:tr>
              <a:tr h="331431">
                <a:tc>
                  <a:txBody>
                    <a:bodyPr/>
                    <a:lstStyle/>
                    <a:p>
                      <a:pPr marL="85725" indent="0" algn="l" defTabSz="914400" rtl="0" eaLnBrk="1" fontAlgn="ctr" latinLnBrk="0" hangingPunct="1"/>
                      <a:r>
                        <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rPr>
                        <a:t>所在地</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DA"/>
                    </a:solidFill>
                  </a:tcPr>
                </a:tc>
                <a:tc gridSpan="6">
                  <a:txBody>
                    <a:bodyPr/>
                    <a:lstStyle/>
                    <a:p>
                      <a:pPr marL="85725" indent="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三重県いなべ市大安町梅戸</a:t>
                      </a:r>
                      <a:r>
                        <a:rPr kumimoji="1" lang="en-US" altLang="ja-JP"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1100</a:t>
                      </a: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番地</a:t>
                      </a:r>
                      <a:endParaRPr kumimoji="1" lang="zh-TW"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6350" cap="flat" cmpd="sng" algn="ctr">
                      <a:solidFill>
                        <a:schemeClr val="tx1"/>
                      </a:solidFill>
                      <a:prstDash val="solid"/>
                      <a:round/>
                      <a:headEnd type="none" w="med" len="med"/>
                      <a:tailEnd type="none" w="med" len="med"/>
                    </a:lnL>
                    <a:lnT w="9525" cap="flat" cmpd="sng" algn="ctr">
                      <a:solidFill>
                        <a:schemeClr val="tx1"/>
                      </a:solidFill>
                      <a:prstDash val="sysDash"/>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285935">
                <a:tc>
                  <a:txBody>
                    <a:bodyPr/>
                    <a:lstStyle/>
                    <a:p>
                      <a:pPr marL="85725" indent="0" algn="l" defTabSz="914400" rtl="0" eaLnBrk="1" fontAlgn="ctr" latinLnBrk="0" hangingPunct="1"/>
                      <a:r>
                        <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rPr>
                        <a:t>調査立会者</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solidFill>
                      <a:srgbClr val="C6DCDA"/>
                    </a:solidFill>
                  </a:tcPr>
                </a:tc>
                <a:tc gridSpan="4">
                  <a:txBody>
                    <a:bodyPr/>
                    <a:lstStyle/>
                    <a:p>
                      <a:pPr marL="85725" indent="0" algn="l" defTabSz="914400" rtl="0" eaLnBrk="1" fontAlgn="ctr" latinLnBrk="0" hangingPunct="1"/>
                      <a:r>
                        <a:rPr kumimoji="1" lang="ja-JP" altLang="en-US" sz="1400" dirty="0">
                          <a:solidFill>
                            <a:schemeClr val="tx1"/>
                          </a:solidFill>
                        </a:rPr>
                        <a:t>株式会社神戸製鋼所</a:t>
                      </a:r>
                      <a:endParaRPr kumimoji="1" lang="ja-JP" altLang="en-US" sz="1400" u="none" strike="noStrike" kern="1200" dirty="0">
                        <a:solidFill>
                          <a:schemeClr val="tx1"/>
                        </a:solidFill>
                        <a:effectLst/>
                        <a:highlight>
                          <a:srgbClr val="FFFF00"/>
                        </a:highlight>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chemeClr val="tx1"/>
                      </a:solidFill>
                      <a:prstDash val="solid"/>
                      <a:round/>
                      <a:headEnd type="none" w="med" len="med"/>
                      <a:tailEnd type="none" w="med" len="med"/>
                    </a:lnL>
                    <a:lnR w="12700" cmpd="sng">
                      <a:noFill/>
                    </a:lnR>
                    <a:lnT w="6350" cap="flat" cmpd="sng" algn="ctr">
                      <a:solidFill>
                        <a:schemeClr val="tx1"/>
                      </a:solidFill>
                      <a:prstDash val="solid"/>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12700" cmpd="sng">
                      <a:noFill/>
                    </a:ln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endPar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85935">
                <a:tc>
                  <a:txBody>
                    <a:bodyPr/>
                    <a:lstStyle/>
                    <a:p>
                      <a:pPr marL="85725" indent="0" algn="l" defTabSz="914400" rtl="0" eaLnBrk="1" fontAlgn="ctr" latinLnBrk="0" hangingPunct="1"/>
                      <a:endPar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solidFill>
                      <a:srgbClr val="C6DCDA"/>
                    </a:solidFil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chemeClr val="tx1"/>
                      </a:solidFill>
                      <a:prstDash val="solid"/>
                      <a:round/>
                      <a:headEnd type="none" w="med" len="med"/>
                      <a:tailEnd type="none" w="med" len="med"/>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gridSpan="3">
                  <a:txBody>
                    <a:bodyPr/>
                    <a:lstStyle/>
                    <a:p>
                      <a:pPr marL="85725" indent="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素形材事業部門　企画管理部　大安経理室長</a:t>
                      </a:r>
                    </a:p>
                  </a:txBody>
                  <a:tcPr marL="0" marR="0" marT="0" marB="0" anchor="ctr">
                    <a:lnL w="9525" cap="flat" cmpd="sng" algn="ctr">
                      <a:noFill/>
                      <a:prstDash val="sysDash"/>
                      <a:round/>
                      <a:headEnd type="none" w="med" len="med"/>
                      <a:tailEnd type="none" w="med" len="med"/>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lnL w="12700" cmpd="sng">
                      <a:noFill/>
                    </a:ln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渡邊　啓介</a:t>
                      </a:r>
                    </a:p>
                  </a:txBody>
                  <a:tcPr marL="0" marR="0" marT="0" marB="0" anchor="ctr">
                    <a:lnL w="12700" cmpd="sng">
                      <a:noFill/>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様</a:t>
                      </a:r>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85935">
                <a:tc>
                  <a:txBody>
                    <a:bodyPr/>
                    <a:lstStyle/>
                    <a:p>
                      <a:pPr marL="85725" indent="0" algn="l" defTabSz="914400" rtl="0" eaLnBrk="1" fontAlgn="ctr" latinLnBrk="0" hangingPunct="1"/>
                      <a:endPar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solidFill>
                      <a:srgbClr val="C6DCDA"/>
                    </a:solidFil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chemeClr val="tx1"/>
                      </a:solidFill>
                      <a:prstDash val="solid"/>
                      <a:round/>
                      <a:headEnd type="none" w="med" len="med"/>
                      <a:tailEnd type="none" w="med" len="med"/>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gridSpan="3">
                  <a:txBody>
                    <a:bodyPr/>
                    <a:lstStyle/>
                    <a:p>
                      <a:pPr marL="85725" indent="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大安経理室</a:t>
                      </a:r>
                    </a:p>
                  </a:txBody>
                  <a:tcPr marL="0" marR="0" marT="0" marB="0" anchor="ctr">
                    <a:lnL w="9525" cap="flat" cmpd="sng" algn="ctr">
                      <a:noFill/>
                      <a:prstDash val="sysDash"/>
                      <a:round/>
                      <a:headEnd type="none" w="med" len="med"/>
                      <a:tailEnd type="none" w="med" len="med"/>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lnL w="12700" cmpd="sng">
                      <a:noFill/>
                    </a:ln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中村　駿吾</a:t>
                      </a:r>
                    </a:p>
                  </a:txBody>
                  <a:tcPr marL="0" marR="0" marT="0" marB="0" anchor="ctr">
                    <a:lnL w="12700" cmpd="sng">
                      <a:noFill/>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様</a:t>
                      </a:r>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6371257"/>
                  </a:ext>
                </a:extLst>
              </a:tr>
              <a:tr h="285935">
                <a:tc>
                  <a:txBody>
                    <a:bodyPr/>
                    <a:lstStyle/>
                    <a:p>
                      <a:pPr marL="85725" indent="0" algn="l" defTabSz="914400" rtl="0" eaLnBrk="1" fontAlgn="ctr" latinLnBrk="0" hangingPunct="1"/>
                      <a:endPar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solidFill>
                      <a:srgbClr val="C6DCDA"/>
                    </a:solidFil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chemeClr val="tx1"/>
                      </a:solidFill>
                      <a:prstDash val="solid"/>
                      <a:round/>
                      <a:headEnd type="none" w="med" len="med"/>
                      <a:tailEnd type="none" w="med" len="med"/>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gridSpan="3">
                  <a:txBody>
                    <a:bodyPr/>
                    <a:lstStyle/>
                    <a:p>
                      <a:pPr marL="85725" indent="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大安経理室　　</a:t>
                      </a:r>
                    </a:p>
                  </a:txBody>
                  <a:tcPr marL="0" marR="0" marT="0" marB="0" anchor="ctr">
                    <a:lnL w="9525" cap="flat" cmpd="sng" algn="ctr">
                      <a:noFill/>
                      <a:prstDash val="sysDash"/>
                      <a:round/>
                      <a:headEnd type="none" w="med" len="med"/>
                      <a:tailEnd type="none" w="med" len="med"/>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早川　航生</a:t>
                      </a:r>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様</a:t>
                      </a:r>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6058686"/>
                  </a:ext>
                </a:extLst>
              </a:tr>
              <a:tr h="285935">
                <a:tc>
                  <a:txBody>
                    <a:bodyPr/>
                    <a:lstStyle/>
                    <a:p>
                      <a:pPr marL="85725" indent="0" algn="l" defTabSz="914400" rtl="0" eaLnBrk="1" fontAlgn="ctr" latinLnBrk="0" hangingPunct="1"/>
                      <a:endPar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solidFill>
                      <a:srgbClr val="C6DCDA"/>
                    </a:solidFil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chemeClr val="tx1"/>
                      </a:solidFill>
                      <a:prstDash val="solid"/>
                      <a:round/>
                      <a:headEnd type="none" w="med" len="med"/>
                      <a:tailEnd type="none" w="med" len="med"/>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gridSpan="3">
                  <a:txBody>
                    <a:bodyPr/>
                    <a:lstStyle/>
                    <a:p>
                      <a:pPr marL="85725" indent="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大安経理室　　　　　　　　　　　</a:t>
                      </a:r>
                    </a:p>
                  </a:txBody>
                  <a:tcPr marL="0" marR="0" marT="0" marB="0" anchor="ctr">
                    <a:lnL w="9525" cap="flat" cmpd="sng" algn="ctr">
                      <a:noFill/>
                      <a:prstDash val="sysDash"/>
                      <a:round/>
                      <a:headEnd type="none" w="med" len="med"/>
                      <a:tailEnd type="none" w="med" len="med"/>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木戸　昂志</a:t>
                      </a:r>
                    </a:p>
                  </a:txBody>
                  <a:tcPr marL="0" marR="0" marT="0" marB="0" anchor="ctr">
                    <a:lnL w="12700" cmpd="sng">
                      <a:noFill/>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様</a:t>
                      </a:r>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331465"/>
                  </a:ext>
                </a:extLst>
              </a:tr>
              <a:tr h="285935">
                <a:tc>
                  <a:txBody>
                    <a:bodyPr/>
                    <a:lstStyle/>
                    <a:p>
                      <a:pPr marL="85725" indent="0" algn="l" defTabSz="914400" rtl="0" eaLnBrk="1" fontAlgn="ctr" latinLnBrk="0" hangingPunct="1"/>
                      <a:endPar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solidFill>
                      <a:srgbClr val="C6DCDA"/>
                    </a:solidFil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chemeClr val="tx1"/>
                      </a:solidFill>
                      <a:prstDash val="solid"/>
                      <a:round/>
                      <a:headEnd type="none" w="med" len="med"/>
                      <a:tailEnd type="none" w="med" len="med"/>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gridSpan="3">
                  <a:txBody>
                    <a:bodyPr/>
                    <a:lstStyle/>
                    <a:p>
                      <a:pPr marL="85725" indent="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大安製造室　設備室　主任部員　　　　　　　　　　　　　　　</a:t>
                      </a:r>
                    </a:p>
                  </a:txBody>
                  <a:tcPr marL="0" marR="0" marT="0" marB="0" anchor="ctr">
                    <a:lnL w="9525" cap="flat" cmpd="sng" algn="ctr">
                      <a:noFill/>
                      <a:prstDash val="sysDash"/>
                      <a:round/>
                      <a:headEnd type="none" w="med" len="med"/>
                      <a:tailEnd type="none" w="med" len="med"/>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棚橋　正典</a:t>
                      </a:r>
                    </a:p>
                  </a:txBody>
                  <a:tcPr marL="0" marR="0" marT="0" marB="0" anchor="ctr">
                    <a:lnL w="12700" cmpd="sng">
                      <a:noFill/>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様</a:t>
                      </a:r>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1814646"/>
                  </a:ext>
                </a:extLst>
              </a:tr>
              <a:tr h="285935">
                <a:tc>
                  <a:txBody>
                    <a:bodyPr/>
                    <a:lstStyle/>
                    <a:p>
                      <a:pPr marL="85725" indent="0" algn="l" defTabSz="914400" rtl="0" eaLnBrk="1" fontAlgn="ctr" latinLnBrk="0" hangingPunct="1"/>
                      <a:endPar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solidFill>
                      <a:srgbClr val="C6DCDA"/>
                    </a:solidFil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chemeClr val="tx1"/>
                      </a:solidFill>
                      <a:prstDash val="solid"/>
                      <a:round/>
                      <a:headEnd type="none" w="med" len="med"/>
                      <a:tailEnd type="none" w="med" len="med"/>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gridSpan="3">
                  <a:txBody>
                    <a:bodyPr/>
                    <a:lstStyle/>
                    <a:p>
                      <a:pPr marL="85725" indent="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大安製造所　総務部　安全環境室</a:t>
                      </a:r>
                    </a:p>
                  </a:txBody>
                  <a:tcPr marL="0" marR="0" marT="0" marB="0" anchor="ctr">
                    <a:lnL w="9525" cap="flat" cmpd="sng" algn="ctr">
                      <a:noFill/>
                      <a:prstDash val="sysDash"/>
                      <a:round/>
                      <a:headEnd type="none" w="med" len="med"/>
                      <a:tailEnd type="none" w="med" len="med"/>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東元　正洋</a:t>
                      </a:r>
                    </a:p>
                  </a:txBody>
                  <a:tcPr marL="0" marR="0" marT="0" marB="0" anchor="ctr">
                    <a:lnL w="12700" cmpd="sng">
                      <a:noFill/>
                    </a:lnL>
                    <a:lnR w="12700" cmpd="sng">
                      <a:noFill/>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9617994"/>
                  </a:ext>
                </a:extLst>
              </a:tr>
              <a:tr h="285935">
                <a:tc>
                  <a:txBody>
                    <a:bodyPr/>
                    <a:lstStyle/>
                    <a:p>
                      <a:pPr marL="85725" indent="0" algn="l" defTabSz="914400" rtl="0" eaLnBrk="1" fontAlgn="ctr" latinLnBrk="0" hangingPunct="1"/>
                      <a:endPar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C6DCDA"/>
                    </a:solidFil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chemeClr val="tx1"/>
                      </a:solidFill>
                      <a:prstDash val="solid"/>
                      <a:round/>
                      <a:headEnd type="none" w="med" len="med"/>
                      <a:tailEnd type="none" w="med" len="med"/>
                    </a:lnL>
                    <a:lnR w="12700" cmpd="sng">
                      <a:noFill/>
                    </a:lnR>
                    <a:lnT w="9525" cap="flat" cmpd="sng" algn="ctr">
                      <a:noFill/>
                      <a:prstDash val="sysDash"/>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85725" indent="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財務経理部　資金決済グループ　係長　　　　　　　　　　　　</a:t>
                      </a:r>
                    </a:p>
                  </a:txBody>
                  <a:tcPr marL="0" marR="0" marT="0" marB="0" anchor="ctr">
                    <a:lnL w="9525" cap="flat" cmpd="sng" algn="ctr">
                      <a:noFill/>
                      <a:prstDash val="sysDash"/>
                      <a:round/>
                      <a:headEnd type="none" w="med" len="med"/>
                      <a:tailEnd type="none" w="med" len="med"/>
                    </a:lnL>
                    <a:lnR w="12700" cmpd="sng">
                      <a:noFill/>
                    </a:lnR>
                    <a:lnT w="9525" cap="flat" cmpd="sng" algn="ctr">
                      <a:noFill/>
                      <a:prstDash val="sysDash"/>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lnL w="12700" cmpd="sng">
                      <a:noFill/>
                    </a:ln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加藤　龍一</a:t>
                      </a:r>
                    </a:p>
                  </a:txBody>
                  <a:tcPr marL="0" marR="0" marT="0" marB="0" anchor="ctr">
                    <a:lnL w="12700" cmpd="sng">
                      <a:noFill/>
                    </a:lnL>
                    <a:lnR w="12700" cmpd="sng">
                      <a:noFill/>
                    </a:lnR>
                    <a:lnT w="9525" cap="flat" cmpd="sng" algn="ctr">
                      <a:noFill/>
                      <a:prstDash val="sysDash"/>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様</a:t>
                      </a:r>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ap="flat" cmpd="sng" algn="ctr">
                      <a:solidFill>
                        <a:schemeClr val="tx1"/>
                      </a:solidFill>
                      <a:prstDash val="solid"/>
                      <a:round/>
                      <a:headEnd type="none" w="med" len="med"/>
                      <a:tailEnd type="none" w="med" len="med"/>
                    </a:lnR>
                    <a:lnT w="9525" cap="flat" cmpd="sng" algn="ctr">
                      <a:noFill/>
                      <a:prstDash val="sysDash"/>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6355429"/>
                  </a:ext>
                </a:extLst>
              </a:tr>
              <a:tr h="285935">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rPr>
                        <a:t>  保険代理店</a:t>
                      </a:r>
                    </a:p>
                    <a:p>
                      <a:pPr marL="0" algn="l" defTabSz="914400" rtl="0" eaLnBrk="1" fontAlgn="ctr" latinLnBrk="0" hangingPunct="1"/>
                      <a:endPar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C6DCDA"/>
                    </a:solidFill>
                  </a:tcPr>
                </a:tc>
                <a:tc gridSpan="4">
                  <a:txBody>
                    <a:bodyPr/>
                    <a:lstStyle/>
                    <a:p>
                      <a:pPr marL="85725" indent="0" algn="l" defTabSz="914400" rtl="0" eaLnBrk="1" fontAlgn="ctr" latinLnBrk="0" hangingPunct="1"/>
                      <a:r>
                        <a:rPr kumimoji="1" lang="en-US" altLang="ja-JP"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TC</a:t>
                      </a: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神鋼不動産株式会社</a:t>
                      </a:r>
                    </a:p>
                  </a:txBody>
                  <a:tcPr marL="0" marR="0" marT="0" marB="0" anchor="ctr">
                    <a:lnL w="6350" cap="flat" cmpd="sng" algn="ctr">
                      <a:solidFill>
                        <a:schemeClr val="tx1"/>
                      </a:solidFill>
                      <a:prstDash val="solid"/>
                      <a:round/>
                      <a:headEnd type="none" w="med" len="med"/>
                      <a:tailEnd type="none" w="med" len="med"/>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9525" cap="flat" cmpd="sng" algn="ctr">
                      <a:noFill/>
                      <a:prstDash val="sysDash"/>
                      <a:round/>
                      <a:headEnd type="none" w="med" len="med"/>
                      <a:tailEnd type="none" w="med" len="med"/>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a:t>
                      </a: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4534753"/>
                  </a:ext>
                </a:extLst>
              </a:tr>
              <a:tr h="285935">
                <a:tc vMerge="1">
                  <a:txBody>
                    <a:bodyPr/>
                    <a:lstStyle/>
                    <a:p>
                      <a:pPr marL="0" algn="l" defTabSz="914400" rtl="0" eaLnBrk="1" fontAlgn="ctr" latinLnBrk="0" hangingPunct="1"/>
                      <a:endPar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DA"/>
                    </a:solidFill>
                  </a:tcPr>
                </a:tc>
                <a:tc>
                  <a:txBody>
                    <a:bodyPr/>
                    <a:lstStyle/>
                    <a:p>
                      <a:pPr marL="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a:t>
                      </a:r>
                    </a:p>
                  </a:txBody>
                  <a:tcPr marL="0" marR="0" marT="0" marB="0" anchor="ctr">
                    <a:lnL w="6350" cap="flat" cmpd="sng" algn="ctr">
                      <a:solidFill>
                        <a:schemeClr val="tx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85725" indent="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法人保険部　法人第一グループ  課長</a:t>
                      </a:r>
                    </a:p>
                  </a:txBody>
                  <a:tcPr marL="0" marR="0" marT="0" marB="0" anchor="ctr">
                    <a:lnL w="9525" cap="flat" cmpd="sng" algn="ctr">
                      <a:noFill/>
                      <a:prstDash val="sysDash"/>
                      <a:round/>
                      <a:headEnd type="none" w="med" len="med"/>
                      <a:tailEnd type="none" w="med" len="med"/>
                    </a:lnL>
                    <a:lnR w="12700" cmpd="sng">
                      <a:noFill/>
                    </a:lnR>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kumimoji="1" lang="ja-JP" altLang="en-US" sz="1400" u="none" strike="noStrike" kern="1200" dirty="0">
                        <a:solidFill>
                          <a:srgbClr val="FF0000"/>
                        </a:solidFill>
                        <a:effectLst/>
                        <a:latin typeface="Meiryo UI" panose="020B0604030504040204" pitchFamily="50" charset="-128"/>
                        <a:ea typeface="Meiryo UI" panose="020B0604030504040204" pitchFamily="50" charset="-128"/>
                        <a:cs typeface="+mn-cs"/>
                      </a:endParaRPr>
                    </a:p>
                  </a:txBody>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小野　優</a:t>
                      </a:r>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様　</a:t>
                      </a: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6193860"/>
                  </a:ext>
                </a:extLst>
              </a:tr>
              <a:tr h="285935">
                <a:tc>
                  <a:txBody>
                    <a:bodyPr/>
                    <a:lstStyle/>
                    <a:p>
                      <a:pPr marL="85725" indent="0" algn="l" defTabSz="914400" rtl="0" eaLnBrk="1" fontAlgn="ctr" latinLnBrk="0" hangingPunct="1"/>
                      <a:r>
                        <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rPr>
                        <a:t>保険会社</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6DCDA"/>
                    </a:solidFill>
                  </a:tcPr>
                </a:tc>
                <a:tc gridSpan="4">
                  <a:txBody>
                    <a:bodyPr/>
                    <a:lstStyle/>
                    <a:p>
                      <a:pPr marL="85725" marR="0" lvl="0" indent="0" algn="l" defTabSz="914400" rtl="0" eaLnBrk="1" fontAlgn="ctr" latinLnBrk="0" hangingPunct="1">
                        <a:lnSpc>
                          <a:spcPct val="100000"/>
                        </a:lnSpc>
                        <a:spcBef>
                          <a:spcPts val="0"/>
                        </a:spcBef>
                        <a:spcAft>
                          <a:spcPts val="0"/>
                        </a:spcAft>
                        <a:buClrTx/>
                        <a:buSzTx/>
                        <a:buFontTx/>
                        <a:buNone/>
                        <a:tabLst/>
                        <a:defRPr/>
                      </a:pPr>
                      <a:r>
                        <a:rPr lang="ja-JP" altLang="en-US" sz="1400" dirty="0">
                          <a:solidFill>
                            <a:schemeClr val="tx1"/>
                          </a:solidFill>
                          <a:effectLst/>
                          <a:latin typeface="+mn-lt"/>
                          <a:ea typeface="+mn-ea"/>
                          <a:cs typeface="+mn-cs"/>
                        </a:rPr>
                        <a:t>あいおいニッセイ同和損害保険株式会社</a:t>
                      </a:r>
                      <a:endParaRPr kumimoji="1" lang="en-US" altLang="ja-JP" sz="1400" dirty="0">
                        <a:solidFill>
                          <a:schemeClr val="tx1"/>
                        </a:solidFill>
                      </a:endParaRPr>
                    </a:p>
                  </a:txBody>
                  <a:tcPr marL="0" marR="0" marT="0" marB="0" anchor="ctr">
                    <a:lnL w="6350" cap="flat" cmpd="sng" algn="ctr">
                      <a:solidFill>
                        <a:schemeClr val="tx1"/>
                      </a:solidFill>
                      <a:prstDash val="solid"/>
                      <a:round/>
                      <a:headEnd type="none" w="med" len="med"/>
                      <a:tailEnd type="none" w="med" len="med"/>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12700" cmpd="sng">
                      <a:noFill/>
                    </a:ln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mpd="sng">
                      <a:noFill/>
                    </a:lnR>
                    <a:lnT w="1270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089958"/>
                  </a:ext>
                </a:extLst>
              </a:tr>
              <a:tr h="285935">
                <a:tc>
                  <a:txBody>
                    <a:bodyPr/>
                    <a:lstStyle/>
                    <a:p>
                      <a:pPr marL="85725" indent="0" algn="l" defTabSz="914400" rtl="0" eaLnBrk="1" fontAlgn="ctr" latinLnBrk="0" hangingPunct="1"/>
                      <a:endPar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DA"/>
                    </a:solidFil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635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85725" indent="0" algn="l" defTabSz="914400" rtl="0" eaLnBrk="1" fontAlgn="ctr" latinLnBrk="0" hangingPunct="1"/>
                      <a:r>
                        <a:rPr lang="ja-JP" altLang="en-US" sz="1400" u="none" dirty="0">
                          <a:solidFill>
                            <a:schemeClr val="tx1"/>
                          </a:solidFill>
                          <a:effectLst/>
                        </a:rPr>
                        <a:t>　</a:t>
                      </a:r>
                      <a:r>
                        <a:rPr lang="ja-JP" altLang="en-US" sz="1400" u="none" dirty="0">
                          <a:solidFill>
                            <a:schemeClr val="tx1"/>
                          </a:solidFill>
                          <a:effectLst/>
                          <a:latin typeface="游ゴシック" panose="020B0400000000000000" pitchFamily="50" charset="-128"/>
                          <a:ea typeface="游ゴシック" panose="020B0400000000000000" pitchFamily="50" charset="-128"/>
                        </a:rPr>
                        <a:t>東京企業営業第一部　営業第二課　担当課長</a:t>
                      </a:r>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a:noFill/>
                    </a:lnL>
                    <a:lnB w="635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hMerge="1">
                  <a:txBody>
                    <a:bodyPr/>
                    <a:lstStyle/>
                    <a:p>
                      <a:endParaRPr kumimoji="1" lang="ja-JP" altLang="en-US"/>
                    </a:p>
                  </a:txBody>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ja-JP" altLang="en-US" sz="1400" kern="1200" dirty="0">
                          <a:solidFill>
                            <a:schemeClr val="tx1"/>
                          </a:solidFill>
                          <a:effectLst/>
                          <a:latin typeface="+mn-lt"/>
                          <a:ea typeface="+mn-ea"/>
                          <a:cs typeface="+mn-cs"/>
                        </a:rPr>
                        <a:t>土岐　一平　</a:t>
                      </a:r>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R w="12700" cmpd="sng">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784970"/>
                  </a:ext>
                </a:extLst>
              </a:tr>
              <a:tr h="285935">
                <a:tc>
                  <a:txBody>
                    <a:bodyPr/>
                    <a:lstStyle/>
                    <a:p>
                      <a:pPr marL="85725" indent="0" algn="l" defTabSz="914400" rtl="0" eaLnBrk="1" fontAlgn="ctr" latinLnBrk="0" hangingPunct="1"/>
                      <a:r>
                        <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rPr>
                        <a:t>調査担当者</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6DCDA"/>
                    </a:solidFill>
                  </a:tcPr>
                </a:tc>
                <a:tc gridSpan="4">
                  <a:txBody>
                    <a:bodyPr/>
                    <a:lstStyle/>
                    <a:p>
                      <a:pPr marL="85725" indent="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ＭＳ＆ＡＤインターリスク総研株式会社　リスクマネジメント第一部</a:t>
                      </a:r>
                    </a:p>
                  </a:txBody>
                  <a:tcPr marL="0" marR="0" marT="0" marB="0" anchor="ctr">
                    <a:lnL w="6350" cap="flat" cmpd="sng" algn="ctr">
                      <a:solidFill>
                        <a:schemeClr val="tx1"/>
                      </a:solidFill>
                      <a:prstDash val="solid"/>
                      <a:round/>
                      <a:headEnd type="none" w="med" len="med"/>
                      <a:tailEnd type="none" w="med" len="med"/>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12700" cmpd="sng">
                      <a:noFill/>
                    </a:lnL>
                  </a:tcPr>
                </a:tc>
                <a:tc>
                  <a:txBody>
                    <a:bodyPr/>
                    <a:lstStyle/>
                    <a:p>
                      <a:pPr marL="0" algn="l" defTabSz="914400" rtl="0" eaLnBrk="1" fontAlgn="ctr" latinLnBrk="0" hangingPunct="1"/>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a:t>
                      </a:r>
                    </a:p>
                  </a:txBody>
                  <a:tcPr marL="0" marR="0" marT="0" marB="0" anchor="ctr">
                    <a:lnL w="12700" cmpd="sng">
                      <a:noFill/>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8"/>
                  </a:ext>
                </a:extLst>
              </a:tr>
              <a:tr h="285935">
                <a:tc>
                  <a:txBody>
                    <a:bodyPr/>
                    <a:lstStyle/>
                    <a:p>
                      <a:pPr marL="0" algn="l" defTabSz="914400" rtl="0" eaLnBrk="1" fontAlgn="ctr" latinLnBrk="0" hangingPunct="1"/>
                      <a:r>
                        <a:rPr kumimoji="1" lang="ja-JP" altLang="en-US" sz="1400" u="none" strike="noStrike" kern="1200" dirty="0">
                          <a:solidFill>
                            <a:schemeClr val="dk1"/>
                          </a:solidFill>
                          <a:effectLst/>
                          <a:latin typeface="游ゴシック" panose="020B0400000000000000" pitchFamily="50" charset="-128"/>
                          <a:ea typeface="游ゴシック" panose="020B0400000000000000" pitchFamily="50" charset="-128"/>
                          <a:cs typeface="+mn-cs"/>
                        </a:rPr>
                        <a:t>　</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DA"/>
                    </a:solidFill>
                  </a:tcPr>
                </a:tc>
                <a:tc>
                  <a:txBody>
                    <a:bodyPr/>
                    <a:lstStyle/>
                    <a:p>
                      <a:pPr marL="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85725" indent="0" algn="l" defTabSz="914400" rtl="0" eaLnBrk="1" fontAlgn="ctr" latinLnBrk="0" hangingPunct="1"/>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リスクエンジニアリング第二グループ</a:t>
                      </a: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kumimoji="1" lang="ja-JP" altLang="en-US" sz="1400" u="none" strike="noStrike" kern="1200" dirty="0">
                        <a:solidFill>
                          <a:srgbClr val="FF0000"/>
                        </a:solidFill>
                        <a:effectLst/>
                        <a:latin typeface="Meiryo UI" panose="020B0604030504040204" pitchFamily="50" charset="-128"/>
                        <a:ea typeface="Meiryo UI" panose="020B0604030504040204" pitchFamily="50" charset="-128"/>
                        <a:cs typeface="+mn-cs"/>
                      </a:endParaRPr>
                    </a:p>
                  </a:txBody>
                  <a:tcPr>
                    <a:lnL w="12700" cmpd="sng">
                      <a:noFill/>
                    </a:ln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ja-JP" altLang="en-US" sz="1400" u="none" strike="noStrike" kern="1200" baseline="0" dirty="0">
                          <a:solidFill>
                            <a:schemeClr val="tx1"/>
                          </a:solidFill>
                          <a:effectLst/>
                          <a:latin typeface="游ゴシック" panose="020B0400000000000000" pitchFamily="50" charset="-128"/>
                          <a:ea typeface="游ゴシック" panose="020B0400000000000000" pitchFamily="50" charset="-128"/>
                          <a:cs typeface="+mn-cs"/>
                        </a:rPr>
                        <a:t>伊藤　竜平</a:t>
                      </a:r>
                      <a:endPar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0" marR="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ctr" latinLnBrk="0" hangingPunct="1"/>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a:t>
                      </a:r>
                    </a:p>
                  </a:txBody>
                  <a:tcPr marL="0" marR="0"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2605788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調査結果（概要）</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8"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5</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aphicFrame>
        <p:nvGraphicFramePr>
          <p:cNvPr id="12" name="表 11">
            <a:extLst>
              <a:ext uri="{FF2B5EF4-FFF2-40B4-BE49-F238E27FC236}">
                <a16:creationId xmlns:a16="http://schemas.microsoft.com/office/drawing/2014/main" id="{1AE5005B-537C-46A8-A7E8-CC0FB85E5F37}"/>
              </a:ext>
            </a:extLst>
          </p:cNvPr>
          <p:cNvGraphicFramePr>
            <a:graphicFrameLocks noGrp="1"/>
          </p:cNvGraphicFramePr>
          <p:nvPr>
            <p:extLst>
              <p:ext uri="{D42A27DB-BD31-4B8C-83A1-F6EECF244321}">
                <p14:modId xmlns:p14="http://schemas.microsoft.com/office/powerpoint/2010/main" val="523823472"/>
              </p:ext>
            </p:extLst>
          </p:nvPr>
        </p:nvGraphicFramePr>
        <p:xfrm>
          <a:off x="297509" y="1602397"/>
          <a:ext cx="9231502" cy="3548023"/>
        </p:xfrm>
        <a:graphic>
          <a:graphicData uri="http://schemas.openxmlformats.org/drawingml/2006/table">
            <a:tbl>
              <a:tblPr firstRow="1" bandRow="1">
                <a:tableStyleId>{5940675A-B579-460E-94D1-54222C63F5DA}</a:tableStyleId>
              </a:tblPr>
              <a:tblGrid>
                <a:gridCol w="1265611">
                  <a:extLst>
                    <a:ext uri="{9D8B030D-6E8A-4147-A177-3AD203B41FA5}">
                      <a16:colId xmlns:a16="http://schemas.microsoft.com/office/drawing/2014/main" val="20000"/>
                    </a:ext>
                  </a:extLst>
                </a:gridCol>
                <a:gridCol w="7965891">
                  <a:extLst>
                    <a:ext uri="{9D8B030D-6E8A-4147-A177-3AD203B41FA5}">
                      <a16:colId xmlns:a16="http://schemas.microsoft.com/office/drawing/2014/main" val="20001"/>
                    </a:ext>
                  </a:extLst>
                </a:gridCol>
              </a:tblGrid>
              <a:tr h="211316">
                <a:tc>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91427" marR="91427" marT="45721" marB="4572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CE0DE"/>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dirty="0">
                          <a:solidFill>
                            <a:sysClr val="windowText" lastClr="000000"/>
                          </a:solidFill>
                          <a:latin typeface="游ゴシック" panose="020B0400000000000000" pitchFamily="50" charset="-128"/>
                          <a:ea typeface="游ゴシック" panose="020B0400000000000000" pitchFamily="50" charset="-128"/>
                          <a:cs typeface="メイリオ" panose="020B0604030504040204" pitchFamily="50" charset="-128"/>
                        </a:rPr>
                        <a:t>概要</a:t>
                      </a:r>
                      <a:endParaRPr kumimoji="1" lang="en-US" altLang="ja-JP" sz="1400" b="1" dirty="0">
                        <a:solidFill>
                          <a:sysClr val="windowText" lastClr="000000"/>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91425" marR="91425" marT="45746" marB="4574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CE0DE"/>
                    </a:solidFill>
                  </a:tcPr>
                </a:tc>
                <a:extLst>
                  <a:ext uri="{0D108BD9-81ED-4DB2-BD59-A6C34878D82A}">
                    <a16:rowId xmlns:a16="http://schemas.microsoft.com/office/drawing/2014/main" val="10000"/>
                  </a:ext>
                </a:extLst>
              </a:tr>
              <a:tr h="887376">
                <a:tc>
                  <a:txBody>
                    <a:bodyPr/>
                    <a:lstStyle/>
                    <a:p>
                      <a:pPr algn="ctr"/>
                      <a:r>
                        <a:rPr kumimoji="1" lang="ja-JP" altLang="en-US" sz="1400" b="1" dirty="0">
                          <a:solidFill>
                            <a:sysClr val="windowText" lastClr="000000"/>
                          </a:solidFill>
                          <a:latin typeface="游ゴシック" panose="020B0400000000000000" pitchFamily="50" charset="-128"/>
                          <a:ea typeface="游ゴシック" panose="020B0400000000000000" pitchFamily="50" charset="-128"/>
                          <a:cs typeface="メイリオ" panose="020B0604030504040204" pitchFamily="50" charset="-128"/>
                        </a:rPr>
                        <a:t>立地リスク</a:t>
                      </a:r>
                      <a:endParaRPr kumimoji="1" lang="en-US" altLang="ja-JP" sz="1400" b="1" dirty="0">
                        <a:solidFill>
                          <a:sysClr val="windowText" lastClr="000000"/>
                        </a:solidFill>
                        <a:latin typeface="游ゴシック" panose="020B0400000000000000" pitchFamily="50" charset="-128"/>
                        <a:ea typeface="游ゴシック" panose="020B0400000000000000" pitchFamily="50" charset="-128"/>
                        <a:cs typeface="メイリオ" panose="020B0604030504040204" pitchFamily="50" charset="-128"/>
                      </a:endParaRPr>
                    </a:p>
                    <a:p>
                      <a:pPr algn="ctr"/>
                      <a:r>
                        <a:rPr kumimoji="1" lang="ja-JP" altLang="en-US" sz="1400" b="1" dirty="0">
                          <a:solidFill>
                            <a:sysClr val="windowText" lastClr="000000"/>
                          </a:solidFill>
                          <a:latin typeface="游ゴシック" panose="020B0400000000000000" pitchFamily="50" charset="-128"/>
                          <a:ea typeface="游ゴシック" panose="020B0400000000000000" pitchFamily="50" charset="-128"/>
                          <a:cs typeface="メイリオ" panose="020B0604030504040204" pitchFamily="50" charset="-128"/>
                        </a:rPr>
                        <a:t>（ハザード）</a:t>
                      </a:r>
                    </a:p>
                  </a:txBody>
                  <a:tcPr marL="91427" marR="91427" marT="45721" marB="4572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CE0DE"/>
                    </a:solidFill>
                  </a:tcPr>
                </a:tc>
                <a:tc>
                  <a:txBody>
                    <a:bodyPr/>
                    <a:lstStyle/>
                    <a:p>
                      <a:pPr marL="47625" marR="0" lvl="0" indent="0" algn="l" rtl="0" fontAlgn="ctr">
                        <a:lnSpc>
                          <a:spcPct val="100000"/>
                        </a:lnSpc>
                        <a:spcBef>
                          <a:spcPts val="0"/>
                        </a:spcBef>
                        <a:spcAft>
                          <a:spcPts val="0"/>
                        </a:spcAft>
                      </a:pPr>
                      <a:r>
                        <a:rPr lang="ja-JP" altLang="en-US" sz="1400" u="none" strike="noStrike" cap="none" spc="0" dirty="0">
                          <a:solidFill>
                            <a:schemeClr val="tx1"/>
                          </a:solidFill>
                          <a:latin typeface="+mn-lt"/>
                        </a:rPr>
                        <a:t>対象拠点は大阪湾沿岸の埋立地に位置し、標高は約</a:t>
                      </a:r>
                      <a:r>
                        <a:rPr lang="en-US" altLang="ja-JP" sz="1400" u="none" strike="noStrike" cap="none" spc="0" dirty="0">
                          <a:solidFill>
                            <a:schemeClr val="tx1"/>
                          </a:solidFill>
                          <a:latin typeface="+mn-lt"/>
                        </a:rPr>
                        <a:t>2</a:t>
                      </a:r>
                      <a:r>
                        <a:rPr lang="ja-JP" altLang="en-US" sz="1400" u="none" strike="noStrike" cap="none" spc="0" dirty="0">
                          <a:solidFill>
                            <a:schemeClr val="tx1"/>
                          </a:solidFill>
                          <a:latin typeface="+mn-lt"/>
                        </a:rPr>
                        <a:t>～</a:t>
                      </a:r>
                      <a:r>
                        <a:rPr lang="en-US" altLang="ja-JP" sz="1400" u="none" strike="noStrike" cap="none" spc="0" dirty="0">
                          <a:solidFill>
                            <a:schemeClr val="tx1"/>
                          </a:solidFill>
                          <a:latin typeface="+mn-lt"/>
                        </a:rPr>
                        <a:t>5m</a:t>
                      </a:r>
                      <a:r>
                        <a:rPr lang="ja-JP" altLang="en-US" sz="1400" u="none" strike="noStrike" cap="none" spc="0" dirty="0">
                          <a:solidFill>
                            <a:schemeClr val="tx1"/>
                          </a:solidFill>
                          <a:latin typeface="+mn-lt"/>
                        </a:rPr>
                        <a:t>で周辺地域と大きな標高差はありません。</a:t>
                      </a:r>
                    </a:p>
                    <a:p>
                      <a:pPr marL="47625" marR="0" lvl="0" indent="0" algn="l" rtl="0" fontAlgn="ctr">
                        <a:lnSpc>
                          <a:spcPct val="100000"/>
                        </a:lnSpc>
                        <a:spcBef>
                          <a:spcPts val="0"/>
                        </a:spcBef>
                        <a:spcAft>
                          <a:spcPts val="0"/>
                        </a:spcAft>
                      </a:pPr>
                      <a:r>
                        <a:rPr lang="ja-JP" altLang="en-US" sz="1400" u="none" strike="noStrike" cap="none" spc="0" dirty="0">
                          <a:solidFill>
                            <a:schemeClr val="tx1"/>
                          </a:solidFill>
                          <a:latin typeface="+mn-lt"/>
                        </a:rPr>
                        <a:t>敷地北側には石屋川が約</a:t>
                      </a:r>
                      <a:r>
                        <a:rPr lang="en-US" altLang="ja-JP" sz="1400" u="none" strike="noStrike" cap="none" spc="0" dirty="0">
                          <a:solidFill>
                            <a:schemeClr val="tx1"/>
                          </a:solidFill>
                          <a:latin typeface="+mn-lt"/>
                        </a:rPr>
                        <a:t>0.3km</a:t>
                      </a:r>
                      <a:r>
                        <a:rPr lang="ja-JP" altLang="en-US" sz="1400" u="none" strike="noStrike" cap="none" spc="0" dirty="0">
                          <a:solidFill>
                            <a:schemeClr val="tx1"/>
                          </a:solidFill>
                          <a:latin typeface="+mn-lt"/>
                        </a:rPr>
                        <a:t>の距離に位置し、南側は海に隣接しているため</a:t>
                      </a:r>
                    </a:p>
                    <a:p>
                      <a:pPr marL="47625" marR="0" lvl="0" indent="0" algn="l" rtl="0" fontAlgn="ctr">
                        <a:lnSpc>
                          <a:spcPct val="100000"/>
                        </a:lnSpc>
                        <a:spcBef>
                          <a:spcPts val="0"/>
                        </a:spcBef>
                        <a:spcAft>
                          <a:spcPts val="0"/>
                        </a:spcAft>
                      </a:pPr>
                      <a:r>
                        <a:rPr lang="ja-JP" altLang="en-US" sz="1400" u="none" strike="noStrike" cap="none" spc="0" dirty="0">
                          <a:solidFill>
                            <a:schemeClr val="tx1"/>
                          </a:solidFill>
                          <a:latin typeface="+mn-lt"/>
                        </a:rPr>
                        <a:t>石屋川の氾濫による想定浸水深は、計画規模では浸水が想定されていないものの、想定最大規模で</a:t>
                      </a:r>
                      <a:r>
                        <a:rPr lang="en-US" altLang="ja-JP" sz="1400" u="none" strike="noStrike" cap="none" spc="0" dirty="0">
                          <a:solidFill>
                            <a:schemeClr val="tx1"/>
                          </a:solidFill>
                          <a:latin typeface="+mn-lt"/>
                        </a:rPr>
                        <a:t>0.5m</a:t>
                      </a:r>
                      <a:r>
                        <a:rPr lang="ja-JP" altLang="en-US" sz="1400" u="none" strike="noStrike" cap="none" spc="0" dirty="0">
                          <a:solidFill>
                            <a:schemeClr val="tx1"/>
                          </a:solidFill>
                          <a:latin typeface="+mn-lt"/>
                        </a:rPr>
                        <a:t>以上</a:t>
                      </a:r>
                      <a:r>
                        <a:rPr lang="en-US" altLang="ja-JP" sz="1400" u="none" strike="noStrike" cap="none" spc="0" dirty="0">
                          <a:solidFill>
                            <a:schemeClr val="tx1"/>
                          </a:solidFill>
                          <a:latin typeface="+mn-lt"/>
                        </a:rPr>
                        <a:t>3.0m</a:t>
                      </a:r>
                      <a:r>
                        <a:rPr lang="ja-JP" altLang="en-US" sz="1400" u="none" strike="noStrike" cap="none" spc="0" dirty="0">
                          <a:solidFill>
                            <a:schemeClr val="tx1"/>
                          </a:solidFill>
                          <a:latin typeface="+mn-lt"/>
                        </a:rPr>
                        <a:t>未満が想定されています。また高潮によって</a:t>
                      </a:r>
                      <a:r>
                        <a:rPr lang="en-US" altLang="ja-JP" sz="1400" u="none" strike="noStrike" cap="none" spc="0" dirty="0">
                          <a:solidFill>
                            <a:schemeClr val="tx1"/>
                          </a:solidFill>
                          <a:latin typeface="+mn-lt"/>
                        </a:rPr>
                        <a:t>1.0</a:t>
                      </a:r>
                      <a:r>
                        <a:rPr lang="ja-JP" altLang="en-US" sz="1400" u="none" strike="noStrike" cap="none" spc="0" dirty="0">
                          <a:solidFill>
                            <a:schemeClr val="tx1"/>
                          </a:solidFill>
                          <a:latin typeface="+mn-lt"/>
                        </a:rPr>
                        <a:t>ｍ以上</a:t>
                      </a:r>
                      <a:r>
                        <a:rPr lang="en-US" altLang="ja-JP" sz="1400" u="none" strike="noStrike" cap="none" spc="0" dirty="0">
                          <a:solidFill>
                            <a:schemeClr val="tx1"/>
                          </a:solidFill>
                          <a:latin typeface="+mn-lt"/>
                        </a:rPr>
                        <a:t>3.0m</a:t>
                      </a:r>
                      <a:r>
                        <a:rPr lang="ja-JP" altLang="en-US" sz="1400" u="none" strike="noStrike" cap="none" spc="0" dirty="0">
                          <a:solidFill>
                            <a:schemeClr val="tx1"/>
                          </a:solidFill>
                          <a:latin typeface="+mn-lt"/>
                        </a:rPr>
                        <a:t>未満の浸水程度が想定されています。内水はん濫による浸水想定区域図及び、土砂災害警戒区域等には該当していません。</a:t>
                      </a:r>
                    </a:p>
                    <a:p>
                      <a:pPr marL="47625" marR="0" lvl="0" indent="0" algn="l" rtl="0" fontAlgn="ctr">
                        <a:lnSpc>
                          <a:spcPct val="100000"/>
                        </a:lnSpc>
                        <a:spcBef>
                          <a:spcPts val="0"/>
                        </a:spcBef>
                        <a:spcAft>
                          <a:spcPts val="0"/>
                        </a:spcAft>
                      </a:pPr>
                      <a:r>
                        <a:rPr lang="en-US" altLang="ja-JP" sz="1400" u="none" strike="noStrike" cap="none" spc="0" dirty="0">
                          <a:solidFill>
                            <a:schemeClr val="tx1"/>
                          </a:solidFill>
                          <a:latin typeface="+mn-lt"/>
                        </a:rPr>
                        <a:t>2018</a:t>
                      </a:r>
                      <a:r>
                        <a:rPr lang="ja-JP" altLang="en-US" sz="1400" u="none" strike="noStrike" cap="none" spc="0" dirty="0">
                          <a:solidFill>
                            <a:schemeClr val="tx1"/>
                          </a:solidFill>
                          <a:latin typeface="+mn-lt"/>
                        </a:rPr>
                        <a:t>年</a:t>
                      </a:r>
                      <a:r>
                        <a:rPr lang="en-US" altLang="ja-JP" sz="1400" u="none" strike="noStrike" cap="none" spc="0" dirty="0">
                          <a:solidFill>
                            <a:schemeClr val="tx1"/>
                          </a:solidFill>
                          <a:latin typeface="+mn-lt"/>
                        </a:rPr>
                        <a:t>7</a:t>
                      </a:r>
                      <a:r>
                        <a:rPr lang="ja-JP" altLang="en-US" sz="1400" u="none" strike="noStrike" cap="none" spc="0" dirty="0">
                          <a:solidFill>
                            <a:schemeClr val="tx1"/>
                          </a:solidFill>
                          <a:latin typeface="+mn-lt"/>
                        </a:rPr>
                        <a:t>月西日本豪雨および同年の台風</a:t>
                      </a:r>
                      <a:r>
                        <a:rPr lang="en-US" altLang="ja-JP" sz="1400" u="none" strike="noStrike" cap="none" spc="0" dirty="0">
                          <a:solidFill>
                            <a:schemeClr val="tx1"/>
                          </a:solidFill>
                          <a:latin typeface="+mn-lt"/>
                        </a:rPr>
                        <a:t>20</a:t>
                      </a:r>
                      <a:r>
                        <a:rPr lang="ja-JP" altLang="en-US" sz="1400" u="none" strike="noStrike" cap="none" spc="0" dirty="0">
                          <a:solidFill>
                            <a:schemeClr val="tx1"/>
                          </a:solidFill>
                          <a:latin typeface="+mn-lt"/>
                        </a:rPr>
                        <a:t>号・</a:t>
                      </a:r>
                      <a:r>
                        <a:rPr lang="en-US" altLang="ja-JP" sz="1400" u="none" strike="noStrike" cap="none" spc="0" dirty="0">
                          <a:solidFill>
                            <a:schemeClr val="tx1"/>
                          </a:solidFill>
                          <a:latin typeface="+mn-lt"/>
                        </a:rPr>
                        <a:t>21</a:t>
                      </a:r>
                      <a:r>
                        <a:rPr lang="ja-JP" altLang="en-US" sz="1400" u="none" strike="noStrike" cap="none" spc="0" dirty="0">
                          <a:solidFill>
                            <a:schemeClr val="tx1"/>
                          </a:solidFill>
                          <a:latin typeface="+mn-lt"/>
                        </a:rPr>
                        <a:t>号では、豪雨・高潮・高波により</a:t>
                      </a:r>
                      <a:r>
                        <a:rPr lang="en-US" altLang="ja-JP" sz="1400" u="none" strike="noStrike" cap="none" spc="0" dirty="0">
                          <a:solidFill>
                            <a:schemeClr val="tx1"/>
                          </a:solidFill>
                          <a:latin typeface="+mn-lt"/>
                        </a:rPr>
                        <a:t>7</a:t>
                      </a:r>
                      <a:r>
                        <a:rPr lang="ja-JP" altLang="en-US" sz="1400" u="none" strike="noStrike" cap="none" spc="0" dirty="0">
                          <a:solidFill>
                            <a:schemeClr val="tx1"/>
                          </a:solidFill>
                          <a:latin typeface="+mn-lt"/>
                        </a:rPr>
                        <a:t>線材・第</a:t>
                      </a:r>
                      <a:r>
                        <a:rPr lang="en-US" altLang="ja-JP" sz="1400" u="none" strike="noStrike" cap="none" spc="0" dirty="0">
                          <a:solidFill>
                            <a:schemeClr val="tx1"/>
                          </a:solidFill>
                          <a:latin typeface="+mn-lt"/>
                        </a:rPr>
                        <a:t>3</a:t>
                      </a:r>
                      <a:r>
                        <a:rPr lang="ja-JP" altLang="en-US" sz="1400" u="none" strike="noStrike" cap="none" spc="0" dirty="0">
                          <a:solidFill>
                            <a:schemeClr val="tx1"/>
                          </a:solidFill>
                          <a:latin typeface="+mn-lt"/>
                        </a:rPr>
                        <a:t>加工工場が浸水し、生産停止に加え物流費や機会損失を含め約</a:t>
                      </a:r>
                      <a:r>
                        <a:rPr lang="en-US" altLang="ja-JP" sz="1400" u="none" strike="noStrike" cap="none" spc="0" dirty="0">
                          <a:solidFill>
                            <a:schemeClr val="tx1"/>
                          </a:solidFill>
                          <a:latin typeface="+mn-lt"/>
                        </a:rPr>
                        <a:t>25.3</a:t>
                      </a:r>
                      <a:r>
                        <a:rPr lang="ja-JP" altLang="en-US" sz="1400" u="none" strike="noStrike" cap="none" spc="0" dirty="0">
                          <a:solidFill>
                            <a:schemeClr val="tx1"/>
                          </a:solidFill>
                          <a:latin typeface="+mn-lt"/>
                        </a:rPr>
                        <a:t>億円の被害が生じています。</a:t>
                      </a:r>
                    </a:p>
                  </a:txBody>
                  <a:tcPr marL="47625"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49651">
                <a:tc>
                  <a:txBody>
                    <a:bodyPr/>
                    <a:lstStyle/>
                    <a:p>
                      <a:pPr algn="ctr"/>
                      <a:r>
                        <a:rPr kumimoji="1" lang="ja-JP" altLang="en-US" sz="1400" b="1" dirty="0">
                          <a:solidFill>
                            <a:sysClr val="windowText" lastClr="000000"/>
                          </a:solidFill>
                          <a:latin typeface="游ゴシック" panose="020B0400000000000000" pitchFamily="50" charset="-128"/>
                          <a:ea typeface="游ゴシック" panose="020B0400000000000000" pitchFamily="50" charset="-128"/>
                          <a:cs typeface="メイリオ" panose="020B0604030504040204" pitchFamily="50" charset="-128"/>
                        </a:rPr>
                        <a:t>施設リスク</a:t>
                      </a:r>
                      <a:endParaRPr kumimoji="1" lang="en-US" altLang="ja-JP" sz="1400" b="1" dirty="0">
                        <a:solidFill>
                          <a:sysClr val="windowText" lastClr="000000"/>
                        </a:solidFill>
                        <a:latin typeface="游ゴシック" panose="020B0400000000000000" pitchFamily="50" charset="-128"/>
                        <a:ea typeface="游ゴシック" panose="020B0400000000000000" pitchFamily="50" charset="-128"/>
                        <a:cs typeface="メイリオ" panose="020B0604030504040204" pitchFamily="50" charset="-128"/>
                      </a:endParaRPr>
                    </a:p>
                    <a:p>
                      <a:pPr algn="ctr"/>
                      <a:r>
                        <a:rPr kumimoji="1" lang="ja-JP" altLang="en-US" sz="1400" b="1" dirty="0">
                          <a:solidFill>
                            <a:sysClr val="windowText" lastClr="000000"/>
                          </a:solidFill>
                          <a:latin typeface="游ゴシック" panose="020B0400000000000000" pitchFamily="50" charset="-128"/>
                          <a:ea typeface="游ゴシック" panose="020B0400000000000000" pitchFamily="50" charset="-128"/>
                          <a:cs typeface="メイリオ" panose="020B0604030504040204" pitchFamily="50" charset="-128"/>
                        </a:rPr>
                        <a:t>（防災対策）</a:t>
                      </a:r>
                    </a:p>
                  </a:txBody>
                  <a:tcPr marL="91427" marR="91427" marT="45721" marB="45721"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CE0DE"/>
                    </a:solidFill>
                  </a:tcPr>
                </a:tc>
                <a:tc>
                  <a:txBody>
                    <a:bodyPr/>
                    <a:lstStyle/>
                    <a:p>
                      <a:pPr marL="47625" marR="0" lvl="0" indent="0" algn="l" defTabSz="914400" rtl="0" eaLnBrk="1" fontAlgn="ctr" latinLnBrk="0" hangingPunct="1">
                        <a:lnSpc>
                          <a:spcPct val="100000"/>
                        </a:lnSpc>
                        <a:spcBef>
                          <a:spcPts val="0"/>
                        </a:spcBef>
                        <a:spcAft>
                          <a:spcPts val="0"/>
                        </a:spcAft>
                        <a:buClrTx/>
                        <a:buSzTx/>
                        <a:buFontTx/>
                        <a:buNone/>
                        <a:tabLst/>
                        <a:defRPr/>
                      </a:pPr>
                      <a:r>
                        <a:rPr lang="ja-JP" altLang="en-US" sz="1400" b="0" kern="1200" dirty="0">
                          <a:solidFill>
                            <a:schemeClr val="tx1"/>
                          </a:solidFill>
                          <a:latin typeface="+mj-ea"/>
                          <a:ea typeface="+mn-ea"/>
                          <a:cs typeface="+mn-cs"/>
                        </a:rPr>
                        <a:t>対象拠点では北側防潮壁（</a:t>
                      </a:r>
                      <a:r>
                        <a:rPr lang="en-US" altLang="ja-JP" sz="1400" b="0" kern="1200" dirty="0">
                          <a:solidFill>
                            <a:schemeClr val="tx1"/>
                          </a:solidFill>
                          <a:latin typeface="+mj-ea"/>
                          <a:ea typeface="+mn-ea"/>
                          <a:cs typeface="+mn-cs"/>
                        </a:rPr>
                        <a:t>G.L.+1.2m</a:t>
                      </a:r>
                      <a:r>
                        <a:rPr lang="ja-JP" altLang="en-US" sz="1400" b="0" kern="1200" dirty="0">
                          <a:solidFill>
                            <a:schemeClr val="tx1"/>
                          </a:solidFill>
                          <a:latin typeface="+mj-ea"/>
                          <a:ea typeface="+mn-ea"/>
                          <a:cs typeface="+mn-cs"/>
                        </a:rPr>
                        <a:t>）、正門の跳ね上げ式防潮堤、海側岸壁の嵩上げ（</a:t>
                      </a:r>
                      <a:r>
                        <a:rPr lang="en-US" altLang="ja-JP" sz="1400" b="0" kern="1200" dirty="0">
                          <a:solidFill>
                            <a:schemeClr val="tx1"/>
                          </a:solidFill>
                          <a:latin typeface="+mj-ea"/>
                          <a:ea typeface="+mn-ea"/>
                          <a:cs typeface="+mn-cs"/>
                        </a:rPr>
                        <a:t>G.L.+4.1</a:t>
                      </a:r>
                      <a:r>
                        <a:rPr lang="ja-JP" altLang="en-US" sz="1400" b="0" kern="1200" dirty="0">
                          <a:solidFill>
                            <a:schemeClr val="tx1"/>
                          </a:solidFill>
                          <a:latin typeface="+mj-ea"/>
                          <a:ea typeface="+mn-ea"/>
                          <a:cs typeface="+mn-cs"/>
                        </a:rPr>
                        <a:t>～</a:t>
                      </a:r>
                      <a:r>
                        <a:rPr lang="en-US" altLang="ja-JP" sz="1400" b="0" kern="1200" dirty="0">
                          <a:solidFill>
                            <a:schemeClr val="tx1"/>
                          </a:solidFill>
                          <a:latin typeface="+mj-ea"/>
                          <a:ea typeface="+mn-ea"/>
                          <a:cs typeface="+mn-cs"/>
                        </a:rPr>
                        <a:t>4.2m</a:t>
                      </a:r>
                      <a:r>
                        <a:rPr lang="ja-JP" altLang="en-US" sz="1400" b="0" kern="1200" dirty="0">
                          <a:solidFill>
                            <a:schemeClr val="tx1"/>
                          </a:solidFill>
                          <a:latin typeface="+mj-ea"/>
                          <a:ea typeface="+mn-ea"/>
                          <a:cs typeface="+mn-cs"/>
                        </a:rPr>
                        <a:t>）に加え、</a:t>
                      </a:r>
                      <a:r>
                        <a:rPr lang="en-US" altLang="ja-JP" sz="1400" b="0" kern="1200" dirty="0">
                          <a:solidFill>
                            <a:schemeClr val="tx1"/>
                          </a:solidFill>
                          <a:latin typeface="+mj-ea"/>
                          <a:ea typeface="+mn-ea"/>
                          <a:cs typeface="+mn-cs"/>
                        </a:rPr>
                        <a:t>2019</a:t>
                      </a:r>
                      <a:r>
                        <a:rPr lang="ja-JP" altLang="en-US" sz="1400" b="0" kern="1200" dirty="0">
                          <a:solidFill>
                            <a:schemeClr val="tx1"/>
                          </a:solidFill>
                          <a:latin typeface="+mj-ea"/>
                          <a:ea typeface="+mn-ea"/>
                          <a:cs typeface="+mn-cs"/>
                        </a:rPr>
                        <a:t>年には水処理・送水・強制排水設備の強化も完了しており、ハード面では浸水対策・排水対策が一定程度講じられています。</a:t>
                      </a:r>
                    </a:p>
                    <a:p>
                      <a:pPr marL="47625" marR="0" lvl="0" indent="0" algn="l" defTabSz="914400" rtl="0" eaLnBrk="1" fontAlgn="ctr" latinLnBrk="0" hangingPunct="1">
                        <a:lnSpc>
                          <a:spcPct val="100000"/>
                        </a:lnSpc>
                        <a:spcBef>
                          <a:spcPts val="0"/>
                        </a:spcBef>
                        <a:spcAft>
                          <a:spcPts val="0"/>
                        </a:spcAft>
                        <a:buClrTx/>
                        <a:buSzTx/>
                        <a:buFontTx/>
                        <a:buNone/>
                        <a:tabLst/>
                        <a:defRPr/>
                      </a:pPr>
                      <a:r>
                        <a:rPr lang="ja-JP" altLang="en-US" sz="1400" b="0" kern="1200" dirty="0">
                          <a:solidFill>
                            <a:schemeClr val="tx1"/>
                          </a:solidFill>
                          <a:latin typeface="+mj-ea"/>
                          <a:ea typeface="+mn-ea"/>
                          <a:cs typeface="+mn-cs"/>
                        </a:rPr>
                        <a:t>一方で、事業所全体の想定浸水深が未設定で、対策が各工場に任せられており、対策水準にばらつきが生じるおそれがあります。今後は、想定浸水深を設定した上で、敷地境界部や建屋開口部の止水対策を整理し、優先順位を付けて進めることをお勧めします。</a:t>
                      </a:r>
                    </a:p>
                    <a:p>
                      <a:pPr marL="47625" marR="0" lvl="0" indent="0" algn="l" defTabSz="914400" rtl="0" eaLnBrk="1" fontAlgn="ctr" latinLnBrk="0" hangingPunct="1">
                        <a:lnSpc>
                          <a:spcPct val="100000"/>
                        </a:lnSpc>
                        <a:spcBef>
                          <a:spcPts val="0"/>
                        </a:spcBef>
                        <a:spcAft>
                          <a:spcPts val="0"/>
                        </a:spcAft>
                        <a:buClrTx/>
                        <a:buSzTx/>
                        <a:buFontTx/>
                        <a:buNone/>
                        <a:tabLst/>
                        <a:defRPr/>
                      </a:pPr>
                      <a:r>
                        <a:rPr lang="ja-JP" altLang="en-US" sz="1400" b="0" kern="1200" dirty="0">
                          <a:solidFill>
                            <a:schemeClr val="tx1"/>
                          </a:solidFill>
                          <a:latin typeface="+mj-ea"/>
                          <a:ea typeface="+mn-ea"/>
                          <a:cs typeface="+mn-cs"/>
                        </a:rPr>
                        <a:t>また、台風接近時の従業員安全確保は実施されていますが、台風を想定した</a:t>
                      </a:r>
                      <a:r>
                        <a:rPr lang="en-US" altLang="ja-JP" sz="1400" b="0" kern="1200" dirty="0">
                          <a:solidFill>
                            <a:schemeClr val="tx1"/>
                          </a:solidFill>
                          <a:latin typeface="+mj-ea"/>
                          <a:ea typeface="+mn-ea"/>
                          <a:cs typeface="+mn-cs"/>
                        </a:rPr>
                        <a:t>BCP</a:t>
                      </a:r>
                      <a:r>
                        <a:rPr lang="ja-JP" altLang="en-US" sz="1400" b="0" kern="1200" dirty="0">
                          <a:solidFill>
                            <a:schemeClr val="tx1"/>
                          </a:solidFill>
                          <a:latin typeface="+mj-ea"/>
                          <a:ea typeface="+mn-ea"/>
                          <a:cs typeface="+mn-cs"/>
                        </a:rPr>
                        <a:t>は未策定であるため、初動対応や復旧手順を含めた</a:t>
                      </a:r>
                      <a:r>
                        <a:rPr lang="en-US" altLang="ja-JP" sz="1400" b="0" kern="1200" dirty="0">
                          <a:solidFill>
                            <a:schemeClr val="tx1"/>
                          </a:solidFill>
                          <a:latin typeface="+mj-ea"/>
                          <a:ea typeface="+mn-ea"/>
                          <a:cs typeface="+mn-cs"/>
                        </a:rPr>
                        <a:t>BCP</a:t>
                      </a:r>
                      <a:r>
                        <a:rPr lang="ja-JP" altLang="en-US" sz="1400" b="0" kern="1200" dirty="0">
                          <a:solidFill>
                            <a:schemeClr val="tx1"/>
                          </a:solidFill>
                          <a:latin typeface="+mj-ea"/>
                          <a:ea typeface="+mn-ea"/>
                          <a:cs typeface="+mn-cs"/>
                        </a:rPr>
                        <a:t>を整備し、事業継続体制を強化することをお勧めします。</a:t>
                      </a:r>
                      <a:endParaRPr lang="en-US" altLang="ja-JP" sz="1400" b="0" kern="1200" dirty="0">
                        <a:solidFill>
                          <a:schemeClr val="tx1"/>
                        </a:solidFill>
                        <a:latin typeface="+mj-ea"/>
                        <a:ea typeface="+mn-ea"/>
                        <a:cs typeface="+mn-cs"/>
                      </a:endParaRPr>
                    </a:p>
                  </a:txBody>
                  <a:tcPr marL="47625"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15" name="グループ化 14">
            <a:extLst>
              <a:ext uri="{FF2B5EF4-FFF2-40B4-BE49-F238E27FC236}">
                <a16:creationId xmlns:a16="http://schemas.microsoft.com/office/drawing/2014/main" id="{79258F1F-FE5F-43E9-A69A-F428EC57A88B}"/>
              </a:ext>
            </a:extLst>
          </p:cNvPr>
          <p:cNvGrpSpPr/>
          <p:nvPr/>
        </p:nvGrpSpPr>
        <p:grpSpPr>
          <a:xfrm>
            <a:off x="360000" y="370800"/>
            <a:ext cx="720000" cy="672000"/>
            <a:chOff x="360000" y="370800"/>
            <a:chExt cx="720000" cy="672000"/>
          </a:xfrm>
        </p:grpSpPr>
        <p:sp>
          <p:nvSpPr>
            <p:cNvPr id="16" name="正方形/長方形 15">
              <a:extLst>
                <a:ext uri="{FF2B5EF4-FFF2-40B4-BE49-F238E27FC236}">
                  <a16:creationId xmlns:a16="http://schemas.microsoft.com/office/drawing/2014/main" id="{6731BC43-8B9B-438A-96B1-7221A2967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7" name="テキスト ボックス 16">
              <a:extLst>
                <a:ext uri="{FF2B5EF4-FFF2-40B4-BE49-F238E27FC236}">
                  <a16:creationId xmlns:a16="http://schemas.microsoft.com/office/drawing/2014/main" id="{6250B51A-7368-45B6-B9FF-E337050399BD}"/>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1</a:t>
              </a:r>
            </a:p>
          </p:txBody>
        </p:sp>
      </p:grpSp>
    </p:spTree>
    <p:extLst>
      <p:ext uri="{BB962C8B-B14F-4D97-AF65-F5344CB8AC3E}">
        <p14:creationId xmlns:p14="http://schemas.microsoft.com/office/powerpoint/2010/main" val="2971946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a:extLst>
              <a:ext uri="{FF2B5EF4-FFF2-40B4-BE49-F238E27FC236}">
                <a16:creationId xmlns:a16="http://schemas.microsoft.com/office/drawing/2014/main" id="{F395A07F-ACB1-475C-9128-ADB845697350}"/>
              </a:ext>
            </a:extLst>
          </p:cNvPr>
          <p:cNvGrpSpPr/>
          <p:nvPr/>
        </p:nvGrpSpPr>
        <p:grpSpPr>
          <a:xfrm>
            <a:off x="360000" y="370800"/>
            <a:ext cx="720000" cy="672000"/>
            <a:chOff x="360000" y="370800"/>
            <a:chExt cx="720000" cy="672000"/>
          </a:xfrm>
        </p:grpSpPr>
        <p:sp>
          <p:nvSpPr>
            <p:cNvPr id="4" name="正方形/長方形 3">
              <a:extLst>
                <a:ext uri="{FF2B5EF4-FFF2-40B4-BE49-F238E27FC236}">
                  <a16:creationId xmlns:a16="http://schemas.microsoft.com/office/drawing/2014/main" id="{D6C5DF0A-1ABC-4068-AAF3-2B6B614ED1FC}"/>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5" name="テキスト ボックス 4">
              <a:extLst>
                <a:ext uri="{FF2B5EF4-FFF2-40B4-BE49-F238E27FC236}">
                  <a16:creationId xmlns:a16="http://schemas.microsoft.com/office/drawing/2014/main" id="{4A50A7F8-020D-45BB-8A57-ADD813BBF514}"/>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1</a:t>
              </a:r>
            </a:p>
          </p:txBody>
        </p:sp>
      </p:grpSp>
      <p:sp>
        <p:nvSpPr>
          <p:cNvPr id="6" name="テキスト ボックス 5">
            <a:extLst>
              <a:ext uri="{FF2B5EF4-FFF2-40B4-BE49-F238E27FC236}">
                <a16:creationId xmlns:a16="http://schemas.microsoft.com/office/drawing/2014/main" id="{C4C3D445-F370-4871-9138-7863097C4635}"/>
              </a:ext>
            </a:extLst>
          </p:cNvPr>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調査結果（被害想定）</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grpSp>
        <p:nvGrpSpPr>
          <p:cNvPr id="13" name="グループ化 12">
            <a:extLst>
              <a:ext uri="{FF2B5EF4-FFF2-40B4-BE49-F238E27FC236}">
                <a16:creationId xmlns:a16="http://schemas.microsoft.com/office/drawing/2014/main" id="{C6A259DE-7176-42BD-AB70-CDEABDF0BE84}"/>
              </a:ext>
            </a:extLst>
          </p:cNvPr>
          <p:cNvGrpSpPr/>
          <p:nvPr/>
        </p:nvGrpSpPr>
        <p:grpSpPr>
          <a:xfrm>
            <a:off x="356076" y="1336870"/>
            <a:ext cx="9174290" cy="1010915"/>
            <a:chOff x="356076" y="1336870"/>
            <a:chExt cx="9174290" cy="1010915"/>
          </a:xfrm>
        </p:grpSpPr>
        <p:sp>
          <p:nvSpPr>
            <p:cNvPr id="14" name="AutoShape 34">
              <a:extLst>
                <a:ext uri="{FF2B5EF4-FFF2-40B4-BE49-F238E27FC236}">
                  <a16:creationId xmlns:a16="http://schemas.microsoft.com/office/drawing/2014/main" id="{BE266923-83F2-4DB6-B8FA-49E3C35AE970}"/>
                </a:ext>
              </a:extLst>
            </p:cNvPr>
            <p:cNvSpPr>
              <a:spLocks noChangeArrowheads="1"/>
            </p:cNvSpPr>
            <p:nvPr/>
          </p:nvSpPr>
          <p:spPr bwMode="auto">
            <a:xfrm>
              <a:off x="484555" y="1500571"/>
              <a:ext cx="9045811" cy="847214"/>
            </a:xfrm>
            <a:prstGeom prst="roundRect">
              <a:avLst>
                <a:gd name="adj" fmla="val 10602"/>
              </a:avLst>
            </a:prstGeom>
            <a:noFill/>
            <a:ln w="19050">
              <a:solidFill>
                <a:srgbClr val="006C60"/>
              </a:solidFill>
              <a:round/>
              <a:headEnd/>
              <a:tailEnd/>
            </a:ln>
            <a:effectLst/>
          </p:spPr>
          <p:txBody>
            <a:bodyPr wrap="none" anchor="ctr"/>
            <a:lstStyle/>
            <a:p>
              <a:pPr defTabSz="457200" fontAlgn="auto">
                <a:spcBef>
                  <a:spcPts val="0"/>
                </a:spcBef>
                <a:spcAft>
                  <a:spcPts val="0"/>
                </a:spcAft>
                <a:defRPr/>
              </a:pPr>
              <a:endParaRPr kumimoji="0" lang="ja-JP" altLang="ja-JP" sz="1600" kern="0">
                <a:solidFill>
                  <a:srgbClr val="000000"/>
                </a:solidFill>
                <a:effectLst>
                  <a:outerShdw blurRad="38100" dist="38100" dir="2700000" algn="tl">
                    <a:srgbClr val="FFFFFF"/>
                  </a:outerShdw>
                </a:effectLst>
                <a:latin typeface="游ゴシック" panose="020B0400000000000000" pitchFamily="50" charset="-128"/>
                <a:ea typeface="游ゴシック" panose="020B0400000000000000" pitchFamily="50" charset="-128"/>
              </a:endParaRPr>
            </a:p>
          </p:txBody>
        </p:sp>
        <p:sp>
          <p:nvSpPr>
            <p:cNvPr id="15" name="Text Box 22">
              <a:extLst>
                <a:ext uri="{FF2B5EF4-FFF2-40B4-BE49-F238E27FC236}">
                  <a16:creationId xmlns:a16="http://schemas.microsoft.com/office/drawing/2014/main" id="{2B5E931F-7871-4E34-905A-237C01859BD3}"/>
                </a:ext>
              </a:extLst>
            </p:cNvPr>
            <p:cNvSpPr txBox="1">
              <a:spLocks noChangeArrowheads="1"/>
            </p:cNvSpPr>
            <p:nvPr/>
          </p:nvSpPr>
          <p:spPr bwMode="auto">
            <a:xfrm>
              <a:off x="504717" y="1726535"/>
              <a:ext cx="902564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182563" indent="-182563" eaLnBrk="0" hangingPunct="0">
                <a:spcBef>
                  <a:spcPct val="20000"/>
                </a:spcBef>
                <a:buClr>
                  <a:srgbClr val="008000"/>
                </a:buClr>
                <a:buSzPct val="90000"/>
                <a:buFont typeface="Wingdings" pitchFamily="2" charset="2"/>
                <a:buChar char="u"/>
                <a:defRPr kumimoji="1" sz="2400">
                  <a:solidFill>
                    <a:schemeClr val="tx1"/>
                  </a:solidFill>
                  <a:latin typeface="HGPｺﾞｼｯｸE" pitchFamily="50" charset="-128"/>
                  <a:ea typeface="HGPｺﾞｼｯｸE" pitchFamily="50" charset="-128"/>
                </a:defRPr>
              </a:lvl1pPr>
              <a:lvl2pPr marL="742950" indent="-285750" eaLnBrk="0" hangingPunct="0">
                <a:spcBef>
                  <a:spcPct val="20000"/>
                </a:spcBef>
                <a:buChar char="–"/>
                <a:defRPr kumimoji="1" sz="2000">
                  <a:solidFill>
                    <a:schemeClr val="tx1"/>
                  </a:solidFill>
                  <a:latin typeface="HGPｺﾞｼｯｸE" pitchFamily="50" charset="-128"/>
                  <a:ea typeface="HGPｺﾞｼｯｸE" pitchFamily="50" charset="-128"/>
                </a:defRPr>
              </a:lvl2pPr>
              <a:lvl3pPr marL="1143000" indent="-228600" eaLnBrk="0" hangingPunct="0">
                <a:spcBef>
                  <a:spcPct val="20000"/>
                </a:spcBef>
                <a:buChar char="•"/>
                <a:defRPr kumimoji="1">
                  <a:solidFill>
                    <a:schemeClr val="tx1"/>
                  </a:solidFill>
                  <a:latin typeface="HGPｺﾞｼｯｸE" pitchFamily="50" charset="-128"/>
                  <a:ea typeface="HGPｺﾞｼｯｸE" pitchFamily="50" charset="-128"/>
                </a:defRPr>
              </a:lvl3pPr>
              <a:lvl4pPr marL="1600200" indent="-228600" eaLnBrk="0" hangingPunct="0">
                <a:spcBef>
                  <a:spcPct val="20000"/>
                </a:spcBef>
                <a:buChar char="–"/>
                <a:defRPr kumimoji="1" sz="1600">
                  <a:solidFill>
                    <a:schemeClr val="tx1"/>
                  </a:solidFill>
                  <a:latin typeface="HGPｺﾞｼｯｸE" pitchFamily="50" charset="-128"/>
                  <a:ea typeface="HGPｺﾞｼｯｸE" pitchFamily="50" charset="-128"/>
                </a:defRPr>
              </a:lvl4pPr>
              <a:lvl5pPr marL="2057400" indent="-228600" eaLnBrk="0" hangingPunct="0">
                <a:spcBef>
                  <a:spcPct val="20000"/>
                </a:spcBef>
                <a:buChar char="»"/>
                <a:defRPr kumimoji="1" sz="1400">
                  <a:solidFill>
                    <a:schemeClr val="tx1"/>
                  </a:solidFill>
                  <a:latin typeface="HGPｺﾞｼｯｸE" pitchFamily="50" charset="-128"/>
                  <a:ea typeface="HGPｺﾞｼｯｸE" pitchFamily="50" charset="-128"/>
                </a:defRPr>
              </a:lvl5pPr>
              <a:lvl6pPr marL="2514600" indent="-228600" eaLnBrk="0" fontAlgn="base" hangingPunct="0">
                <a:spcBef>
                  <a:spcPct val="20000"/>
                </a:spcBef>
                <a:spcAft>
                  <a:spcPct val="0"/>
                </a:spcAft>
                <a:buChar char="»"/>
                <a:defRPr kumimoji="1" sz="1400">
                  <a:solidFill>
                    <a:schemeClr val="tx1"/>
                  </a:solidFill>
                  <a:latin typeface="HGPｺﾞｼｯｸE" pitchFamily="50" charset="-128"/>
                  <a:ea typeface="HGPｺﾞｼｯｸE" pitchFamily="50" charset="-128"/>
                </a:defRPr>
              </a:lvl6pPr>
              <a:lvl7pPr marL="2971800" indent="-228600" eaLnBrk="0" fontAlgn="base" hangingPunct="0">
                <a:spcBef>
                  <a:spcPct val="20000"/>
                </a:spcBef>
                <a:spcAft>
                  <a:spcPct val="0"/>
                </a:spcAft>
                <a:buChar char="»"/>
                <a:defRPr kumimoji="1" sz="1400">
                  <a:solidFill>
                    <a:schemeClr val="tx1"/>
                  </a:solidFill>
                  <a:latin typeface="HGPｺﾞｼｯｸE" pitchFamily="50" charset="-128"/>
                  <a:ea typeface="HGPｺﾞｼｯｸE" pitchFamily="50" charset="-128"/>
                </a:defRPr>
              </a:lvl7pPr>
              <a:lvl8pPr marL="3429000" indent="-228600" eaLnBrk="0" fontAlgn="base" hangingPunct="0">
                <a:spcBef>
                  <a:spcPct val="20000"/>
                </a:spcBef>
                <a:spcAft>
                  <a:spcPct val="0"/>
                </a:spcAft>
                <a:buChar char="»"/>
                <a:defRPr kumimoji="1" sz="1400">
                  <a:solidFill>
                    <a:schemeClr val="tx1"/>
                  </a:solidFill>
                  <a:latin typeface="HGPｺﾞｼｯｸE" pitchFamily="50" charset="-128"/>
                  <a:ea typeface="HGPｺﾞｼｯｸE" pitchFamily="50" charset="-128"/>
                </a:defRPr>
              </a:lvl8pPr>
              <a:lvl9pPr marL="3886200" indent="-228600" eaLnBrk="0" fontAlgn="base" hangingPunct="0">
                <a:spcBef>
                  <a:spcPct val="20000"/>
                </a:spcBef>
                <a:spcAft>
                  <a:spcPct val="0"/>
                </a:spcAft>
                <a:buChar char="»"/>
                <a:defRPr kumimoji="1" sz="1400">
                  <a:solidFill>
                    <a:schemeClr val="tx1"/>
                  </a:solidFill>
                  <a:latin typeface="HGPｺﾞｼｯｸE" pitchFamily="50" charset="-128"/>
                  <a:ea typeface="HGPｺﾞｼｯｸE" pitchFamily="50" charset="-128"/>
                </a:defRPr>
              </a:lvl9pPr>
            </a:lstStyle>
            <a:p>
              <a:pPr defTabSz="457200" eaLnBrk="1" fontAlgn="auto" hangingPunct="1">
                <a:spcBef>
                  <a:spcPct val="0"/>
                </a:spcBef>
                <a:spcAft>
                  <a:spcPts val="1200"/>
                </a:spcAft>
                <a:buClrTx/>
                <a:buSzTx/>
                <a:buFont typeface="Arial" panose="020B0604020202020204" pitchFamily="34" charset="0"/>
                <a:buChar char="•"/>
                <a:defRPr/>
              </a:pPr>
              <a:r>
                <a:rPr lang="ja-JP" altLang="en-US" sz="1400" kern="0" dirty="0">
                  <a:latin typeface="游ゴシック" panose="020B0400000000000000" pitchFamily="50" charset="-128"/>
                  <a:ea typeface="游ゴシック" panose="020B0400000000000000" pitchFamily="50" charset="-128"/>
                </a:rPr>
                <a:t>浸水想定区域図・ハザードマップ等で想定される浸水深が実際に発生した場合を前提とし、想定される浸水被害範囲を推定し、水災被害想定額を算出しました。</a:t>
              </a:r>
            </a:p>
          </p:txBody>
        </p:sp>
        <p:sp>
          <p:nvSpPr>
            <p:cNvPr id="16" name="AutoShape 32">
              <a:extLst>
                <a:ext uri="{FF2B5EF4-FFF2-40B4-BE49-F238E27FC236}">
                  <a16:creationId xmlns:a16="http://schemas.microsoft.com/office/drawing/2014/main" id="{224DD642-8D6F-4349-B8CD-3025EA4181C8}"/>
                </a:ext>
              </a:extLst>
            </p:cNvPr>
            <p:cNvSpPr>
              <a:spLocks noChangeArrowheads="1"/>
            </p:cNvSpPr>
            <p:nvPr/>
          </p:nvSpPr>
          <p:spPr bwMode="auto">
            <a:xfrm>
              <a:off x="356076" y="1336870"/>
              <a:ext cx="1012821" cy="335037"/>
            </a:xfrm>
            <a:prstGeom prst="roundRect">
              <a:avLst>
                <a:gd name="adj" fmla="val 16667"/>
              </a:avLst>
            </a:prstGeom>
            <a:solidFill>
              <a:srgbClr val="006C60"/>
            </a:solidFill>
            <a:ln w="19050">
              <a:solidFill>
                <a:srgbClr val="006C60"/>
              </a:solidFill>
              <a:round/>
              <a:headEnd/>
              <a:tailEnd/>
            </a:ln>
            <a:effectLst/>
          </p:spPr>
          <p:txBody>
            <a:bodyPr wrap="none" anchor="ctr"/>
            <a:lstStyle/>
            <a:p>
              <a:pPr algn="ctr" defTabSz="457200" fontAlgn="auto">
                <a:spcBef>
                  <a:spcPts val="0"/>
                </a:spcBef>
                <a:spcAft>
                  <a:spcPts val="0"/>
                </a:spcAft>
                <a:defRPr/>
              </a:pPr>
              <a:r>
                <a:rPr kumimoji="0" lang="ja-JP" altLang="en-US" sz="1600" b="1" kern="0" dirty="0">
                  <a:solidFill>
                    <a:prstClr val="white"/>
                  </a:solidFill>
                  <a:latin typeface="游ゴシック" panose="020B0400000000000000" pitchFamily="50" charset="-128"/>
                  <a:ea typeface="游ゴシック" panose="020B0400000000000000" pitchFamily="50" charset="-128"/>
                </a:rPr>
                <a:t>算出条件</a:t>
              </a:r>
            </a:p>
          </p:txBody>
        </p:sp>
      </p:grpSp>
      <p:graphicFrame>
        <p:nvGraphicFramePr>
          <p:cNvPr id="18" name="表 17">
            <a:extLst>
              <a:ext uri="{FF2B5EF4-FFF2-40B4-BE49-F238E27FC236}">
                <a16:creationId xmlns:a16="http://schemas.microsoft.com/office/drawing/2014/main" id="{D4602DA8-0A3D-47A5-80C6-415AF70C14B8}"/>
              </a:ext>
            </a:extLst>
          </p:cNvPr>
          <p:cNvGraphicFramePr>
            <a:graphicFrameLocks noGrp="1"/>
          </p:cNvGraphicFramePr>
          <p:nvPr>
            <p:extLst>
              <p:ext uri="{D42A27DB-BD31-4B8C-83A1-F6EECF244321}">
                <p14:modId xmlns:p14="http://schemas.microsoft.com/office/powerpoint/2010/main" val="2287004614"/>
              </p:ext>
            </p:extLst>
          </p:nvPr>
        </p:nvGraphicFramePr>
        <p:xfrm>
          <a:off x="751242" y="2938174"/>
          <a:ext cx="8397164" cy="837420"/>
        </p:xfrm>
        <a:graphic>
          <a:graphicData uri="http://schemas.openxmlformats.org/drawingml/2006/table">
            <a:tbl>
              <a:tblPr>
                <a:tableStyleId>{5C22544A-7EE6-4342-B048-85BDC9FD1C3A}</a:tableStyleId>
              </a:tblPr>
              <a:tblGrid>
                <a:gridCol w="4769589">
                  <a:extLst>
                    <a:ext uri="{9D8B030D-6E8A-4147-A177-3AD203B41FA5}">
                      <a16:colId xmlns:a16="http://schemas.microsoft.com/office/drawing/2014/main" val="3569639020"/>
                    </a:ext>
                  </a:extLst>
                </a:gridCol>
                <a:gridCol w="1880965">
                  <a:extLst>
                    <a:ext uri="{9D8B030D-6E8A-4147-A177-3AD203B41FA5}">
                      <a16:colId xmlns:a16="http://schemas.microsoft.com/office/drawing/2014/main" val="3056446476"/>
                    </a:ext>
                  </a:extLst>
                </a:gridCol>
                <a:gridCol w="1746610">
                  <a:extLst>
                    <a:ext uri="{9D8B030D-6E8A-4147-A177-3AD203B41FA5}">
                      <a16:colId xmlns:a16="http://schemas.microsoft.com/office/drawing/2014/main" val="1569642757"/>
                    </a:ext>
                  </a:extLst>
                </a:gridCol>
              </a:tblGrid>
              <a:tr h="266700">
                <a:tc>
                  <a:txBody>
                    <a:bodyPr/>
                    <a:lstStyle/>
                    <a:p>
                      <a:pPr algn="ctr" fontAlgn="ctr"/>
                      <a:r>
                        <a:rPr lang="ja-JP" altLang="en-US" sz="1400" b="1" i="0" u="none" strike="noStrike" dirty="0">
                          <a:solidFill>
                            <a:schemeClr val="bg1"/>
                          </a:solidFill>
                          <a:effectLst/>
                          <a:latin typeface="游ゴシック" panose="020B0400000000000000" pitchFamily="50" charset="-128"/>
                          <a:ea typeface="游ゴシック" panose="020B0400000000000000" pitchFamily="50" charset="-128"/>
                        </a:rPr>
                        <a:t>風水災シナリオ</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59"/>
                    </a:solidFill>
                  </a:tcPr>
                </a:tc>
                <a:tc>
                  <a:txBody>
                    <a:bodyPr/>
                    <a:lstStyle/>
                    <a:p>
                      <a:pPr algn="ctr" fontAlgn="ctr"/>
                      <a:r>
                        <a:rPr lang="ja-JP" altLang="en-US" sz="1400" b="1" u="none" strike="noStrike" dirty="0">
                          <a:solidFill>
                            <a:schemeClr val="bg1"/>
                          </a:solidFill>
                          <a:effectLst/>
                          <a:latin typeface="游ゴシック" panose="020B0400000000000000" pitchFamily="50" charset="-128"/>
                          <a:ea typeface="游ゴシック" panose="020B0400000000000000" pitchFamily="50" charset="-128"/>
                        </a:rPr>
                        <a:t>被害想定額</a:t>
                      </a:r>
                      <a:endParaRPr lang="ja-JP" altLang="en-US" sz="14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59"/>
                    </a:solidFill>
                  </a:tcPr>
                </a:tc>
                <a:tc>
                  <a:txBody>
                    <a:bodyPr/>
                    <a:lstStyle/>
                    <a:p>
                      <a:pPr algn="ctr" fontAlgn="ctr"/>
                      <a:r>
                        <a:rPr lang="ja-JP" altLang="en-US" sz="1400" b="1" u="none" strike="noStrike" dirty="0">
                          <a:solidFill>
                            <a:schemeClr val="bg1"/>
                          </a:solidFill>
                          <a:effectLst/>
                          <a:latin typeface="游ゴシック" panose="020B0400000000000000" pitchFamily="50" charset="-128"/>
                          <a:ea typeface="游ゴシック" panose="020B0400000000000000" pitchFamily="50" charset="-128"/>
                        </a:rPr>
                        <a:t>被害想定率</a:t>
                      </a:r>
                      <a:r>
                        <a:rPr lang="en-US" altLang="ja-JP" sz="1400" b="1" u="none" strike="noStrike" baseline="30000" dirty="0">
                          <a:solidFill>
                            <a:schemeClr val="bg1"/>
                          </a:solidFill>
                          <a:effectLst/>
                          <a:latin typeface="游ゴシック" panose="020B0400000000000000" pitchFamily="50" charset="-128"/>
                          <a:ea typeface="游ゴシック" panose="020B0400000000000000" pitchFamily="50" charset="-128"/>
                        </a:rPr>
                        <a:t>※</a:t>
                      </a:r>
                      <a:endParaRPr lang="ja-JP" altLang="en-US" sz="14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59"/>
                    </a:solidFill>
                  </a:tcPr>
                </a:tc>
                <a:extLst>
                  <a:ext uri="{0D108BD9-81ED-4DB2-BD59-A6C34878D82A}">
                    <a16:rowId xmlns:a16="http://schemas.microsoft.com/office/drawing/2014/main" val="2264058107"/>
                  </a:ext>
                </a:extLst>
              </a:tr>
              <a:tr h="266700">
                <a:tc>
                  <a:txBody>
                    <a:bodyPr/>
                    <a:lstStyle/>
                    <a:p>
                      <a:pPr algn="l"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　</a:t>
                      </a:r>
                      <a:r>
                        <a:rPr kumimoji="1" lang="zh-CN" altLang="en-US" sz="1400" b="0" i="0" u="none" strike="noStrike" kern="1200" cap="none" spc="0" normalizeH="0" baseline="0" noProof="0" dirty="0">
                          <a:ln>
                            <a:noFill/>
                          </a:ln>
                          <a:solidFill>
                            <a:schemeClr val="tx1"/>
                          </a:solidFill>
                          <a:effectLst/>
                          <a:uLnTx/>
                          <a:uFillTx/>
                          <a:latin typeface="游ゴシック" panose="020B0400000000000000" pitchFamily="50" charset="-128"/>
                          <a:ea typeface="游ゴシック" panose="020B0400000000000000" pitchFamily="50" charset="-128"/>
                          <a:cs typeface="+mn-cs"/>
                        </a:rPr>
                        <a:t>兵庫県大阪湾沿岸</a:t>
                      </a:r>
                      <a:r>
                        <a:rPr kumimoji="1" lang="ja-JP" altLang="en-US" sz="1400" b="0" i="0" u="none" strike="noStrike" kern="1200" cap="none" spc="0" normalizeH="0" baseline="0" noProof="0" dirty="0">
                          <a:ln>
                            <a:noFill/>
                          </a:ln>
                          <a:solidFill>
                            <a:schemeClr val="tx1"/>
                          </a:solidFill>
                          <a:effectLst/>
                          <a:uLnTx/>
                          <a:uFillTx/>
                          <a:latin typeface="游ゴシック" panose="020B0400000000000000" pitchFamily="50" charset="-128"/>
                          <a:ea typeface="游ゴシック" panose="020B0400000000000000" pitchFamily="50" charset="-128"/>
                          <a:cs typeface="+mn-cs"/>
                        </a:rPr>
                        <a:t>の高潮（概ね１</a:t>
                      </a:r>
                      <a:r>
                        <a:rPr kumimoji="1" lang="en-US" altLang="ja-JP" sz="1400" b="0" i="0" u="none" strike="noStrike" kern="1200" cap="none" spc="0" normalizeH="0" baseline="0" noProof="0" dirty="0">
                          <a:ln>
                            <a:noFill/>
                          </a:ln>
                          <a:solidFill>
                            <a:schemeClr val="tx1"/>
                          </a:solidFill>
                          <a:effectLst/>
                          <a:uLnTx/>
                          <a:uFillTx/>
                          <a:latin typeface="游ゴシック" panose="020B0400000000000000" pitchFamily="50" charset="-128"/>
                          <a:ea typeface="游ゴシック" panose="020B0400000000000000" pitchFamily="50" charset="-128"/>
                          <a:cs typeface="+mn-cs"/>
                        </a:rPr>
                        <a:t>m</a:t>
                      </a:r>
                      <a:r>
                        <a:rPr kumimoji="1" lang="ja-JP" altLang="en-US" sz="1400" b="0" i="0" u="none" strike="noStrike" kern="1200" cap="none" spc="0" normalizeH="0" baseline="0" noProof="0" dirty="0">
                          <a:ln>
                            <a:noFill/>
                          </a:ln>
                          <a:solidFill>
                            <a:schemeClr val="tx1"/>
                          </a:solidFill>
                          <a:effectLst/>
                          <a:uLnTx/>
                          <a:uFillTx/>
                          <a:latin typeface="游ゴシック" panose="020B0400000000000000" pitchFamily="50" charset="-128"/>
                          <a:ea typeface="游ゴシック" panose="020B0400000000000000" pitchFamily="50" charset="-128"/>
                          <a:cs typeface="+mn-cs"/>
                        </a:rPr>
                        <a:t>浸水）</a:t>
                      </a:r>
                      <a:endPar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39,895</a:t>
                      </a: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百万円</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31.5%</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350802"/>
                  </a:ext>
                </a:extLst>
              </a:tr>
              <a:tr h="266700">
                <a:tc>
                  <a:txBody>
                    <a:bodyPr/>
                    <a:lstStyle/>
                    <a:p>
                      <a:pPr algn="l"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　</a:t>
                      </a:r>
                      <a:r>
                        <a:rPr kumimoji="1" lang="zh-CN" altLang="en-US" sz="1400" b="0" i="0" u="none" strike="noStrike" kern="1200" cap="none" spc="0" normalizeH="0" baseline="0" noProof="0" dirty="0">
                          <a:ln>
                            <a:noFill/>
                          </a:ln>
                          <a:solidFill>
                            <a:schemeClr val="tx1"/>
                          </a:solidFill>
                          <a:effectLst/>
                          <a:uLnTx/>
                          <a:uFillTx/>
                          <a:latin typeface="游ゴシック" panose="020B0400000000000000" pitchFamily="50" charset="-128"/>
                          <a:ea typeface="游ゴシック" panose="020B0400000000000000" pitchFamily="50" charset="-128"/>
                          <a:cs typeface="+mn-cs"/>
                        </a:rPr>
                        <a:t>兵庫県大阪湾沿岸</a:t>
                      </a:r>
                      <a:r>
                        <a:rPr kumimoji="1" lang="ja-JP" altLang="en-US" sz="1400" b="0" i="0" u="none" strike="noStrike" kern="1200" cap="none" spc="0" normalizeH="0" baseline="0" noProof="0" dirty="0">
                          <a:ln>
                            <a:noFill/>
                          </a:ln>
                          <a:solidFill>
                            <a:schemeClr val="tx1"/>
                          </a:solidFill>
                          <a:effectLst/>
                          <a:uLnTx/>
                          <a:uFillTx/>
                          <a:latin typeface="游ゴシック" panose="020B0400000000000000" pitchFamily="50" charset="-128"/>
                          <a:ea typeface="游ゴシック" panose="020B0400000000000000" pitchFamily="50" charset="-128"/>
                          <a:cs typeface="+mn-cs"/>
                        </a:rPr>
                        <a:t>の高潮（概ね３</a:t>
                      </a:r>
                      <a:r>
                        <a:rPr kumimoji="1" lang="en-US" altLang="ja-JP" sz="1400" b="0" i="0" u="none" strike="noStrike" kern="1200" cap="none" spc="0" normalizeH="0" baseline="0" noProof="0" dirty="0">
                          <a:ln>
                            <a:noFill/>
                          </a:ln>
                          <a:solidFill>
                            <a:schemeClr val="tx1"/>
                          </a:solidFill>
                          <a:effectLst/>
                          <a:uLnTx/>
                          <a:uFillTx/>
                          <a:latin typeface="游ゴシック" panose="020B0400000000000000" pitchFamily="50" charset="-128"/>
                          <a:ea typeface="游ゴシック" panose="020B0400000000000000" pitchFamily="50" charset="-128"/>
                          <a:cs typeface="+mn-cs"/>
                        </a:rPr>
                        <a:t>m</a:t>
                      </a:r>
                      <a:r>
                        <a:rPr kumimoji="1" lang="ja-JP" altLang="en-US" sz="1400" b="0" i="0" u="none" strike="noStrike" kern="1200" cap="none" spc="0" normalizeH="0" baseline="0" noProof="0" dirty="0">
                          <a:ln>
                            <a:noFill/>
                          </a:ln>
                          <a:solidFill>
                            <a:schemeClr val="tx1"/>
                          </a:solidFill>
                          <a:effectLst/>
                          <a:uLnTx/>
                          <a:uFillTx/>
                          <a:latin typeface="游ゴシック" panose="020B0400000000000000" pitchFamily="50" charset="-128"/>
                          <a:ea typeface="游ゴシック" panose="020B0400000000000000" pitchFamily="50" charset="-128"/>
                          <a:cs typeface="+mn-cs"/>
                        </a:rPr>
                        <a:t>浸水）</a:t>
                      </a:r>
                      <a:endPar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52,079</a:t>
                      </a: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百万円</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41.2%</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71732677"/>
                  </a:ext>
                </a:extLst>
              </a:tr>
            </a:tbl>
          </a:graphicData>
        </a:graphic>
      </p:graphicFrame>
      <p:sp>
        <p:nvSpPr>
          <p:cNvPr id="20" name="テキスト ボックス 19">
            <a:extLst>
              <a:ext uri="{FF2B5EF4-FFF2-40B4-BE49-F238E27FC236}">
                <a16:creationId xmlns:a16="http://schemas.microsoft.com/office/drawing/2014/main" id="{827E8304-E2EA-4AC0-902F-4EBDCC979E32}"/>
              </a:ext>
            </a:extLst>
          </p:cNvPr>
          <p:cNvSpPr txBox="1"/>
          <p:nvPr/>
        </p:nvSpPr>
        <p:spPr>
          <a:xfrm>
            <a:off x="751243" y="2673092"/>
            <a:ext cx="4400172" cy="215444"/>
          </a:xfrm>
          <a:prstGeom prst="rect">
            <a:avLst/>
          </a:prstGeom>
          <a:solidFill>
            <a:schemeClr val="bg1"/>
          </a:solidFill>
          <a:ln>
            <a:noFill/>
          </a:ln>
        </p:spPr>
        <p:txBody>
          <a:bodyPr wrap="square" lIns="0" tIns="0" rIns="0" bIns="0" rtlCol="0" anchor="ctr" anchorCtr="0">
            <a:spAutoFit/>
          </a:bodyPr>
          <a:lstStyle/>
          <a:p>
            <a:r>
              <a:rPr kumimoji="1" lang="en-US" altLang="ja-JP" sz="1400" dirty="0">
                <a:latin typeface="游ゴシック" panose="020B0400000000000000" pitchFamily="50" charset="-128"/>
                <a:ea typeface="游ゴシック" panose="020B0400000000000000" pitchFamily="50" charset="-128"/>
              </a:rPr>
              <a:t>【</a:t>
            </a:r>
            <a:r>
              <a:rPr lang="ja-JP" altLang="en-US" sz="1400" dirty="0">
                <a:latin typeface="游ゴシック" panose="020B0400000000000000" pitchFamily="50" charset="-128"/>
                <a:ea typeface="游ゴシック" panose="020B0400000000000000" pitchFamily="50" charset="-128"/>
              </a:rPr>
              <a:t>シナリオ</a:t>
            </a:r>
            <a:r>
              <a:rPr kumimoji="1" lang="ja-JP" altLang="en-US" sz="1400" dirty="0">
                <a:latin typeface="游ゴシック" panose="020B0400000000000000" pitchFamily="50" charset="-128"/>
                <a:ea typeface="游ゴシック" panose="020B0400000000000000" pitchFamily="50" charset="-128"/>
              </a:rPr>
              <a:t>分析</a:t>
            </a:r>
            <a:r>
              <a:rPr kumimoji="1" lang="en-US" altLang="ja-JP" sz="1400" dirty="0">
                <a:latin typeface="游ゴシック" panose="020B0400000000000000" pitchFamily="50" charset="-128"/>
                <a:ea typeface="游ゴシック" panose="020B0400000000000000" pitchFamily="50" charset="-128"/>
              </a:rPr>
              <a:t>】</a:t>
            </a:r>
            <a:endParaRPr kumimoji="1" lang="ja-JP" altLang="en-US" sz="1400" dirty="0">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758A2665-C7AA-482A-8278-AE32FDE51CC1}"/>
              </a:ext>
            </a:extLst>
          </p:cNvPr>
          <p:cNvSpPr txBox="1"/>
          <p:nvPr/>
        </p:nvSpPr>
        <p:spPr>
          <a:xfrm>
            <a:off x="751242" y="3907791"/>
            <a:ext cx="8410009" cy="169277"/>
          </a:xfrm>
          <a:prstGeom prst="rect">
            <a:avLst/>
          </a:prstGeom>
          <a:noFill/>
          <a:ln>
            <a:noFill/>
          </a:ln>
        </p:spPr>
        <p:txBody>
          <a:bodyPr wrap="square" lIns="0" tIns="0" rIns="0" bIns="0" rtlCol="0" anchor="t" anchorCtr="0">
            <a:spAutoFit/>
          </a:bodyPr>
          <a:lstStyle/>
          <a:p>
            <a:pPr marL="171450" indent="-171450">
              <a:buFont typeface="Meiryo UI" panose="020B0604030504040204" pitchFamily="50" charset="-128"/>
              <a:buChar char="※"/>
            </a:pPr>
            <a:r>
              <a:rPr kumimoji="1" lang="en-US" altLang="ja-JP" sz="1100" dirty="0">
                <a:latin typeface="游ゴシック" panose="020B0400000000000000" pitchFamily="50" charset="-128"/>
                <a:ea typeface="游ゴシック" panose="020B0400000000000000" pitchFamily="50" charset="-128"/>
              </a:rPr>
              <a:t>…</a:t>
            </a:r>
            <a:r>
              <a:rPr kumimoji="1" lang="ja-JP" altLang="en-US" sz="1100" dirty="0">
                <a:latin typeface="游ゴシック" panose="020B0400000000000000" pitchFamily="50" charset="-128"/>
                <a:ea typeface="游ゴシック" panose="020B0400000000000000" pitchFamily="50" charset="-128"/>
              </a:rPr>
              <a:t>被害想定率とは、</a:t>
            </a:r>
            <a:r>
              <a:rPr lang="ja-JP" altLang="en-US" sz="1100" dirty="0">
                <a:latin typeface="游ゴシック" panose="020B0400000000000000" pitchFamily="50" charset="-128"/>
                <a:ea typeface="游ゴシック" panose="020B0400000000000000" pitchFamily="50" charset="-128"/>
              </a:rPr>
              <a:t>再調達価額</a:t>
            </a:r>
            <a:r>
              <a:rPr kumimoji="1" lang="ja-JP" altLang="en-US" sz="1100" dirty="0">
                <a:latin typeface="游ゴシック" panose="020B0400000000000000" pitchFamily="50" charset="-128"/>
                <a:ea typeface="游ゴシック" panose="020B0400000000000000" pitchFamily="50" charset="-128"/>
              </a:rPr>
              <a:t>全体に占める被害想定額の割合を意味します。</a:t>
            </a:r>
          </a:p>
        </p:txBody>
      </p:sp>
      <p:sp>
        <p:nvSpPr>
          <p:cNvPr id="24" name="スライド番号プレースホルダー 5">
            <a:extLst>
              <a:ext uri="{FF2B5EF4-FFF2-40B4-BE49-F238E27FC236}">
                <a16:creationId xmlns:a16="http://schemas.microsoft.com/office/drawing/2014/main" id="{9C4CD95D-37DD-4668-9D17-5115CA6FBB65}"/>
              </a:ext>
            </a:extLst>
          </p:cNvPr>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6</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aphicFrame>
        <p:nvGraphicFramePr>
          <p:cNvPr id="17" name="表 16">
            <a:extLst>
              <a:ext uri="{FF2B5EF4-FFF2-40B4-BE49-F238E27FC236}">
                <a16:creationId xmlns:a16="http://schemas.microsoft.com/office/drawing/2014/main" id="{AB574259-3934-4D96-BCA7-41E983B8D6D2}"/>
              </a:ext>
            </a:extLst>
          </p:cNvPr>
          <p:cNvGraphicFramePr>
            <a:graphicFrameLocks noGrp="1"/>
          </p:cNvGraphicFramePr>
          <p:nvPr>
            <p:extLst>
              <p:ext uri="{D42A27DB-BD31-4B8C-83A1-F6EECF244321}">
                <p14:modId xmlns:p14="http://schemas.microsoft.com/office/powerpoint/2010/main" val="1439109799"/>
              </p:ext>
            </p:extLst>
          </p:nvPr>
        </p:nvGraphicFramePr>
        <p:xfrm>
          <a:off x="10382250" y="2307013"/>
          <a:ext cx="7637406" cy="2243974"/>
        </p:xfrm>
        <a:graphic>
          <a:graphicData uri="http://schemas.openxmlformats.org/drawingml/2006/table">
            <a:tbl>
              <a:tblPr/>
              <a:tblGrid>
                <a:gridCol w="3210520">
                  <a:extLst>
                    <a:ext uri="{9D8B030D-6E8A-4147-A177-3AD203B41FA5}">
                      <a16:colId xmlns:a16="http://schemas.microsoft.com/office/drawing/2014/main" val="1426455674"/>
                    </a:ext>
                  </a:extLst>
                </a:gridCol>
                <a:gridCol w="691539">
                  <a:extLst>
                    <a:ext uri="{9D8B030D-6E8A-4147-A177-3AD203B41FA5}">
                      <a16:colId xmlns:a16="http://schemas.microsoft.com/office/drawing/2014/main" val="1046554636"/>
                    </a:ext>
                  </a:extLst>
                </a:gridCol>
                <a:gridCol w="691539">
                  <a:extLst>
                    <a:ext uri="{9D8B030D-6E8A-4147-A177-3AD203B41FA5}">
                      <a16:colId xmlns:a16="http://schemas.microsoft.com/office/drawing/2014/main" val="2401224683"/>
                    </a:ext>
                  </a:extLst>
                </a:gridCol>
                <a:gridCol w="906277">
                  <a:extLst>
                    <a:ext uri="{9D8B030D-6E8A-4147-A177-3AD203B41FA5}">
                      <a16:colId xmlns:a16="http://schemas.microsoft.com/office/drawing/2014/main" val="214709393"/>
                    </a:ext>
                  </a:extLst>
                </a:gridCol>
                <a:gridCol w="615627">
                  <a:extLst>
                    <a:ext uri="{9D8B030D-6E8A-4147-A177-3AD203B41FA5}">
                      <a16:colId xmlns:a16="http://schemas.microsoft.com/office/drawing/2014/main" val="2110922500"/>
                    </a:ext>
                  </a:extLst>
                </a:gridCol>
                <a:gridCol w="906277">
                  <a:extLst>
                    <a:ext uri="{9D8B030D-6E8A-4147-A177-3AD203B41FA5}">
                      <a16:colId xmlns:a16="http://schemas.microsoft.com/office/drawing/2014/main" val="2611488638"/>
                    </a:ext>
                  </a:extLst>
                </a:gridCol>
                <a:gridCol w="615627">
                  <a:extLst>
                    <a:ext uri="{9D8B030D-6E8A-4147-A177-3AD203B41FA5}">
                      <a16:colId xmlns:a16="http://schemas.microsoft.com/office/drawing/2014/main" val="308410533"/>
                    </a:ext>
                  </a:extLst>
                </a:gridCol>
              </a:tblGrid>
              <a:tr h="439702">
                <a:tc>
                  <a:txBody>
                    <a:bodyPr/>
                    <a:lstStyle/>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建物名</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ctr" rtl="0" fontAlgn="ctr"/>
                      <a:r>
                        <a:rPr lang="ja-JP" altLang="en-US" sz="1050" b="0" i="0" u="none" strike="noStrike">
                          <a:solidFill>
                            <a:srgbClr val="000000"/>
                          </a:solidFill>
                          <a:effectLst/>
                          <a:latin typeface="游ゴシック" panose="020B0400000000000000" pitchFamily="50" charset="-128"/>
                          <a:ea typeface="游ゴシック" panose="020B0400000000000000" pitchFamily="50" charset="-128"/>
                        </a:rPr>
                        <a:t>浸水深１</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ctr" rtl="0" fontAlgn="ctr"/>
                      <a:r>
                        <a:rPr lang="ja-JP" altLang="en-US" sz="1050" b="0" i="0" u="none" strike="noStrike">
                          <a:solidFill>
                            <a:srgbClr val="000000"/>
                          </a:solidFill>
                          <a:effectLst/>
                          <a:latin typeface="游ゴシック" panose="020B0400000000000000" pitchFamily="50" charset="-128"/>
                          <a:ea typeface="游ゴシック" panose="020B0400000000000000" pitchFamily="50" charset="-128"/>
                        </a:rPr>
                        <a:t>浸水深２</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ctr" rtl="0" fontAlgn="ctr"/>
                      <a:r>
                        <a:rPr lang="zh-TW" altLang="en-US" sz="1050" b="0" i="0" u="none" strike="noStrike" dirty="0">
                          <a:solidFill>
                            <a:srgbClr val="000000"/>
                          </a:solidFill>
                          <a:effectLst/>
                          <a:latin typeface="游ゴシック" panose="020B0400000000000000" pitchFamily="50" charset="-128"/>
                          <a:ea typeface="游ゴシック" panose="020B0400000000000000" pitchFamily="50" charset="-128"/>
                        </a:rPr>
                        <a:t>被害想定額</a:t>
                      </a:r>
                      <a:endParaRPr lang="en-US" altLang="zh-TW" sz="105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浸水深</a:t>
                      </a:r>
                      <a:r>
                        <a:rPr lang="zh-TW" altLang="en-US" sz="1050" b="0" i="0" u="none" strike="noStrike" dirty="0">
                          <a:solidFill>
                            <a:srgbClr val="000000"/>
                          </a:solidFill>
                          <a:effectLst/>
                          <a:latin typeface="游ゴシック" panose="020B0400000000000000" pitchFamily="50" charset="-128"/>
                          <a:ea typeface="游ゴシック" panose="020B0400000000000000" pitchFamily="50" charset="-128"/>
                        </a:rPr>
                        <a:t>１</a:t>
                      </a:r>
                      <a:endParaRPr lang="en-US" altLang="zh-TW" sz="105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en-US" altLang="zh-TW" sz="105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千円</a:t>
                      </a:r>
                      <a:r>
                        <a:rPr lang="en-US" altLang="ja-JP" sz="105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zh-TW" altLang="en-US" sz="105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被害率</a:t>
                      </a:r>
                      <a:endParaRPr lang="en-US" altLang="ja-JP" sz="105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浸水深１</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ctr" rtl="0" fontAlgn="ctr"/>
                      <a:r>
                        <a:rPr lang="zh-TW" altLang="en-US" sz="1050" b="0" i="0" u="none" strike="noStrike" dirty="0">
                          <a:solidFill>
                            <a:srgbClr val="000000"/>
                          </a:solidFill>
                          <a:effectLst/>
                          <a:latin typeface="游ゴシック" panose="020B0400000000000000" pitchFamily="50" charset="-128"/>
                          <a:ea typeface="游ゴシック" panose="020B0400000000000000" pitchFamily="50" charset="-128"/>
                        </a:rPr>
                        <a:t>被害想定額</a:t>
                      </a:r>
                      <a:endParaRPr lang="en-US" altLang="zh-TW" sz="105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浸水深</a:t>
                      </a:r>
                      <a:r>
                        <a:rPr lang="zh-TW" altLang="en-US" sz="1050" b="0" i="0" u="none" strike="noStrike" dirty="0">
                          <a:solidFill>
                            <a:srgbClr val="000000"/>
                          </a:solidFill>
                          <a:effectLst/>
                          <a:latin typeface="游ゴシック" panose="020B0400000000000000" pitchFamily="50" charset="-128"/>
                          <a:ea typeface="游ゴシック" panose="020B0400000000000000" pitchFamily="50" charset="-128"/>
                        </a:rPr>
                        <a:t>２</a:t>
                      </a:r>
                      <a:endParaRPr lang="en-US" altLang="zh-TW" sz="1050" b="0" i="0" u="none" strike="noStrike" dirty="0">
                        <a:solidFill>
                          <a:srgbClr val="000000"/>
                        </a:solidFill>
                        <a:effectLst/>
                        <a:latin typeface="游ゴシック" panose="020B0400000000000000" pitchFamily="50" charset="-128"/>
                        <a:ea typeface="游ゴシック" panose="020B0400000000000000" pitchFamily="50" charset="-128"/>
                      </a:endParaRPr>
                    </a:p>
                    <a:p>
                      <a:pPr marL="0" marR="0" lvl="0" indent="0" algn="ctr" defTabSz="913851" rtl="0" eaLnBrk="1" fontAlgn="ctr" latinLnBrk="0" hangingPunct="1">
                        <a:lnSpc>
                          <a:spcPct val="100000"/>
                        </a:lnSpc>
                        <a:spcBef>
                          <a:spcPts val="0"/>
                        </a:spcBef>
                        <a:spcAft>
                          <a:spcPts val="0"/>
                        </a:spcAft>
                        <a:buClrTx/>
                        <a:buSzTx/>
                        <a:buFontTx/>
                        <a:buNone/>
                        <a:tabLst/>
                        <a:defRPr/>
                      </a:pPr>
                      <a:r>
                        <a:rPr lang="en-US" altLang="zh-TW" sz="105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千円</a:t>
                      </a:r>
                      <a:r>
                        <a:rPr lang="en-US" altLang="ja-JP" sz="105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zh-TW" altLang="en-US" sz="105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被害率</a:t>
                      </a:r>
                      <a:endParaRPr lang="en-US" altLang="ja-JP" sz="105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浸水深２</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extLst>
                  <a:ext uri="{0D108BD9-81ED-4DB2-BD59-A6C34878D82A}">
                    <a16:rowId xmlns:a16="http://schemas.microsoft.com/office/drawing/2014/main" val="108226593"/>
                  </a:ext>
                </a:extLst>
              </a:tr>
              <a:tr h="439702">
                <a:tc>
                  <a:txBody>
                    <a:bodyPr/>
                    <a:lstStyle/>
                    <a:p>
                      <a:pPr algn="l" fontAlgn="ctr"/>
                      <a:r>
                        <a:rPr lang="en-US" altLang="ja-JP" sz="1400" b="0" i="0" u="none" strike="noStrike" dirty="0">
                          <a:solidFill>
                            <a:srgbClr val="000000"/>
                          </a:solidFill>
                          <a:effectLst/>
                          <a:latin typeface="+mn-ea"/>
                          <a:ea typeface="+mn-ea"/>
                        </a:rPr>
                        <a:t>3</a:t>
                      </a:r>
                      <a:r>
                        <a:rPr lang="ja-JP" altLang="en-US" sz="1400" b="0" i="0" u="none" strike="noStrike" dirty="0">
                          <a:solidFill>
                            <a:srgbClr val="000000"/>
                          </a:solidFill>
                          <a:effectLst/>
                          <a:latin typeface="+mn-ea"/>
                          <a:ea typeface="+mn-ea"/>
                        </a:rPr>
                        <a:t>分塊・第</a:t>
                      </a:r>
                      <a:r>
                        <a:rPr lang="en-US" altLang="ja-JP" sz="1400" b="0" i="0" u="none" strike="noStrike" dirty="0">
                          <a:solidFill>
                            <a:srgbClr val="000000"/>
                          </a:solidFill>
                          <a:effectLst/>
                          <a:latin typeface="+mn-ea"/>
                          <a:ea typeface="+mn-ea"/>
                        </a:rPr>
                        <a:t>1</a:t>
                      </a:r>
                      <a:r>
                        <a:rPr lang="ja-JP" altLang="en-US" sz="1400" b="0" i="0" u="none" strike="noStrike" dirty="0">
                          <a:solidFill>
                            <a:srgbClr val="000000"/>
                          </a:solidFill>
                          <a:effectLst/>
                          <a:latin typeface="+mn-ea"/>
                          <a:ea typeface="+mn-ea"/>
                        </a:rPr>
                        <a:t>加工工場</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r" rtl="0" fontAlgn="ctr"/>
                      <a:r>
                        <a:rPr lang="en-US" sz="1050" b="0" i="0" u="none" strike="noStrike" dirty="0">
                          <a:solidFill>
                            <a:srgbClr val="000000"/>
                          </a:solidFill>
                          <a:effectLst/>
                          <a:latin typeface="+mn-ea"/>
                          <a:ea typeface="+mn-ea"/>
                        </a:rPr>
                        <a:t>100cm</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sz="1050" b="0" i="0" u="none" strike="noStrike" dirty="0">
                          <a:solidFill>
                            <a:srgbClr val="000000"/>
                          </a:solidFill>
                          <a:effectLst/>
                          <a:latin typeface="+mn-ea"/>
                          <a:ea typeface="+mn-ea"/>
                        </a:rPr>
                        <a:t>300cm</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10,100,523</a:t>
                      </a:r>
                    </a:p>
                    <a:p>
                      <a:pPr algn="r" fontAlgn="b"/>
                      <a:endParaRPr lang="en-US" altLang="ja-JP" sz="1100" b="0" i="0" u="none" strike="noStrike" dirty="0">
                        <a:effectLst/>
                        <a:latin typeface="+mn-ea"/>
                        <a:ea typeface="+mn-ea"/>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16.9%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ja-JP" sz="1100" b="0" i="0" u="none" strike="noStrike" dirty="0">
                          <a:solidFill>
                            <a:srgbClr val="000000"/>
                          </a:solidFill>
                          <a:effectLst/>
                          <a:latin typeface="+mn-ea"/>
                          <a:ea typeface="+mn-ea"/>
                        </a:rPr>
                        <a:t>15,732,096</a:t>
                      </a:r>
                    </a:p>
                    <a:p>
                      <a:pPr algn="r" rtl="0" fontAlgn="ctr"/>
                      <a:endParaRPr lang="ja-JP" altLang="en-US" sz="1100" b="0" i="0" u="none" strike="noStrike" dirty="0">
                        <a:solidFill>
                          <a:srgbClr val="000000"/>
                        </a:solidFill>
                        <a:effectLst/>
                        <a:latin typeface="+mn-ea"/>
                        <a:ea typeface="+mn-ea"/>
                      </a:endParaRPr>
                    </a:p>
                  </a:txBody>
                  <a:tcPr marL="5106" marR="5106" marT="51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26.3%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6398614"/>
                  </a:ext>
                </a:extLst>
              </a:tr>
              <a:tr h="439702">
                <a:tc>
                  <a:txBody>
                    <a:bodyPr/>
                    <a:lstStyle/>
                    <a:p>
                      <a:pPr algn="l" fontAlgn="ctr"/>
                      <a:r>
                        <a:rPr lang="ja-JP" altLang="en-US" sz="1400" b="0" i="0" u="none" strike="noStrike" dirty="0">
                          <a:solidFill>
                            <a:srgbClr val="000000"/>
                          </a:solidFill>
                          <a:effectLst/>
                          <a:latin typeface="+mn-ea"/>
                          <a:ea typeface="+mn-ea"/>
                        </a:rPr>
                        <a:t>棒鋼・棒加工工場</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r" rtl="0" fontAlgn="ctr"/>
                      <a:r>
                        <a:rPr lang="en-US" sz="1050" b="0" i="0" u="none" strike="noStrike" dirty="0">
                          <a:solidFill>
                            <a:srgbClr val="000000"/>
                          </a:solidFill>
                          <a:effectLst/>
                          <a:latin typeface="+mn-ea"/>
                          <a:ea typeface="+mn-ea"/>
                        </a:rPr>
                        <a:t>100cm</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sz="1050" b="0" i="0" u="none" strike="noStrike" dirty="0">
                          <a:solidFill>
                            <a:srgbClr val="000000"/>
                          </a:solidFill>
                          <a:effectLst/>
                          <a:latin typeface="+mn-ea"/>
                          <a:ea typeface="+mn-ea"/>
                        </a:rPr>
                        <a:t>300cm</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18,934,714</a:t>
                      </a:r>
                    </a:p>
                    <a:p>
                      <a:pPr algn="r" fontAlgn="b"/>
                      <a:endParaRPr lang="en-US" altLang="ja-JP" sz="1100" b="0" i="0" u="none" strike="noStrike" dirty="0">
                        <a:effectLst/>
                        <a:latin typeface="+mn-ea"/>
                        <a:ea typeface="+mn-ea"/>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44.8%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ja-JP" sz="1100" b="0" i="0" u="none" strike="noStrike" dirty="0">
                          <a:solidFill>
                            <a:srgbClr val="000000"/>
                          </a:solidFill>
                          <a:effectLst/>
                          <a:latin typeface="+mn-ea"/>
                          <a:ea typeface="+mn-ea"/>
                        </a:rPr>
                        <a:t>23,129,255</a:t>
                      </a:r>
                    </a:p>
                    <a:p>
                      <a:pPr algn="r" rtl="0" fontAlgn="ctr"/>
                      <a:endParaRPr lang="ja-JP" altLang="en-US" sz="1100" b="0" i="0" u="none" strike="noStrike" dirty="0">
                        <a:solidFill>
                          <a:srgbClr val="000000"/>
                        </a:solidFill>
                        <a:effectLst/>
                        <a:latin typeface="+mn-ea"/>
                        <a:ea typeface="+mn-ea"/>
                      </a:endParaRPr>
                    </a:p>
                  </a:txBody>
                  <a:tcPr marL="5106" marR="5106" marT="51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54.7%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3893055"/>
                  </a:ext>
                </a:extLst>
              </a:tr>
              <a:tr h="439702">
                <a:tc>
                  <a:txBody>
                    <a:bodyPr/>
                    <a:lstStyle/>
                    <a:p>
                      <a:pPr algn="l" fontAlgn="ctr"/>
                      <a:r>
                        <a:rPr lang="en-US" altLang="ja-JP" sz="1400" b="0" i="0" u="none" strike="noStrike" dirty="0">
                          <a:solidFill>
                            <a:srgbClr val="000000"/>
                          </a:solidFill>
                          <a:effectLst/>
                          <a:latin typeface="+mn-ea"/>
                          <a:ea typeface="+mn-ea"/>
                        </a:rPr>
                        <a:t>7</a:t>
                      </a:r>
                      <a:r>
                        <a:rPr lang="ja-JP" altLang="en-US" sz="1400" b="0" i="0" u="none" strike="noStrike" dirty="0">
                          <a:solidFill>
                            <a:srgbClr val="000000"/>
                          </a:solidFill>
                          <a:effectLst/>
                          <a:latin typeface="+mn-ea"/>
                          <a:ea typeface="+mn-ea"/>
                        </a:rPr>
                        <a:t>線材・第</a:t>
                      </a:r>
                      <a:r>
                        <a:rPr lang="en-US" altLang="ja-JP" sz="1400" b="0" i="0" u="none" strike="noStrike" dirty="0">
                          <a:solidFill>
                            <a:srgbClr val="000000"/>
                          </a:solidFill>
                          <a:effectLst/>
                          <a:latin typeface="+mn-ea"/>
                          <a:ea typeface="+mn-ea"/>
                        </a:rPr>
                        <a:t>3</a:t>
                      </a:r>
                      <a:r>
                        <a:rPr lang="ja-JP" altLang="en-US" sz="1400" b="0" i="0" u="none" strike="noStrike" dirty="0">
                          <a:solidFill>
                            <a:srgbClr val="000000"/>
                          </a:solidFill>
                          <a:effectLst/>
                          <a:latin typeface="+mn-ea"/>
                          <a:ea typeface="+mn-ea"/>
                        </a:rPr>
                        <a:t>加工工場</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r" rtl="0" fontAlgn="ctr"/>
                      <a:r>
                        <a:rPr lang="en-US" sz="1050" b="0" i="0" u="none" strike="noStrike" dirty="0">
                          <a:solidFill>
                            <a:srgbClr val="000000"/>
                          </a:solidFill>
                          <a:effectLst/>
                          <a:latin typeface="+mn-ea"/>
                          <a:ea typeface="+mn-ea"/>
                        </a:rPr>
                        <a:t>100cm</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sz="1050" b="0" i="0" u="none" strike="noStrike" dirty="0">
                          <a:solidFill>
                            <a:srgbClr val="000000"/>
                          </a:solidFill>
                          <a:effectLst/>
                          <a:latin typeface="+mn-ea"/>
                          <a:ea typeface="+mn-ea"/>
                        </a:rPr>
                        <a:t>300cm</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10,860,052</a:t>
                      </a:r>
                    </a:p>
                    <a:p>
                      <a:pPr algn="r" fontAlgn="b"/>
                      <a:endParaRPr lang="en-US" altLang="ja-JP" sz="1100" b="0" i="0" u="none" strike="noStrike" dirty="0">
                        <a:effectLst/>
                        <a:latin typeface="+mn-ea"/>
                        <a:ea typeface="+mn-ea"/>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44.5%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ja-JP" sz="1100" b="0" i="0" u="none" strike="noStrike" dirty="0">
                          <a:solidFill>
                            <a:srgbClr val="000000"/>
                          </a:solidFill>
                          <a:effectLst/>
                          <a:latin typeface="+mn-ea"/>
                          <a:ea typeface="+mn-ea"/>
                        </a:rPr>
                        <a:t>13,218,069</a:t>
                      </a:r>
                    </a:p>
                    <a:p>
                      <a:pPr algn="r" rtl="0" fontAlgn="ctr"/>
                      <a:endParaRPr lang="ja-JP" altLang="en-US" sz="1100" b="0" i="0" u="none" strike="noStrike" dirty="0">
                        <a:solidFill>
                          <a:srgbClr val="000000"/>
                        </a:solidFill>
                        <a:effectLst/>
                        <a:latin typeface="+mn-ea"/>
                        <a:ea typeface="+mn-ea"/>
                      </a:endParaRPr>
                    </a:p>
                  </a:txBody>
                  <a:tcPr marL="5106" marR="5106" marT="51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54.2%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3301841"/>
                  </a:ext>
                </a:extLst>
              </a:tr>
              <a:tr h="439702">
                <a:tc gridSpan="3">
                  <a:txBody>
                    <a:bodyPr/>
                    <a:lstStyle/>
                    <a:p>
                      <a:pPr algn="ctr" rtl="0" fontAlgn="ctr"/>
                      <a:r>
                        <a:rPr lang="ja-JP" altLang="en-US" sz="1050" b="1"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hMerge="1">
                  <a:txBody>
                    <a:bodyPr/>
                    <a:lstStyle/>
                    <a:p>
                      <a:endParaRPr kumimoji="1" lang="ja-JP" altLang="en-US"/>
                    </a:p>
                  </a:txBody>
                  <a:tcPr/>
                </a:tc>
                <a:tc hMerge="1">
                  <a:txBody>
                    <a:bodyPr/>
                    <a:lstStyle/>
                    <a:p>
                      <a:endParaRPr kumimoji="1" lang="ja-JP" altLang="en-US"/>
                    </a:p>
                  </a:txBody>
                  <a:tcPr/>
                </a:tc>
                <a:tc>
                  <a:txBody>
                    <a:bodyPr/>
                    <a:lstStyle/>
                    <a:p>
                      <a:pPr algn="ctr" fontAlgn="ctr"/>
                      <a:r>
                        <a:rPr lang="en-US" altLang="ja-JP" sz="1100" b="1" i="0" u="none" strike="noStrike" dirty="0">
                          <a:effectLst/>
                          <a:latin typeface="+mn-ea"/>
                          <a:ea typeface="+mn-ea"/>
                        </a:rPr>
                        <a:t>39,895,289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1100" b="1" i="0" u="none" strike="noStrike" dirty="0">
                          <a:effectLst/>
                          <a:latin typeface="+mn-ea"/>
                          <a:ea typeface="+mn-ea"/>
                        </a:rPr>
                        <a:t>31.5%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1100" b="1" i="0" u="none" strike="noStrike" dirty="0">
                          <a:effectLst/>
                          <a:latin typeface="+mn-ea"/>
                          <a:ea typeface="+mn-ea"/>
                        </a:rPr>
                        <a:t>52,079,420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1100" b="1" i="0" u="none" strike="noStrike" dirty="0">
                          <a:effectLst/>
                          <a:latin typeface="+mn-ea"/>
                          <a:ea typeface="+mn-ea"/>
                        </a:rPr>
                        <a:t>41.2%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8830904"/>
                  </a:ext>
                </a:extLst>
              </a:tr>
            </a:tbl>
          </a:graphicData>
        </a:graphic>
      </p:graphicFrame>
    </p:spTree>
    <p:extLst>
      <p:ext uri="{BB962C8B-B14F-4D97-AF65-F5344CB8AC3E}">
        <p14:creationId xmlns:p14="http://schemas.microsoft.com/office/powerpoint/2010/main" val="1853483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kumimoji="1" lang="ja-JP" altLang="en-US" dirty="0">
                <a:effectLst>
                  <a:glow rad="190500">
                    <a:schemeClr val="bg1">
                      <a:alpha val="60000"/>
                    </a:schemeClr>
                  </a:glow>
                </a:effectLst>
              </a:rPr>
              <a:t>拠点概要</a:t>
            </a:r>
          </a:p>
        </p:txBody>
      </p:sp>
      <p:sp>
        <p:nvSpPr>
          <p:cNvPr id="5" name="テキスト プレースホルダー 4"/>
          <p:cNvSpPr>
            <a:spLocks noGrp="1"/>
          </p:cNvSpPr>
          <p:nvPr>
            <p:ph type="body" sz="quarter" idx="11"/>
          </p:nvPr>
        </p:nvSpPr>
        <p:spPr/>
        <p:txBody>
          <a:bodyPr>
            <a:normAutofit/>
          </a:bodyPr>
          <a:lstStyle/>
          <a:p>
            <a:pPr>
              <a:lnSpc>
                <a:spcPct val="100000"/>
              </a:lnSpc>
              <a:spcBef>
                <a:spcPts val="0"/>
              </a:spcBef>
            </a:pPr>
            <a:r>
              <a:rPr kumimoji="1" lang="en-US" altLang="ja-JP" dirty="0"/>
              <a:t>2</a:t>
            </a:r>
            <a:endParaRPr kumimoji="1" lang="ja-JP" altLang="en-US" dirty="0"/>
          </a:p>
        </p:txBody>
      </p:sp>
      <p:sp>
        <p:nvSpPr>
          <p:cNvPr id="7"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7</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258772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図 27">
            <a:extLst>
              <a:ext uri="{FF2B5EF4-FFF2-40B4-BE49-F238E27FC236}">
                <a16:creationId xmlns:a16="http://schemas.microsoft.com/office/drawing/2014/main" id="{94024D9B-B3EA-9B7C-0664-F93185EE847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225545" y="1876225"/>
            <a:ext cx="4226440" cy="3247051"/>
          </a:xfrm>
          <a:prstGeom prst="rect">
            <a:avLst/>
          </a:prstGeom>
        </p:spPr>
      </p:pic>
      <p:pic>
        <p:nvPicPr>
          <p:cNvPr id="6" name="図 5">
            <a:extLst>
              <a:ext uri="{FF2B5EF4-FFF2-40B4-BE49-F238E27FC236}">
                <a16:creationId xmlns:a16="http://schemas.microsoft.com/office/drawing/2014/main" id="{DBF68769-4332-8AFD-5B25-7DEE08F484B4}"/>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527550" y="1730777"/>
            <a:ext cx="4778783" cy="3489854"/>
          </a:xfrm>
          <a:prstGeom prst="rect">
            <a:avLst/>
          </a:prstGeom>
        </p:spPr>
      </p:pic>
      <p:sp>
        <p:nvSpPr>
          <p:cNvPr id="2" name="テキスト ボックス 1"/>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対象拠点の立地</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78"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8</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8" name="グループ化 7">
            <a:extLst>
              <a:ext uri="{FF2B5EF4-FFF2-40B4-BE49-F238E27FC236}">
                <a16:creationId xmlns:a16="http://schemas.microsoft.com/office/drawing/2014/main" id="{28AD6319-8F11-4649-B930-1838F1F3DBAA}"/>
              </a:ext>
            </a:extLst>
          </p:cNvPr>
          <p:cNvGrpSpPr/>
          <p:nvPr/>
        </p:nvGrpSpPr>
        <p:grpSpPr>
          <a:xfrm>
            <a:off x="360000" y="370800"/>
            <a:ext cx="720000" cy="672000"/>
            <a:chOff x="360000" y="370800"/>
            <a:chExt cx="720000" cy="672000"/>
          </a:xfrm>
        </p:grpSpPr>
        <p:sp>
          <p:nvSpPr>
            <p:cNvPr id="9" name="正方形/長方形 8">
              <a:extLst>
                <a:ext uri="{FF2B5EF4-FFF2-40B4-BE49-F238E27FC236}">
                  <a16:creationId xmlns:a16="http://schemas.microsoft.com/office/drawing/2014/main" id="{71A15C92-06E2-40AB-BE13-8EC9CD167221}"/>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0" name="テキスト ボックス 9">
              <a:extLst>
                <a:ext uri="{FF2B5EF4-FFF2-40B4-BE49-F238E27FC236}">
                  <a16:creationId xmlns:a16="http://schemas.microsoft.com/office/drawing/2014/main" id="{50AA909F-E741-415C-A88F-64762C2395AA}"/>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2</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
        <p:nvSpPr>
          <p:cNvPr id="11" name="正方形/長方形 10">
            <a:extLst>
              <a:ext uri="{FF2B5EF4-FFF2-40B4-BE49-F238E27FC236}">
                <a16:creationId xmlns:a16="http://schemas.microsoft.com/office/drawing/2014/main" id="{2BB1F5FA-B7DC-4336-96DD-1CD72D4CC8F4}"/>
              </a:ext>
            </a:extLst>
          </p:cNvPr>
          <p:cNvSpPr/>
          <p:nvPr/>
        </p:nvSpPr>
        <p:spPr>
          <a:xfrm>
            <a:off x="360000" y="5956702"/>
            <a:ext cx="4501028" cy="261610"/>
          </a:xfrm>
          <a:prstGeom prst="rect">
            <a:avLst/>
          </a:prstGeom>
        </p:spPr>
        <p:txBody>
          <a:bodyPr wrap="square">
            <a:spAutoFit/>
          </a:bodyPr>
          <a:lstStyle/>
          <a:p>
            <a:pPr algn="ctr"/>
            <a:r>
              <a:rPr lang="ja-JP" altLang="en-US" sz="1100" dirty="0">
                <a:latin typeface="游ゴシック" panose="020B0400000000000000" pitchFamily="50" charset="-128"/>
                <a:ea typeface="游ゴシック" panose="020B0400000000000000" pitchFamily="50" charset="-128"/>
              </a:rPr>
              <a:t>図：広域図（出典：地理院地図）</a:t>
            </a:r>
          </a:p>
        </p:txBody>
      </p:sp>
      <p:sp>
        <p:nvSpPr>
          <p:cNvPr id="7" name="正方形/長方形 6">
            <a:extLst>
              <a:ext uri="{FF2B5EF4-FFF2-40B4-BE49-F238E27FC236}">
                <a16:creationId xmlns:a16="http://schemas.microsoft.com/office/drawing/2014/main" id="{AE9213EF-FFA8-42D9-BD26-278CAD08F127}"/>
              </a:ext>
            </a:extLst>
          </p:cNvPr>
          <p:cNvSpPr/>
          <p:nvPr/>
        </p:nvSpPr>
        <p:spPr>
          <a:xfrm>
            <a:off x="1868193" y="3128668"/>
            <a:ext cx="718214" cy="698525"/>
          </a:xfrm>
          <a:prstGeom prst="rect">
            <a:avLst/>
          </a:prstGeom>
          <a:noFill/>
          <a:ln w="9525">
            <a:solidFill>
              <a:srgbClr val="FF0000"/>
            </a:solidFill>
          </a:ln>
          <a:extLst>
            <a:ext uri="{909E8E84-426E-40DD-AFC4-6F175D3DCCD1}">
              <a14:hiddenFill xmlns:a14="http://schemas.microsoft.com/office/drawing/2010/main">
                <a:solidFill>
                  <a:srgbClr val="D2D3D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rgbClr val="000000"/>
              </a:solidFill>
            </a:endParaRPr>
          </a:p>
        </p:txBody>
      </p:sp>
      <p:cxnSp>
        <p:nvCxnSpPr>
          <p:cNvPr id="14" name="直線コネクタ 13">
            <a:extLst>
              <a:ext uri="{FF2B5EF4-FFF2-40B4-BE49-F238E27FC236}">
                <a16:creationId xmlns:a16="http://schemas.microsoft.com/office/drawing/2014/main" id="{8C60037C-1E19-4935-8571-F41E1A37F521}"/>
              </a:ext>
            </a:extLst>
          </p:cNvPr>
          <p:cNvCxnSpPr>
            <a:cxnSpLocks/>
          </p:cNvCxnSpPr>
          <p:nvPr/>
        </p:nvCxnSpPr>
        <p:spPr>
          <a:xfrm flipV="1">
            <a:off x="1868193" y="1730777"/>
            <a:ext cx="2659357" cy="1407762"/>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8AA87DB6-3BD3-4274-B79D-4E7B5FD89687}"/>
              </a:ext>
            </a:extLst>
          </p:cNvPr>
          <p:cNvCxnSpPr>
            <a:cxnSpLocks/>
          </p:cNvCxnSpPr>
          <p:nvPr/>
        </p:nvCxnSpPr>
        <p:spPr>
          <a:xfrm>
            <a:off x="1868193" y="3778516"/>
            <a:ext cx="2659357" cy="1442115"/>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3C394726-0D1F-4DD4-A594-A1EEC178DAE0}"/>
              </a:ext>
            </a:extLst>
          </p:cNvPr>
          <p:cNvSpPr/>
          <p:nvPr/>
        </p:nvSpPr>
        <p:spPr>
          <a:xfrm>
            <a:off x="5032437" y="5956701"/>
            <a:ext cx="4501028" cy="261610"/>
          </a:xfrm>
          <a:prstGeom prst="rect">
            <a:avLst/>
          </a:prstGeom>
        </p:spPr>
        <p:txBody>
          <a:bodyPr wrap="square">
            <a:spAutoFit/>
          </a:bodyPr>
          <a:lstStyle/>
          <a:p>
            <a:pPr algn="ctr"/>
            <a:r>
              <a:rPr lang="ja-JP" altLang="en-US" sz="1100" dirty="0">
                <a:latin typeface="游ゴシック" panose="020B0400000000000000" pitchFamily="50" charset="-128"/>
                <a:ea typeface="游ゴシック" panose="020B0400000000000000" pitchFamily="50" charset="-128"/>
              </a:rPr>
              <a:t>図：拠点拡大図（出典：地理院地図）</a:t>
            </a:r>
          </a:p>
        </p:txBody>
      </p:sp>
      <p:cxnSp>
        <p:nvCxnSpPr>
          <p:cNvPr id="22" name="直線矢印コネクタ 21">
            <a:extLst>
              <a:ext uri="{FF2B5EF4-FFF2-40B4-BE49-F238E27FC236}">
                <a16:creationId xmlns:a16="http://schemas.microsoft.com/office/drawing/2014/main" id="{6003ED39-0AB8-492F-AC7D-D8A6B64FA3D0}"/>
              </a:ext>
            </a:extLst>
          </p:cNvPr>
          <p:cNvCxnSpPr>
            <a:cxnSpLocks/>
            <a:stCxn id="23" idx="0"/>
          </p:cNvCxnSpPr>
          <p:nvPr/>
        </p:nvCxnSpPr>
        <p:spPr>
          <a:xfrm flipH="1" flipV="1">
            <a:off x="7823719" y="4781345"/>
            <a:ext cx="667617" cy="668821"/>
          </a:xfrm>
          <a:prstGeom prst="straightConnector1">
            <a:avLst/>
          </a:prstGeom>
          <a:ln w="15875">
            <a:solidFill>
              <a:srgbClr val="901006"/>
            </a:solidFill>
            <a:tailEnd type="triangle"/>
          </a:ln>
          <a:effectLst>
            <a:glow rad="63500">
              <a:schemeClr val="bg1">
                <a:alpha val="50000"/>
              </a:schemeClr>
            </a:glow>
          </a:effectLst>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D626B2F3-59B1-4BA7-A097-E139C08CE1EB}"/>
              </a:ext>
            </a:extLst>
          </p:cNvPr>
          <p:cNvSpPr/>
          <p:nvPr/>
        </p:nvSpPr>
        <p:spPr>
          <a:xfrm>
            <a:off x="7972536" y="5450166"/>
            <a:ext cx="1037600" cy="276999"/>
          </a:xfrm>
          <a:prstGeom prst="rect">
            <a:avLst/>
          </a:prstGeom>
          <a:solidFill>
            <a:srgbClr val="901006"/>
          </a:solidFill>
          <a:effectLst>
            <a:glow rad="63500">
              <a:schemeClr val="bg1">
                <a:alpha val="50000"/>
              </a:schemeClr>
            </a:glow>
          </a:effectLst>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対象拠点</a:t>
            </a:r>
          </a:p>
        </p:txBody>
      </p:sp>
      <p:sp>
        <p:nvSpPr>
          <p:cNvPr id="25" name="フリーフォーム: 図形 24">
            <a:extLst>
              <a:ext uri="{FF2B5EF4-FFF2-40B4-BE49-F238E27FC236}">
                <a16:creationId xmlns:a16="http://schemas.microsoft.com/office/drawing/2014/main" id="{DDA09609-C409-CC5C-21C5-1D0BA7E95D86}"/>
              </a:ext>
            </a:extLst>
          </p:cNvPr>
          <p:cNvSpPr/>
          <p:nvPr/>
        </p:nvSpPr>
        <p:spPr>
          <a:xfrm>
            <a:off x="4678680" y="2339340"/>
            <a:ext cx="4046220" cy="2545080"/>
          </a:xfrm>
          <a:custGeom>
            <a:avLst/>
            <a:gdLst>
              <a:gd name="csX0" fmla="*/ 7620 w 4046220"/>
              <a:gd name="csY0" fmla="*/ 91440 h 2545080"/>
              <a:gd name="csX1" fmla="*/ 281940 w 4046220"/>
              <a:gd name="csY1" fmla="*/ 0 h 2545080"/>
              <a:gd name="csX2" fmla="*/ 1120140 w 4046220"/>
              <a:gd name="csY2" fmla="*/ 53340 h 2545080"/>
              <a:gd name="csX3" fmla="*/ 1920240 w 4046220"/>
              <a:gd name="csY3" fmla="*/ 182880 h 2545080"/>
              <a:gd name="csX4" fmla="*/ 2689860 w 4046220"/>
              <a:gd name="csY4" fmla="*/ 266700 h 2545080"/>
              <a:gd name="csX5" fmla="*/ 3398520 w 4046220"/>
              <a:gd name="csY5" fmla="*/ 739140 h 2545080"/>
              <a:gd name="csX6" fmla="*/ 4046220 w 4046220"/>
              <a:gd name="csY6" fmla="*/ 2430780 h 2545080"/>
              <a:gd name="csX7" fmla="*/ 3307080 w 4046220"/>
              <a:gd name="csY7" fmla="*/ 2385060 h 2545080"/>
              <a:gd name="csX8" fmla="*/ 2354580 w 4046220"/>
              <a:gd name="csY8" fmla="*/ 2545080 h 2545080"/>
              <a:gd name="csX9" fmla="*/ 1836420 w 4046220"/>
              <a:gd name="csY9" fmla="*/ 2529840 h 2545080"/>
              <a:gd name="csX10" fmla="*/ 1729740 w 4046220"/>
              <a:gd name="csY10" fmla="*/ 1203960 h 2545080"/>
              <a:gd name="csX11" fmla="*/ 0 w 4046220"/>
              <a:gd name="csY11" fmla="*/ 1249680 h 2545080"/>
              <a:gd name="csX12" fmla="*/ 7620 w 4046220"/>
              <a:gd name="csY12" fmla="*/ 91440 h 25450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46220" h="2545080">
                <a:moveTo>
                  <a:pt x="7620" y="91440"/>
                </a:moveTo>
                <a:lnTo>
                  <a:pt x="281940" y="0"/>
                </a:lnTo>
                <a:lnTo>
                  <a:pt x="1120140" y="53340"/>
                </a:lnTo>
                <a:lnTo>
                  <a:pt x="1920240" y="182880"/>
                </a:lnTo>
                <a:lnTo>
                  <a:pt x="2689860" y="266700"/>
                </a:lnTo>
                <a:lnTo>
                  <a:pt x="3398520" y="739140"/>
                </a:lnTo>
                <a:lnTo>
                  <a:pt x="4046220" y="2430780"/>
                </a:lnTo>
                <a:lnTo>
                  <a:pt x="3307080" y="2385060"/>
                </a:lnTo>
                <a:lnTo>
                  <a:pt x="2354580" y="2545080"/>
                </a:lnTo>
                <a:lnTo>
                  <a:pt x="1836420" y="2529840"/>
                </a:lnTo>
                <a:lnTo>
                  <a:pt x="1729740" y="1203960"/>
                </a:lnTo>
                <a:lnTo>
                  <a:pt x="0" y="1249680"/>
                </a:lnTo>
                <a:lnTo>
                  <a:pt x="7620" y="91440"/>
                </a:lnTo>
                <a:close/>
              </a:path>
            </a:pathLst>
          </a:custGeom>
          <a:noFill/>
          <a:ln w="9525">
            <a:solidFill>
              <a:srgbClr val="FF0000"/>
            </a:solidFill>
          </a:ln>
          <a:extLst>
            <a:ext uri="{909E8E84-426E-40DD-AFC4-6F175D3DCCD1}">
              <a14:hiddenFill xmlns:a14="http://schemas.microsoft.com/office/drawing/2010/main">
                <a:solidFill>
                  <a:srgbClr val="D2D3D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rgbClr val="000000"/>
              </a:solidFill>
            </a:endParaRPr>
          </a:p>
        </p:txBody>
      </p:sp>
    </p:spTree>
    <p:extLst>
      <p:ext uri="{BB962C8B-B14F-4D97-AF65-F5344CB8AC3E}">
        <p14:creationId xmlns:p14="http://schemas.microsoft.com/office/powerpoint/2010/main" val="3466206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lang="ja-JP" altLang="en-US" sz="2400" dirty="0">
                <a:latin typeface="游ゴシック" panose="020B0400000000000000" pitchFamily="50" charset="-128"/>
                <a:ea typeface="游ゴシック" panose="020B0400000000000000" pitchFamily="50" charset="-128"/>
              </a:rPr>
              <a:t>構内建物配置図</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78"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9</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8" name="グループ化 7">
            <a:extLst>
              <a:ext uri="{FF2B5EF4-FFF2-40B4-BE49-F238E27FC236}">
                <a16:creationId xmlns:a16="http://schemas.microsoft.com/office/drawing/2014/main" id="{28AD6319-8F11-4649-B930-1838F1F3DBAA}"/>
              </a:ext>
            </a:extLst>
          </p:cNvPr>
          <p:cNvGrpSpPr/>
          <p:nvPr/>
        </p:nvGrpSpPr>
        <p:grpSpPr>
          <a:xfrm>
            <a:off x="360000" y="370800"/>
            <a:ext cx="720000" cy="672000"/>
            <a:chOff x="360000" y="370800"/>
            <a:chExt cx="720000" cy="672000"/>
          </a:xfrm>
        </p:grpSpPr>
        <p:sp>
          <p:nvSpPr>
            <p:cNvPr id="9" name="正方形/長方形 8">
              <a:extLst>
                <a:ext uri="{FF2B5EF4-FFF2-40B4-BE49-F238E27FC236}">
                  <a16:creationId xmlns:a16="http://schemas.microsoft.com/office/drawing/2014/main" id="{71A15C92-06E2-40AB-BE13-8EC9CD167221}"/>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0" name="テキスト ボックス 9">
              <a:extLst>
                <a:ext uri="{FF2B5EF4-FFF2-40B4-BE49-F238E27FC236}">
                  <a16:creationId xmlns:a16="http://schemas.microsoft.com/office/drawing/2014/main" id="{50AA909F-E741-415C-A88F-64762C2395AA}"/>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2</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
        <p:nvSpPr>
          <p:cNvPr id="11" name="正方形/長方形 10">
            <a:extLst>
              <a:ext uri="{FF2B5EF4-FFF2-40B4-BE49-F238E27FC236}">
                <a16:creationId xmlns:a16="http://schemas.microsoft.com/office/drawing/2014/main" id="{2BB1F5FA-B7DC-4336-96DD-1CD72D4CC8F4}"/>
              </a:ext>
            </a:extLst>
          </p:cNvPr>
          <p:cNvSpPr/>
          <p:nvPr/>
        </p:nvSpPr>
        <p:spPr>
          <a:xfrm>
            <a:off x="363092" y="5907836"/>
            <a:ext cx="9173466" cy="261610"/>
          </a:xfrm>
          <a:prstGeom prst="rect">
            <a:avLst/>
          </a:prstGeom>
        </p:spPr>
        <p:txBody>
          <a:bodyPr wrap="square">
            <a:spAutoFit/>
          </a:bodyPr>
          <a:lstStyle/>
          <a:p>
            <a:pPr algn="ctr"/>
            <a:r>
              <a:rPr lang="ja-JP" altLang="en-US" sz="1100" dirty="0">
                <a:latin typeface="游ゴシック" panose="020B0400000000000000" pitchFamily="50" charset="-128"/>
                <a:ea typeface="游ゴシック" panose="020B0400000000000000" pitchFamily="50" charset="-128"/>
              </a:rPr>
              <a:t>図：構内建物配置図及び調査箇所</a:t>
            </a:r>
          </a:p>
        </p:txBody>
      </p:sp>
      <p:sp>
        <p:nvSpPr>
          <p:cNvPr id="12" name="正方形/長方形 11">
            <a:extLst>
              <a:ext uri="{FF2B5EF4-FFF2-40B4-BE49-F238E27FC236}">
                <a16:creationId xmlns:a16="http://schemas.microsoft.com/office/drawing/2014/main" id="{22167E3E-4239-4C32-A886-FCC6BA877ADD}"/>
              </a:ext>
            </a:extLst>
          </p:cNvPr>
          <p:cNvSpPr/>
          <p:nvPr/>
        </p:nvSpPr>
        <p:spPr>
          <a:xfrm>
            <a:off x="460378" y="6169446"/>
            <a:ext cx="9173466" cy="261610"/>
          </a:xfrm>
          <a:prstGeom prst="rect">
            <a:avLst/>
          </a:prstGeom>
        </p:spPr>
        <p:txBody>
          <a:bodyPr wrap="square">
            <a:spAutoFit/>
          </a:bodyPr>
          <a:lstStyle/>
          <a:p>
            <a:pPr algn="r"/>
            <a:r>
              <a:rPr lang="ja-JP" altLang="en-US" sz="1100" dirty="0">
                <a:latin typeface="游ゴシック" panose="020B0400000000000000" pitchFamily="50" charset="-128"/>
                <a:ea typeface="游ゴシック" panose="020B0400000000000000" pitchFamily="50" charset="-128"/>
              </a:rPr>
              <a:t>（出典：貴社ご提供資料「火災保険リスクサーベイ現地確認ルート案」に一部加筆）</a:t>
            </a:r>
          </a:p>
        </p:txBody>
      </p:sp>
      <p:sp>
        <p:nvSpPr>
          <p:cNvPr id="60" name="テキスト ボックス 59">
            <a:extLst>
              <a:ext uri="{FF2B5EF4-FFF2-40B4-BE49-F238E27FC236}">
                <a16:creationId xmlns:a16="http://schemas.microsoft.com/office/drawing/2014/main" id="{188AF9A7-676B-41D6-AE7B-DD92831228D9}"/>
              </a:ext>
            </a:extLst>
          </p:cNvPr>
          <p:cNvSpPr txBox="1"/>
          <p:nvPr/>
        </p:nvSpPr>
        <p:spPr>
          <a:xfrm>
            <a:off x="3989218" y="1060023"/>
            <a:ext cx="184731" cy="369332"/>
          </a:xfrm>
          <a:prstGeom prst="rect">
            <a:avLst/>
          </a:prstGeom>
          <a:solidFill>
            <a:schemeClr val="bg1"/>
          </a:solidFill>
        </p:spPr>
        <p:txBody>
          <a:bodyPr wrap="none" rtlCol="0">
            <a:spAutoFit/>
          </a:bodyPr>
          <a:lstStyle/>
          <a:p>
            <a:endParaRPr kumimoji="1" lang="ja-JP" altLang="en-US" dirty="0">
              <a:latin typeface="+mn-ea"/>
              <a:ea typeface="+mn-ea"/>
            </a:endParaRPr>
          </a:p>
        </p:txBody>
      </p:sp>
      <p:pic>
        <p:nvPicPr>
          <p:cNvPr id="4" name="図 3">
            <a:extLst>
              <a:ext uri="{FF2B5EF4-FFF2-40B4-BE49-F238E27FC236}">
                <a16:creationId xmlns:a16="http://schemas.microsoft.com/office/drawing/2014/main" id="{99D7AA4F-59B1-92B1-9B54-5E5E5CC735E4}"/>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150609" y="1244690"/>
            <a:ext cx="7481454" cy="4553288"/>
          </a:xfrm>
          <a:prstGeom prst="rect">
            <a:avLst/>
          </a:prstGeom>
        </p:spPr>
      </p:pic>
      <p:sp>
        <p:nvSpPr>
          <p:cNvPr id="6" name="テキスト ボックス 5">
            <a:extLst>
              <a:ext uri="{FF2B5EF4-FFF2-40B4-BE49-F238E27FC236}">
                <a16:creationId xmlns:a16="http://schemas.microsoft.com/office/drawing/2014/main" id="{B5F25584-1E9B-9194-FADF-E66B90233121}"/>
              </a:ext>
            </a:extLst>
          </p:cNvPr>
          <p:cNvSpPr txBox="1"/>
          <p:nvPr/>
        </p:nvSpPr>
        <p:spPr>
          <a:xfrm>
            <a:off x="4690755" y="3049481"/>
            <a:ext cx="1140030" cy="215444"/>
          </a:xfrm>
          <a:prstGeom prst="rect">
            <a:avLst/>
          </a:prstGeom>
          <a:solidFill>
            <a:schemeClr val="bg1"/>
          </a:solidFill>
          <a:ln>
            <a:solidFill>
              <a:schemeClr val="tx1"/>
            </a:solidFill>
          </a:ln>
        </p:spPr>
        <p:txBody>
          <a:bodyPr wrap="square">
            <a:spAutoFit/>
          </a:bodyPr>
          <a:lstStyle/>
          <a:p>
            <a:r>
              <a:rPr lang="ja-JP" altLang="en-US" sz="800" dirty="0">
                <a:latin typeface="+mn-ea"/>
                <a:ea typeface="+mn-ea"/>
              </a:rPr>
              <a:t>サスペンション工場</a:t>
            </a:r>
          </a:p>
        </p:txBody>
      </p:sp>
      <p:sp>
        <p:nvSpPr>
          <p:cNvPr id="13" name="テキスト ボックス 12">
            <a:extLst>
              <a:ext uri="{FF2B5EF4-FFF2-40B4-BE49-F238E27FC236}">
                <a16:creationId xmlns:a16="http://schemas.microsoft.com/office/drawing/2014/main" id="{85503CE4-2064-DEE1-B105-BC08C97695DB}"/>
              </a:ext>
            </a:extLst>
          </p:cNvPr>
          <p:cNvSpPr txBox="1"/>
          <p:nvPr/>
        </p:nvSpPr>
        <p:spPr>
          <a:xfrm>
            <a:off x="4690755" y="1823920"/>
            <a:ext cx="926274" cy="215444"/>
          </a:xfrm>
          <a:prstGeom prst="rect">
            <a:avLst/>
          </a:prstGeom>
          <a:solidFill>
            <a:schemeClr val="bg1"/>
          </a:solidFill>
          <a:ln>
            <a:solidFill>
              <a:schemeClr val="tx1"/>
            </a:solidFill>
          </a:ln>
        </p:spPr>
        <p:txBody>
          <a:bodyPr wrap="square">
            <a:spAutoFit/>
          </a:bodyPr>
          <a:lstStyle/>
          <a:p>
            <a:r>
              <a:rPr lang="ja-JP" altLang="en-US" sz="800" dirty="0">
                <a:latin typeface="+mn-ea"/>
                <a:ea typeface="+mn-ea"/>
              </a:rPr>
              <a:t>アルミ鋳鍛工場</a:t>
            </a:r>
          </a:p>
        </p:txBody>
      </p:sp>
      <p:sp>
        <p:nvSpPr>
          <p:cNvPr id="15" name="テキスト ボックス 14">
            <a:extLst>
              <a:ext uri="{FF2B5EF4-FFF2-40B4-BE49-F238E27FC236}">
                <a16:creationId xmlns:a16="http://schemas.microsoft.com/office/drawing/2014/main" id="{2DD8D543-3E84-4BF2-E77C-D42021084B89}"/>
              </a:ext>
            </a:extLst>
          </p:cNvPr>
          <p:cNvSpPr txBox="1"/>
          <p:nvPr/>
        </p:nvSpPr>
        <p:spPr>
          <a:xfrm>
            <a:off x="6236372" y="1931642"/>
            <a:ext cx="526378" cy="215444"/>
          </a:xfrm>
          <a:prstGeom prst="rect">
            <a:avLst/>
          </a:prstGeom>
          <a:solidFill>
            <a:schemeClr val="bg1"/>
          </a:solidFill>
          <a:ln>
            <a:solidFill>
              <a:schemeClr val="tx1"/>
            </a:solidFill>
          </a:ln>
        </p:spPr>
        <p:txBody>
          <a:bodyPr wrap="square">
            <a:spAutoFit/>
          </a:bodyPr>
          <a:lstStyle/>
          <a:p>
            <a:r>
              <a:rPr lang="ja-JP" altLang="en-US" sz="800" dirty="0">
                <a:latin typeface="+mn-ea"/>
                <a:ea typeface="+mn-ea"/>
              </a:rPr>
              <a:t>変電所</a:t>
            </a:r>
          </a:p>
        </p:txBody>
      </p:sp>
      <p:cxnSp>
        <p:nvCxnSpPr>
          <p:cNvPr id="17" name="直線コネクタ 16">
            <a:extLst>
              <a:ext uri="{FF2B5EF4-FFF2-40B4-BE49-F238E27FC236}">
                <a16:creationId xmlns:a16="http://schemas.microsoft.com/office/drawing/2014/main" id="{B202C84C-8235-03E7-109F-773739922C32}"/>
              </a:ext>
            </a:extLst>
          </p:cNvPr>
          <p:cNvCxnSpPr>
            <a:cxnSpLocks/>
            <a:endCxn id="15" idx="1"/>
          </p:cNvCxnSpPr>
          <p:nvPr/>
        </p:nvCxnSpPr>
        <p:spPr>
          <a:xfrm flipV="1">
            <a:off x="6138863" y="2039364"/>
            <a:ext cx="97509" cy="141861"/>
          </a:xfrm>
          <a:prstGeom prst="line">
            <a:avLst/>
          </a:prstGeom>
        </p:spPr>
        <p:style>
          <a:lnRef idx="1">
            <a:schemeClr val="dk1"/>
          </a:lnRef>
          <a:fillRef idx="0">
            <a:schemeClr val="dk1"/>
          </a:fillRef>
          <a:effectRef idx="0">
            <a:schemeClr val="dk1"/>
          </a:effectRef>
          <a:fontRef idx="minor">
            <a:schemeClr val="tx1"/>
          </a:fontRef>
        </p:style>
      </p:cxnSp>
      <p:sp>
        <p:nvSpPr>
          <p:cNvPr id="19" name="テキスト ボックス 18">
            <a:extLst>
              <a:ext uri="{FF2B5EF4-FFF2-40B4-BE49-F238E27FC236}">
                <a16:creationId xmlns:a16="http://schemas.microsoft.com/office/drawing/2014/main" id="{977B7518-10E3-A522-582D-FC39C9CCA18A}"/>
              </a:ext>
            </a:extLst>
          </p:cNvPr>
          <p:cNvSpPr txBox="1"/>
          <p:nvPr/>
        </p:nvSpPr>
        <p:spPr>
          <a:xfrm>
            <a:off x="3726029" y="2834037"/>
            <a:ext cx="526378" cy="215444"/>
          </a:xfrm>
          <a:prstGeom prst="rect">
            <a:avLst/>
          </a:prstGeom>
          <a:solidFill>
            <a:schemeClr val="bg1"/>
          </a:solidFill>
          <a:ln>
            <a:solidFill>
              <a:schemeClr val="tx1"/>
            </a:solidFill>
          </a:ln>
        </p:spPr>
        <p:txBody>
          <a:bodyPr wrap="square">
            <a:spAutoFit/>
          </a:bodyPr>
          <a:lstStyle/>
          <a:p>
            <a:r>
              <a:rPr lang="ja-JP" altLang="en-US" sz="800" dirty="0">
                <a:latin typeface="+mn-ea"/>
                <a:ea typeface="+mn-ea"/>
              </a:rPr>
              <a:t>厚生棟</a:t>
            </a:r>
          </a:p>
        </p:txBody>
      </p:sp>
      <p:cxnSp>
        <p:nvCxnSpPr>
          <p:cNvPr id="20" name="直線コネクタ 19">
            <a:extLst>
              <a:ext uri="{FF2B5EF4-FFF2-40B4-BE49-F238E27FC236}">
                <a16:creationId xmlns:a16="http://schemas.microsoft.com/office/drawing/2014/main" id="{30D5BDD0-2508-915B-398E-520181381374}"/>
              </a:ext>
            </a:extLst>
          </p:cNvPr>
          <p:cNvCxnSpPr>
            <a:cxnSpLocks/>
          </p:cNvCxnSpPr>
          <p:nvPr/>
        </p:nvCxnSpPr>
        <p:spPr>
          <a:xfrm flipH="1">
            <a:off x="3989218" y="2572427"/>
            <a:ext cx="263189" cy="26161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0058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361950" y="361950"/>
          <a:ext cx="9582150" cy="6705600"/>
          <a:chOff x="361950" y="361950"/>
          <a:chExt cx="9582150" cy="6705600"/>
        </a:xfrm>
      </p:grpSpPr>
      <p:sp>
        <p:nvSpPr>
          <p:cNvPr id="2" name="テキスト ボックス 1"/>
          <p:cNvSpPr txBox="1"/>
          <p:nvPr/>
        </p:nvSpPr>
        <p:spPr>
          <a:xfrm>
            <a:off x="8248650" y="361950"/>
            <a:ext cx="1333500" cy="180975"/>
          </a:xfrm>
          <a:prstGeom prst="rect">
            <a:avLst/>
          </a:prstGeom>
          <a:solidFill>
            <a:srgbClr val="404040">
              <a:alpha val="100000"/>
            </a:srgbClr>
          </a:solidFill>
        </p:spPr>
        <p:txBody>
          <a:bodyPr vert="horz" wrap="none" lIns="91440" tIns="45720" rIns="91440" bIns="45720" rtlCol="0" anchor="ctr" anchorCtr="0">
            <a:noAutofit/>
          </a:bodyPr>
          <a:lstStyle/>
          <a:p>
            <a:pPr marL="47625" marR="0" lvl="0" indent="0" algn="l" rtl="0" fontAlgn="ctr">
              <a:lnSpc>
                <a:spcPct val="100000"/>
              </a:lnSpc>
              <a:spcBef>
                <a:spcPts val="0"/>
              </a:spcBef>
              <a:spcAft>
                <a:spcPts val="0"/>
              </a:spcAft>
            </a:pPr>
            <a:r>
              <a:rPr lang="en-US" sz="1000" u="none" strike="noStrike" cap="none" spc="0" dirty="0">
                <a:solidFill>
                  <a:srgbClr val="FFFFFF">
                    <a:alpha val="100000"/>
                  </a:srgbClr>
                </a:solidFill>
                <a:latin typeface="游ゴシック"/>
              </a:rPr>
              <a:t>Strictly Confidential</a:t>
            </a:r>
          </a:p>
        </p:txBody>
      </p:sp>
      <p:sp>
        <p:nvSpPr>
          <p:cNvPr id="3" name="テキスト ボックス 2"/>
          <p:cNvSpPr txBox="1"/>
          <p:nvPr/>
        </p:nvSpPr>
        <p:spPr>
          <a:xfrm>
            <a:off x="361950" y="371475"/>
            <a:ext cx="723900" cy="676275"/>
          </a:xfrm>
          <a:prstGeom prst="rect">
            <a:avLst/>
          </a:prstGeom>
          <a:solidFill>
            <a:srgbClr val="006659">
              <a:alpha val="100000"/>
            </a:srgbClr>
          </a:solidFill>
        </p:spPr>
        <p:txBody>
          <a:bodyPr vert="horz" lIns="91440" tIns="45720" rIns="91440" bIns="45720" rtlCol="0" anchor="ctr" anchorCtr="0">
            <a:noAutofit/>
          </a:bodyPr>
          <a:lstStyle/>
          <a:p>
            <a:pPr marL="0" marR="0" lvl="0" indent="0" algn="ctr" rtl="0" fontAlgn="ctr">
              <a:lnSpc>
                <a:spcPct val="100000"/>
              </a:lnSpc>
              <a:spcBef>
                <a:spcPts val="0"/>
              </a:spcBef>
              <a:spcAft>
                <a:spcPts val="0"/>
              </a:spcAft>
            </a:pPr>
            <a:r>
              <a:rPr lang="en-US" sz="3200" u="none" strike="noStrike" cap="none" spc="0">
                <a:solidFill>
                  <a:srgbClr val="FFFFFF">
                    <a:alpha val="100000"/>
                  </a:srgbClr>
                </a:solidFill>
                <a:latin typeface="游ゴシック"/>
              </a:rPr>
              <a:t>2</a:t>
            </a:r>
          </a:p>
        </p:txBody>
      </p:sp>
      <p:sp>
        <p:nvSpPr>
          <p:cNvPr id="4" name="テキスト ボックス 3"/>
          <p:cNvSpPr txBox="1"/>
          <p:nvPr/>
        </p:nvSpPr>
        <p:spPr>
          <a:xfrm>
            <a:off x="1295400" y="371475"/>
            <a:ext cx="7239000" cy="676275"/>
          </a:xfrm>
          <a:prstGeom prst="rect">
            <a:avLst/>
          </a:prstGeom>
          <a:noFill/>
        </p:spPr>
        <p:txBody>
          <a:bodyPr vert="horz" lIns="91440" tIns="45720" rIns="91440" bIns="45720" rtlCol="0" anchor="ctr" anchorCtr="0">
            <a:noAutofit/>
          </a:bodyPr>
          <a:lstStyle/>
          <a:p>
            <a:pPr marL="47625" marR="0" lvl="0" indent="0" algn="l" rtl="0" fontAlgn="ctr">
              <a:lnSpc>
                <a:spcPct val="100000"/>
              </a:lnSpc>
              <a:spcBef>
                <a:spcPts val="0"/>
              </a:spcBef>
              <a:spcAft>
                <a:spcPts val="0"/>
              </a:spcAft>
            </a:pPr>
            <a:r>
              <a:rPr lang="en-US" sz="2400" u="none" strike="noStrike" cap="none" spc="0" dirty="0" err="1">
                <a:solidFill>
                  <a:srgbClr val="000000">
                    <a:alpha val="100000"/>
                  </a:srgbClr>
                </a:solidFill>
                <a:latin typeface="+mn-ea"/>
                <a:ea typeface="+mn-ea"/>
              </a:rPr>
              <a:t>主要施設</a:t>
            </a:r>
            <a:endParaRPr lang="en-US" sz="2400" u="none" strike="noStrike" cap="none" spc="0" dirty="0">
              <a:solidFill>
                <a:srgbClr val="000000">
                  <a:alpha val="100000"/>
                </a:srgbClr>
              </a:solidFill>
              <a:latin typeface="+mn-ea"/>
              <a:ea typeface="+mn-ea"/>
            </a:endParaRPr>
          </a:p>
        </p:txBody>
      </p:sp>
      <p:sp>
        <p:nvSpPr>
          <p:cNvPr id="5" name="テキスト ボックス 4"/>
          <p:cNvSpPr txBox="1"/>
          <p:nvPr/>
        </p:nvSpPr>
        <p:spPr>
          <a:xfrm>
            <a:off x="361950" y="6496050"/>
            <a:ext cx="9220200" cy="209550"/>
          </a:xfrm>
          <a:prstGeom prst="rect">
            <a:avLst/>
          </a:prstGeom>
          <a:solidFill>
            <a:srgbClr val="006659">
              <a:alpha val="100000"/>
            </a:srgbClr>
          </a:solidFill>
        </p:spPr>
        <p:txBody>
          <a:bodyPr vert="horz" lIns="91440" tIns="45720" rIns="91440" bIns="45720" rtlCol="0" anchor="ctr" anchorCtr="0">
            <a:noAutofit/>
          </a:bodyPr>
          <a:lstStyle/>
          <a:p>
            <a:pPr marL="47625" marR="0" lvl="0" indent="0" algn="l" rtl="0" fontAlgn="ctr">
              <a:lnSpc>
                <a:spcPct val="100000"/>
              </a:lnSpc>
              <a:spcBef>
                <a:spcPts val="0"/>
              </a:spcBef>
              <a:spcAft>
                <a:spcPts val="0"/>
              </a:spcAft>
            </a:pPr>
            <a:r>
              <a:rPr lang="en-US" sz="1000" u="none" strike="noStrike" cap="none" spc="0">
                <a:solidFill>
                  <a:srgbClr val="FFFFFF">
                    <a:alpha val="100000"/>
                  </a:srgbClr>
                </a:solidFill>
                <a:latin typeface="游ゴシック"/>
              </a:rPr>
              <a:t>© MS&amp;AD InterRisk Research &amp; Consulting, Inc.</a:t>
            </a:r>
          </a:p>
        </p:txBody>
      </p:sp>
      <p:graphicFrame>
        <p:nvGraphicFramePr>
          <p:cNvPr id="6" name="表 5"/>
          <p:cNvGraphicFramePr>
            <a:graphicFrameLocks noGrp="1"/>
          </p:cNvGraphicFramePr>
          <p:nvPr>
            <p:extLst>
              <p:ext uri="{D42A27DB-BD31-4B8C-83A1-F6EECF244321}">
                <p14:modId xmlns:p14="http://schemas.microsoft.com/office/powerpoint/2010/main" val="3733461498"/>
              </p:ext>
            </p:extLst>
          </p:nvPr>
        </p:nvGraphicFramePr>
        <p:xfrm>
          <a:off x="880562" y="1249107"/>
          <a:ext cx="8138526" cy="5045586"/>
        </p:xfrm>
        <a:graphic>
          <a:graphicData uri="http://schemas.openxmlformats.org/drawingml/2006/table">
            <a:tbl>
              <a:tblPr firstRow="1" bandRow="1"/>
              <a:tblGrid>
                <a:gridCol w="2455326">
                  <a:extLst>
                    <a:ext uri="{9D8B030D-6E8A-4147-A177-3AD203B41FA5}">
                      <a16:colId xmlns:a16="http://schemas.microsoft.com/office/drawing/2014/main" val="20000"/>
                    </a:ext>
                  </a:extLst>
                </a:gridCol>
                <a:gridCol w="1420800">
                  <a:extLst>
                    <a:ext uri="{9D8B030D-6E8A-4147-A177-3AD203B41FA5}">
                      <a16:colId xmlns:a16="http://schemas.microsoft.com/office/drawing/2014/main" val="20001"/>
                    </a:ext>
                  </a:extLst>
                </a:gridCol>
                <a:gridCol w="1420800">
                  <a:extLst>
                    <a:ext uri="{9D8B030D-6E8A-4147-A177-3AD203B41FA5}">
                      <a16:colId xmlns:a16="http://schemas.microsoft.com/office/drawing/2014/main" val="20002"/>
                    </a:ext>
                  </a:extLst>
                </a:gridCol>
                <a:gridCol w="1420800">
                  <a:extLst>
                    <a:ext uri="{9D8B030D-6E8A-4147-A177-3AD203B41FA5}">
                      <a16:colId xmlns:a16="http://schemas.microsoft.com/office/drawing/2014/main" val="20003"/>
                    </a:ext>
                  </a:extLst>
                </a:gridCol>
                <a:gridCol w="1420800">
                  <a:extLst>
                    <a:ext uri="{9D8B030D-6E8A-4147-A177-3AD203B41FA5}">
                      <a16:colId xmlns:a16="http://schemas.microsoft.com/office/drawing/2014/main" val="52247488"/>
                    </a:ext>
                  </a:extLst>
                </a:gridCol>
              </a:tblGrid>
              <a:tr h="166936">
                <a:tc>
                  <a:txBody>
                    <a:bodyPr/>
                    <a:lstStyle/>
                    <a:p>
                      <a:pPr marL="0" marR="0" lvl="0" indent="0" algn="ctr" rtl="0" fontAlgn="ctr">
                        <a:lnSpc>
                          <a:spcPct val="100000"/>
                        </a:lnSpc>
                        <a:spcBef>
                          <a:spcPts val="0"/>
                        </a:spcBef>
                        <a:spcAft>
                          <a:spcPts val="0"/>
                        </a:spcAft>
                      </a:pPr>
                      <a:r>
                        <a:rPr lang="en-US" sz="1400" u="none" strike="noStrike" cap="none" spc="0">
                          <a:solidFill>
                            <a:srgbClr val="000000">
                              <a:alpha val="100000"/>
                            </a:srgbClr>
                          </a:solidFill>
                          <a:latin typeface="+mn-ea"/>
                          <a:ea typeface="+mn-ea"/>
                        </a:rPr>
                        <a:t>施設名</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サスペンション工場</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アルミ鋳鍛工場</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変電所</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厚生棟</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extLst>
                  <a:ext uri="{0D108BD9-81ED-4DB2-BD59-A6C34878D82A}">
                    <a16:rowId xmlns:a16="http://schemas.microsoft.com/office/drawing/2014/main" val="10000"/>
                  </a:ext>
                </a:extLst>
              </a:tr>
              <a:tr h="166936">
                <a:tc>
                  <a:txBody>
                    <a:bodyPr/>
                    <a:lstStyle/>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用途</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生産</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生産</a:t>
                      </a:r>
                      <a:endParaRPr lang="en-US" altLang="ja-JP"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配電</a:t>
                      </a:r>
                      <a:endParaRPr lang="en-US" altLang="ja-JP"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1"/>
                  </a:ext>
                </a:extLst>
              </a:tr>
              <a:tr h="174388">
                <a:tc>
                  <a:txBody>
                    <a:bodyPr/>
                    <a:lstStyle/>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建築年</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algn="ctr" fontAlgn="ctr">
                        <a:buNone/>
                      </a:pPr>
                      <a:r>
                        <a:rPr lang="ja-JP" sz="1400" b="0" i="0" u="none" strike="noStrike" dirty="0">
                          <a:solidFill>
                            <a:srgbClr val="000000"/>
                          </a:solidFill>
                          <a:effectLst/>
                          <a:latin typeface="+mn-ea"/>
                          <a:ea typeface="+mn-ea"/>
                        </a:rPr>
                        <a:t>1992</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a:solidFill>
                            <a:srgbClr val="000000"/>
                          </a:solidFill>
                          <a:effectLst/>
                          <a:latin typeface="+mn-ea"/>
                          <a:ea typeface="+mn-ea"/>
                        </a:rPr>
                        <a:t>1993</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a:solidFill>
                            <a:srgbClr val="000000"/>
                          </a:solidFill>
                          <a:effectLst/>
                          <a:latin typeface="+mn-ea"/>
                          <a:ea typeface="+mn-ea"/>
                        </a:rPr>
                        <a:t>1992</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a:solidFill>
                            <a:srgbClr val="000000"/>
                          </a:solidFill>
                          <a:effectLst/>
                          <a:latin typeface="+mn-ea"/>
                          <a:ea typeface="+mn-ea"/>
                        </a:rPr>
                        <a:t>1992</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2"/>
                  </a:ext>
                </a:extLst>
              </a:tr>
              <a:tr h="174388">
                <a:tc>
                  <a:txBody>
                    <a:bodyPr/>
                    <a:lstStyle/>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延床面積</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algn="ctr" fontAlgn="ctr">
                        <a:buNone/>
                      </a:pPr>
                      <a:r>
                        <a:rPr lang="ja-JP" sz="1400" b="0" i="0" u="none" strike="noStrike" dirty="0">
                          <a:solidFill>
                            <a:srgbClr val="000000"/>
                          </a:solidFill>
                          <a:effectLst/>
                          <a:latin typeface="+mn-ea"/>
                          <a:ea typeface="+mn-ea"/>
                        </a:rPr>
                        <a:t>20034</a:t>
                      </a:r>
                      <a:r>
                        <a:rPr lang="en-US" altLang="ja-JP" sz="1400" b="0" i="0" u="none" strike="noStrike" dirty="0">
                          <a:solidFill>
                            <a:srgbClr val="000000"/>
                          </a:solidFill>
                          <a:effectLst/>
                          <a:latin typeface="+mn-ea"/>
                          <a:ea typeface="+mn-ea"/>
                        </a:rPr>
                        <a:t>m</a:t>
                      </a:r>
                      <a:r>
                        <a:rPr lang="en-US" altLang="ja-JP" sz="1400" b="0" i="0" u="none" strike="noStrike" baseline="30000" dirty="0">
                          <a:solidFill>
                            <a:srgbClr val="000000"/>
                          </a:solidFill>
                          <a:effectLst/>
                          <a:latin typeface="+mn-ea"/>
                          <a:ea typeface="+mn-ea"/>
                        </a:rPr>
                        <a:t>2</a:t>
                      </a:r>
                      <a:endParaRPr lang="ja-JP" sz="1400" b="0" i="0" u="none" strike="noStrike" baseline="30000" dirty="0">
                        <a:solidFill>
                          <a:srgbClr val="000000"/>
                        </a:solidFill>
                        <a:effectLst/>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25812.59</a:t>
                      </a:r>
                      <a:r>
                        <a:rPr lang="en-US" altLang="ja-JP" sz="1400" b="0" i="0" u="none" strike="noStrike" dirty="0">
                          <a:solidFill>
                            <a:srgbClr val="000000"/>
                          </a:solidFill>
                          <a:effectLst/>
                          <a:latin typeface="+mn-ea"/>
                          <a:ea typeface="+mn-ea"/>
                        </a:rPr>
                        <a:t>m</a:t>
                      </a:r>
                      <a:r>
                        <a:rPr lang="en-US" altLang="ja-JP" sz="1400" b="0" i="0" u="none" strike="noStrike" baseline="30000" dirty="0">
                          <a:solidFill>
                            <a:srgbClr val="000000"/>
                          </a:solidFill>
                          <a:effectLst/>
                          <a:latin typeface="+mn-ea"/>
                          <a:ea typeface="+mn-ea"/>
                        </a:rPr>
                        <a:t>2</a:t>
                      </a:r>
                      <a:endParaRPr lang="ja-JP" sz="1400" b="0" i="0" u="none" strike="noStrike" dirty="0">
                        <a:solidFill>
                          <a:srgbClr val="000000"/>
                        </a:solidFill>
                        <a:effectLst/>
                        <a:latin typeface="+mn-ea"/>
                        <a:ea typeface="+mn-ea"/>
                      </a:endParaRP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277.76</a:t>
                      </a:r>
                      <a:r>
                        <a:rPr lang="en-US" altLang="ja-JP" sz="1400" b="0" i="0" u="none" strike="noStrike" dirty="0">
                          <a:solidFill>
                            <a:srgbClr val="000000"/>
                          </a:solidFill>
                          <a:effectLst/>
                          <a:latin typeface="+mn-ea"/>
                          <a:ea typeface="+mn-ea"/>
                        </a:rPr>
                        <a:t>m</a:t>
                      </a:r>
                      <a:r>
                        <a:rPr lang="en-US" altLang="ja-JP" sz="1400" b="0" i="0" u="none" strike="noStrike" baseline="30000" dirty="0">
                          <a:solidFill>
                            <a:srgbClr val="000000"/>
                          </a:solidFill>
                          <a:effectLst/>
                          <a:latin typeface="+mn-ea"/>
                          <a:ea typeface="+mn-ea"/>
                        </a:rPr>
                        <a:t>2</a:t>
                      </a:r>
                      <a:endParaRPr lang="ja-JP" sz="1400" b="0" i="0" u="none" strike="noStrike" dirty="0">
                        <a:solidFill>
                          <a:srgbClr val="000000"/>
                        </a:solidFill>
                        <a:effectLst/>
                        <a:latin typeface="+mn-ea"/>
                        <a:ea typeface="+mn-ea"/>
                      </a:endParaRP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1712</a:t>
                      </a:r>
                      <a:r>
                        <a:rPr lang="en-US" altLang="ja-JP" sz="1400" b="0" i="0" u="none" strike="noStrike" dirty="0">
                          <a:solidFill>
                            <a:srgbClr val="000000"/>
                          </a:solidFill>
                          <a:effectLst/>
                          <a:latin typeface="+mn-ea"/>
                          <a:ea typeface="+mn-ea"/>
                        </a:rPr>
                        <a:t>m</a:t>
                      </a:r>
                      <a:r>
                        <a:rPr lang="en-US" altLang="ja-JP" sz="1400" b="0" i="0" u="none" strike="noStrike" baseline="30000" dirty="0">
                          <a:solidFill>
                            <a:srgbClr val="000000"/>
                          </a:solidFill>
                          <a:effectLst/>
                          <a:latin typeface="+mn-ea"/>
                          <a:ea typeface="+mn-ea"/>
                        </a:rPr>
                        <a:t>2</a:t>
                      </a:r>
                      <a:endParaRPr lang="ja-JP" sz="1400" b="0" i="0" u="none" strike="noStrike" dirty="0">
                        <a:solidFill>
                          <a:srgbClr val="000000"/>
                        </a:solidFill>
                        <a:effectLst/>
                        <a:latin typeface="+mn-ea"/>
                        <a:ea typeface="+mn-ea"/>
                      </a:endParaRP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3"/>
                  </a:ext>
                </a:extLst>
              </a:tr>
              <a:tr h="166936">
                <a:tc>
                  <a:txBody>
                    <a:bodyPr/>
                    <a:lstStyle/>
                    <a:p>
                      <a:pPr marL="0" marR="0" lvl="0" indent="0" algn="ctr" rtl="0" fontAlgn="ctr">
                        <a:lnSpc>
                          <a:spcPct val="100000"/>
                        </a:lnSpc>
                        <a:spcBef>
                          <a:spcPts val="0"/>
                        </a:spcBef>
                        <a:spcAft>
                          <a:spcPts val="0"/>
                        </a:spcAft>
                      </a:pPr>
                      <a:r>
                        <a:rPr lang="en-US" sz="1400" u="none" strike="noStrike" cap="none" spc="0">
                          <a:solidFill>
                            <a:srgbClr val="000000">
                              <a:alpha val="100000"/>
                            </a:srgbClr>
                          </a:solidFill>
                          <a:latin typeface="+mn-ea"/>
                          <a:ea typeface="+mn-ea"/>
                        </a:rPr>
                        <a:t>階数（地上）</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en-US" sz="1400" u="none" strike="noStrike" cap="none" spc="0" dirty="0">
                          <a:solidFill>
                            <a:srgbClr val="000000">
                              <a:alpha val="100000"/>
                            </a:srgbClr>
                          </a:solidFill>
                          <a:latin typeface="+mn-ea"/>
                          <a:ea typeface="+mn-ea"/>
                        </a:rPr>
                        <a:t>2階</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en-US" sz="1400" u="none" strike="noStrike" cap="none" spc="0" dirty="0">
                          <a:solidFill>
                            <a:srgbClr val="000000">
                              <a:alpha val="100000"/>
                            </a:srgbClr>
                          </a:solidFill>
                          <a:latin typeface="+mn-ea"/>
                          <a:ea typeface="+mn-ea"/>
                        </a:rPr>
                        <a:t>2階</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en-US" sz="1400" u="none" strike="noStrike" cap="none" spc="0" dirty="0">
                          <a:solidFill>
                            <a:srgbClr val="000000">
                              <a:alpha val="100000"/>
                            </a:srgbClr>
                          </a:solidFill>
                          <a:latin typeface="+mn-ea"/>
                          <a:ea typeface="+mn-ea"/>
                        </a:rPr>
                        <a:t>1階</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en-US" sz="1400" u="none" strike="noStrike" cap="none" spc="0" dirty="0">
                          <a:solidFill>
                            <a:srgbClr val="000000">
                              <a:alpha val="100000"/>
                            </a:srgbClr>
                          </a:solidFill>
                          <a:latin typeface="+mn-ea"/>
                          <a:ea typeface="+mn-ea"/>
                        </a:rPr>
                        <a:t>1階</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4"/>
                  </a:ext>
                </a:extLst>
              </a:tr>
              <a:tr h="238479">
                <a:tc>
                  <a:txBody>
                    <a:bodyPr/>
                    <a:lstStyle/>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階数（地下</a:t>
                      </a:r>
                      <a:r>
                        <a:rPr lang="en-US" sz="1400" u="none" strike="noStrike" cap="none" spc="0" dirty="0">
                          <a:solidFill>
                            <a:srgbClr val="000000">
                              <a:alpha val="100000"/>
                            </a:srgbClr>
                          </a:solidFill>
                          <a:latin typeface="+mn-ea"/>
                          <a:ea typeface="+mn-ea"/>
                        </a:rPr>
                        <a:t>）</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なし</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なし</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なし</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なし</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5"/>
                  </a:ext>
                </a:extLst>
              </a:tr>
              <a:tr h="238479">
                <a:tc>
                  <a:txBody>
                    <a:bodyPr/>
                    <a:lstStyle/>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地下ピット</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algn="ctr" fontAlgn="ctr">
                        <a:buNone/>
                      </a:pPr>
                      <a:r>
                        <a:rPr lang="ja-JP" sz="1400" b="0" i="0" u="none" strike="noStrike" dirty="0">
                          <a:solidFill>
                            <a:srgbClr val="000000"/>
                          </a:solidFill>
                          <a:effectLst/>
                          <a:latin typeface="+mn-ea"/>
                          <a:ea typeface="+mn-ea"/>
                        </a:rPr>
                        <a:t>あり</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a:solidFill>
                            <a:srgbClr val="000000"/>
                          </a:solidFill>
                          <a:effectLst/>
                          <a:latin typeface="+mn-ea"/>
                          <a:ea typeface="+mn-ea"/>
                        </a:rPr>
                        <a:t>あり</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6"/>
                  </a:ext>
                </a:extLst>
              </a:tr>
              <a:tr h="238479">
                <a:tc>
                  <a:txBody>
                    <a:bodyPr/>
                    <a:lstStyle/>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地下ピット止水対策</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7"/>
                  </a:ext>
                </a:extLst>
              </a:tr>
              <a:tr h="238479">
                <a:tc>
                  <a:txBody>
                    <a:bodyPr/>
                    <a:lstStyle/>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地下ピット排水ポンプ</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algn="ctr" fontAlgn="ctr">
                        <a:buNone/>
                      </a:pPr>
                      <a:r>
                        <a:rPr lang="ja-JP" sz="1400" b="0" i="0" u="none" strike="noStrike" dirty="0">
                          <a:solidFill>
                            <a:srgbClr val="000000"/>
                          </a:solidFill>
                          <a:effectLst/>
                          <a:latin typeface="+mn-ea"/>
                          <a:ea typeface="+mn-ea"/>
                        </a:rPr>
                        <a:t>あり</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あり</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8"/>
                  </a:ext>
                </a:extLst>
              </a:tr>
              <a:tr h="238479">
                <a:tc>
                  <a:txBody>
                    <a:bodyPr/>
                    <a:lstStyle/>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主構造</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algn="ctr" fontAlgn="ctr">
                        <a:buNone/>
                      </a:pPr>
                      <a:r>
                        <a:rPr lang="ja-JP" sz="1400" b="0" i="0" u="none" strike="noStrike">
                          <a:solidFill>
                            <a:srgbClr val="000000"/>
                          </a:solidFill>
                          <a:effectLst/>
                          <a:latin typeface="+mn-ea"/>
                          <a:ea typeface="+mn-ea"/>
                        </a:rPr>
                        <a:t>鉄骨造</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鉄骨造</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鉄骨造</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鉄骨造</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9"/>
                  </a:ext>
                </a:extLst>
              </a:tr>
              <a:tr h="238479">
                <a:tc>
                  <a:txBody>
                    <a:bodyPr/>
                    <a:lstStyle/>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外壁</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algn="ctr" fontAlgn="ctr">
                        <a:buNone/>
                      </a:pPr>
                      <a:r>
                        <a:rPr lang="ja-JP" sz="1400" b="0" i="0" u="none" strike="noStrike" dirty="0">
                          <a:solidFill>
                            <a:srgbClr val="000000"/>
                          </a:solidFill>
                          <a:effectLst/>
                          <a:latin typeface="+mn-ea"/>
                          <a:ea typeface="+mn-ea"/>
                        </a:rPr>
                        <a:t>波板</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波板</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波板</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波板</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10"/>
                  </a:ext>
                </a:extLst>
              </a:tr>
              <a:tr h="238479">
                <a:tc>
                  <a:txBody>
                    <a:bodyPr/>
                    <a:lstStyle/>
                    <a:p>
                      <a:pPr marL="0" marR="0" lvl="0" indent="0" algn="ctr" rtl="0" fontAlgn="ctr">
                        <a:lnSpc>
                          <a:spcPct val="100000"/>
                        </a:lnSpc>
                        <a:spcBef>
                          <a:spcPts val="0"/>
                        </a:spcBef>
                        <a:spcAft>
                          <a:spcPts val="0"/>
                        </a:spcAft>
                      </a:pPr>
                      <a:r>
                        <a:rPr lang="en-US" sz="1400" u="none" strike="noStrike" cap="none" spc="0">
                          <a:solidFill>
                            <a:srgbClr val="000000">
                              <a:alpha val="100000"/>
                            </a:srgbClr>
                          </a:solidFill>
                          <a:latin typeface="+mn-ea"/>
                          <a:ea typeface="+mn-ea"/>
                        </a:rPr>
                        <a:t>屋根</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algn="ctr" fontAlgn="ctr">
                        <a:buNone/>
                      </a:pPr>
                      <a:r>
                        <a:rPr lang="ja-JP" sz="1400" b="0" i="0" u="none" strike="noStrike" dirty="0">
                          <a:solidFill>
                            <a:srgbClr val="000000"/>
                          </a:solidFill>
                          <a:effectLst/>
                          <a:latin typeface="+mn-ea"/>
                          <a:ea typeface="+mn-ea"/>
                        </a:rPr>
                        <a:t>波板</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波板</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波板</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波板</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11"/>
                  </a:ext>
                </a:extLst>
              </a:tr>
              <a:tr h="238479">
                <a:tc>
                  <a:txBody>
                    <a:bodyPr/>
                    <a:lstStyle/>
                    <a:p>
                      <a:pPr marL="0" marR="0" lvl="0" indent="0" algn="ctr" rtl="0" fontAlgn="ctr">
                        <a:lnSpc>
                          <a:spcPct val="100000"/>
                        </a:lnSpc>
                        <a:spcBef>
                          <a:spcPts val="0"/>
                        </a:spcBef>
                        <a:spcAft>
                          <a:spcPts val="0"/>
                        </a:spcAft>
                      </a:pPr>
                      <a:r>
                        <a:rPr lang="en-US" sz="1400" u="none" strike="noStrike" cap="none" spc="0">
                          <a:solidFill>
                            <a:srgbClr val="000000">
                              <a:alpha val="100000"/>
                            </a:srgbClr>
                          </a:solidFill>
                          <a:latin typeface="+mn-ea"/>
                          <a:ea typeface="+mn-ea"/>
                        </a:rPr>
                        <a:t>屋根の形状</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algn="ctr" fontAlgn="ctr">
                        <a:buNone/>
                      </a:pPr>
                      <a:r>
                        <a:rPr lang="ja-JP" sz="1400" b="0" i="0" u="none" strike="noStrike" dirty="0">
                          <a:solidFill>
                            <a:srgbClr val="000000"/>
                          </a:solidFill>
                          <a:effectLst/>
                          <a:latin typeface="+mn-ea"/>
                          <a:ea typeface="+mn-ea"/>
                        </a:rPr>
                        <a:t>陸屋根</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陸屋根</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陸屋根</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陸屋根</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12"/>
                  </a:ext>
                </a:extLst>
              </a:tr>
              <a:tr h="238479">
                <a:tc>
                  <a:txBody>
                    <a:bodyPr/>
                    <a:lstStyle/>
                    <a:p>
                      <a:pPr marL="0" marR="0" lvl="0" indent="0" algn="ctr" rtl="0" fontAlgn="ctr">
                        <a:lnSpc>
                          <a:spcPct val="100000"/>
                        </a:lnSpc>
                        <a:spcBef>
                          <a:spcPts val="0"/>
                        </a:spcBef>
                        <a:spcAft>
                          <a:spcPts val="0"/>
                        </a:spcAft>
                      </a:pPr>
                      <a:r>
                        <a:rPr lang="en-US" sz="1400" u="none" strike="noStrike" cap="none" spc="0" dirty="0">
                          <a:solidFill>
                            <a:srgbClr val="000000">
                              <a:alpha val="100000"/>
                            </a:srgbClr>
                          </a:solidFill>
                          <a:latin typeface="+mn-ea"/>
                          <a:ea typeface="+mn-ea"/>
                        </a:rPr>
                        <a:t>（</a:t>
                      </a:r>
                      <a:r>
                        <a:rPr lang="en-US" sz="1400" u="none" strike="noStrike" cap="none" spc="0" dirty="0" err="1">
                          <a:solidFill>
                            <a:srgbClr val="000000">
                              <a:alpha val="100000"/>
                            </a:srgbClr>
                          </a:solidFill>
                          <a:latin typeface="+mn-ea"/>
                          <a:ea typeface="+mn-ea"/>
                        </a:rPr>
                        <a:t>谷型・鋸型の場合</a:t>
                      </a:r>
                      <a:r>
                        <a:rPr lang="en-US" sz="1400" u="none" strike="noStrike" cap="none" spc="0" dirty="0">
                          <a:solidFill>
                            <a:srgbClr val="000000">
                              <a:alpha val="100000"/>
                            </a:srgbClr>
                          </a:solidFill>
                          <a:latin typeface="+mn-ea"/>
                          <a:ea typeface="+mn-ea"/>
                        </a:rPr>
                        <a:t>）</a:t>
                      </a:r>
                    </a:p>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排水溝の有無</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非該当</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非該当</a:t>
                      </a:r>
                      <a:endParaRPr lang="en-US" altLang="ja-JP"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非該当</a:t>
                      </a:r>
                      <a:endParaRPr lang="en-US" altLang="ja-JP"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defTabSz="913851" rtl="0" eaLnBrk="1" fontAlgn="ctr" latinLnBrk="0" hangingPunct="1">
                        <a:lnSpc>
                          <a:spcPct val="100000"/>
                        </a:lnSpc>
                        <a:spcBef>
                          <a:spcPts val="0"/>
                        </a:spcBef>
                        <a:spcAft>
                          <a:spcPts val="0"/>
                        </a:spcAft>
                        <a:buClrTx/>
                        <a:buSzTx/>
                        <a:buFontTx/>
                        <a:buNone/>
                        <a:tabLst/>
                        <a:defRPr/>
                      </a:pPr>
                      <a:r>
                        <a:rPr lang="ja-JP" altLang="en-US" sz="1400" u="none" strike="noStrike" cap="none" spc="0" dirty="0">
                          <a:solidFill>
                            <a:srgbClr val="000000">
                              <a:alpha val="100000"/>
                            </a:srgbClr>
                          </a:solidFill>
                          <a:latin typeface="+mn-ea"/>
                          <a:ea typeface="+mn-ea"/>
                        </a:rPr>
                        <a:t>非該当</a:t>
                      </a:r>
                      <a:endParaRPr lang="en-US" altLang="ja-JP"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13"/>
                  </a:ext>
                </a:extLst>
              </a:tr>
              <a:tr h="238479">
                <a:tc>
                  <a:txBody>
                    <a:bodyPr/>
                    <a:lstStyle/>
                    <a:p>
                      <a:pPr marL="0" marR="0" lvl="0" indent="0" algn="ctr" rtl="0" fontAlgn="ctr">
                        <a:lnSpc>
                          <a:spcPct val="100000"/>
                        </a:lnSpc>
                        <a:spcBef>
                          <a:spcPts val="0"/>
                        </a:spcBef>
                        <a:spcAft>
                          <a:spcPts val="0"/>
                        </a:spcAft>
                      </a:pPr>
                      <a:r>
                        <a:rPr lang="en-US" sz="1400" u="none" strike="noStrike" cap="none" spc="0">
                          <a:solidFill>
                            <a:srgbClr val="000000">
                              <a:alpha val="100000"/>
                            </a:srgbClr>
                          </a:solidFill>
                          <a:latin typeface="+mn-ea"/>
                          <a:ea typeface="+mn-ea"/>
                        </a:rPr>
                        <a:t>屋根の防水シート</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en-US" altLang="ja-JP" sz="1400" u="none" strike="noStrike" cap="none" spc="0" dirty="0" err="1">
                          <a:solidFill>
                            <a:srgbClr val="000000">
                              <a:alpha val="100000"/>
                            </a:srgbClr>
                          </a:solidFill>
                          <a:latin typeface="+mn-ea"/>
                          <a:ea typeface="+mn-ea"/>
                        </a:rPr>
                        <a:t>なし</a:t>
                      </a:r>
                      <a:endParaRPr lang="en-US" altLang="ja-JP"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なし</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en-US" altLang="ja-JP" sz="1400" u="none" strike="noStrike" cap="none" spc="0" dirty="0" err="1">
                          <a:solidFill>
                            <a:srgbClr val="000000">
                              <a:alpha val="100000"/>
                            </a:srgbClr>
                          </a:solidFill>
                          <a:latin typeface="+mn-ea"/>
                          <a:ea typeface="+mn-ea"/>
                        </a:rPr>
                        <a:t>なし</a:t>
                      </a:r>
                      <a:endParaRPr lang="en-US" altLang="ja-JP"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defTabSz="913851" rtl="0" eaLnBrk="1" fontAlgn="ctr" latinLnBrk="0" hangingPunct="1">
                        <a:lnSpc>
                          <a:spcPct val="100000"/>
                        </a:lnSpc>
                        <a:spcBef>
                          <a:spcPts val="0"/>
                        </a:spcBef>
                        <a:spcAft>
                          <a:spcPts val="0"/>
                        </a:spcAft>
                        <a:buClrTx/>
                        <a:buSzTx/>
                        <a:buFontTx/>
                        <a:buNone/>
                        <a:tabLst/>
                        <a:defRPr/>
                      </a:pPr>
                      <a:r>
                        <a:rPr lang="en-US" altLang="ja-JP" sz="1400" u="none" strike="noStrike" cap="none" spc="0" dirty="0" err="1">
                          <a:solidFill>
                            <a:srgbClr val="000000">
                              <a:alpha val="100000"/>
                            </a:srgbClr>
                          </a:solidFill>
                          <a:latin typeface="+mn-ea"/>
                          <a:ea typeface="+mn-ea"/>
                        </a:rPr>
                        <a:t>なし</a:t>
                      </a:r>
                      <a:endParaRPr lang="en-US" altLang="ja-JP"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14"/>
                  </a:ext>
                </a:extLst>
              </a:tr>
              <a:tr h="238479">
                <a:tc>
                  <a:txBody>
                    <a:bodyPr/>
                    <a:lstStyle/>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防水シート更新予定</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15"/>
                  </a:ext>
                </a:extLst>
              </a:tr>
              <a:tr h="238479">
                <a:tc>
                  <a:txBody>
                    <a:bodyPr/>
                    <a:lstStyle/>
                    <a:p>
                      <a:pPr marL="0" marR="0" lvl="0" indent="0" algn="ctr" rtl="0" fontAlgn="ctr">
                        <a:lnSpc>
                          <a:spcPct val="100000"/>
                        </a:lnSpc>
                        <a:spcBef>
                          <a:spcPts val="0"/>
                        </a:spcBef>
                        <a:spcAft>
                          <a:spcPts val="0"/>
                        </a:spcAft>
                      </a:pPr>
                      <a:r>
                        <a:rPr lang="en-US" sz="1400" u="none" strike="noStrike" cap="none" spc="0">
                          <a:solidFill>
                            <a:srgbClr val="000000">
                              <a:alpha val="100000"/>
                            </a:srgbClr>
                          </a:solidFill>
                          <a:latin typeface="+mn-ea"/>
                          <a:ea typeface="+mn-ea"/>
                        </a:rPr>
                        <a:t>防水シート設置年</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algn="ctr" fontAlgn="ctr">
                        <a:buNone/>
                      </a:pPr>
                      <a:r>
                        <a:rPr lang="ja-JP" sz="1400" b="0" i="0" u="none" strike="noStrike" dirty="0">
                          <a:solidFill>
                            <a:srgbClr val="000000"/>
                          </a:solidFill>
                          <a:effectLst/>
                          <a:latin typeface="+mn-ea"/>
                          <a:ea typeface="+mn-ea"/>
                        </a:rPr>
                        <a:t>なし</a:t>
                      </a: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16"/>
                  </a:ext>
                </a:extLst>
              </a:tr>
              <a:tr h="238479">
                <a:tc>
                  <a:txBody>
                    <a:bodyPr/>
                    <a:lstStyle/>
                    <a:p>
                      <a:pPr marL="0" marR="0" lvl="0" indent="0" algn="ctr" rtl="0" fontAlgn="ctr">
                        <a:lnSpc>
                          <a:spcPct val="100000"/>
                        </a:lnSpc>
                        <a:spcBef>
                          <a:spcPts val="0"/>
                        </a:spcBef>
                        <a:spcAft>
                          <a:spcPts val="0"/>
                        </a:spcAft>
                      </a:pPr>
                      <a:r>
                        <a:rPr lang="en-US" sz="1400" u="none" strike="noStrike" cap="none" spc="0">
                          <a:solidFill>
                            <a:srgbClr val="000000">
                              <a:alpha val="100000"/>
                            </a:srgbClr>
                          </a:solidFill>
                          <a:latin typeface="+mn-ea"/>
                          <a:ea typeface="+mn-ea"/>
                        </a:rPr>
                        <a:t>止水板（金属製）</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なし</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なし</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なし</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rgbClr val="000000">
                              <a:alpha val="100000"/>
                            </a:srgbClr>
                          </a:solidFill>
                          <a:latin typeface="+mn-ea"/>
                          <a:ea typeface="+mn-ea"/>
                        </a:rPr>
                        <a:t>なし</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17"/>
                  </a:ext>
                </a:extLst>
              </a:tr>
              <a:tr h="238479">
                <a:tc>
                  <a:txBody>
                    <a:bodyPr/>
                    <a:lstStyle/>
                    <a:p>
                      <a:pPr marL="0" marR="0" lvl="0" indent="0" algn="ctr" rtl="0" fontAlgn="ctr">
                        <a:lnSpc>
                          <a:spcPct val="100000"/>
                        </a:lnSpc>
                        <a:spcBef>
                          <a:spcPts val="0"/>
                        </a:spcBef>
                        <a:spcAft>
                          <a:spcPts val="0"/>
                        </a:spcAft>
                      </a:pPr>
                      <a:r>
                        <a:rPr lang="en-US" sz="1400" u="none" strike="noStrike" cap="none" spc="0">
                          <a:solidFill>
                            <a:srgbClr val="000000">
                              <a:alpha val="100000"/>
                            </a:srgbClr>
                          </a:solidFill>
                          <a:latin typeface="+mn-ea"/>
                          <a:ea typeface="+mn-ea"/>
                        </a:rPr>
                        <a:t>土嚢・止水シート等</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chemeClr val="tx1"/>
                          </a:solidFill>
                          <a:latin typeface="+mn-ea"/>
                          <a:ea typeface="+mn-ea"/>
                        </a:rPr>
                        <a:t>あり</a:t>
                      </a:r>
                      <a:endParaRPr lang="en-US" sz="1400" u="none" strike="noStrike" cap="none" spc="0" dirty="0">
                        <a:solidFill>
                          <a:schemeClr val="tx1"/>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chemeClr val="tx1"/>
                          </a:solidFill>
                          <a:latin typeface="+mn-ea"/>
                          <a:ea typeface="+mn-ea"/>
                        </a:rPr>
                        <a:t>あり</a:t>
                      </a:r>
                      <a:endParaRPr lang="en-US" sz="1400" u="none" strike="noStrike" cap="none" spc="0" dirty="0">
                        <a:solidFill>
                          <a:schemeClr val="tx1"/>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chemeClr val="tx1"/>
                          </a:solidFill>
                          <a:latin typeface="+mn-ea"/>
                          <a:ea typeface="+mn-ea"/>
                        </a:rPr>
                        <a:t>あり</a:t>
                      </a:r>
                      <a:endParaRPr lang="en-US" sz="1400" u="none" strike="noStrike" cap="none" spc="0" dirty="0">
                        <a:solidFill>
                          <a:schemeClr val="tx1"/>
                        </a:solidFill>
                        <a:latin typeface="+mn-ea"/>
                        <a:ea typeface="+mn-ea"/>
                      </a:endParaRP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chemeClr val="tx1"/>
                          </a:solidFill>
                          <a:latin typeface="+mn-ea"/>
                          <a:ea typeface="+mn-ea"/>
                        </a:rPr>
                        <a:t>あり</a:t>
                      </a:r>
                      <a:endParaRPr lang="en-US" sz="1400" u="none" strike="noStrike" cap="none" spc="0" dirty="0">
                        <a:solidFill>
                          <a:schemeClr val="tx1"/>
                        </a:solidFill>
                        <a:latin typeface="+mn-ea"/>
                        <a:ea typeface="+mn-ea"/>
                      </a:endParaRPr>
                    </a:p>
                  </a:txBody>
                  <a:tcPr marL="0" marR="0" marT="0" marB="0" anchor="ctr">
                    <a:lnL w="9525" cap="flat" cmpd="sng" algn="ctr">
                      <a:solidFill>
                        <a:srgbClr val="BFBFBF"/>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18"/>
                  </a:ext>
                </a:extLst>
              </a:tr>
              <a:tr h="238479">
                <a:tc>
                  <a:txBody>
                    <a:bodyPr/>
                    <a:lstStyle/>
                    <a:p>
                      <a:pPr marL="0" marR="0" lvl="0" indent="0" algn="ctr" rtl="0" fontAlgn="ctr">
                        <a:lnSpc>
                          <a:spcPct val="100000"/>
                        </a:lnSpc>
                        <a:spcBef>
                          <a:spcPts val="0"/>
                        </a:spcBef>
                        <a:spcAft>
                          <a:spcPts val="0"/>
                        </a:spcAft>
                      </a:pPr>
                      <a:r>
                        <a:rPr lang="en-US" sz="1400" u="none" strike="noStrike" cap="none" spc="0" dirty="0" err="1">
                          <a:solidFill>
                            <a:srgbClr val="000000">
                              <a:alpha val="100000"/>
                            </a:srgbClr>
                          </a:solidFill>
                          <a:latin typeface="+mn-ea"/>
                          <a:ea typeface="+mn-ea"/>
                        </a:rPr>
                        <a:t>建物の状態</a:t>
                      </a:r>
                      <a:endParaRPr lang="en-US" sz="1400" u="none" strike="noStrike" cap="none" spc="0" dirty="0">
                        <a:solidFill>
                          <a:srgbClr val="000000">
                            <a:alpha val="100000"/>
                          </a:srgbClr>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chemeClr val="tx1"/>
                          </a:solidFill>
                          <a:latin typeface="+mn-ea"/>
                          <a:ea typeface="+mn-ea"/>
                        </a:rPr>
                        <a:t>普通</a:t>
                      </a:r>
                      <a:endParaRPr lang="en-US" sz="1400" u="none" strike="noStrike" cap="none" spc="0" dirty="0">
                        <a:solidFill>
                          <a:schemeClr val="tx1"/>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alpha val="100000"/>
                        </a:srgbClr>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chemeClr val="tx1"/>
                          </a:solidFill>
                          <a:latin typeface="+mn-ea"/>
                          <a:ea typeface="+mn-ea"/>
                        </a:rPr>
                        <a:t>普通</a:t>
                      </a:r>
                      <a:endParaRPr lang="en-US" sz="1400" u="none" strike="noStrike" cap="none" spc="0" dirty="0">
                        <a:solidFill>
                          <a:schemeClr val="tx1"/>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chemeClr val="tx1"/>
                          </a:solidFill>
                          <a:latin typeface="+mn-ea"/>
                          <a:ea typeface="+mn-ea"/>
                        </a:rPr>
                        <a:t>普通</a:t>
                      </a:r>
                      <a:r>
                        <a:rPr lang="en-US" sz="1400" u="none" strike="noStrike" cap="none" spc="0" dirty="0">
                          <a:solidFill>
                            <a:schemeClr val="tx1"/>
                          </a:solidFill>
                          <a:latin typeface="+mn-ea"/>
                          <a:ea typeface="+mn-ea"/>
                        </a:rPr>
                        <a:t> </a:t>
                      </a: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chemeClr val="tx1"/>
                          </a:solidFill>
                          <a:latin typeface="+mn-ea"/>
                          <a:ea typeface="+mn-ea"/>
                        </a:rPr>
                        <a:t>普通</a:t>
                      </a:r>
                      <a:endParaRPr lang="en-US" sz="1400" u="none" strike="noStrike" cap="none" spc="0" dirty="0">
                        <a:solidFill>
                          <a:schemeClr val="tx1"/>
                        </a:solidFill>
                        <a:latin typeface="+mn-ea"/>
                        <a:ea typeface="+mn-ea"/>
                      </a:endParaRPr>
                    </a:p>
                  </a:txBody>
                  <a:tcPr marL="0" marR="0" marT="0" marB="0" anchor="ctr">
                    <a:lnL w="9525" cap="flat" cmpd="sng" algn="ctr">
                      <a:solidFill>
                        <a:srgbClr val="BFBFBF">
                          <a:alpha val="100000"/>
                        </a:srgbClr>
                      </a:solidFill>
                      <a:prstDash val="solid"/>
                      <a:round/>
                      <a:headEnd type="none" w="med" len="med"/>
                      <a:tailEnd type="none" w="med" len="med"/>
                    </a:lnL>
                    <a:lnR w="9525" cap="flat" cmpd="sng" algn="ctr">
                      <a:solidFill>
                        <a:srgbClr val="BFBFBF">
                          <a:alpha val="100000"/>
                        </a:srgbClr>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alpha val="100000"/>
                        </a:srgbClr>
                      </a:solidFill>
                      <a:prstDash val="solid"/>
                      <a:round/>
                      <a:headEnd type="none" w="med" len="med"/>
                      <a:tailEnd type="none" w="med" len="med"/>
                    </a:lnB>
                    <a:lnTlToBr w="9525" cap="flat" cmpd="sng" algn="ctr">
                      <a:noFill/>
                      <a:prstDash val="solid"/>
                      <a:round/>
                      <a:headEnd type="none" w="med" len="med"/>
                      <a:tailEnd type="none" w="med" len="med"/>
                    </a:lnTlToBr>
                    <a:lnBlToTr w="9525"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1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kumimoji="1" lang="ja-JP" altLang="en-US" dirty="0">
                <a:effectLst>
                  <a:glow rad="190500">
                    <a:schemeClr val="bg1">
                      <a:alpha val="60000"/>
                    </a:schemeClr>
                  </a:glow>
                </a:effectLst>
              </a:rPr>
              <a:t>リスク低減に</a:t>
            </a:r>
            <a:r>
              <a:rPr kumimoji="1" lang="ja-JP" altLang="en-US">
                <a:effectLst>
                  <a:glow rad="190500">
                    <a:schemeClr val="bg1">
                      <a:alpha val="60000"/>
                    </a:schemeClr>
                  </a:glow>
                </a:effectLst>
              </a:rPr>
              <a:t>向けたご提案事項</a:t>
            </a:r>
            <a:endParaRPr kumimoji="1" lang="ja-JP" altLang="en-US" dirty="0">
              <a:effectLst>
                <a:glow rad="190500">
                  <a:schemeClr val="bg1">
                    <a:alpha val="60000"/>
                  </a:schemeClr>
                </a:glow>
              </a:effectLst>
            </a:endParaRPr>
          </a:p>
        </p:txBody>
      </p:sp>
      <p:sp>
        <p:nvSpPr>
          <p:cNvPr id="5" name="テキスト プレースホルダー 4"/>
          <p:cNvSpPr>
            <a:spLocks noGrp="1"/>
          </p:cNvSpPr>
          <p:nvPr>
            <p:ph type="body" sz="quarter" idx="11"/>
          </p:nvPr>
        </p:nvSpPr>
        <p:spPr/>
        <p:txBody>
          <a:bodyPr>
            <a:normAutofit/>
          </a:bodyPr>
          <a:lstStyle/>
          <a:p>
            <a:r>
              <a:rPr kumimoji="1" lang="en-US" altLang="ja-JP" dirty="0"/>
              <a:t>3</a:t>
            </a:r>
            <a:endParaRPr kumimoji="1" lang="ja-JP" altLang="en-US" dirty="0"/>
          </a:p>
        </p:txBody>
      </p:sp>
      <p:sp>
        <p:nvSpPr>
          <p:cNvPr id="7"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11</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941372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リスク低減に向けたご提案事項</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12"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12</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13" name="グループ化 12">
            <a:extLst>
              <a:ext uri="{FF2B5EF4-FFF2-40B4-BE49-F238E27FC236}">
                <a16:creationId xmlns:a16="http://schemas.microsoft.com/office/drawing/2014/main" id="{94E1FEEE-2214-43B3-8732-7AC0580F5C3A}"/>
              </a:ext>
            </a:extLst>
          </p:cNvPr>
          <p:cNvGrpSpPr/>
          <p:nvPr/>
        </p:nvGrpSpPr>
        <p:grpSpPr>
          <a:xfrm>
            <a:off x="360000" y="370800"/>
            <a:ext cx="720000" cy="672000"/>
            <a:chOff x="360000" y="370800"/>
            <a:chExt cx="720000" cy="672000"/>
          </a:xfrm>
        </p:grpSpPr>
        <p:sp>
          <p:nvSpPr>
            <p:cNvPr id="14" name="正方形/長方形 13">
              <a:extLst>
                <a:ext uri="{FF2B5EF4-FFF2-40B4-BE49-F238E27FC236}">
                  <a16:creationId xmlns:a16="http://schemas.microsoft.com/office/drawing/2014/main" id="{7DF71110-5BDE-49F7-BBD3-C3E7EE4105B6}"/>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8A8BED04-F439-4736-85C7-A8ACFA014095}"/>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3</a:t>
              </a:r>
            </a:p>
          </p:txBody>
        </p:sp>
      </p:grpSp>
      <p:graphicFrame>
        <p:nvGraphicFramePr>
          <p:cNvPr id="16" name="表 15">
            <a:extLst>
              <a:ext uri="{FF2B5EF4-FFF2-40B4-BE49-F238E27FC236}">
                <a16:creationId xmlns:a16="http://schemas.microsoft.com/office/drawing/2014/main" id="{4F4E092A-2235-48C7-A476-F80BCF0D8875}"/>
              </a:ext>
            </a:extLst>
          </p:cNvPr>
          <p:cNvGraphicFramePr>
            <a:graphicFrameLocks noGrp="1"/>
          </p:cNvGraphicFramePr>
          <p:nvPr>
            <p:extLst>
              <p:ext uri="{D42A27DB-BD31-4B8C-83A1-F6EECF244321}">
                <p14:modId xmlns:p14="http://schemas.microsoft.com/office/powerpoint/2010/main" val="3768438862"/>
              </p:ext>
            </p:extLst>
          </p:nvPr>
        </p:nvGraphicFramePr>
        <p:xfrm>
          <a:off x="361951" y="1257300"/>
          <a:ext cx="8925741" cy="2122170"/>
        </p:xfrm>
        <a:graphic>
          <a:graphicData uri="http://schemas.openxmlformats.org/drawingml/2006/table">
            <a:tbl>
              <a:tblPr firstRow="1" bandRow="1"/>
              <a:tblGrid>
                <a:gridCol w="1034305">
                  <a:extLst>
                    <a:ext uri="{9D8B030D-6E8A-4147-A177-3AD203B41FA5}">
                      <a16:colId xmlns:a16="http://schemas.microsoft.com/office/drawing/2014/main" val="20000"/>
                    </a:ext>
                  </a:extLst>
                </a:gridCol>
                <a:gridCol w="824385">
                  <a:extLst>
                    <a:ext uri="{9D8B030D-6E8A-4147-A177-3AD203B41FA5}">
                      <a16:colId xmlns:a16="http://schemas.microsoft.com/office/drawing/2014/main" val="20001"/>
                    </a:ext>
                  </a:extLst>
                </a:gridCol>
                <a:gridCol w="4310788">
                  <a:extLst>
                    <a:ext uri="{9D8B030D-6E8A-4147-A177-3AD203B41FA5}">
                      <a16:colId xmlns:a16="http://schemas.microsoft.com/office/drawing/2014/main" val="20002"/>
                    </a:ext>
                  </a:extLst>
                </a:gridCol>
                <a:gridCol w="1515291">
                  <a:extLst>
                    <a:ext uri="{9D8B030D-6E8A-4147-A177-3AD203B41FA5}">
                      <a16:colId xmlns:a16="http://schemas.microsoft.com/office/drawing/2014/main" val="20003"/>
                    </a:ext>
                  </a:extLst>
                </a:gridCol>
                <a:gridCol w="1240972">
                  <a:extLst>
                    <a:ext uri="{9D8B030D-6E8A-4147-A177-3AD203B41FA5}">
                      <a16:colId xmlns:a16="http://schemas.microsoft.com/office/drawing/2014/main" val="20004"/>
                    </a:ext>
                  </a:extLst>
                </a:gridCol>
              </a:tblGrid>
              <a:tr h="276225">
                <a:tc>
                  <a:txBody>
                    <a:bodyPr/>
                    <a:lstStyle/>
                    <a:p>
                      <a:pPr marL="0" marR="0" lvl="0" indent="0" algn="ctr"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リスク評価</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提案事項</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場所</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0" marR="0" lvl="0" indent="0" algn="ctr"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改善状況</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extLst>
                  <a:ext uri="{0D108BD9-81ED-4DB2-BD59-A6C34878D82A}">
                    <a16:rowId xmlns:a16="http://schemas.microsoft.com/office/drawing/2014/main" val="10000"/>
                  </a:ext>
                </a:extLst>
              </a:tr>
              <a:tr h="276225">
                <a:tc>
                  <a:txBody>
                    <a:bodyPr/>
                    <a:lstStyle/>
                    <a:p>
                      <a:pPr marL="0" marR="0" lvl="0" indent="0" algn="ctr" rtl="0" fontAlgn="ctr">
                        <a:lnSpc>
                          <a:spcPct val="100000"/>
                        </a:lnSpc>
                        <a:spcBef>
                          <a:spcPts val="0"/>
                        </a:spcBef>
                        <a:spcAft>
                          <a:spcPts val="0"/>
                        </a:spcAft>
                      </a:pPr>
                      <a:r>
                        <a:rPr lang="en-US" altLang="ja" sz="1400" u="none" strike="noStrike" cap="none" spc="0" dirty="0">
                          <a:solidFill>
                            <a:srgbClr val="000000">
                              <a:alpha val="100000"/>
                            </a:srgbClr>
                          </a:solidFill>
                          <a:latin typeface="游ゴシック"/>
                        </a:rPr>
                        <a:t>High</a:t>
                      </a: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20</a:t>
                      </a:r>
                      <a:r>
                        <a:rPr lang="en-US" altLang="ja-JP" sz="1400" u="none" strike="noStrike" cap="none" spc="0" dirty="0">
                          <a:solidFill>
                            <a:srgbClr val="000000">
                              <a:alpha val="100000"/>
                            </a:srgbClr>
                          </a:solidFill>
                          <a:latin typeface="游ゴシック"/>
                        </a:rPr>
                        <a:t>26</a:t>
                      </a:r>
                      <a:r>
                        <a:rPr lang="ja" sz="1400" u="none" strike="noStrike" cap="none" spc="0" dirty="0">
                          <a:solidFill>
                            <a:srgbClr val="000000">
                              <a:alpha val="100000"/>
                            </a:srgbClr>
                          </a:solidFill>
                          <a:latin typeface="游ゴシック"/>
                        </a:rPr>
                        <a:t>-</a:t>
                      </a:r>
                      <a:r>
                        <a:rPr lang="en-US" altLang="ja-JP" sz="1400" u="none" strike="noStrike" cap="none" spc="0" dirty="0">
                          <a:solidFill>
                            <a:srgbClr val="000000">
                              <a:alpha val="100000"/>
                            </a:srgbClr>
                          </a:solidFill>
                          <a:latin typeface="游ゴシック"/>
                        </a:rPr>
                        <a:t>01</a:t>
                      </a: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mn-lt"/>
                        </a:rPr>
                        <a:t>対策の基準となる浸水深の設定と浸水対策の検討</a:t>
                      </a:r>
                    </a:p>
                  </a:txBody>
                  <a:tcPr marL="76200" marR="7620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ctr" rtl="0" fontAlgn="t">
                        <a:lnSpc>
                          <a:spcPct val="100000"/>
                        </a:lnSpc>
                        <a:spcBef>
                          <a:spcPts val="0"/>
                        </a:spcBef>
                        <a:spcAft>
                          <a:spcPts val="0"/>
                        </a:spcAft>
                      </a:pPr>
                      <a:r>
                        <a:rPr lang="ja-JP" altLang="en-US" sz="1400" u="none" strike="noStrike" cap="none" spc="0" dirty="0">
                          <a:solidFill>
                            <a:schemeClr val="tx1"/>
                          </a:solidFill>
                          <a:latin typeface="+mn-lt"/>
                        </a:rPr>
                        <a:t>構内全般</a:t>
                      </a:r>
                      <a:endParaRPr lang="ja" altLang="ja-JP" sz="1400" u="none" strike="noStrike" cap="none" spc="0" dirty="0">
                        <a:solidFill>
                          <a:schemeClr val="tx1"/>
                        </a:solidFill>
                        <a:latin typeface="+mn-lt"/>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657107323"/>
                  </a:ext>
                </a:extLst>
              </a:tr>
              <a:tr h="276225">
                <a:tc>
                  <a:txBody>
                    <a:bodyPr/>
                    <a:lstStyle/>
                    <a:p>
                      <a:pPr marL="0" marR="0" lvl="0" indent="0" algn="ctr" rtl="0" fontAlgn="ctr">
                        <a:lnSpc>
                          <a:spcPct val="100000"/>
                        </a:lnSpc>
                        <a:spcBef>
                          <a:spcPts val="0"/>
                        </a:spcBef>
                        <a:spcAft>
                          <a:spcPts val="0"/>
                        </a:spcAft>
                      </a:pPr>
                      <a:r>
                        <a:rPr lang="en-US" altLang="ja-JP" sz="1400" u="none" strike="noStrike" cap="none" spc="0" dirty="0">
                          <a:solidFill>
                            <a:srgbClr val="000000">
                              <a:alpha val="100000"/>
                            </a:srgbClr>
                          </a:solidFill>
                          <a:latin typeface="游ゴシック"/>
                        </a:rPr>
                        <a:t>High</a:t>
                      </a: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en-US" altLang="ja" sz="1400" u="none" strike="noStrike" cap="none" spc="0" dirty="0">
                          <a:solidFill>
                            <a:srgbClr val="000000">
                              <a:alpha val="100000"/>
                            </a:srgbClr>
                          </a:solidFill>
                          <a:latin typeface="游ゴシック"/>
                        </a:rPr>
                        <a:t>2026-02</a:t>
                      </a: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en-US" altLang="ja-JP" sz="1400" u="none" strike="noStrike" cap="none" spc="0" dirty="0">
                          <a:solidFill>
                            <a:srgbClr val="000000">
                              <a:alpha val="100000"/>
                            </a:srgbClr>
                          </a:solidFill>
                          <a:latin typeface="+mn-lt"/>
                        </a:rPr>
                        <a:t>BCP</a:t>
                      </a:r>
                      <a:r>
                        <a:rPr lang="ja-JP" altLang="en-US" sz="1400" u="none" strike="noStrike" cap="none" spc="0" dirty="0">
                          <a:solidFill>
                            <a:srgbClr val="000000">
                              <a:alpha val="100000"/>
                            </a:srgbClr>
                          </a:solidFill>
                          <a:latin typeface="+mn-lt"/>
                        </a:rPr>
                        <a:t>の策定</a:t>
                      </a:r>
                    </a:p>
                  </a:txBody>
                  <a:tcPr marL="76200" marR="7620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ctr" defTabSz="913851" rtl="0" eaLnBrk="1" fontAlgn="t" latinLnBrk="0" hangingPunct="1">
                        <a:lnSpc>
                          <a:spcPct val="100000"/>
                        </a:lnSpc>
                        <a:spcBef>
                          <a:spcPts val="0"/>
                        </a:spcBef>
                        <a:spcAft>
                          <a:spcPts val="0"/>
                        </a:spcAft>
                        <a:buClrTx/>
                        <a:buSzTx/>
                        <a:buFontTx/>
                        <a:buNone/>
                        <a:tabLst/>
                        <a:defRPr/>
                      </a:pPr>
                      <a:r>
                        <a:rPr lang="ja-JP" altLang="en-US" sz="1400" u="none" strike="noStrike" cap="none" spc="0" dirty="0">
                          <a:solidFill>
                            <a:schemeClr val="tx1"/>
                          </a:solidFill>
                          <a:latin typeface="+mn-lt"/>
                        </a:rPr>
                        <a:t>構内全般</a:t>
                      </a:r>
                      <a:endParaRPr lang="ja" altLang="ja-JP" sz="1400" u="none" strike="noStrike" cap="none" spc="0" dirty="0">
                        <a:solidFill>
                          <a:schemeClr val="tx1"/>
                        </a:solidFill>
                        <a:latin typeface="+mn-lt"/>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930033989"/>
                  </a:ext>
                </a:extLst>
              </a:tr>
              <a:tr h="276225">
                <a:tc>
                  <a:txBody>
                    <a:bodyPr/>
                    <a:lstStyle/>
                    <a:p>
                      <a:pPr marL="0" marR="0" lvl="0" indent="0" algn="ctr" rtl="0" fontAlgn="ctr">
                        <a:lnSpc>
                          <a:spcPct val="100000"/>
                        </a:lnSpc>
                        <a:spcBef>
                          <a:spcPts val="0"/>
                        </a:spcBef>
                        <a:spcAft>
                          <a:spcPts val="0"/>
                        </a:spcAft>
                      </a:pPr>
                      <a:r>
                        <a:rPr lang="en-US" altLang="ja" sz="1400" u="none" strike="noStrike" cap="none" spc="0" dirty="0">
                          <a:solidFill>
                            <a:srgbClr val="000000">
                              <a:alpha val="100000"/>
                            </a:srgbClr>
                          </a:solidFill>
                          <a:latin typeface="游ゴシック"/>
                        </a:rPr>
                        <a:t>High</a:t>
                      </a: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 altLang="ja-JP" sz="1400" u="none" strike="noStrike" cap="none" spc="0" dirty="0">
                          <a:solidFill>
                            <a:srgbClr val="000000">
                              <a:alpha val="100000"/>
                            </a:srgbClr>
                          </a:solidFill>
                          <a:latin typeface="+mn-lt"/>
                        </a:rPr>
                        <a:t>20</a:t>
                      </a:r>
                      <a:r>
                        <a:rPr lang="en-US" altLang="ja-JP" sz="1400" u="none" strike="noStrike" cap="none" spc="0" dirty="0">
                          <a:solidFill>
                            <a:srgbClr val="000000">
                              <a:alpha val="100000"/>
                            </a:srgbClr>
                          </a:solidFill>
                          <a:latin typeface="+mn-lt"/>
                        </a:rPr>
                        <a:t>26</a:t>
                      </a:r>
                      <a:r>
                        <a:rPr lang="ja" sz="1400" u="none" strike="noStrike" cap="none" spc="0" dirty="0">
                          <a:solidFill>
                            <a:srgbClr val="000000">
                              <a:alpha val="100000"/>
                            </a:srgbClr>
                          </a:solidFill>
                          <a:latin typeface="游ゴシック"/>
                        </a:rPr>
                        <a:t>-</a:t>
                      </a:r>
                      <a:r>
                        <a:rPr lang="en-US" altLang="ja-JP" sz="1400" u="none" strike="noStrike" cap="none" spc="0" dirty="0">
                          <a:solidFill>
                            <a:srgbClr val="000000">
                              <a:alpha val="100000"/>
                            </a:srgbClr>
                          </a:solidFill>
                          <a:latin typeface="游ゴシック"/>
                        </a:rPr>
                        <a:t>03</a:t>
                      </a: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defTabSz="913851" rtl="0" eaLnBrk="1" fontAlgn="ctr" latinLnBrk="0" hangingPunct="1">
                        <a:lnSpc>
                          <a:spcPct val="100000"/>
                        </a:lnSpc>
                        <a:spcBef>
                          <a:spcPts val="0"/>
                        </a:spcBef>
                        <a:spcAft>
                          <a:spcPts val="0"/>
                        </a:spcAft>
                        <a:buClrTx/>
                        <a:buSzTx/>
                        <a:buFontTx/>
                        <a:buNone/>
                        <a:tabLst/>
                        <a:defRPr/>
                      </a:pPr>
                      <a:r>
                        <a:rPr lang="ja-JP" altLang="en-US" sz="1400" u="none" strike="noStrike" cap="none" spc="0" dirty="0">
                          <a:solidFill>
                            <a:srgbClr val="000000">
                              <a:alpha val="100000"/>
                            </a:srgbClr>
                          </a:solidFill>
                          <a:latin typeface="+mn-lt"/>
                        </a:rPr>
                        <a:t>屋外貯蔵所の雨漏り対策</a:t>
                      </a:r>
                      <a:endParaRPr lang="ja" altLang="ja-JP" sz="1400" u="none" strike="noStrike" cap="none" spc="0" dirty="0">
                        <a:solidFill>
                          <a:srgbClr val="000000">
                            <a:alpha val="100000"/>
                          </a:srgbClr>
                        </a:solidFill>
                        <a:latin typeface="+mn-lt"/>
                      </a:endParaRPr>
                    </a:p>
                  </a:txBody>
                  <a:tcPr marL="76200" marR="7620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ctr" rtl="0" fontAlgn="t">
                        <a:lnSpc>
                          <a:spcPct val="100000"/>
                        </a:lnSpc>
                        <a:spcBef>
                          <a:spcPts val="0"/>
                        </a:spcBef>
                        <a:spcAft>
                          <a:spcPts val="0"/>
                        </a:spcAft>
                      </a:pPr>
                      <a:r>
                        <a:rPr lang="ja-JP" altLang="en-US" sz="1400" u="none" strike="noStrike" cap="none" spc="0" dirty="0">
                          <a:solidFill>
                            <a:srgbClr val="000000">
                              <a:alpha val="100000"/>
                            </a:srgbClr>
                          </a:solidFill>
                          <a:latin typeface="+mn-lt"/>
                        </a:rPr>
                        <a:t>屋外貯蔵所</a:t>
                      </a:r>
                      <a:endParaRPr lang="en-US" altLang="ja" sz="1400" u="none" strike="noStrike" cap="none" spc="0" dirty="0">
                        <a:solidFill>
                          <a:srgbClr val="000000">
                            <a:alpha val="100000"/>
                          </a:srgbClr>
                        </a:solidFill>
                        <a:latin typeface="+mn-lt"/>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2"/>
                  </a:ext>
                </a:extLst>
              </a:tr>
              <a:tr h="276225">
                <a:tc>
                  <a:txBody>
                    <a:bodyPr/>
                    <a:lstStyle/>
                    <a:p>
                      <a:pPr marL="0" marR="0" lvl="0" indent="0" algn="ctr" rtl="0" fontAlgn="ctr">
                        <a:lnSpc>
                          <a:spcPct val="100000"/>
                        </a:lnSpc>
                        <a:spcBef>
                          <a:spcPts val="0"/>
                        </a:spcBef>
                        <a:spcAft>
                          <a:spcPts val="0"/>
                        </a:spcAft>
                      </a:pPr>
                      <a:r>
                        <a:rPr lang="en-US" altLang="ja" sz="1400" u="none" strike="noStrike" cap="none" spc="0" dirty="0">
                          <a:solidFill>
                            <a:schemeClr val="tx1"/>
                          </a:solidFill>
                          <a:latin typeface="游ゴシック"/>
                        </a:rPr>
                        <a:t>Moderate</a:t>
                      </a:r>
                      <a:endParaRPr lang="ja" sz="1400" u="none" strike="noStrike" cap="none" spc="0" dirty="0">
                        <a:solidFill>
                          <a:schemeClr val="tx1"/>
                        </a:solidFill>
                        <a:latin typeface="游ゴシック"/>
                      </a:endParaRP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 altLang="ja-JP" sz="1400" u="none" strike="noStrike" cap="none" spc="0" dirty="0">
                          <a:solidFill>
                            <a:srgbClr val="000000">
                              <a:alpha val="100000"/>
                            </a:srgbClr>
                          </a:solidFill>
                          <a:latin typeface="+mn-lt"/>
                        </a:rPr>
                        <a:t>20</a:t>
                      </a:r>
                      <a:r>
                        <a:rPr lang="en-US" altLang="ja-JP" sz="1400" u="none" strike="noStrike" cap="none" spc="0" dirty="0">
                          <a:solidFill>
                            <a:srgbClr val="000000">
                              <a:alpha val="100000"/>
                            </a:srgbClr>
                          </a:solidFill>
                          <a:latin typeface="+mn-lt"/>
                        </a:rPr>
                        <a:t>26</a:t>
                      </a:r>
                      <a:r>
                        <a:rPr lang="ja" sz="1400" u="none" strike="noStrike" cap="none" spc="0" dirty="0">
                          <a:solidFill>
                            <a:srgbClr val="000000">
                              <a:alpha val="100000"/>
                            </a:srgbClr>
                          </a:solidFill>
                          <a:latin typeface="游ゴシック"/>
                        </a:rPr>
                        <a:t>-</a:t>
                      </a:r>
                      <a:r>
                        <a:rPr lang="en-US" altLang="ja-JP" sz="1400" u="none" strike="noStrike" cap="none" spc="0" dirty="0">
                          <a:solidFill>
                            <a:srgbClr val="000000">
                              <a:alpha val="100000"/>
                            </a:srgbClr>
                          </a:solidFill>
                          <a:latin typeface="游ゴシック"/>
                        </a:rPr>
                        <a:t>04</a:t>
                      </a: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chemeClr val="tx1"/>
                          </a:solidFill>
                          <a:latin typeface="+mn-lt"/>
                        </a:rPr>
                        <a:t>止水板の止水性能の確認と定期的な点検の実施</a:t>
                      </a:r>
                      <a:endParaRPr lang="ja" sz="1400" u="none" strike="noStrike" cap="none" spc="0" dirty="0">
                        <a:solidFill>
                          <a:schemeClr val="tx1"/>
                        </a:solidFill>
                        <a:latin typeface="游ゴシック"/>
                      </a:endParaRPr>
                    </a:p>
                  </a:txBody>
                  <a:tcPr marL="76200" marR="7620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ctr" defTabSz="913851" rtl="0" eaLnBrk="1" fontAlgn="t"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mn-ea"/>
                          <a:ea typeface="+mn-ea"/>
                        </a:rPr>
                        <a:t>7</a:t>
                      </a:r>
                      <a:r>
                        <a:rPr kumimoji="1" lang="ja-JP" altLang="en-US" sz="1400" dirty="0">
                          <a:solidFill>
                            <a:schemeClr val="tx1"/>
                          </a:solidFill>
                          <a:latin typeface="+mn-ea"/>
                          <a:ea typeface="+mn-ea"/>
                        </a:rPr>
                        <a:t>線材工場</a:t>
                      </a:r>
                      <a:endParaRPr kumimoji="1" lang="en-US" altLang="ja-JP" sz="1400" dirty="0">
                        <a:solidFill>
                          <a:schemeClr val="tx1"/>
                        </a:solidFill>
                        <a:latin typeface="+mn-ea"/>
                        <a:ea typeface="+mn-ea"/>
                      </a:endParaRPr>
                    </a:p>
                    <a:p>
                      <a:pPr marL="76200" marR="76200" lvl="0" indent="0" algn="ctr" defTabSz="913851" rtl="0" eaLnBrk="1" fontAlgn="t"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mn-ea"/>
                          <a:ea typeface="+mn-ea"/>
                        </a:rPr>
                        <a:t>変電設備周辺</a:t>
                      </a:r>
                      <a:endParaRPr kumimoji="1" lang="en-US" altLang="ja-JP" sz="1400" dirty="0">
                        <a:solidFill>
                          <a:schemeClr val="tx1"/>
                        </a:solidFill>
                        <a:latin typeface="+mn-ea"/>
                        <a:ea typeface="+mn-ea"/>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2766047342"/>
                  </a:ext>
                </a:extLst>
              </a:tr>
              <a:tr h="276225">
                <a:tc>
                  <a:txBody>
                    <a:bodyPr/>
                    <a:lstStyle/>
                    <a:p>
                      <a:pPr marL="0" marR="0" lvl="0" indent="0" algn="ctr" rtl="0" fontAlgn="ctr">
                        <a:lnSpc>
                          <a:spcPct val="100000"/>
                        </a:lnSpc>
                        <a:spcBef>
                          <a:spcPts val="0"/>
                        </a:spcBef>
                        <a:spcAft>
                          <a:spcPts val="0"/>
                        </a:spcAft>
                      </a:pPr>
                      <a:r>
                        <a:rPr lang="en-US" altLang="ja" sz="1400" u="none" strike="noStrike" cap="none" spc="0" dirty="0">
                          <a:solidFill>
                            <a:schemeClr val="tx1"/>
                          </a:solidFill>
                          <a:latin typeface="游ゴシック"/>
                        </a:rPr>
                        <a:t>Moderate</a:t>
                      </a:r>
                      <a:endParaRPr lang="ja" sz="1400" u="none" strike="noStrike" cap="none" spc="0" dirty="0">
                        <a:solidFill>
                          <a:schemeClr val="tx1"/>
                        </a:solidFill>
                        <a:latin typeface="游ゴシック"/>
                      </a:endParaRP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 altLang="ja-JP" sz="1400" u="none" strike="noStrike" cap="none" spc="0" dirty="0">
                          <a:solidFill>
                            <a:srgbClr val="000000">
                              <a:alpha val="100000"/>
                            </a:srgbClr>
                          </a:solidFill>
                          <a:latin typeface="+mn-lt"/>
                        </a:rPr>
                        <a:t>20</a:t>
                      </a:r>
                      <a:r>
                        <a:rPr lang="en-US" altLang="ja-JP" sz="1400" u="none" strike="noStrike" cap="none" spc="0" dirty="0">
                          <a:solidFill>
                            <a:srgbClr val="000000">
                              <a:alpha val="100000"/>
                            </a:srgbClr>
                          </a:solidFill>
                          <a:latin typeface="+mn-lt"/>
                        </a:rPr>
                        <a:t>26</a:t>
                      </a:r>
                      <a:r>
                        <a:rPr lang="ja" sz="1400" u="none" strike="noStrike" cap="none" spc="0" dirty="0">
                          <a:solidFill>
                            <a:srgbClr val="000000">
                              <a:alpha val="100000"/>
                            </a:srgbClr>
                          </a:solidFill>
                          <a:latin typeface="游ゴシック"/>
                        </a:rPr>
                        <a:t>-</a:t>
                      </a:r>
                      <a:r>
                        <a:rPr lang="en-US" altLang="ja-JP" sz="1400" u="none" strike="noStrike" cap="none" spc="0" dirty="0">
                          <a:solidFill>
                            <a:srgbClr val="000000">
                              <a:alpha val="100000"/>
                            </a:srgbClr>
                          </a:solidFill>
                          <a:latin typeface="游ゴシック"/>
                        </a:rPr>
                        <a:t>05</a:t>
                      </a: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chemeClr val="tx1"/>
                          </a:solidFill>
                          <a:latin typeface="+mn-lt"/>
                        </a:rPr>
                        <a:t>排水ポンプの稼働基準の明確化</a:t>
                      </a:r>
                      <a:endParaRPr lang="ja" altLang="ja-JP" sz="1400" u="none" strike="noStrike" cap="none" spc="0" dirty="0">
                        <a:solidFill>
                          <a:schemeClr val="tx1"/>
                        </a:solidFill>
                        <a:latin typeface="+mn-lt"/>
                      </a:endParaRPr>
                    </a:p>
                  </a:txBody>
                  <a:tcPr marL="76200" marR="7620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JP" altLang="en-US" sz="1400" u="none" strike="noStrike" cap="none" spc="0" dirty="0">
                          <a:solidFill>
                            <a:schemeClr val="tx1"/>
                          </a:solidFill>
                          <a:latin typeface="游ゴシック"/>
                        </a:rPr>
                        <a:t>第三加工工場南側</a:t>
                      </a:r>
                      <a:endParaRPr lang="ja" sz="1400" u="none" strike="noStrike" cap="none" spc="0" dirty="0">
                        <a:solidFill>
                          <a:schemeClr val="tx1"/>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561557779"/>
                  </a:ext>
                </a:extLst>
              </a:tr>
              <a:tr h="276225">
                <a:tc>
                  <a:txBody>
                    <a:bodyPr/>
                    <a:lstStyle/>
                    <a:p>
                      <a:pPr marL="0" marR="0" lvl="0" indent="0" algn="ctr" rtl="0" fontAlgn="ctr">
                        <a:lnSpc>
                          <a:spcPct val="100000"/>
                        </a:lnSpc>
                        <a:spcBef>
                          <a:spcPts val="0"/>
                        </a:spcBef>
                        <a:spcAft>
                          <a:spcPts val="0"/>
                        </a:spcAft>
                      </a:pPr>
                      <a:r>
                        <a:rPr lang="en-US" altLang="ja" sz="1400" u="none" strike="noStrike" cap="none" spc="0" dirty="0">
                          <a:solidFill>
                            <a:schemeClr val="tx1"/>
                          </a:solidFill>
                          <a:latin typeface="+mn-lt"/>
                        </a:rPr>
                        <a:t>Moderate</a:t>
                      </a:r>
                      <a:endParaRPr lang="ja" altLang="ja-JP" sz="1400" u="none" strike="noStrike" cap="none" spc="0" dirty="0">
                        <a:solidFill>
                          <a:schemeClr val="tx1"/>
                        </a:solidFill>
                        <a:latin typeface="+mn-lt"/>
                      </a:endParaRP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r>
                        <a:rPr lang="ja" altLang="ja-JP" sz="1400" u="none" strike="noStrike" cap="none" spc="0" dirty="0">
                          <a:solidFill>
                            <a:srgbClr val="000000">
                              <a:alpha val="100000"/>
                            </a:srgbClr>
                          </a:solidFill>
                          <a:latin typeface="+mn-lt"/>
                        </a:rPr>
                        <a:t>20</a:t>
                      </a:r>
                      <a:r>
                        <a:rPr lang="en-US" altLang="ja-JP" sz="1400" u="none" strike="noStrike" cap="none" spc="0" dirty="0">
                          <a:solidFill>
                            <a:srgbClr val="000000">
                              <a:alpha val="100000"/>
                            </a:srgbClr>
                          </a:solidFill>
                          <a:latin typeface="+mn-lt"/>
                        </a:rPr>
                        <a:t>26</a:t>
                      </a:r>
                      <a:r>
                        <a:rPr lang="ja" sz="1400" u="none" strike="noStrike" cap="none" spc="0" dirty="0">
                          <a:solidFill>
                            <a:srgbClr val="000000">
                              <a:alpha val="100000"/>
                            </a:srgbClr>
                          </a:solidFill>
                          <a:latin typeface="游ゴシック"/>
                        </a:rPr>
                        <a:t>-</a:t>
                      </a:r>
                      <a:r>
                        <a:rPr lang="en-US" altLang="ja-JP" sz="1400" u="none" strike="noStrike" cap="none" spc="0" dirty="0">
                          <a:solidFill>
                            <a:srgbClr val="000000">
                              <a:alpha val="100000"/>
                            </a:srgbClr>
                          </a:solidFill>
                          <a:latin typeface="游ゴシック"/>
                        </a:rPr>
                        <a:t>06</a:t>
                      </a: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chemeClr val="tx1"/>
                          </a:solidFill>
                          <a:latin typeface="游ゴシック"/>
                        </a:rPr>
                        <a:t>排水溝の定期的な点検と清掃</a:t>
                      </a:r>
                      <a:endParaRPr lang="ja" sz="1400" u="none" strike="noStrike" cap="none" spc="0" dirty="0">
                        <a:solidFill>
                          <a:schemeClr val="tx1"/>
                        </a:solidFill>
                        <a:latin typeface="游ゴシック"/>
                      </a:endParaRPr>
                    </a:p>
                  </a:txBody>
                  <a:tcPr marL="76200" marR="7620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ctr" rtl="0" fontAlgn="t">
                        <a:lnSpc>
                          <a:spcPct val="100000"/>
                        </a:lnSpc>
                        <a:spcBef>
                          <a:spcPts val="0"/>
                        </a:spcBef>
                        <a:spcAft>
                          <a:spcPts val="0"/>
                        </a:spcAft>
                      </a:pPr>
                      <a:r>
                        <a:rPr lang="ja-JP" altLang="en-US" sz="1400" u="none" strike="noStrike" cap="none" spc="0" dirty="0">
                          <a:solidFill>
                            <a:schemeClr val="tx1"/>
                          </a:solidFill>
                          <a:latin typeface="+mn-lt"/>
                        </a:rPr>
                        <a:t>構内全般</a:t>
                      </a:r>
                      <a:endParaRPr lang="ja" altLang="ja-JP" sz="1400" u="none" strike="noStrike" cap="none" spc="0" dirty="0">
                        <a:solidFill>
                          <a:schemeClr val="tx1"/>
                        </a:solidFill>
                        <a:latin typeface="+mn-lt"/>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0" marR="0" lvl="0" indent="0" algn="ctr" rtl="0" fontAlgn="ctr">
                        <a:lnSpc>
                          <a:spcPct val="100000"/>
                        </a:lnSpc>
                        <a:spcBef>
                          <a:spcPts val="0"/>
                        </a:spcBef>
                        <a:spcAft>
                          <a:spcPts val="0"/>
                        </a:spcAft>
                      </a:pP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2550441524"/>
                  </a:ext>
                </a:extLst>
              </a:tr>
            </a:tbl>
          </a:graphicData>
        </a:graphic>
      </p:graphicFrame>
      <p:graphicFrame>
        <p:nvGraphicFramePr>
          <p:cNvPr id="17" name="表 16">
            <a:extLst>
              <a:ext uri="{FF2B5EF4-FFF2-40B4-BE49-F238E27FC236}">
                <a16:creationId xmlns:a16="http://schemas.microsoft.com/office/drawing/2014/main" id="{571CDFFC-96E2-4DE7-9387-AC63B3293F0E}"/>
              </a:ext>
            </a:extLst>
          </p:cNvPr>
          <p:cNvGraphicFramePr>
            <a:graphicFrameLocks noGrp="1"/>
          </p:cNvGraphicFramePr>
          <p:nvPr/>
        </p:nvGraphicFramePr>
        <p:xfrm>
          <a:off x="361950" y="5038725"/>
          <a:ext cx="9182100" cy="1381125"/>
        </p:xfrm>
        <a:graphic>
          <a:graphicData uri="http://schemas.openxmlformats.org/drawingml/2006/table">
            <a:tbl>
              <a:tblPr firstRow="1" bandRow="1"/>
              <a:tblGrid>
                <a:gridCol w="1314450">
                  <a:extLst>
                    <a:ext uri="{9D8B030D-6E8A-4147-A177-3AD203B41FA5}">
                      <a16:colId xmlns:a16="http://schemas.microsoft.com/office/drawing/2014/main" val="20000"/>
                    </a:ext>
                  </a:extLst>
                </a:gridCol>
                <a:gridCol w="7867650">
                  <a:extLst>
                    <a:ext uri="{9D8B030D-6E8A-4147-A177-3AD203B41FA5}">
                      <a16:colId xmlns:a16="http://schemas.microsoft.com/office/drawing/2014/main" val="20001"/>
                    </a:ext>
                  </a:extLst>
                </a:gridCol>
              </a:tblGrid>
              <a:tr h="276225">
                <a:tc>
                  <a:txBody>
                    <a:body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Critical</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6DCDA">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極めて大きなリスクが認められ、対策が望まれる。</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0"/>
                  </a:ext>
                </a:extLst>
              </a:tr>
              <a:tr h="276225">
                <a:tc>
                  <a:txBody>
                    <a:body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High</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6DCDA">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大きなリスクが認められ、対策が望まれる。</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1"/>
                  </a:ext>
                </a:extLst>
              </a:tr>
              <a:tr h="276225">
                <a:tc>
                  <a:txBody>
                    <a:body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Moderate</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6DCDA">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リスクが認められ、対策が望まれる。</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2"/>
                  </a:ext>
                </a:extLst>
              </a:tr>
              <a:tr h="276225">
                <a:tc>
                  <a:txBody>
                    <a:body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Low</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6DCDA">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リスクは大きくないが、対策によりリスクを低減できる。</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3"/>
                  </a:ext>
                </a:extLst>
              </a:tr>
              <a:tr h="276225">
                <a:tc>
                  <a:txBody>
                    <a:body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Suggestion</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6DCDA">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グッドプラクティスに基づく改善提案、または軽微なリスクの改善につながる。</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94137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リスク評価マトリクス</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12"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13</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7" name="グループ化 6">
            <a:extLst>
              <a:ext uri="{FF2B5EF4-FFF2-40B4-BE49-F238E27FC236}">
                <a16:creationId xmlns:a16="http://schemas.microsoft.com/office/drawing/2014/main" id="{2E483236-5DE4-4632-93D0-1C75C712B549}"/>
              </a:ext>
            </a:extLst>
          </p:cNvPr>
          <p:cNvGrpSpPr/>
          <p:nvPr/>
        </p:nvGrpSpPr>
        <p:grpSpPr>
          <a:xfrm>
            <a:off x="360000" y="370800"/>
            <a:ext cx="720000" cy="672000"/>
            <a:chOff x="360000" y="370800"/>
            <a:chExt cx="720000" cy="672000"/>
          </a:xfrm>
        </p:grpSpPr>
        <p:sp>
          <p:nvSpPr>
            <p:cNvPr id="8" name="正方形/長方形 7">
              <a:extLst>
                <a:ext uri="{FF2B5EF4-FFF2-40B4-BE49-F238E27FC236}">
                  <a16:creationId xmlns:a16="http://schemas.microsoft.com/office/drawing/2014/main" id="{F93D3147-A5E4-41FA-9C40-CE187E5C6CE3}"/>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3" name="テキスト ボックス 12">
              <a:extLst>
                <a:ext uri="{FF2B5EF4-FFF2-40B4-BE49-F238E27FC236}">
                  <a16:creationId xmlns:a16="http://schemas.microsoft.com/office/drawing/2014/main" id="{55E3D9AC-6E7B-486E-B6EE-706CCF1AD38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3</a:t>
              </a:r>
            </a:p>
          </p:txBody>
        </p:sp>
      </p:grpSp>
      <p:sp>
        <p:nvSpPr>
          <p:cNvPr id="9" name="テキスト ボックス 8">
            <a:extLst>
              <a:ext uri="{FF2B5EF4-FFF2-40B4-BE49-F238E27FC236}">
                <a16:creationId xmlns:a16="http://schemas.microsoft.com/office/drawing/2014/main" id="{C7A6554F-5FE7-4860-B0F6-ADE01EB96093}"/>
              </a:ext>
            </a:extLst>
          </p:cNvPr>
          <p:cNvSpPr txBox="1"/>
          <p:nvPr/>
        </p:nvSpPr>
        <p:spPr>
          <a:xfrm>
            <a:off x="361950" y="1047750"/>
            <a:ext cx="9182100" cy="542925"/>
          </a:xfrm>
          <a:prstGeom prst="rect">
            <a:avLst/>
          </a:prstGeom>
          <a:noFill/>
        </p:spPr>
        <p:txBody>
          <a:bodyPr vert="horz" lIns="76200" tIns="38100" rIns="76200" bIns="0" rtlCol="0" anchor="ctr" anchorCtr="0">
            <a:noAutofit/>
          </a:bodyPr>
          <a:lstStyle/>
          <a:p>
            <a:pPr fontAlgn="ctr">
              <a:spcBef>
                <a:spcPts val="0"/>
              </a:spcBef>
              <a:spcAft>
                <a:spcPts val="0"/>
              </a:spcAft>
            </a:pPr>
            <a:r>
              <a:rPr kumimoji="0" lang="ja" altLang="en-US" sz="1400" dirty="0">
                <a:solidFill>
                  <a:srgbClr val="000000">
                    <a:alpha val="100000"/>
                  </a:srgbClr>
                </a:solidFill>
                <a:latin typeface="游ゴシック"/>
                <a:ea typeface="游ゴシック" panose="020B0400000000000000" pitchFamily="50" charset="-128"/>
              </a:rPr>
              <a:t>リスク評価は以下</a:t>
            </a:r>
            <a:r>
              <a:rPr kumimoji="0" lang="en-US" altLang="ja" sz="1400" dirty="0">
                <a:solidFill>
                  <a:srgbClr val="000000">
                    <a:alpha val="100000"/>
                  </a:srgbClr>
                </a:solidFill>
                <a:latin typeface="游ゴシック"/>
                <a:ea typeface="游ゴシック" panose="020B0400000000000000" pitchFamily="50" charset="-128"/>
              </a:rPr>
              <a:t>3</a:t>
            </a:r>
            <a:r>
              <a:rPr kumimoji="0" lang="ja" altLang="en-US" sz="1400" dirty="0">
                <a:solidFill>
                  <a:srgbClr val="000000">
                    <a:alpha val="100000"/>
                  </a:srgbClr>
                </a:solidFill>
                <a:latin typeface="游ゴシック"/>
                <a:ea typeface="游ゴシック" panose="020B0400000000000000" pitchFamily="50" charset="-128"/>
              </a:rPr>
              <a:t>つのマトリクスから決定しています。
（例）ハザード：</a:t>
            </a:r>
            <a:r>
              <a:rPr kumimoji="0" lang="ja" altLang="en-US" sz="1400" dirty="0">
                <a:solidFill>
                  <a:srgbClr val="C00000">
                    <a:alpha val="100000"/>
                  </a:srgbClr>
                </a:solidFill>
                <a:latin typeface="游ゴシック"/>
                <a:ea typeface="游ゴシック" panose="020B0400000000000000" pitchFamily="50" charset="-128"/>
              </a:rPr>
              <a:t>高</a:t>
            </a:r>
            <a:r>
              <a:rPr kumimoji="0" lang="ja" altLang="en-US" sz="1400" dirty="0">
                <a:solidFill>
                  <a:srgbClr val="000000">
                    <a:alpha val="100000"/>
                  </a:srgbClr>
                </a:solidFill>
                <a:latin typeface="游ゴシック"/>
                <a:ea typeface="游ゴシック" panose="020B0400000000000000" pitchFamily="50" charset="-128"/>
              </a:rPr>
              <a:t>、リスクコントロール：</a:t>
            </a:r>
            <a:r>
              <a:rPr kumimoji="0" lang="ja" altLang="en-US" sz="1400" dirty="0">
                <a:solidFill>
                  <a:srgbClr val="C00000">
                    <a:alpha val="100000"/>
                  </a:srgbClr>
                </a:solidFill>
                <a:latin typeface="游ゴシック"/>
                <a:ea typeface="游ゴシック" panose="020B0400000000000000" pitchFamily="50" charset="-128"/>
              </a:rPr>
              <a:t>不十分</a:t>
            </a:r>
            <a:r>
              <a:rPr kumimoji="0" lang="ja" altLang="en-US" sz="1400" dirty="0">
                <a:solidFill>
                  <a:srgbClr val="000000">
                    <a:alpha val="100000"/>
                  </a:srgbClr>
                </a:solidFill>
                <a:latin typeface="游ゴシック"/>
                <a:ea typeface="游ゴシック" panose="020B0400000000000000" pitchFamily="50" charset="-128"/>
              </a:rPr>
              <a:t>、対策：</a:t>
            </a:r>
            <a:r>
              <a:rPr kumimoji="0" lang="ja" altLang="en-US" sz="1400" dirty="0">
                <a:solidFill>
                  <a:srgbClr val="C00000">
                    <a:alpha val="100000"/>
                  </a:srgbClr>
                </a:solidFill>
                <a:latin typeface="游ゴシック"/>
                <a:ea typeface="游ゴシック" panose="020B0400000000000000" pitchFamily="50" charset="-128"/>
              </a:rPr>
              <a:t>容易</a:t>
            </a:r>
            <a:r>
              <a:rPr kumimoji="0" lang="ja" altLang="en-US" sz="1400" dirty="0">
                <a:solidFill>
                  <a:srgbClr val="000000">
                    <a:alpha val="100000"/>
                  </a:srgbClr>
                </a:solidFill>
                <a:latin typeface="游ゴシック"/>
                <a:ea typeface="游ゴシック" panose="020B0400000000000000" pitchFamily="50" charset="-128"/>
              </a:rPr>
              <a:t>の場合 → リスク評価：</a:t>
            </a:r>
            <a:r>
              <a:rPr kumimoji="0" lang="en-US" altLang="ja" sz="1400" dirty="0">
                <a:solidFill>
                  <a:srgbClr val="000000">
                    <a:alpha val="100000"/>
                  </a:srgbClr>
                </a:solidFill>
                <a:latin typeface="游ゴシック"/>
                <a:ea typeface="游ゴシック" panose="020B0400000000000000" pitchFamily="50" charset="-128"/>
              </a:rPr>
              <a:t>Critical</a:t>
            </a:r>
          </a:p>
        </p:txBody>
      </p:sp>
      <p:graphicFrame>
        <p:nvGraphicFramePr>
          <p:cNvPr id="10" name="表 9">
            <a:extLst>
              <a:ext uri="{FF2B5EF4-FFF2-40B4-BE49-F238E27FC236}">
                <a16:creationId xmlns:a16="http://schemas.microsoft.com/office/drawing/2014/main" id="{7319BAEB-94C0-4E1D-80E7-5D0D441D48B2}"/>
              </a:ext>
            </a:extLst>
          </p:cNvPr>
          <p:cNvGraphicFramePr>
            <a:graphicFrameLocks noGrp="1"/>
          </p:cNvGraphicFramePr>
          <p:nvPr/>
        </p:nvGraphicFramePr>
        <p:xfrm>
          <a:off x="361950" y="1552575"/>
          <a:ext cx="9163050" cy="1390650"/>
        </p:xfrm>
        <a:graphic>
          <a:graphicData uri="http://schemas.openxmlformats.org/drawingml/2006/table">
            <a:tbl>
              <a:tblPr firstRow="1" bandRow="1"/>
              <a:tblGrid>
                <a:gridCol w="1476375">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2009775">
                  <a:extLst>
                    <a:ext uri="{9D8B030D-6E8A-4147-A177-3AD203B41FA5}">
                      <a16:colId xmlns:a16="http://schemas.microsoft.com/office/drawing/2014/main" val="20002"/>
                    </a:ext>
                  </a:extLst>
                </a:gridCol>
                <a:gridCol w="2009775">
                  <a:extLst>
                    <a:ext uri="{9D8B030D-6E8A-4147-A177-3AD203B41FA5}">
                      <a16:colId xmlns:a16="http://schemas.microsoft.com/office/drawing/2014/main" val="20003"/>
                    </a:ext>
                  </a:extLst>
                </a:gridCol>
                <a:gridCol w="2009775">
                  <a:extLst>
                    <a:ext uri="{9D8B030D-6E8A-4147-A177-3AD203B41FA5}">
                      <a16:colId xmlns:a16="http://schemas.microsoft.com/office/drawing/2014/main" val="20004"/>
                    </a:ext>
                  </a:extLst>
                </a:gridCol>
              </a:tblGrid>
              <a:tr h="285750">
                <a:tc rowSpan="5">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20000"/>
                        </a:lnSpc>
                        <a:spcBef>
                          <a:spcPts val="0"/>
                        </a:spcBef>
                        <a:spcAft>
                          <a:spcPts val="0"/>
                        </a:spcAft>
                      </a:pPr>
                      <a:r>
                        <a:rPr lang="en-US" sz="1400" b="1" u="none" strike="noStrike" cap="none" spc="0">
                          <a:solidFill>
                            <a:srgbClr val="FFFFFF">
                              <a:alpha val="100000"/>
                            </a:srgbClr>
                          </a:solidFill>
                          <a:latin typeface="游ゴシック"/>
                        </a:rPr>
                        <a:t>ハザード</a:t>
                      </a:r>
                      <a:br/>
                      <a:r>
                        <a:rPr lang="en-US" sz="1000" i="1" u="none" strike="noStrike" cap="none" spc="0">
                          <a:solidFill>
                            <a:srgbClr val="FFFFFF">
                              <a:alpha val="100000"/>
                            </a:srgbClr>
                          </a:solidFill>
                          <a:latin typeface="游ゴシック"/>
                        </a:rPr>
                        <a:t>影響度×</a:t>
                      </a:r>
                      <a:br/>
                      <a:r>
                        <a:rPr lang="en-US" sz="1000" i="1" u="none" strike="noStrike" cap="none" spc="0">
                          <a:solidFill>
                            <a:srgbClr val="FFFFFF">
                              <a:alpha val="100000"/>
                            </a:srgbClr>
                          </a:solidFill>
                          <a:latin typeface="游ゴシック"/>
                        </a:rPr>
                        <a:t>発生可能性</a:t>
                      </a:r>
                    </a:p>
                  </a:txBody>
                  <a:tcPr marL="0" marR="0" marT="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990000">
                        <a:alpha val="100000"/>
                      </a:srgbClr>
                    </a:solidFill>
                  </a:tcPr>
                </a:tc>
                <a:tc rowSpan="2">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b="1" u="none" strike="noStrike" cap="none" spc="0">
                          <a:solidFill>
                            <a:srgbClr val="000000">
                              <a:alpha val="100000"/>
                            </a:srgbClr>
                          </a:solidFill>
                          <a:latin typeface="游ゴシック"/>
                        </a:rPr>
                        <a:t>発生可能性</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gridSpan="3">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en-US" sz="1400" b="1" u="none" strike="noStrike" cap="none" spc="0">
                          <a:solidFill>
                            <a:srgbClr val="000000">
                              <a:alpha val="100000"/>
                            </a:srgbClr>
                          </a:solidFill>
                          <a:latin typeface="游ゴシック"/>
                        </a:rPr>
                        <a:t>影響度</a:t>
                      </a:r>
                      <a:r>
                        <a:rPr lang="en-US" sz="1000" i="1" u="none" strike="noStrike" cap="none" spc="0">
                          <a:solidFill>
                            <a:srgbClr val="000000">
                              <a:alpha val="100000"/>
                            </a:srgbClr>
                          </a:solidFill>
                          <a:latin typeface="游ゴシック"/>
                        </a:rPr>
                        <a:t>（財物損害または事業中断期間）</a:t>
                      </a:r>
                    </a:p>
                  </a:txBody>
                  <a:tcPr marL="0" marR="0" marT="9525"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0"/>
                  </a:ext>
                </a:extLst>
              </a:tr>
              <a:tr h="276225">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990000">
                        <a:alpha val="100000"/>
                      </a:srgbClr>
                    </a:solidFill>
                  </a:tcPr>
                </a:tc>
                <a:tc vMerge="1">
                  <a:txBody>
                    <a:body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&gt;1億円 or &gt;1ヶ月</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&gt;3,000万円 or &gt;3日</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&lt;3,000万円 or &lt;3日</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1"/>
                  </a:ext>
                </a:extLst>
              </a:tr>
              <a:tr h="276225">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00000">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高</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C00000">
                              <a:alpha val="100000"/>
                            </a:srgbClr>
                          </a:solidFill>
                          <a:latin typeface="游ゴシック"/>
                        </a:rPr>
                        <a:t>高</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C00000">
                              <a:alpha val="100000"/>
                            </a:srgbClr>
                          </a:solidFill>
                          <a:latin typeface="游ゴシック"/>
                        </a:rPr>
                        <a:t>高</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FFC000">
                              <a:alpha val="100000"/>
                            </a:srgbClr>
                          </a:solidFill>
                          <a:latin typeface="游ゴシック"/>
                        </a:rPr>
                        <a:t>中</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2"/>
                  </a:ext>
                </a:extLst>
              </a:tr>
              <a:tr h="276225">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00000">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中</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C00000">
                              <a:alpha val="100000"/>
                            </a:srgbClr>
                          </a:solidFill>
                          <a:latin typeface="游ゴシック"/>
                        </a:rPr>
                        <a:t>高</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FFC000">
                              <a:alpha val="100000"/>
                            </a:srgbClr>
                          </a:solidFill>
                          <a:latin typeface="游ゴシック"/>
                        </a:rPr>
                        <a:t>中</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B050">
                              <a:alpha val="100000"/>
                            </a:srgbClr>
                          </a:solidFill>
                          <a:latin typeface="游ゴシック"/>
                        </a:rPr>
                        <a:t>低</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3"/>
                  </a:ext>
                </a:extLst>
              </a:tr>
              <a:tr h="276225">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00000">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低</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C00000">
                              <a:alpha val="100000"/>
                            </a:srgbClr>
                          </a:solidFill>
                          <a:latin typeface="游ゴシック"/>
                        </a:rPr>
                        <a:t>高</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FFC000">
                              <a:alpha val="100000"/>
                            </a:srgbClr>
                          </a:solidFill>
                          <a:latin typeface="游ゴシック"/>
                        </a:rPr>
                        <a:t>中</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dirty="0">
                          <a:solidFill>
                            <a:srgbClr val="00B050">
                              <a:alpha val="100000"/>
                            </a:srgbClr>
                          </a:solidFill>
                          <a:latin typeface="游ゴシック"/>
                        </a:rPr>
                        <a:t>低</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4"/>
                  </a:ext>
                </a:extLst>
              </a:tr>
            </a:tbl>
          </a:graphicData>
        </a:graphic>
      </p:graphicFrame>
      <p:graphicFrame>
        <p:nvGraphicFramePr>
          <p:cNvPr id="14" name="表 13">
            <a:extLst>
              <a:ext uri="{FF2B5EF4-FFF2-40B4-BE49-F238E27FC236}">
                <a16:creationId xmlns:a16="http://schemas.microsoft.com/office/drawing/2014/main" id="{4146FEC8-DE9D-4167-9AB6-76C92C0AB3DE}"/>
              </a:ext>
            </a:extLst>
          </p:cNvPr>
          <p:cNvGraphicFramePr>
            <a:graphicFrameLocks noGrp="1"/>
          </p:cNvGraphicFramePr>
          <p:nvPr>
            <p:extLst>
              <p:ext uri="{D42A27DB-BD31-4B8C-83A1-F6EECF244321}">
                <p14:modId xmlns:p14="http://schemas.microsoft.com/office/powerpoint/2010/main" val="1083343791"/>
              </p:ext>
            </p:extLst>
          </p:nvPr>
        </p:nvGraphicFramePr>
        <p:xfrm>
          <a:off x="361950" y="2983441"/>
          <a:ext cx="9163050" cy="1536192"/>
        </p:xfrm>
        <a:graphic>
          <a:graphicData uri="http://schemas.openxmlformats.org/drawingml/2006/table">
            <a:tbl>
              <a:tblPr firstRow="1" bandRow="1"/>
              <a:tblGrid>
                <a:gridCol w="1476375">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2009775">
                  <a:extLst>
                    <a:ext uri="{9D8B030D-6E8A-4147-A177-3AD203B41FA5}">
                      <a16:colId xmlns:a16="http://schemas.microsoft.com/office/drawing/2014/main" val="20002"/>
                    </a:ext>
                  </a:extLst>
                </a:gridCol>
                <a:gridCol w="2009775">
                  <a:extLst>
                    <a:ext uri="{9D8B030D-6E8A-4147-A177-3AD203B41FA5}">
                      <a16:colId xmlns:a16="http://schemas.microsoft.com/office/drawing/2014/main" val="20003"/>
                    </a:ext>
                  </a:extLst>
                </a:gridCol>
                <a:gridCol w="2009775">
                  <a:extLst>
                    <a:ext uri="{9D8B030D-6E8A-4147-A177-3AD203B41FA5}">
                      <a16:colId xmlns:a16="http://schemas.microsoft.com/office/drawing/2014/main" val="20004"/>
                    </a:ext>
                  </a:extLst>
                </a:gridCol>
              </a:tblGrid>
              <a:tr h="304800">
                <a:tc rowSpan="5">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20000"/>
                        </a:lnSpc>
                        <a:spcBef>
                          <a:spcPts val="0"/>
                        </a:spcBef>
                        <a:spcAft>
                          <a:spcPts val="0"/>
                        </a:spcAft>
                      </a:pPr>
                      <a:r>
                        <a:rPr lang="en-US" sz="1400" b="1" u="none" strike="noStrike" cap="none" spc="0" dirty="0" err="1">
                          <a:solidFill>
                            <a:srgbClr val="FFFFFF">
                              <a:alpha val="100000"/>
                            </a:srgbClr>
                          </a:solidFill>
                          <a:latin typeface="游ゴシック"/>
                        </a:rPr>
                        <a:t>リスク</a:t>
                      </a:r>
                      <a:r>
                        <a:rPr lang="en-US" sz="1400" b="1" u="none" strike="noStrike" cap="none" spc="0" dirty="0">
                          <a:solidFill>
                            <a:srgbClr val="FFFFFF">
                              <a:alpha val="100000"/>
                            </a:srgbClr>
                          </a:solidFill>
                          <a:latin typeface="游ゴシック"/>
                        </a:rPr>
                        <a:t>
</a:t>
                      </a:r>
                      <a:r>
                        <a:rPr lang="en-US" sz="1400" b="1" u="none" strike="noStrike" cap="none" spc="0" dirty="0" err="1">
                          <a:solidFill>
                            <a:srgbClr val="FFFFFF">
                              <a:alpha val="100000"/>
                            </a:srgbClr>
                          </a:solidFill>
                          <a:latin typeface="游ゴシック"/>
                        </a:rPr>
                        <a:t>コントロール</a:t>
                      </a:r>
                      <a:br>
                        <a:rPr dirty="0"/>
                      </a:br>
                      <a:r>
                        <a:rPr lang="en-US" sz="1000" i="1" u="none" strike="noStrike" cap="none" spc="0" dirty="0" err="1">
                          <a:solidFill>
                            <a:srgbClr val="FFFFFF">
                              <a:alpha val="100000"/>
                            </a:srgbClr>
                          </a:solidFill>
                          <a:latin typeface="游ゴシック"/>
                        </a:rPr>
                        <a:t>ハード対策</a:t>
                      </a:r>
                      <a:r>
                        <a:rPr lang="en-US" sz="1000" i="1" u="none" strike="noStrike" cap="none" spc="0" dirty="0">
                          <a:solidFill>
                            <a:srgbClr val="FFFFFF">
                              <a:alpha val="100000"/>
                            </a:srgbClr>
                          </a:solidFill>
                          <a:latin typeface="游ゴシック"/>
                        </a:rPr>
                        <a:t>×</a:t>
                      </a:r>
                      <a:br>
                        <a:rPr dirty="0"/>
                      </a:br>
                      <a:r>
                        <a:rPr lang="en-US" sz="1000" i="1" u="none" strike="noStrike" cap="none" spc="0" dirty="0" err="1">
                          <a:solidFill>
                            <a:srgbClr val="FFFFFF">
                              <a:alpha val="100000"/>
                            </a:srgbClr>
                          </a:solidFill>
                          <a:latin typeface="游ゴシック"/>
                        </a:rPr>
                        <a:t>ソフト対策</a:t>
                      </a:r>
                      <a:endParaRPr lang="en-US" sz="1000" i="1" u="none" strike="noStrike" cap="none" spc="0" dirty="0">
                        <a:solidFill>
                          <a:srgbClr val="FFFFFF">
                            <a:alpha val="100000"/>
                          </a:srgbClr>
                        </a:solidFill>
                        <a:latin typeface="游ゴシック"/>
                      </a:endParaRPr>
                    </a:p>
                  </a:txBody>
                  <a:tcPr marL="0" marR="0" marT="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4589">
                        <a:alpha val="100000"/>
                      </a:srgbClr>
                    </a:solidFill>
                  </a:tcPr>
                </a:tc>
                <a:tc rowSpan="2">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20000"/>
                        </a:lnSpc>
                        <a:spcBef>
                          <a:spcPts val="0"/>
                        </a:spcBef>
                        <a:spcAft>
                          <a:spcPts val="0"/>
                        </a:spcAft>
                      </a:pPr>
                      <a:r>
                        <a:rPr lang="en-US" sz="1400" b="1" u="none" strike="noStrike" cap="none" spc="0" dirty="0" err="1">
                          <a:solidFill>
                            <a:srgbClr val="000000">
                              <a:alpha val="100000"/>
                            </a:srgbClr>
                          </a:solidFill>
                          <a:latin typeface="游ゴシック"/>
                        </a:rPr>
                        <a:t>ソフト対策</a:t>
                      </a:r>
                      <a:br>
                        <a:rPr dirty="0"/>
                      </a:br>
                      <a:r>
                        <a:rPr lang="en-US" sz="1000" i="1" u="none" strike="noStrike" cap="none" spc="0" dirty="0" err="1">
                          <a:solidFill>
                            <a:srgbClr val="000000">
                              <a:alpha val="100000"/>
                            </a:srgbClr>
                          </a:solidFill>
                          <a:latin typeface="游ゴシック"/>
                        </a:rPr>
                        <a:t>操作、管理、計画</a:t>
                      </a:r>
                      <a:r>
                        <a:rPr lang="en-US" sz="1000" i="1" u="none" strike="noStrike" cap="none" spc="0" dirty="0">
                          <a:solidFill>
                            <a:srgbClr val="000000">
                              <a:alpha val="100000"/>
                            </a:srgbClr>
                          </a:solidFill>
                          <a:latin typeface="游ゴシック"/>
                        </a:rPr>
                        <a:t>、</a:t>
                      </a:r>
                      <a:br>
                        <a:rPr dirty="0"/>
                      </a:br>
                      <a:r>
                        <a:rPr lang="en-US" sz="1000" i="1" u="none" strike="noStrike" cap="none" spc="0" dirty="0" err="1">
                          <a:solidFill>
                            <a:srgbClr val="000000">
                              <a:alpha val="100000"/>
                            </a:srgbClr>
                          </a:solidFill>
                          <a:latin typeface="游ゴシック"/>
                        </a:rPr>
                        <a:t>点検など</a:t>
                      </a:r>
                      <a:endParaRPr lang="en-US" sz="1000" i="1" u="none" strike="noStrike" cap="none" spc="0" dirty="0">
                        <a:solidFill>
                          <a:srgbClr val="000000">
                            <a:alpha val="100000"/>
                          </a:srgbClr>
                        </a:solidFill>
                        <a:latin typeface="游ゴシック"/>
                      </a:endParaRPr>
                    </a:p>
                  </a:txBody>
                  <a:tcPr marL="0" marR="0" marT="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gridSpan="3">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en-US" sz="1400" b="1" u="none" strike="noStrike" cap="none" spc="0">
                          <a:solidFill>
                            <a:srgbClr val="000000">
                              <a:alpha val="100000"/>
                            </a:srgbClr>
                          </a:solidFill>
                          <a:latin typeface="游ゴシック"/>
                        </a:rPr>
                        <a:t>ハード対策</a:t>
                      </a:r>
                      <a:r>
                        <a:rPr lang="en-US" sz="1000" i="1" u="none" strike="noStrike" cap="none" spc="0">
                          <a:solidFill>
                            <a:srgbClr val="000000">
                              <a:alpha val="100000"/>
                            </a:srgbClr>
                          </a:solidFill>
                          <a:latin typeface="游ゴシック"/>
                        </a:rPr>
                        <a:t>（消火設備、インターロックなど）</a:t>
                      </a:r>
                    </a:p>
                  </a:txBody>
                  <a:tcPr marL="0" marR="0" marT="9525"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0"/>
                  </a:ext>
                </a:extLst>
              </a:tr>
              <a:tr h="304800">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4589">
                        <a:alpha val="100000"/>
                      </a:srgbClr>
                    </a:solidFill>
                  </a:tcPr>
                </a:tc>
                <a:tc vMerge="1">
                  <a:txBody>
                    <a:body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不十分</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改善可</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良好</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1"/>
                  </a:ext>
                </a:extLst>
              </a:tr>
              <a:tr h="304800">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4589">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要改善</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C00000">
                              <a:alpha val="100000"/>
                            </a:srgbClr>
                          </a:solidFill>
                          <a:latin typeface="游ゴシック"/>
                        </a:rPr>
                        <a:t>不十分</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C00000">
                              <a:alpha val="100000"/>
                            </a:srgbClr>
                          </a:solidFill>
                          <a:latin typeface="游ゴシック"/>
                        </a:rPr>
                        <a:t>不十分</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FFC000">
                              <a:alpha val="100000"/>
                            </a:srgbClr>
                          </a:solidFill>
                          <a:latin typeface="游ゴシック"/>
                        </a:rPr>
                        <a:t>改善可</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2"/>
                  </a:ext>
                </a:extLst>
              </a:tr>
              <a:tr h="304800">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4589">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改善可</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C00000">
                              <a:alpha val="100000"/>
                            </a:srgbClr>
                          </a:solidFill>
                          <a:latin typeface="游ゴシック"/>
                        </a:rPr>
                        <a:t>不十分</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FFC000">
                              <a:alpha val="100000"/>
                            </a:srgbClr>
                          </a:solidFill>
                          <a:latin typeface="游ゴシック"/>
                        </a:rPr>
                        <a:t>改善可</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B050">
                              <a:alpha val="100000"/>
                            </a:srgbClr>
                          </a:solidFill>
                          <a:latin typeface="游ゴシック"/>
                        </a:rPr>
                        <a:t>良好</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3"/>
                  </a:ext>
                </a:extLst>
              </a:tr>
              <a:tr h="304800">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4589">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良好</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FFC000">
                              <a:alpha val="100000"/>
                            </a:srgbClr>
                          </a:solidFill>
                          <a:latin typeface="游ゴシック"/>
                        </a:rPr>
                        <a:t>改善可</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B050">
                              <a:alpha val="100000"/>
                            </a:srgbClr>
                          </a:solidFill>
                          <a:latin typeface="游ゴシック"/>
                        </a:rPr>
                        <a:t>良好</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dirty="0">
                          <a:solidFill>
                            <a:srgbClr val="00B050">
                              <a:alpha val="100000"/>
                            </a:srgbClr>
                          </a:solidFill>
                          <a:latin typeface="游ゴシック"/>
                        </a:rPr>
                        <a:t>良好</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4"/>
                  </a:ext>
                </a:extLst>
              </a:tr>
            </a:tbl>
          </a:graphicData>
        </a:graphic>
      </p:graphicFrame>
      <p:graphicFrame>
        <p:nvGraphicFramePr>
          <p:cNvPr id="15" name="表 14">
            <a:extLst>
              <a:ext uri="{FF2B5EF4-FFF2-40B4-BE49-F238E27FC236}">
                <a16:creationId xmlns:a16="http://schemas.microsoft.com/office/drawing/2014/main" id="{B11A8815-28CB-4BE5-9FC3-68B060A0363A}"/>
              </a:ext>
            </a:extLst>
          </p:cNvPr>
          <p:cNvGraphicFramePr>
            <a:graphicFrameLocks noGrp="1"/>
          </p:cNvGraphicFramePr>
          <p:nvPr/>
        </p:nvGraphicFramePr>
        <p:xfrm>
          <a:off x="361950" y="4572000"/>
          <a:ext cx="9163050" cy="1838325"/>
        </p:xfrm>
        <a:graphic>
          <a:graphicData uri="http://schemas.openxmlformats.org/drawingml/2006/table">
            <a:tbl>
              <a:tblPr firstRow="1" bandRow="1"/>
              <a:tblGrid>
                <a:gridCol w="1476375">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2009775">
                  <a:extLst>
                    <a:ext uri="{9D8B030D-6E8A-4147-A177-3AD203B41FA5}">
                      <a16:colId xmlns:a16="http://schemas.microsoft.com/office/drawing/2014/main" val="20002"/>
                    </a:ext>
                  </a:extLst>
                </a:gridCol>
                <a:gridCol w="2009775">
                  <a:extLst>
                    <a:ext uri="{9D8B030D-6E8A-4147-A177-3AD203B41FA5}">
                      <a16:colId xmlns:a16="http://schemas.microsoft.com/office/drawing/2014/main" val="20003"/>
                    </a:ext>
                  </a:extLst>
                </a:gridCol>
                <a:gridCol w="2009775">
                  <a:extLst>
                    <a:ext uri="{9D8B030D-6E8A-4147-A177-3AD203B41FA5}">
                      <a16:colId xmlns:a16="http://schemas.microsoft.com/office/drawing/2014/main" val="20004"/>
                    </a:ext>
                  </a:extLst>
                </a:gridCol>
              </a:tblGrid>
              <a:tr h="266700">
                <a:tc rowSpan="6">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20000"/>
                        </a:lnSpc>
                        <a:spcBef>
                          <a:spcPts val="0"/>
                        </a:spcBef>
                        <a:spcAft>
                          <a:spcPts val="0"/>
                        </a:spcAft>
                      </a:pPr>
                      <a:r>
                        <a:rPr lang="en-US" sz="1400" b="1" u="none" strike="noStrike" cap="none" spc="0">
                          <a:solidFill>
                            <a:srgbClr val="FFFFFF">
                              <a:alpha val="100000"/>
                            </a:srgbClr>
                          </a:solidFill>
                          <a:latin typeface="游ゴシック"/>
                        </a:rPr>
                        <a:t>対策</a:t>
                      </a:r>
                      <a:br/>
                      <a:r>
                        <a:rPr lang="en-US" sz="1000" i="1" u="none" strike="noStrike" cap="none" spc="0">
                          <a:solidFill>
                            <a:srgbClr val="FFFFFF">
                              <a:alpha val="100000"/>
                            </a:srgbClr>
                          </a:solidFill>
                          <a:latin typeface="游ゴシック"/>
                        </a:rPr>
                        <a:t>費用×所要期間</a:t>
                      </a:r>
                    </a:p>
                  </a:txBody>
                  <a:tcPr marL="0" marR="0" marT="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407868">
                        <a:alpha val="100000"/>
                      </a:srgbClr>
                    </a:solidFill>
                  </a:tcPr>
                </a:tc>
                <a:tc rowSpan="2">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20000"/>
                        </a:lnSpc>
                        <a:spcBef>
                          <a:spcPts val="0"/>
                        </a:spcBef>
                        <a:spcAft>
                          <a:spcPts val="0"/>
                        </a:spcAft>
                      </a:pPr>
                      <a:r>
                        <a:rPr lang="en-US" sz="1400" b="1" u="none" strike="noStrike" cap="none" spc="0">
                          <a:solidFill>
                            <a:srgbClr val="000000">
                              <a:alpha val="100000"/>
                            </a:srgbClr>
                          </a:solidFill>
                          <a:latin typeface="游ゴシック"/>
                        </a:rPr>
                        <a:t>所要期間</a:t>
                      </a:r>
                      <a:br/>
                      <a:r>
                        <a:rPr lang="en-US" sz="1000" i="1" u="none" strike="noStrike" cap="none" spc="0">
                          <a:solidFill>
                            <a:srgbClr val="000000">
                              <a:alpha val="100000"/>
                            </a:srgbClr>
                          </a:solidFill>
                          <a:latin typeface="游ゴシック"/>
                        </a:rPr>
                        <a:t>対策完了までに</a:t>
                      </a:r>
                      <a:br/>
                      <a:r>
                        <a:rPr lang="en-US" sz="1000" i="1" u="none" strike="noStrike" cap="none" spc="0">
                          <a:solidFill>
                            <a:srgbClr val="000000">
                              <a:alpha val="100000"/>
                            </a:srgbClr>
                          </a:solidFill>
                          <a:latin typeface="游ゴシック"/>
                        </a:rPr>
                        <a:t>要する期間の目安</a:t>
                      </a:r>
                    </a:p>
                  </a:txBody>
                  <a:tcPr marL="0" marR="0" marT="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gridSpan="3">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en-US" sz="1400" b="1" u="none" strike="noStrike" cap="none" spc="0">
                          <a:solidFill>
                            <a:srgbClr val="000000">
                              <a:alpha val="100000"/>
                            </a:srgbClr>
                          </a:solidFill>
                          <a:latin typeface="游ゴシック"/>
                        </a:rPr>
                        <a:t>費用</a:t>
                      </a:r>
                      <a:r>
                        <a:rPr lang="en-US" sz="1000" i="1" u="none" strike="noStrike" cap="none" spc="0">
                          <a:solidFill>
                            <a:srgbClr val="000000">
                              <a:alpha val="100000"/>
                            </a:srgbClr>
                          </a:solidFill>
                          <a:latin typeface="游ゴシック"/>
                        </a:rPr>
                        <a:t>（対策にかかる費用の目安）</a:t>
                      </a:r>
                    </a:p>
                  </a:txBody>
                  <a:tcPr marL="0" marR="0" marT="9525"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0"/>
                  </a:ext>
                </a:extLst>
              </a:tr>
              <a:tr h="504825">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407868">
                        <a:alpha val="100000"/>
                      </a:srgbClr>
                    </a:solidFill>
                  </a:tcPr>
                </a:tc>
                <a:tc vMerge="1">
                  <a:txBody>
                    <a:body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20000"/>
                        </a:lnSpc>
                        <a:spcBef>
                          <a:spcPts val="0"/>
                        </a:spcBef>
                        <a:spcAft>
                          <a:spcPts val="0"/>
                        </a:spcAft>
                      </a:pPr>
                      <a:r>
                        <a:rPr lang="en-US" sz="1400" u="none" strike="noStrike" cap="none" spc="0">
                          <a:solidFill>
                            <a:srgbClr val="000000">
                              <a:alpha val="100000"/>
                            </a:srgbClr>
                          </a:solidFill>
                          <a:latin typeface="游ゴシック"/>
                        </a:rPr>
                        <a:t>低</a:t>
                      </a:r>
                      <a:br/>
                      <a:r>
                        <a:rPr lang="en-US" sz="1000" i="1" u="none" strike="noStrike" cap="none" spc="0">
                          <a:solidFill>
                            <a:srgbClr val="000000">
                              <a:alpha val="100000"/>
                            </a:srgbClr>
                          </a:solidFill>
                          <a:latin typeface="游ゴシック"/>
                        </a:rPr>
                        <a:t>撤去、移動など</a:t>
                      </a:r>
                    </a:p>
                  </a:txBody>
                  <a:tcPr marL="0" marR="0" marT="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20000"/>
                        </a:lnSpc>
                        <a:spcBef>
                          <a:spcPts val="0"/>
                        </a:spcBef>
                        <a:spcAft>
                          <a:spcPts val="0"/>
                        </a:spcAft>
                      </a:pPr>
                      <a:r>
                        <a:rPr lang="en-US" sz="1400" u="none" strike="noStrike" cap="none" spc="0">
                          <a:solidFill>
                            <a:srgbClr val="000000">
                              <a:alpha val="100000"/>
                            </a:srgbClr>
                          </a:solidFill>
                          <a:latin typeface="游ゴシック"/>
                        </a:rPr>
                        <a:t>中</a:t>
                      </a:r>
                      <a:br/>
                      <a:r>
                        <a:rPr lang="en-US" sz="1000" i="1" u="none" strike="noStrike" cap="none" spc="0">
                          <a:solidFill>
                            <a:srgbClr val="000000">
                              <a:alpha val="100000"/>
                            </a:srgbClr>
                          </a:solidFill>
                          <a:latin typeface="游ゴシック"/>
                        </a:rPr>
                        <a:t>修理など</a:t>
                      </a:r>
                    </a:p>
                  </a:txBody>
                  <a:tcPr marL="0" marR="0" marT="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20000"/>
                        </a:lnSpc>
                        <a:spcBef>
                          <a:spcPts val="0"/>
                        </a:spcBef>
                        <a:spcAft>
                          <a:spcPts val="0"/>
                        </a:spcAft>
                      </a:pPr>
                      <a:r>
                        <a:rPr lang="en-US" sz="1400" u="none" strike="noStrike" cap="none" spc="0">
                          <a:solidFill>
                            <a:srgbClr val="000000">
                              <a:alpha val="100000"/>
                            </a:srgbClr>
                          </a:solidFill>
                          <a:latin typeface="游ゴシック"/>
                        </a:rPr>
                        <a:t>高</a:t>
                      </a:r>
                      <a:br/>
                      <a:r>
                        <a:rPr lang="en-US" sz="1000" i="1" u="none" strike="noStrike" cap="none" spc="0">
                          <a:solidFill>
                            <a:srgbClr val="000000">
                              <a:alpha val="100000"/>
                            </a:srgbClr>
                          </a:solidFill>
                          <a:latin typeface="游ゴシック"/>
                        </a:rPr>
                        <a:t>システム導入など</a:t>
                      </a:r>
                    </a:p>
                  </a:txBody>
                  <a:tcPr marL="0" marR="0" marT="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1"/>
                  </a:ext>
                </a:extLst>
              </a:tr>
              <a:tr h="266700">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407868">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1ヶ月以内</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C00000">
                              <a:alpha val="100000"/>
                            </a:srgbClr>
                          </a:solidFill>
                          <a:latin typeface="游ゴシック"/>
                        </a:rPr>
                        <a:t>容易</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C00000">
                              <a:alpha val="100000"/>
                            </a:srgbClr>
                          </a:solidFill>
                          <a:latin typeface="游ゴシック"/>
                        </a:rPr>
                        <a:t>容易</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FFC000">
                              <a:alpha val="100000"/>
                            </a:srgbClr>
                          </a:solidFill>
                          <a:latin typeface="游ゴシック"/>
                        </a:rPr>
                        <a:t>中</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2"/>
                  </a:ext>
                </a:extLst>
              </a:tr>
              <a:tr h="266700">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407868">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3ヶ月以内</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C00000">
                              <a:alpha val="100000"/>
                            </a:srgbClr>
                          </a:solidFill>
                          <a:latin typeface="游ゴシック"/>
                        </a:rPr>
                        <a:t>容易</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C00000">
                              <a:alpha val="100000"/>
                            </a:srgbClr>
                          </a:solidFill>
                          <a:latin typeface="游ゴシック"/>
                        </a:rPr>
                        <a:t>容易</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FFC000">
                              <a:alpha val="100000"/>
                            </a:srgbClr>
                          </a:solidFill>
                          <a:latin typeface="游ゴシック"/>
                        </a:rPr>
                        <a:t>中</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3"/>
                  </a:ext>
                </a:extLst>
              </a:tr>
              <a:tr h="266700">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407868">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1年以内</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C00000">
                              <a:alpha val="100000"/>
                            </a:srgbClr>
                          </a:solidFill>
                          <a:latin typeface="游ゴシック"/>
                        </a:rPr>
                        <a:t>容易</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FFC000">
                              <a:alpha val="100000"/>
                            </a:srgbClr>
                          </a:solidFill>
                          <a:latin typeface="游ゴシック"/>
                        </a:rPr>
                        <a:t>中</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B050">
                              <a:alpha val="100000"/>
                            </a:srgbClr>
                          </a:solidFill>
                          <a:latin typeface="游ゴシック"/>
                        </a:rPr>
                        <a:t>難</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4"/>
                  </a:ext>
                </a:extLst>
              </a:tr>
              <a:tr h="266700">
                <a:tc vMerge="1">
                  <a:txBody>
                    <a:bodyPr/>
                    <a:lstStyle/>
                    <a:p>
                      <a:pPr marL="0" marR="0" lvl="0" indent="0" algn="ctr" rtl="0" fontAlgn="ctr">
                        <a:lnSpc>
                          <a:spcPct val="100000"/>
                        </a:lnSpc>
                        <a:spcBef>
                          <a:spcPts val="0"/>
                        </a:spcBef>
                        <a:spcAft>
                          <a:spcPts val="0"/>
                        </a:spcAft>
                      </a:pPr>
                      <a:r>
                        <a:rPr lang="ja" sz="1400" u="none" strike="noStrike" cap="none" spc="0">
                          <a:solidFill>
                            <a:srgbClr val="FFFFFF">
                              <a:alpha val="100000"/>
                            </a:srgbClr>
                          </a:solidFill>
                          <a:latin typeface="游ゴシック"/>
                        </a:rPr>
                        <a:t> </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407868">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000000">
                              <a:alpha val="100000"/>
                            </a:srgbClr>
                          </a:solidFill>
                          <a:latin typeface="游ゴシック"/>
                        </a:rPr>
                        <a:t>1年以上</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a:solidFill>
                            <a:srgbClr val="FFC000">
                              <a:alpha val="100000"/>
                            </a:srgbClr>
                          </a:solidFill>
                          <a:latin typeface="游ゴシック"/>
                        </a:rPr>
                        <a:t>中</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dirty="0">
                          <a:solidFill>
                            <a:srgbClr val="00B050">
                              <a:alpha val="100000"/>
                            </a:srgbClr>
                          </a:solidFill>
                          <a:latin typeface="游ゴシック"/>
                        </a:rPr>
                        <a:t>難</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lvl1pPr marL="0" algn="l" defTabSz="913851" rtl="0" eaLnBrk="1" latinLnBrk="0" hangingPunct="1">
                        <a:defRPr kumimoji="1" sz="1799" kern="1200">
                          <a:solidFill>
                            <a:schemeClr val="tx1"/>
                          </a:solidFill>
                          <a:latin typeface="Calibri"/>
                        </a:defRPr>
                      </a:lvl1pPr>
                      <a:lvl2pPr marL="456926" algn="l" defTabSz="913851" rtl="0" eaLnBrk="1" latinLnBrk="0" hangingPunct="1">
                        <a:defRPr kumimoji="1" sz="1799" kern="1200">
                          <a:solidFill>
                            <a:schemeClr val="tx1"/>
                          </a:solidFill>
                          <a:latin typeface="Calibri"/>
                        </a:defRPr>
                      </a:lvl2pPr>
                      <a:lvl3pPr marL="913851" algn="l" defTabSz="913851" rtl="0" eaLnBrk="1" latinLnBrk="0" hangingPunct="1">
                        <a:defRPr kumimoji="1" sz="1799" kern="1200">
                          <a:solidFill>
                            <a:schemeClr val="tx1"/>
                          </a:solidFill>
                          <a:latin typeface="Calibri"/>
                        </a:defRPr>
                      </a:lvl3pPr>
                      <a:lvl4pPr marL="1370777" algn="l" defTabSz="913851" rtl="0" eaLnBrk="1" latinLnBrk="0" hangingPunct="1">
                        <a:defRPr kumimoji="1" sz="1799" kern="1200">
                          <a:solidFill>
                            <a:schemeClr val="tx1"/>
                          </a:solidFill>
                          <a:latin typeface="Calibri"/>
                        </a:defRPr>
                      </a:lvl4pPr>
                      <a:lvl5pPr marL="1827703" algn="l" defTabSz="913851" rtl="0" eaLnBrk="1" latinLnBrk="0" hangingPunct="1">
                        <a:defRPr kumimoji="1" sz="1799" kern="1200">
                          <a:solidFill>
                            <a:schemeClr val="tx1"/>
                          </a:solidFill>
                          <a:latin typeface="Calibri"/>
                        </a:defRPr>
                      </a:lvl5pPr>
                      <a:lvl6pPr marL="2284628" algn="l" defTabSz="913851" rtl="0" eaLnBrk="1" latinLnBrk="0" hangingPunct="1">
                        <a:defRPr kumimoji="1" sz="1799" kern="1200">
                          <a:solidFill>
                            <a:schemeClr val="tx1"/>
                          </a:solidFill>
                          <a:latin typeface="Calibri"/>
                        </a:defRPr>
                      </a:lvl6pPr>
                      <a:lvl7pPr marL="2741554" algn="l" defTabSz="913851" rtl="0" eaLnBrk="1" latinLnBrk="0" hangingPunct="1">
                        <a:defRPr kumimoji="1" sz="1799" kern="1200">
                          <a:solidFill>
                            <a:schemeClr val="tx1"/>
                          </a:solidFill>
                          <a:latin typeface="Calibri"/>
                        </a:defRPr>
                      </a:lvl7pPr>
                      <a:lvl8pPr marL="3198480" algn="l" defTabSz="913851" rtl="0" eaLnBrk="1" latinLnBrk="0" hangingPunct="1">
                        <a:defRPr kumimoji="1" sz="1799" kern="1200">
                          <a:solidFill>
                            <a:schemeClr val="tx1"/>
                          </a:solidFill>
                          <a:latin typeface="Calibri"/>
                        </a:defRPr>
                      </a:lvl8pPr>
                      <a:lvl9pPr marL="3655405" algn="l" defTabSz="913851" rtl="0" eaLnBrk="1" latinLnBrk="0" hangingPunct="1">
                        <a:defRPr kumimoji="1" sz="1799" kern="1200">
                          <a:solidFill>
                            <a:schemeClr val="tx1"/>
                          </a:solidFill>
                          <a:latin typeface="Calibri"/>
                        </a:defRPr>
                      </a:lvl9pPr>
                    </a:lstStyle>
                    <a:p>
                      <a:pPr marL="0" marR="0" lvl="0" indent="0" algn="ctr" rtl="0" fontAlgn="ctr">
                        <a:lnSpc>
                          <a:spcPct val="100000"/>
                        </a:lnSpc>
                        <a:spcBef>
                          <a:spcPts val="0"/>
                        </a:spcBef>
                        <a:spcAft>
                          <a:spcPts val="0"/>
                        </a:spcAft>
                      </a:pPr>
                      <a:r>
                        <a:rPr lang="ja" sz="1400" u="none" strike="noStrike" cap="none" spc="0" dirty="0">
                          <a:solidFill>
                            <a:srgbClr val="00B050">
                              <a:alpha val="100000"/>
                            </a:srgbClr>
                          </a:solidFill>
                          <a:latin typeface="游ゴシック"/>
                        </a:rPr>
                        <a:t>難</a:t>
                      </a: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15411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a:extLst>
              <a:ext uri="{FF2B5EF4-FFF2-40B4-BE49-F238E27FC236}">
                <a16:creationId xmlns:a16="http://schemas.microsoft.com/office/drawing/2014/main" id="{84D7994D-E475-4C46-8F73-827FF7B86691}"/>
              </a:ext>
            </a:extLst>
          </p:cNvPr>
          <p:cNvGraphicFramePr>
            <a:graphicFrameLocks noGrp="1"/>
          </p:cNvGraphicFramePr>
          <p:nvPr>
            <p:extLst>
              <p:ext uri="{D42A27DB-BD31-4B8C-83A1-F6EECF244321}">
                <p14:modId xmlns:p14="http://schemas.microsoft.com/office/powerpoint/2010/main" val="3036252892"/>
              </p:ext>
            </p:extLst>
          </p:nvPr>
        </p:nvGraphicFramePr>
        <p:xfrm>
          <a:off x="361950" y="1257300"/>
          <a:ext cx="9172575" cy="5099685"/>
        </p:xfrm>
        <a:graphic>
          <a:graphicData uri="http://schemas.openxmlformats.org/drawingml/2006/table">
            <a:tbl>
              <a:tblPr firstRow="1" bandRow="1"/>
              <a:tblGrid>
                <a:gridCol w="990600">
                  <a:extLst>
                    <a:ext uri="{9D8B030D-6E8A-4147-A177-3AD203B41FA5}">
                      <a16:colId xmlns:a16="http://schemas.microsoft.com/office/drawing/2014/main" val="20000"/>
                    </a:ext>
                  </a:extLst>
                </a:gridCol>
                <a:gridCol w="3057525">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238250">
                  <a:extLst>
                    <a:ext uri="{9D8B030D-6E8A-4147-A177-3AD203B41FA5}">
                      <a16:colId xmlns:a16="http://schemas.microsoft.com/office/drawing/2014/main" val="20004"/>
                    </a:ext>
                  </a:extLst>
                </a:gridCol>
                <a:gridCol w="1238250">
                  <a:extLst>
                    <a:ext uri="{9D8B030D-6E8A-4147-A177-3AD203B41FA5}">
                      <a16:colId xmlns:a16="http://schemas.microsoft.com/office/drawing/2014/main" val="20005"/>
                    </a:ext>
                  </a:extLst>
                </a:gridCol>
              </a:tblGrid>
              <a:tr h="314325">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20</a:t>
                      </a:r>
                      <a:r>
                        <a:rPr lang="en-US" altLang="ja-JP" sz="1400" u="none" strike="noStrike" cap="none" spc="0" dirty="0">
                          <a:solidFill>
                            <a:srgbClr val="000000">
                              <a:alpha val="100000"/>
                            </a:srgbClr>
                          </a:solidFill>
                          <a:latin typeface="游ゴシック"/>
                        </a:rPr>
                        <a:t>26</a:t>
                      </a:r>
                      <a:r>
                        <a:rPr lang="ja" sz="1400" u="none" strike="noStrike" cap="none" spc="0" dirty="0">
                          <a:solidFill>
                            <a:srgbClr val="000000">
                              <a:alpha val="100000"/>
                            </a:srgbClr>
                          </a:solidFill>
                          <a:latin typeface="游ゴシック"/>
                        </a:rPr>
                        <a:t>-0</a:t>
                      </a:r>
                      <a:r>
                        <a:rPr lang="en-US" altLang="ja" sz="1400" u="none" strike="noStrike" cap="none" spc="0" dirty="0">
                          <a:solidFill>
                            <a:srgbClr val="000000">
                              <a:alpha val="100000"/>
                            </a:srgbClr>
                          </a:solidFill>
                          <a:latin typeface="游ゴシック"/>
                        </a:rPr>
                        <a:t>1</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5">
                  <a:txBody>
                    <a:bodyPr/>
                    <a:lstStyle/>
                    <a:p>
                      <a:pPr marL="76200" marR="76200" lvl="0" indent="0" algn="l" rtl="0" fontAlgn="ctr">
                        <a:lnSpc>
                          <a:spcPct val="100000"/>
                        </a:lnSpc>
                        <a:spcBef>
                          <a:spcPts val="0"/>
                        </a:spcBef>
                        <a:spcAft>
                          <a:spcPts val="0"/>
                        </a:spcAft>
                      </a:pPr>
                      <a:r>
                        <a:rPr lang="ja-JP" altLang="en-US" sz="1400" u="none" strike="noStrike" cap="none" spc="0" dirty="0">
                          <a:solidFill>
                            <a:schemeClr val="tx1"/>
                          </a:solidFill>
                          <a:latin typeface="+mn-lt"/>
                        </a:rPr>
                        <a:t>対策の基準となる浸水深の設定と浸水対策の検討</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0"/>
                  </a:ext>
                </a:extLst>
              </a:tr>
              <a:tr h="314325">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ぺリル</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chemeClr val="tx1"/>
                          </a:solidFill>
                          <a:latin typeface="游ゴシック"/>
                        </a:rPr>
                        <a:t>水災</a:t>
                      </a:r>
                      <a:endParaRPr lang="en-US" altLang="ja-JP" sz="1400" u="none" strike="noStrike" cap="none" spc="0" dirty="0">
                        <a:solidFill>
                          <a:schemeClr val="tx1"/>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カテゴリー</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3">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防災管理</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1"/>
                  </a:ext>
                </a:extLst>
              </a:tr>
              <a:tr h="314325">
                <a:tc rowSpan="3">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場所</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rowSpan="3">
                  <a:txBody>
                    <a:bodyPr/>
                    <a:lstStyle/>
                    <a:p>
                      <a:pPr marL="76200" marR="76200" lvl="0" indent="0" algn="l" rtl="0" fontAlgn="t">
                        <a:lnSpc>
                          <a:spcPct val="100000"/>
                        </a:lnSpc>
                        <a:spcBef>
                          <a:spcPts val="0"/>
                        </a:spcBef>
                        <a:spcAft>
                          <a:spcPts val="0"/>
                        </a:spcAft>
                      </a:pPr>
                      <a:r>
                        <a:rPr lang="ja-JP" altLang="en-US" sz="1400" u="none" strike="noStrike" cap="none" spc="0" dirty="0">
                          <a:solidFill>
                            <a:schemeClr val="tx1"/>
                          </a:solidFill>
                          <a:latin typeface="游ゴシック"/>
                        </a:rPr>
                        <a:t>構内全般</a:t>
                      </a:r>
                      <a:endParaRPr lang="ja" sz="1400" u="none" strike="noStrike" cap="none" spc="0" dirty="0">
                        <a:solidFill>
                          <a:schemeClr val="tx1"/>
                        </a:solidFill>
                        <a:latin typeface="游ゴシック"/>
                      </a:endParaRP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ハザード</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高</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リスク評価</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en-US" altLang="ja" sz="1400" u="none" strike="noStrike" cap="none" spc="0" dirty="0">
                          <a:solidFill>
                            <a:srgbClr val="000000">
                              <a:alpha val="100000"/>
                            </a:srgbClr>
                          </a:solidFill>
                          <a:latin typeface="游ゴシック"/>
                        </a:rPr>
                        <a:t>High</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2"/>
                  </a:ext>
                </a:extLst>
              </a:tr>
              <a:tr h="314325">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コントロール</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改善可</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完了予定月</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3"/>
                  </a:ext>
                </a:extLst>
              </a:tr>
              <a:tr h="314325">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対策</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中</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改善状況</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4"/>
                  </a:ext>
                </a:extLst>
              </a:tr>
              <a:tr h="1485900">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状況</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defTabSz="913851" rtl="0" eaLnBrk="1" fontAlgn="t" latinLnBrk="0" hangingPunct="1">
                        <a:lnSpc>
                          <a:spcPct val="100000"/>
                        </a:lnSpc>
                        <a:spcBef>
                          <a:spcPts val="0"/>
                        </a:spcBef>
                        <a:spcAft>
                          <a:spcPts val="0"/>
                        </a:spcAft>
                        <a:buClrTx/>
                        <a:buSzTx/>
                        <a:buFontTx/>
                        <a:buNone/>
                        <a:tabLst/>
                        <a:defRPr/>
                      </a:pPr>
                      <a:r>
                        <a:rPr lang="ja-JP" altLang="en-US" sz="1400" dirty="0">
                          <a:solidFill>
                            <a:schemeClr val="tx1"/>
                          </a:solidFill>
                        </a:rPr>
                        <a:t>対象拠点では高潮想定区域図で最大</a:t>
                      </a:r>
                      <a:r>
                        <a:rPr lang="en-US" altLang="ja-JP" sz="1400" dirty="0">
                          <a:solidFill>
                            <a:schemeClr val="tx1"/>
                          </a:solidFill>
                        </a:rPr>
                        <a:t>1.0m</a:t>
                      </a:r>
                      <a:r>
                        <a:rPr lang="ja-JP" altLang="en-US" sz="1400" dirty="0">
                          <a:solidFill>
                            <a:schemeClr val="tx1"/>
                          </a:solidFill>
                        </a:rPr>
                        <a:t>以上</a:t>
                      </a:r>
                      <a:r>
                        <a:rPr lang="en-US" altLang="ja-JP" sz="1400" dirty="0">
                          <a:solidFill>
                            <a:schemeClr val="tx1"/>
                          </a:solidFill>
                        </a:rPr>
                        <a:t>3.0m</a:t>
                      </a:r>
                      <a:r>
                        <a:rPr lang="ja-JP" altLang="en-US" sz="1400" dirty="0">
                          <a:solidFill>
                            <a:schemeClr val="tx1"/>
                          </a:solidFill>
                        </a:rPr>
                        <a:t>未満の浸水が想定されています。浸水対策は各工場ごとに実施していると伺いましたが、事業所全体で対策の基準となる浸水深が設定されていません。浸水深の基準を定めていない場合、災害の規模に応じた適切な対応がとれず、大きな被害に繋がるおそれがあります。</a:t>
                      </a:r>
                      <a:endParaRPr lang="ja" sz="1400" u="none" strike="noStrike" cap="none" spc="0" dirty="0">
                        <a:solidFill>
                          <a:schemeClr val="tx1"/>
                        </a:solidFill>
                        <a:latin typeface="游ゴシック"/>
                      </a:endParaRP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rowSpan="3" gridSpan="3">
                  <a:txBody>
                    <a:bodyPr/>
                    <a:lstStyle/>
                    <a:p>
                      <a:pPr marL="0" marR="0" lvl="0" indent="0" algn="ctr" rtl="0" fontAlgn="ctr">
                        <a:lnSpc>
                          <a:spcPct val="100000"/>
                        </a:lnSpc>
                        <a:spcBef>
                          <a:spcPts val="0"/>
                        </a:spcBef>
                        <a:spcAft>
                          <a:spcPts val="0"/>
                        </a:spcAft>
                      </a:pP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rowSpan="3"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rowSpan="3"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5"/>
                  </a:ext>
                </a:extLst>
              </a:tr>
              <a:tr h="1485900">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対策</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rtl="0" fontAlgn="t">
                        <a:lnSpc>
                          <a:spcPct val="100000"/>
                        </a:lnSpc>
                        <a:spcBef>
                          <a:spcPts val="0"/>
                        </a:spcBef>
                        <a:spcAft>
                          <a:spcPts val="0"/>
                        </a:spcAft>
                      </a:pPr>
                      <a:r>
                        <a:rPr lang="ja-JP" altLang="en-US" sz="1400" dirty="0">
                          <a:solidFill>
                            <a:schemeClr val="tx1"/>
                          </a:solidFill>
                        </a:rPr>
                        <a:t>事業所全体で対策の基準となる浸水深を設定し、それに応じた浸水対策を検討することをお勧めします。例えば、浸水深が</a:t>
                      </a:r>
                      <a:r>
                        <a:rPr lang="en-US" altLang="ja-JP" sz="1400" dirty="0">
                          <a:solidFill>
                            <a:schemeClr val="tx1"/>
                          </a:solidFill>
                        </a:rPr>
                        <a:t>1.0m</a:t>
                      </a:r>
                      <a:r>
                        <a:rPr lang="ja-JP" altLang="en-US" sz="1400" dirty="0">
                          <a:solidFill>
                            <a:schemeClr val="tx1"/>
                          </a:solidFill>
                        </a:rPr>
                        <a:t>までは重要施設や設備への対策を優先し、</a:t>
                      </a:r>
                      <a:r>
                        <a:rPr lang="en-US" altLang="ja-JP" sz="1400" dirty="0">
                          <a:solidFill>
                            <a:schemeClr val="tx1"/>
                          </a:solidFill>
                        </a:rPr>
                        <a:t>1.0m</a:t>
                      </a:r>
                      <a:r>
                        <a:rPr lang="ja-JP" altLang="en-US" sz="1400" dirty="0">
                          <a:solidFill>
                            <a:schemeClr val="tx1"/>
                          </a:solidFill>
                        </a:rPr>
                        <a:t>以上の浸水が想定される場合は、被害の許容を前提として人命安全を最優先に確保することを検討します。なお、浸水深に応じた対策機材については、下記をご参照ください。</a:t>
                      </a:r>
                      <a:endParaRPr lang="ja" sz="1400" u="none" strike="noStrike" cap="none" spc="0" dirty="0">
                        <a:solidFill>
                          <a:schemeClr val="tx1"/>
                        </a:solidFill>
                        <a:latin typeface="游ゴシック"/>
                      </a:endParaRPr>
                    </a:p>
                  </a:txBody>
                  <a:tcPr marL="76200" marR="76200" marT="3810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gridSpan="3"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9"/>
                  </a:ext>
                </a:extLst>
              </a:tr>
              <a:tr h="417155">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参照</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rtl="0" fontAlgn="t">
                        <a:lnSpc>
                          <a:spcPct val="100000"/>
                        </a:lnSpc>
                        <a:spcBef>
                          <a:spcPts val="0"/>
                        </a:spcBef>
                        <a:spcAft>
                          <a:spcPts val="0"/>
                        </a:spcAft>
                      </a:pPr>
                      <a:r>
                        <a:rPr lang="ja-JP" altLang="en-US" sz="1400" u="none" strike="noStrike" cap="none" spc="0" dirty="0">
                          <a:solidFill>
                            <a:schemeClr val="tx1"/>
                          </a:solidFill>
                          <a:latin typeface="+mn-lt"/>
                        </a:rPr>
                        <a:t>・第</a:t>
                      </a:r>
                      <a:r>
                        <a:rPr lang="en-US" altLang="ja-JP" sz="1400" u="none" strike="noStrike" cap="none" spc="0" dirty="0">
                          <a:solidFill>
                            <a:schemeClr val="tx1"/>
                          </a:solidFill>
                          <a:latin typeface="+mn-lt"/>
                        </a:rPr>
                        <a:t>8</a:t>
                      </a:r>
                      <a:r>
                        <a:rPr lang="ja-JP" altLang="en-US" sz="1400" u="none" strike="noStrike" cap="none" spc="0" dirty="0">
                          <a:solidFill>
                            <a:schemeClr val="tx1"/>
                          </a:solidFill>
                          <a:latin typeface="+mn-lt"/>
                        </a:rPr>
                        <a:t>章 </a:t>
                      </a:r>
                      <a:endParaRPr lang="en-US" altLang="ja-JP" sz="1400" u="none" strike="noStrike" cap="none" spc="0" dirty="0">
                        <a:solidFill>
                          <a:schemeClr val="tx1"/>
                        </a:solidFill>
                        <a:latin typeface="+mn-lt"/>
                      </a:endParaRPr>
                    </a:p>
                    <a:p>
                      <a:pPr marL="76200" marR="76200" lvl="0" indent="0" algn="l" rtl="0" fontAlgn="t">
                        <a:lnSpc>
                          <a:spcPct val="100000"/>
                        </a:lnSpc>
                        <a:spcBef>
                          <a:spcPts val="0"/>
                        </a:spcBef>
                        <a:spcAft>
                          <a:spcPts val="0"/>
                        </a:spcAft>
                      </a:pPr>
                      <a:r>
                        <a:rPr lang="en-US" altLang="ja-JP" sz="1400" u="none" strike="noStrike" cap="none" spc="0" dirty="0">
                          <a:solidFill>
                            <a:schemeClr val="tx1"/>
                          </a:solidFill>
                          <a:latin typeface="+mn-lt"/>
                        </a:rPr>
                        <a:t>       </a:t>
                      </a:r>
                      <a:r>
                        <a:rPr lang="ja-JP" altLang="en-US" sz="1400" u="none" strike="noStrike" cap="none" spc="0" dirty="0">
                          <a:solidFill>
                            <a:schemeClr val="tx1"/>
                          </a:solidFill>
                          <a:latin typeface="+mn-lt"/>
                        </a:rPr>
                        <a:t>参考資料 </a:t>
                      </a:r>
                      <a:r>
                        <a:rPr lang="en-US" altLang="ja-JP" sz="1400" u="none" spc="0" dirty="0">
                          <a:solidFill>
                            <a:schemeClr val="tx1"/>
                          </a:solidFill>
                          <a:latin typeface="游ゴシック" panose="020B0400000000000000" pitchFamily="50" charset="-128"/>
                          <a:ea typeface="游ゴシック" panose="020B0400000000000000" pitchFamily="50" charset="-128"/>
                        </a:rPr>
                        <a:t>(</a:t>
                      </a:r>
                      <a:r>
                        <a:rPr lang="ja-JP" altLang="en-US" sz="1400" u="none" spc="0" dirty="0">
                          <a:solidFill>
                            <a:schemeClr val="tx1"/>
                          </a:solidFill>
                          <a:latin typeface="游ゴシック" panose="020B0400000000000000" pitchFamily="50" charset="-128"/>
                          <a:ea typeface="游ゴシック" panose="020B0400000000000000" pitchFamily="50" charset="-128"/>
                        </a:rPr>
                        <a:t>浸水深さに応じた対策資機材の例</a:t>
                      </a:r>
                      <a:r>
                        <a:rPr lang="en-US" altLang="ja-JP" sz="1400" u="none" spc="0" dirty="0">
                          <a:solidFill>
                            <a:schemeClr val="tx1"/>
                          </a:solidFill>
                          <a:latin typeface="游ゴシック" panose="020B0400000000000000" pitchFamily="50" charset="-128"/>
                          <a:ea typeface="游ゴシック" panose="020B0400000000000000" pitchFamily="50" charset="-128"/>
                        </a:rPr>
                        <a:t>)</a:t>
                      </a:r>
                      <a:r>
                        <a:rPr lang="ja-JP" altLang="en-US" sz="1400" u="none" spc="0" dirty="0">
                          <a:solidFill>
                            <a:schemeClr val="tx1"/>
                          </a:solidFill>
                          <a:latin typeface="游ゴシック" panose="020B0400000000000000" pitchFamily="50" charset="-128"/>
                          <a:ea typeface="游ゴシック" panose="020B0400000000000000" pitchFamily="50" charset="-128"/>
                        </a:rPr>
                        <a:t> </a:t>
                      </a:r>
                      <a:endParaRPr lang="ja" sz="1400" u="none" strike="noStrike" cap="none" spc="0" dirty="0">
                        <a:solidFill>
                          <a:schemeClr val="tx1"/>
                        </a:solidFill>
                        <a:latin typeface="游ゴシック"/>
                      </a:endParaRPr>
                    </a:p>
                  </a:txBody>
                  <a:tcPr marL="76200" marR="76200" marT="3810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gridSpan="3"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13"/>
                  </a:ext>
                </a:extLst>
              </a:tr>
            </a:tbl>
          </a:graphicData>
        </a:graphic>
      </p:graphicFrame>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リスク低減に向けたご提案事項</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12"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14</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13" name="グループ化 12">
            <a:extLst>
              <a:ext uri="{FF2B5EF4-FFF2-40B4-BE49-F238E27FC236}">
                <a16:creationId xmlns:a16="http://schemas.microsoft.com/office/drawing/2014/main" id="{94E1FEEE-2214-43B3-8732-7AC0580F5C3A}"/>
              </a:ext>
            </a:extLst>
          </p:cNvPr>
          <p:cNvGrpSpPr/>
          <p:nvPr/>
        </p:nvGrpSpPr>
        <p:grpSpPr>
          <a:xfrm>
            <a:off x="360000" y="370800"/>
            <a:ext cx="720000" cy="672000"/>
            <a:chOff x="360000" y="370800"/>
            <a:chExt cx="720000" cy="672000"/>
          </a:xfrm>
        </p:grpSpPr>
        <p:sp>
          <p:nvSpPr>
            <p:cNvPr id="14" name="正方形/長方形 13">
              <a:extLst>
                <a:ext uri="{FF2B5EF4-FFF2-40B4-BE49-F238E27FC236}">
                  <a16:creationId xmlns:a16="http://schemas.microsoft.com/office/drawing/2014/main" id="{7DF71110-5BDE-49F7-BBD3-C3E7EE4105B6}"/>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8A8BED04-F439-4736-85C7-A8ACFA014095}"/>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3</a:t>
              </a:r>
            </a:p>
          </p:txBody>
        </p:sp>
      </p:grpSp>
      <p:sp>
        <p:nvSpPr>
          <p:cNvPr id="9" name="テキスト ボックス 8">
            <a:extLst>
              <a:ext uri="{FF2B5EF4-FFF2-40B4-BE49-F238E27FC236}">
                <a16:creationId xmlns:a16="http://schemas.microsoft.com/office/drawing/2014/main" id="{F1714271-B86D-4E8B-B24C-F0166D62EC83}"/>
              </a:ext>
            </a:extLst>
          </p:cNvPr>
          <p:cNvSpPr txBox="1"/>
          <p:nvPr/>
        </p:nvSpPr>
        <p:spPr>
          <a:xfrm>
            <a:off x="9899650" y="1570953"/>
            <a:ext cx="2144684" cy="399011"/>
          </a:xfrm>
          <a:prstGeom prst="rect">
            <a:avLst/>
          </a:prstGeom>
          <a:noFill/>
        </p:spPr>
        <p:txBody>
          <a:bodyPr wrap="square" rtlCol="0">
            <a:noAutofit/>
          </a:bodyPr>
          <a:lstStyle/>
          <a:p>
            <a:r>
              <a:rPr kumimoji="1" lang="ja-JP" altLang="en-US" sz="1200" dirty="0">
                <a:latin typeface="+mn-ea"/>
                <a:ea typeface="+mn-ea"/>
              </a:rPr>
              <a:t>←カテゴリーの選択肢</a:t>
            </a:r>
            <a:endParaRPr kumimoji="1" lang="en-US" altLang="ja-JP" sz="1200" dirty="0">
              <a:latin typeface="+mn-ea"/>
              <a:ea typeface="+mn-ea"/>
            </a:endParaRPr>
          </a:p>
          <a:p>
            <a:r>
              <a:rPr lang="ja-JP" altLang="en-US" sz="1200" dirty="0">
                <a:latin typeface="+mn-ea"/>
                <a:ea typeface="+mn-ea"/>
              </a:rPr>
              <a:t>電気機器</a:t>
            </a:r>
            <a:endParaRPr lang="en-US" altLang="ja-JP" sz="1200" dirty="0">
              <a:latin typeface="+mn-ea"/>
              <a:ea typeface="+mn-ea"/>
            </a:endParaRPr>
          </a:p>
          <a:p>
            <a:r>
              <a:rPr lang="ja-JP" altLang="en-US" sz="1200" dirty="0">
                <a:latin typeface="+mn-ea"/>
                <a:ea typeface="+mn-ea"/>
              </a:rPr>
              <a:t>危険物</a:t>
            </a:r>
            <a:endParaRPr lang="en-US" altLang="ja-JP" sz="1200" dirty="0">
              <a:latin typeface="+mn-ea"/>
              <a:ea typeface="+mn-ea"/>
            </a:endParaRPr>
          </a:p>
          <a:p>
            <a:r>
              <a:rPr kumimoji="1" lang="ja-JP" altLang="en-US" sz="1200" dirty="0">
                <a:latin typeface="+mn-ea"/>
                <a:ea typeface="+mn-ea"/>
              </a:rPr>
              <a:t>整理・整頓・清掃</a:t>
            </a:r>
            <a:endParaRPr kumimoji="1" lang="en-US" altLang="ja-JP" sz="1200" dirty="0">
              <a:latin typeface="+mn-ea"/>
              <a:ea typeface="+mn-ea"/>
            </a:endParaRPr>
          </a:p>
          <a:p>
            <a:r>
              <a:rPr lang="ja-JP" altLang="en-US" sz="1200" dirty="0">
                <a:latin typeface="+mn-ea"/>
                <a:ea typeface="+mn-ea"/>
              </a:rPr>
              <a:t>消防火設備</a:t>
            </a:r>
            <a:endParaRPr lang="en-US" altLang="ja-JP" sz="1200" dirty="0">
              <a:latin typeface="+mn-ea"/>
              <a:ea typeface="+mn-ea"/>
            </a:endParaRPr>
          </a:p>
          <a:p>
            <a:r>
              <a:rPr kumimoji="1" lang="ja-JP" altLang="en-US" sz="1200" dirty="0">
                <a:latin typeface="+mn-ea"/>
                <a:ea typeface="+mn-ea"/>
              </a:rPr>
              <a:t>防災管理</a:t>
            </a:r>
            <a:endParaRPr kumimoji="1" lang="en-US" altLang="ja-JP" sz="1200" dirty="0">
              <a:latin typeface="+mn-ea"/>
              <a:ea typeface="+mn-ea"/>
            </a:endParaRPr>
          </a:p>
          <a:p>
            <a:r>
              <a:rPr lang="ja-JP" altLang="en-US" sz="1200" dirty="0">
                <a:latin typeface="+mn-ea"/>
                <a:ea typeface="+mn-ea"/>
              </a:rPr>
              <a:t>生産工程</a:t>
            </a:r>
            <a:endParaRPr lang="en-US" altLang="ja-JP" sz="1200" dirty="0">
              <a:latin typeface="+mn-ea"/>
              <a:ea typeface="+mn-ea"/>
            </a:endParaRPr>
          </a:p>
          <a:p>
            <a:r>
              <a:rPr kumimoji="1" lang="ja-JP" altLang="en-US" sz="1200" dirty="0">
                <a:latin typeface="+mn-ea"/>
                <a:ea typeface="+mn-ea"/>
              </a:rPr>
              <a:t>機械・設備</a:t>
            </a:r>
            <a:endParaRPr kumimoji="1" lang="en-US" altLang="ja-JP" sz="1200" dirty="0">
              <a:latin typeface="+mn-ea"/>
              <a:ea typeface="+mn-ea"/>
            </a:endParaRPr>
          </a:p>
          <a:p>
            <a:r>
              <a:rPr lang="ja-JP" altLang="en-US" sz="1200" dirty="0">
                <a:latin typeface="+mn-ea"/>
                <a:ea typeface="+mn-ea"/>
              </a:rPr>
              <a:t>自然災害</a:t>
            </a:r>
            <a:endParaRPr lang="en-US" altLang="ja-JP" sz="1200" dirty="0">
              <a:latin typeface="+mn-ea"/>
              <a:ea typeface="+mn-ea"/>
            </a:endParaRPr>
          </a:p>
          <a:p>
            <a:r>
              <a:rPr kumimoji="1" lang="ja-JP" altLang="en-US" sz="1200" dirty="0">
                <a:latin typeface="+mn-ea"/>
                <a:ea typeface="+mn-ea"/>
              </a:rPr>
              <a:t>その他</a:t>
            </a:r>
          </a:p>
        </p:txBody>
      </p:sp>
      <p:sp>
        <p:nvSpPr>
          <p:cNvPr id="11" name="コンテンツ プレースホルダ 2">
            <a:extLst>
              <a:ext uri="{FF2B5EF4-FFF2-40B4-BE49-F238E27FC236}">
                <a16:creationId xmlns:a16="http://schemas.microsoft.com/office/drawing/2014/main" id="{E8888828-CFA8-4129-B378-42FD2F0BAE6C}"/>
              </a:ext>
            </a:extLst>
          </p:cNvPr>
          <p:cNvSpPr txBox="1">
            <a:spLocks/>
          </p:cNvSpPr>
          <p:nvPr/>
        </p:nvSpPr>
        <p:spPr bwMode="auto">
          <a:xfrm>
            <a:off x="3123536" y="5764440"/>
            <a:ext cx="9161832" cy="474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EA0A1"/>
              </a:buClr>
              <a:buSzPct val="110000"/>
              <a:buFont typeface="Wingdings" pitchFamily="2" charset="2"/>
              <a:buChar char="n"/>
              <a:defRPr kumimoji="1" sz="1200">
                <a:solidFill>
                  <a:schemeClr val="tx1"/>
                </a:solidFill>
                <a:latin typeface="Arial" charset="0"/>
                <a:ea typeface="ＭＳ Ｐゴシック" charset="-128"/>
              </a:defRPr>
            </a:lvl1pPr>
            <a:lvl2pPr marL="742950" indent="-285750" eaLnBrk="0" hangingPunct="0">
              <a:spcBef>
                <a:spcPct val="20000"/>
              </a:spcBef>
              <a:buClr>
                <a:srgbClr val="9EA0A1"/>
              </a:buClr>
              <a:buSzPct val="120000"/>
              <a:buFont typeface="Arial" charset="0"/>
              <a:buChar char="»"/>
              <a:defRPr kumimoji="1" sz="1200">
                <a:solidFill>
                  <a:schemeClr val="tx1"/>
                </a:solidFill>
                <a:latin typeface="Arial" charset="0"/>
                <a:ea typeface="ＭＳ Ｐゴシック" charset="-128"/>
              </a:defRPr>
            </a:lvl2pPr>
            <a:lvl3pPr marL="11430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3pPr>
            <a:lvl4pPr marL="16002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4pPr>
            <a:lvl5pPr marL="20574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5pPr>
            <a:lvl6pPr marL="25146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6pPr>
            <a:lvl7pPr marL="29718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7pPr>
            <a:lvl8pPr marL="34290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8pPr>
            <a:lvl9pPr marL="38862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9pPr>
          </a:lstStyle>
          <a:p>
            <a:pPr algn="ctr">
              <a:buClrTx/>
              <a:buSzPct val="90000"/>
              <a:buNone/>
            </a:pPr>
            <a:r>
              <a:rPr lang="ja-JP" altLang="en-US" sz="1100" dirty="0">
                <a:latin typeface="游ゴシック" panose="020B0400000000000000" pitchFamily="50" charset="-128"/>
                <a:ea typeface="游ゴシック" panose="020B0400000000000000" pitchFamily="50" charset="-128"/>
                <a:cs typeface="メイリオ" pitchFamily="50" charset="-128"/>
              </a:rPr>
              <a:t>図：高潮浸水想定区域図</a:t>
            </a:r>
            <a:endParaRPr lang="en-US" altLang="ja-JP" sz="1100" dirty="0">
              <a:latin typeface="游ゴシック" panose="020B0400000000000000" pitchFamily="50" charset="-128"/>
              <a:ea typeface="游ゴシック" panose="020B0400000000000000" pitchFamily="50" charset="-128"/>
              <a:cs typeface="メイリオ" pitchFamily="50" charset="-128"/>
            </a:endParaRPr>
          </a:p>
          <a:p>
            <a:pPr marL="0" marR="0" lvl="0" indent="0" algn="ctr" defTabSz="913851" rtl="0" eaLnBrk="1" fontAlgn="auto" latinLnBrk="0" hangingPunct="1">
              <a:lnSpc>
                <a:spcPct val="100000"/>
              </a:lnSpc>
              <a:spcBef>
                <a:spcPts val="0"/>
              </a:spcBef>
              <a:spcAft>
                <a:spcPts val="0"/>
              </a:spcAft>
              <a:buClrTx/>
              <a:buSzTx/>
              <a:buFontTx/>
              <a:buNone/>
              <a:tabLst/>
              <a:defRPr/>
            </a:pPr>
            <a:r>
              <a:rPr lang="ja-JP" altLang="en-US" sz="1100" dirty="0">
                <a:latin typeface="游ゴシック" panose="020B0400000000000000" pitchFamily="50" charset="-128"/>
                <a:ea typeface="游ゴシック" panose="020B0400000000000000" pitchFamily="50" charset="-128"/>
                <a:cs typeface="メイリオ" pitchFamily="50" charset="-128"/>
              </a:rPr>
              <a:t>（出典：</a:t>
            </a:r>
            <a:r>
              <a:rPr lang="zh-CN" altLang="en-US" sz="1100" dirty="0">
                <a:latin typeface="游ゴシック" panose="020B0400000000000000" pitchFamily="50" charset="-128"/>
                <a:ea typeface="游ゴシック" panose="020B0400000000000000" pitchFamily="50" charset="-128"/>
              </a:rPr>
              <a:t>兵庫県大阪湾沿岸（神戸市沿岸）</a:t>
            </a:r>
            <a:endParaRPr lang="en-US" altLang="zh-CN" sz="1100" dirty="0">
              <a:latin typeface="游ゴシック" panose="020B0400000000000000" pitchFamily="50" charset="-128"/>
              <a:ea typeface="游ゴシック" panose="020B0400000000000000" pitchFamily="50" charset="-128"/>
            </a:endParaRPr>
          </a:p>
          <a:p>
            <a:pPr marL="0" marR="0" lvl="0" indent="0" algn="ctr" defTabSz="913851" rtl="0" eaLnBrk="1" fontAlgn="auto" latinLnBrk="0" hangingPunct="1">
              <a:lnSpc>
                <a:spcPct val="100000"/>
              </a:lnSpc>
              <a:spcBef>
                <a:spcPts val="0"/>
              </a:spcBef>
              <a:spcAft>
                <a:spcPts val="0"/>
              </a:spcAft>
              <a:buClrTx/>
              <a:buSzTx/>
              <a:buFontTx/>
              <a:buNone/>
              <a:tabLst/>
              <a:defRPr/>
            </a:pPr>
            <a:r>
              <a:rPr lang="zh-CN" altLang="en-US" sz="1100" dirty="0">
                <a:latin typeface="游ゴシック" panose="020B0400000000000000" pitchFamily="50" charset="-128"/>
                <a:ea typeface="游ゴシック" panose="020B0400000000000000" pitchFamily="50" charset="-128"/>
              </a:rPr>
              <a:t>高潮浸水想定区域図</a:t>
            </a:r>
            <a:r>
              <a:rPr kumimoji="1" lang="ja-JP" altLang="en-US" sz="1100" dirty="0">
                <a:solidFill>
                  <a:schemeClr val="tx1"/>
                </a:solidFill>
                <a:latin typeface="游ゴシック" panose="020B0400000000000000" pitchFamily="50" charset="-128"/>
                <a:ea typeface="游ゴシック" panose="020B0400000000000000" pitchFamily="50" charset="-128"/>
              </a:rPr>
              <a:t>／</a:t>
            </a:r>
            <a:r>
              <a:rPr lang="ja-JP" altLang="en-US" sz="1100" dirty="0">
                <a:latin typeface="游ゴシック" panose="020B0400000000000000" pitchFamily="50" charset="-128"/>
                <a:ea typeface="游ゴシック" panose="020B0400000000000000" pitchFamily="50" charset="-128"/>
              </a:rPr>
              <a:t>兵庫県</a:t>
            </a:r>
            <a:r>
              <a:rPr lang="ja-JP" altLang="en-US" sz="1100" dirty="0">
                <a:latin typeface="游ゴシック" panose="020B0400000000000000" pitchFamily="50" charset="-128"/>
                <a:ea typeface="游ゴシック" panose="020B0400000000000000" pitchFamily="50" charset="-128"/>
                <a:cs typeface="メイリオ" pitchFamily="50" charset="-128"/>
              </a:rPr>
              <a:t>）</a:t>
            </a:r>
            <a:endParaRPr lang="en-US" altLang="ja-JP" sz="1100" dirty="0">
              <a:solidFill>
                <a:srgbClr val="000000"/>
              </a:solidFill>
              <a:latin typeface="游ゴシック" panose="020B0400000000000000" pitchFamily="50" charset="-128"/>
              <a:ea typeface="游ゴシック" panose="020B0400000000000000" pitchFamily="50" charset="-128"/>
              <a:cs typeface="メイリオ" pitchFamily="50" charset="-128"/>
            </a:endParaRPr>
          </a:p>
        </p:txBody>
      </p:sp>
      <p:pic>
        <p:nvPicPr>
          <p:cNvPr id="2" name="図 1">
            <a:extLst>
              <a:ext uri="{FF2B5EF4-FFF2-40B4-BE49-F238E27FC236}">
                <a16:creationId xmlns:a16="http://schemas.microsoft.com/office/drawing/2014/main" id="{29B1CF98-1175-4B84-BFB8-B7A34AC1F52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82344" y="3644538"/>
            <a:ext cx="3574283" cy="1815736"/>
          </a:xfrm>
          <a:prstGeom prst="rect">
            <a:avLst/>
          </a:prstGeom>
        </p:spPr>
      </p:pic>
    </p:spTree>
    <p:extLst>
      <p:ext uri="{BB962C8B-B14F-4D97-AF65-F5344CB8AC3E}">
        <p14:creationId xmlns:p14="http://schemas.microsoft.com/office/powerpoint/2010/main" val="1017195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a:extLst>
              <a:ext uri="{FF2B5EF4-FFF2-40B4-BE49-F238E27FC236}">
                <a16:creationId xmlns:a16="http://schemas.microsoft.com/office/drawing/2014/main" id="{84D7994D-E475-4C46-8F73-827FF7B86691}"/>
              </a:ext>
            </a:extLst>
          </p:cNvPr>
          <p:cNvGraphicFramePr>
            <a:graphicFrameLocks noGrp="1"/>
          </p:cNvGraphicFramePr>
          <p:nvPr>
            <p:extLst>
              <p:ext uri="{D42A27DB-BD31-4B8C-83A1-F6EECF244321}">
                <p14:modId xmlns:p14="http://schemas.microsoft.com/office/powerpoint/2010/main" val="3470422299"/>
              </p:ext>
            </p:extLst>
          </p:nvPr>
        </p:nvGraphicFramePr>
        <p:xfrm>
          <a:off x="360000" y="1255696"/>
          <a:ext cx="9172575" cy="4960580"/>
        </p:xfrm>
        <a:graphic>
          <a:graphicData uri="http://schemas.openxmlformats.org/drawingml/2006/table">
            <a:tbl>
              <a:tblPr firstRow="1" bandRow="1"/>
              <a:tblGrid>
                <a:gridCol w="990600">
                  <a:extLst>
                    <a:ext uri="{9D8B030D-6E8A-4147-A177-3AD203B41FA5}">
                      <a16:colId xmlns:a16="http://schemas.microsoft.com/office/drawing/2014/main" val="20000"/>
                    </a:ext>
                  </a:extLst>
                </a:gridCol>
                <a:gridCol w="3057525">
                  <a:extLst>
                    <a:ext uri="{9D8B030D-6E8A-4147-A177-3AD203B41FA5}">
                      <a16:colId xmlns:a16="http://schemas.microsoft.com/office/drawing/2014/main" val="20001"/>
                    </a:ext>
                  </a:extLst>
                </a:gridCol>
                <a:gridCol w="1535475">
                  <a:extLst>
                    <a:ext uri="{9D8B030D-6E8A-4147-A177-3AD203B41FA5}">
                      <a16:colId xmlns:a16="http://schemas.microsoft.com/office/drawing/2014/main" val="20002"/>
                    </a:ext>
                  </a:extLst>
                </a:gridCol>
                <a:gridCol w="1112475">
                  <a:extLst>
                    <a:ext uri="{9D8B030D-6E8A-4147-A177-3AD203B41FA5}">
                      <a16:colId xmlns:a16="http://schemas.microsoft.com/office/drawing/2014/main" val="20003"/>
                    </a:ext>
                  </a:extLst>
                </a:gridCol>
                <a:gridCol w="1238250">
                  <a:extLst>
                    <a:ext uri="{9D8B030D-6E8A-4147-A177-3AD203B41FA5}">
                      <a16:colId xmlns:a16="http://schemas.microsoft.com/office/drawing/2014/main" val="20004"/>
                    </a:ext>
                  </a:extLst>
                </a:gridCol>
                <a:gridCol w="1238250">
                  <a:extLst>
                    <a:ext uri="{9D8B030D-6E8A-4147-A177-3AD203B41FA5}">
                      <a16:colId xmlns:a16="http://schemas.microsoft.com/office/drawing/2014/main" val="20005"/>
                    </a:ext>
                  </a:extLst>
                </a:gridCol>
              </a:tblGrid>
              <a:tr h="314325">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20</a:t>
                      </a:r>
                      <a:r>
                        <a:rPr lang="en-US" altLang="ja-JP" sz="1400" u="none" strike="noStrike" cap="none" spc="0" dirty="0">
                          <a:solidFill>
                            <a:srgbClr val="000000">
                              <a:alpha val="100000"/>
                            </a:srgbClr>
                          </a:solidFill>
                          <a:latin typeface="游ゴシック"/>
                        </a:rPr>
                        <a:t>26</a:t>
                      </a:r>
                      <a:r>
                        <a:rPr lang="ja" sz="1400" u="none" strike="noStrike" cap="none" spc="0" dirty="0">
                          <a:solidFill>
                            <a:srgbClr val="000000">
                              <a:alpha val="100000"/>
                            </a:srgbClr>
                          </a:solidFill>
                          <a:latin typeface="游ゴシック"/>
                        </a:rPr>
                        <a:t>-0</a:t>
                      </a:r>
                      <a:r>
                        <a:rPr lang="en-US" altLang="ja" sz="1400" u="none" strike="noStrike" cap="none" spc="0" dirty="0">
                          <a:solidFill>
                            <a:srgbClr val="000000">
                              <a:alpha val="100000"/>
                            </a:srgbClr>
                          </a:solidFill>
                          <a:latin typeface="游ゴシック"/>
                        </a:rPr>
                        <a:t>2</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5">
                  <a:txBody>
                    <a:bodyPr/>
                    <a:lstStyle/>
                    <a:p>
                      <a:pPr marL="76200" marR="76200" lvl="0" indent="0" algn="l" rtl="0" fontAlgn="ctr">
                        <a:lnSpc>
                          <a:spcPct val="100000"/>
                        </a:lnSpc>
                        <a:spcBef>
                          <a:spcPts val="0"/>
                        </a:spcBef>
                        <a:spcAft>
                          <a:spcPts val="0"/>
                        </a:spcAft>
                      </a:pPr>
                      <a:r>
                        <a:rPr lang="en-US" altLang="ja-JP" sz="1400" u="none" strike="noStrike" cap="none" spc="0" dirty="0">
                          <a:solidFill>
                            <a:schemeClr val="tx1"/>
                          </a:solidFill>
                          <a:latin typeface="+mn-lt"/>
                        </a:rPr>
                        <a:t>BCP</a:t>
                      </a:r>
                      <a:r>
                        <a:rPr lang="ja-JP" altLang="en-US" sz="1400" u="none" strike="noStrike" cap="none" spc="0" dirty="0">
                          <a:solidFill>
                            <a:schemeClr val="tx1"/>
                          </a:solidFill>
                          <a:latin typeface="+mn-lt"/>
                        </a:rPr>
                        <a:t>の策定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0"/>
                  </a:ext>
                </a:extLst>
              </a:tr>
              <a:tr h="314325">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ぺリル</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chemeClr val="tx1"/>
                          </a:solidFill>
                          <a:latin typeface="游ゴシック"/>
                        </a:rPr>
                        <a:t>水災</a:t>
                      </a:r>
                      <a:endParaRPr lang="en-US" altLang="ja-JP" sz="1400" u="none" strike="noStrike" cap="none" spc="0" dirty="0">
                        <a:solidFill>
                          <a:schemeClr val="tx1"/>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カテゴリー</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3">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防災管理</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1"/>
                  </a:ext>
                </a:extLst>
              </a:tr>
              <a:tr h="314325">
                <a:tc rowSpan="3">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場所</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rowSpan="3">
                  <a:txBody>
                    <a:bodyPr/>
                    <a:lstStyle/>
                    <a:p>
                      <a:pPr marL="76200" marR="76200" lvl="0" indent="0" algn="l" rtl="0" fontAlgn="t">
                        <a:lnSpc>
                          <a:spcPct val="100000"/>
                        </a:lnSpc>
                        <a:spcBef>
                          <a:spcPts val="0"/>
                        </a:spcBef>
                        <a:spcAft>
                          <a:spcPts val="0"/>
                        </a:spcAft>
                      </a:pPr>
                      <a:r>
                        <a:rPr lang="ja-JP" altLang="en-US" sz="1400" u="none" strike="noStrike" cap="none" spc="0" dirty="0">
                          <a:solidFill>
                            <a:schemeClr val="tx1"/>
                          </a:solidFill>
                          <a:latin typeface="游ゴシック"/>
                        </a:rPr>
                        <a:t>構内全般</a:t>
                      </a:r>
                      <a:endParaRPr lang="ja" sz="1400" u="none" strike="noStrike" cap="none" spc="0" dirty="0">
                        <a:solidFill>
                          <a:schemeClr val="tx1"/>
                        </a:solidFill>
                        <a:latin typeface="游ゴシック"/>
                      </a:endParaRP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ハザード</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高</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リスク評価</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en-US" altLang="ja" sz="1400" u="none" strike="noStrike" cap="none" spc="0" dirty="0">
                          <a:solidFill>
                            <a:srgbClr val="000000">
                              <a:alpha val="100000"/>
                            </a:srgbClr>
                          </a:solidFill>
                          <a:latin typeface="游ゴシック"/>
                        </a:rPr>
                        <a:t>High</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2"/>
                  </a:ext>
                </a:extLst>
              </a:tr>
              <a:tr h="314325">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コントロール</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改善可</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完了予定月</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3"/>
                  </a:ext>
                </a:extLst>
              </a:tr>
              <a:tr h="314325">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対策</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中</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改善状況</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4"/>
                  </a:ext>
                </a:extLst>
              </a:tr>
              <a:tr h="1485900">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状況</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defTabSz="913851" rtl="0" eaLnBrk="1" fontAlgn="t" latinLnBrk="0" hangingPunct="1">
                        <a:lnSpc>
                          <a:spcPct val="100000"/>
                        </a:lnSpc>
                        <a:spcBef>
                          <a:spcPts val="0"/>
                        </a:spcBef>
                        <a:spcAft>
                          <a:spcPts val="0"/>
                        </a:spcAft>
                        <a:buClrTx/>
                        <a:buSzTx/>
                        <a:buFontTx/>
                        <a:buNone/>
                        <a:tabLst/>
                        <a:defRPr/>
                      </a:pPr>
                      <a:r>
                        <a:rPr lang="ja-JP" altLang="en-US" sz="1400" dirty="0">
                          <a:solidFill>
                            <a:schemeClr val="tx1"/>
                          </a:solidFill>
                        </a:rPr>
                        <a:t>地震を想定した</a:t>
                      </a:r>
                      <a:r>
                        <a:rPr lang="en-US" altLang="ja-JP" sz="1400" dirty="0">
                          <a:solidFill>
                            <a:schemeClr val="tx1"/>
                          </a:solidFill>
                        </a:rPr>
                        <a:t>BCP(</a:t>
                      </a:r>
                      <a:r>
                        <a:rPr lang="ja-JP" altLang="en-US" sz="1400" dirty="0">
                          <a:solidFill>
                            <a:schemeClr val="tx1"/>
                          </a:solidFill>
                        </a:rPr>
                        <a:t>事業継続計画</a:t>
                      </a:r>
                      <a:r>
                        <a:rPr lang="en-US" altLang="ja-JP" sz="1400" dirty="0">
                          <a:solidFill>
                            <a:schemeClr val="tx1"/>
                          </a:solidFill>
                        </a:rPr>
                        <a:t>)</a:t>
                      </a:r>
                      <a:r>
                        <a:rPr lang="ja-JP" altLang="en-US" sz="1400" dirty="0">
                          <a:solidFill>
                            <a:schemeClr val="tx1"/>
                          </a:solidFill>
                        </a:rPr>
                        <a:t>は策定されていますが、台風を想定した</a:t>
                      </a:r>
                      <a:r>
                        <a:rPr lang="en-US" altLang="ja-JP" sz="1400" dirty="0">
                          <a:solidFill>
                            <a:schemeClr val="tx1"/>
                          </a:solidFill>
                        </a:rPr>
                        <a:t>BCP</a:t>
                      </a:r>
                      <a:r>
                        <a:rPr lang="ja-JP" altLang="en-US" sz="1400" dirty="0">
                          <a:solidFill>
                            <a:schemeClr val="tx1"/>
                          </a:solidFill>
                        </a:rPr>
                        <a:t>は策定されていないと伺いました。</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rowSpan="3" gridSpan="3">
                  <a:txBody>
                    <a:bodyPr/>
                    <a:lstStyle/>
                    <a:p>
                      <a:pPr marL="0" marR="0" lvl="0" indent="0" algn="ctr" rtl="0" fontAlgn="ctr">
                        <a:lnSpc>
                          <a:spcPct val="100000"/>
                        </a:lnSpc>
                        <a:spcBef>
                          <a:spcPts val="0"/>
                        </a:spcBef>
                        <a:spcAft>
                          <a:spcPts val="0"/>
                        </a:spcAft>
                      </a:pPr>
                      <a:r>
                        <a:rPr lang="ja-JP" altLang="en-US" sz="1400" dirty="0"/>
                        <a:t>写真無し</a:t>
                      </a: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rowSpan="3"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rowSpan="3"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5"/>
                  </a:ext>
                </a:extLst>
              </a:tr>
              <a:tr h="1485900">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対策</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rtl="0" fontAlgn="t">
                        <a:lnSpc>
                          <a:spcPct val="100000"/>
                        </a:lnSpc>
                        <a:spcBef>
                          <a:spcPts val="0"/>
                        </a:spcBef>
                        <a:spcAft>
                          <a:spcPts val="0"/>
                        </a:spcAft>
                      </a:pPr>
                      <a:r>
                        <a:rPr lang="ja-JP" altLang="en-US" sz="1400" dirty="0"/>
                        <a:t>事業の中断や被害を最小限に抑え、事業を継続または迅速に復旧させる</a:t>
                      </a:r>
                      <a:r>
                        <a:rPr lang="ja-JP" altLang="en-US" sz="1400" dirty="0">
                          <a:solidFill>
                            <a:schemeClr val="tx1"/>
                          </a:solidFill>
                        </a:rPr>
                        <a:t>ため</a:t>
                      </a:r>
                      <a:r>
                        <a:rPr lang="ja-JP" altLang="en-US" sz="1400" dirty="0"/>
                        <a:t>に</a:t>
                      </a:r>
                      <a:r>
                        <a:rPr lang="en-US" altLang="ja-JP" sz="1400" dirty="0"/>
                        <a:t>BCP</a:t>
                      </a:r>
                      <a:r>
                        <a:rPr lang="ja-JP" altLang="en-US" sz="1400" dirty="0"/>
                        <a:t>マニュアルの策定をお勧めします。</a:t>
                      </a:r>
                      <a:r>
                        <a:rPr lang="en-US" altLang="ja-JP" sz="1400" dirty="0"/>
                        <a:t>BCP</a:t>
                      </a:r>
                      <a:r>
                        <a:rPr lang="ja-JP" altLang="en-US" sz="1400" dirty="0"/>
                        <a:t>策定については下記参照をご参考ください。 </a:t>
                      </a:r>
                      <a:endParaRPr lang="ja" sz="1400" u="none" strike="noStrike" cap="none" spc="0" dirty="0">
                        <a:solidFill>
                          <a:schemeClr val="tx1"/>
                        </a:solidFill>
                        <a:latin typeface="游ゴシック"/>
                      </a:endParaRPr>
                    </a:p>
                  </a:txBody>
                  <a:tcPr marL="76200" marR="76200" marT="3810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gridSpan="3"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9"/>
                  </a:ext>
                </a:extLst>
              </a:tr>
              <a:tr h="417155">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参照</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rtl="0" fontAlgn="t">
                        <a:lnSpc>
                          <a:spcPct val="100000"/>
                        </a:lnSpc>
                        <a:spcBef>
                          <a:spcPts val="0"/>
                        </a:spcBef>
                        <a:spcAft>
                          <a:spcPts val="0"/>
                        </a:spcAft>
                      </a:pPr>
                      <a:r>
                        <a:rPr lang="ja-JP" altLang="en-US" sz="1100" u="none" strike="noStrike" cap="none" spc="0" dirty="0">
                          <a:solidFill>
                            <a:schemeClr val="tx1"/>
                          </a:solidFill>
                          <a:latin typeface="+mn-ea"/>
                          <a:ea typeface="+mn-ea"/>
                        </a:rPr>
                        <a:t>・</a:t>
                      </a:r>
                      <a:r>
                        <a:rPr lang="ja-JP" altLang="en-US" sz="1100" dirty="0">
                          <a:latin typeface="+mn-ea"/>
                          <a:ea typeface="+mn-ea"/>
                        </a:rPr>
                        <a:t>「事業継続ガイドライン 」内閣府 </a:t>
                      </a:r>
                      <a:r>
                        <a:rPr lang="en-US" altLang="ja-JP" sz="1100" dirty="0">
                          <a:latin typeface="+mn-ea"/>
                          <a:ea typeface="+mn-ea"/>
                        </a:rPr>
                        <a:t>https://www.bousai.go.jp/kyoiku/kigyou/pdf/guideline202303.pdf</a:t>
                      </a:r>
                      <a:endParaRPr lang="ja" sz="1100" u="none" strike="noStrike" cap="none" spc="0" dirty="0">
                        <a:solidFill>
                          <a:schemeClr val="tx1"/>
                        </a:solidFill>
                        <a:latin typeface="+mn-ea"/>
                        <a:ea typeface="+mn-ea"/>
                      </a:endParaRPr>
                    </a:p>
                  </a:txBody>
                  <a:tcPr marL="76200" marR="76200" marT="3810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gridSpan="3"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13"/>
                  </a:ext>
                </a:extLst>
              </a:tr>
            </a:tbl>
          </a:graphicData>
        </a:graphic>
      </p:graphicFrame>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リスク低減に向けたご提案事項</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12"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15</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13" name="グループ化 12">
            <a:extLst>
              <a:ext uri="{FF2B5EF4-FFF2-40B4-BE49-F238E27FC236}">
                <a16:creationId xmlns:a16="http://schemas.microsoft.com/office/drawing/2014/main" id="{94E1FEEE-2214-43B3-8732-7AC0580F5C3A}"/>
              </a:ext>
            </a:extLst>
          </p:cNvPr>
          <p:cNvGrpSpPr/>
          <p:nvPr/>
        </p:nvGrpSpPr>
        <p:grpSpPr>
          <a:xfrm>
            <a:off x="360000" y="370800"/>
            <a:ext cx="720000" cy="672000"/>
            <a:chOff x="360000" y="370800"/>
            <a:chExt cx="720000" cy="672000"/>
          </a:xfrm>
        </p:grpSpPr>
        <p:sp>
          <p:nvSpPr>
            <p:cNvPr id="14" name="正方形/長方形 13">
              <a:extLst>
                <a:ext uri="{FF2B5EF4-FFF2-40B4-BE49-F238E27FC236}">
                  <a16:creationId xmlns:a16="http://schemas.microsoft.com/office/drawing/2014/main" id="{7DF71110-5BDE-49F7-BBD3-C3E7EE4105B6}"/>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8A8BED04-F439-4736-85C7-A8ACFA014095}"/>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3</a:t>
              </a:r>
            </a:p>
          </p:txBody>
        </p:sp>
      </p:grpSp>
      <p:sp>
        <p:nvSpPr>
          <p:cNvPr id="9" name="テキスト ボックス 8">
            <a:extLst>
              <a:ext uri="{FF2B5EF4-FFF2-40B4-BE49-F238E27FC236}">
                <a16:creationId xmlns:a16="http://schemas.microsoft.com/office/drawing/2014/main" id="{F1714271-B86D-4E8B-B24C-F0166D62EC83}"/>
              </a:ext>
            </a:extLst>
          </p:cNvPr>
          <p:cNvSpPr txBox="1"/>
          <p:nvPr/>
        </p:nvSpPr>
        <p:spPr>
          <a:xfrm>
            <a:off x="9899650" y="1570953"/>
            <a:ext cx="2144684" cy="399011"/>
          </a:xfrm>
          <a:prstGeom prst="rect">
            <a:avLst/>
          </a:prstGeom>
          <a:noFill/>
        </p:spPr>
        <p:txBody>
          <a:bodyPr wrap="square" rtlCol="0">
            <a:noAutofit/>
          </a:bodyPr>
          <a:lstStyle/>
          <a:p>
            <a:r>
              <a:rPr kumimoji="1" lang="ja-JP" altLang="en-US" sz="1200" dirty="0">
                <a:latin typeface="+mn-ea"/>
                <a:ea typeface="+mn-ea"/>
              </a:rPr>
              <a:t>←カテゴリーの選択肢</a:t>
            </a:r>
            <a:endParaRPr kumimoji="1" lang="en-US" altLang="ja-JP" sz="1200" dirty="0">
              <a:latin typeface="+mn-ea"/>
              <a:ea typeface="+mn-ea"/>
            </a:endParaRPr>
          </a:p>
          <a:p>
            <a:r>
              <a:rPr lang="ja-JP" altLang="en-US" sz="1200" dirty="0">
                <a:latin typeface="+mn-ea"/>
                <a:ea typeface="+mn-ea"/>
              </a:rPr>
              <a:t>電気機器</a:t>
            </a:r>
            <a:endParaRPr lang="en-US" altLang="ja-JP" sz="1200" dirty="0">
              <a:latin typeface="+mn-ea"/>
              <a:ea typeface="+mn-ea"/>
            </a:endParaRPr>
          </a:p>
          <a:p>
            <a:r>
              <a:rPr lang="ja-JP" altLang="en-US" sz="1200" dirty="0">
                <a:latin typeface="+mn-ea"/>
                <a:ea typeface="+mn-ea"/>
              </a:rPr>
              <a:t>危険物</a:t>
            </a:r>
            <a:endParaRPr lang="en-US" altLang="ja-JP" sz="1200" dirty="0">
              <a:latin typeface="+mn-ea"/>
              <a:ea typeface="+mn-ea"/>
            </a:endParaRPr>
          </a:p>
          <a:p>
            <a:r>
              <a:rPr kumimoji="1" lang="ja-JP" altLang="en-US" sz="1200" dirty="0">
                <a:latin typeface="+mn-ea"/>
                <a:ea typeface="+mn-ea"/>
              </a:rPr>
              <a:t>整理・整頓・清掃</a:t>
            </a:r>
            <a:endParaRPr kumimoji="1" lang="en-US" altLang="ja-JP" sz="1200" dirty="0">
              <a:latin typeface="+mn-ea"/>
              <a:ea typeface="+mn-ea"/>
            </a:endParaRPr>
          </a:p>
          <a:p>
            <a:r>
              <a:rPr lang="ja-JP" altLang="en-US" sz="1200" dirty="0">
                <a:latin typeface="+mn-ea"/>
                <a:ea typeface="+mn-ea"/>
              </a:rPr>
              <a:t>消防火設備</a:t>
            </a:r>
            <a:endParaRPr lang="en-US" altLang="ja-JP" sz="1200" dirty="0">
              <a:latin typeface="+mn-ea"/>
              <a:ea typeface="+mn-ea"/>
            </a:endParaRPr>
          </a:p>
          <a:p>
            <a:r>
              <a:rPr kumimoji="1" lang="ja-JP" altLang="en-US" sz="1200" dirty="0">
                <a:latin typeface="+mn-ea"/>
                <a:ea typeface="+mn-ea"/>
              </a:rPr>
              <a:t>防災管理</a:t>
            </a:r>
            <a:endParaRPr kumimoji="1" lang="en-US" altLang="ja-JP" sz="1200" dirty="0">
              <a:latin typeface="+mn-ea"/>
              <a:ea typeface="+mn-ea"/>
            </a:endParaRPr>
          </a:p>
          <a:p>
            <a:r>
              <a:rPr lang="ja-JP" altLang="en-US" sz="1200" dirty="0">
                <a:latin typeface="+mn-ea"/>
                <a:ea typeface="+mn-ea"/>
              </a:rPr>
              <a:t>生産工程</a:t>
            </a:r>
            <a:endParaRPr lang="en-US" altLang="ja-JP" sz="1200" dirty="0">
              <a:latin typeface="+mn-ea"/>
              <a:ea typeface="+mn-ea"/>
            </a:endParaRPr>
          </a:p>
          <a:p>
            <a:r>
              <a:rPr kumimoji="1" lang="ja-JP" altLang="en-US" sz="1200" dirty="0">
                <a:latin typeface="+mn-ea"/>
                <a:ea typeface="+mn-ea"/>
              </a:rPr>
              <a:t>機械・設備</a:t>
            </a:r>
            <a:endParaRPr kumimoji="1" lang="en-US" altLang="ja-JP" sz="1200" dirty="0">
              <a:latin typeface="+mn-ea"/>
              <a:ea typeface="+mn-ea"/>
            </a:endParaRPr>
          </a:p>
          <a:p>
            <a:r>
              <a:rPr lang="ja-JP" altLang="en-US" sz="1200" dirty="0">
                <a:latin typeface="+mn-ea"/>
                <a:ea typeface="+mn-ea"/>
              </a:rPr>
              <a:t>自然災害</a:t>
            </a:r>
            <a:endParaRPr lang="en-US" altLang="ja-JP" sz="1200" dirty="0">
              <a:latin typeface="+mn-ea"/>
              <a:ea typeface="+mn-ea"/>
            </a:endParaRPr>
          </a:p>
          <a:p>
            <a:r>
              <a:rPr kumimoji="1" lang="ja-JP" altLang="en-US" sz="1200" dirty="0">
                <a:latin typeface="+mn-ea"/>
                <a:ea typeface="+mn-ea"/>
              </a:rPr>
              <a:t>その他</a:t>
            </a:r>
          </a:p>
        </p:txBody>
      </p:sp>
    </p:spTree>
    <p:extLst>
      <p:ext uri="{BB962C8B-B14F-4D97-AF65-F5344CB8AC3E}">
        <p14:creationId xmlns:p14="http://schemas.microsoft.com/office/powerpoint/2010/main" val="4147710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a:extLst>
              <a:ext uri="{FF2B5EF4-FFF2-40B4-BE49-F238E27FC236}">
                <a16:creationId xmlns:a16="http://schemas.microsoft.com/office/drawing/2014/main" id="{84D7994D-E475-4C46-8F73-827FF7B86691}"/>
              </a:ext>
            </a:extLst>
          </p:cNvPr>
          <p:cNvGraphicFramePr>
            <a:graphicFrameLocks noGrp="1"/>
          </p:cNvGraphicFramePr>
          <p:nvPr>
            <p:extLst>
              <p:ext uri="{D42A27DB-BD31-4B8C-83A1-F6EECF244321}">
                <p14:modId xmlns:p14="http://schemas.microsoft.com/office/powerpoint/2010/main" val="3977779072"/>
              </p:ext>
            </p:extLst>
          </p:nvPr>
        </p:nvGraphicFramePr>
        <p:xfrm>
          <a:off x="361950" y="1257300"/>
          <a:ext cx="9172575" cy="4960580"/>
        </p:xfrm>
        <a:graphic>
          <a:graphicData uri="http://schemas.openxmlformats.org/drawingml/2006/table">
            <a:tbl>
              <a:tblPr firstRow="1" bandRow="1"/>
              <a:tblGrid>
                <a:gridCol w="990600">
                  <a:extLst>
                    <a:ext uri="{9D8B030D-6E8A-4147-A177-3AD203B41FA5}">
                      <a16:colId xmlns:a16="http://schemas.microsoft.com/office/drawing/2014/main" val="20000"/>
                    </a:ext>
                  </a:extLst>
                </a:gridCol>
                <a:gridCol w="3057525">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238250">
                  <a:extLst>
                    <a:ext uri="{9D8B030D-6E8A-4147-A177-3AD203B41FA5}">
                      <a16:colId xmlns:a16="http://schemas.microsoft.com/office/drawing/2014/main" val="20004"/>
                    </a:ext>
                  </a:extLst>
                </a:gridCol>
                <a:gridCol w="1238250">
                  <a:extLst>
                    <a:ext uri="{9D8B030D-6E8A-4147-A177-3AD203B41FA5}">
                      <a16:colId xmlns:a16="http://schemas.microsoft.com/office/drawing/2014/main" val="20005"/>
                    </a:ext>
                  </a:extLst>
                </a:gridCol>
              </a:tblGrid>
              <a:tr h="314325">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20</a:t>
                      </a:r>
                      <a:r>
                        <a:rPr lang="en-US" altLang="ja-JP" sz="1400" u="none" strike="noStrike" cap="none" spc="0" dirty="0">
                          <a:solidFill>
                            <a:srgbClr val="000000">
                              <a:alpha val="100000"/>
                            </a:srgbClr>
                          </a:solidFill>
                          <a:latin typeface="游ゴシック"/>
                        </a:rPr>
                        <a:t>26</a:t>
                      </a:r>
                      <a:r>
                        <a:rPr lang="ja" sz="1400" u="none" strike="noStrike" cap="none" spc="0" dirty="0">
                          <a:solidFill>
                            <a:srgbClr val="000000">
                              <a:alpha val="100000"/>
                            </a:srgbClr>
                          </a:solidFill>
                          <a:latin typeface="游ゴシック"/>
                        </a:rPr>
                        <a:t>-0</a:t>
                      </a:r>
                      <a:r>
                        <a:rPr lang="en-US" altLang="ja" sz="1400" u="none" strike="noStrike" cap="none" spc="0" dirty="0">
                          <a:solidFill>
                            <a:srgbClr val="000000">
                              <a:alpha val="100000"/>
                            </a:srgbClr>
                          </a:solidFill>
                          <a:latin typeface="游ゴシック"/>
                        </a:rPr>
                        <a:t>3</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5">
                  <a:txBody>
                    <a:bodyPr/>
                    <a:lstStyle/>
                    <a:p>
                      <a:pPr marL="76200" marR="76200" lvl="0" indent="0" algn="l" defTabSz="913851" rtl="0" eaLnBrk="1" fontAlgn="ctr" latinLnBrk="0" hangingPunct="1">
                        <a:lnSpc>
                          <a:spcPct val="100000"/>
                        </a:lnSpc>
                        <a:spcBef>
                          <a:spcPts val="0"/>
                        </a:spcBef>
                        <a:spcAft>
                          <a:spcPts val="0"/>
                        </a:spcAft>
                        <a:buClrTx/>
                        <a:buSzTx/>
                        <a:buFontTx/>
                        <a:buNone/>
                        <a:tabLst/>
                        <a:defRPr/>
                      </a:pPr>
                      <a:r>
                        <a:rPr lang="ja-JP" altLang="en-US" sz="1400" u="none" strike="noStrike" cap="none" spc="0" dirty="0">
                          <a:solidFill>
                            <a:srgbClr val="000000">
                              <a:alpha val="100000"/>
                            </a:srgbClr>
                          </a:solidFill>
                          <a:latin typeface="+mn-lt"/>
                        </a:rPr>
                        <a:t>屋外貯蔵所の雨漏り対策</a:t>
                      </a:r>
                      <a:endParaRPr lang="ja" altLang="ja-JP" sz="1400" u="none" strike="noStrike" cap="none" spc="0" dirty="0">
                        <a:solidFill>
                          <a:srgbClr val="000000">
                            <a:alpha val="100000"/>
                          </a:srgbClr>
                        </a:solidFill>
                        <a:latin typeface="+mn-lt"/>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0"/>
                  </a:ext>
                </a:extLst>
              </a:tr>
              <a:tr h="314325">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ぺリル</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水災</a:t>
                      </a:r>
                      <a:endParaRPr lang="en-US" altLang="ja-JP"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カテゴリー</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3">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自然災害</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1"/>
                  </a:ext>
                </a:extLst>
              </a:tr>
              <a:tr h="314325">
                <a:tc rowSpan="3">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場所</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rowSpan="3">
                  <a:txBody>
                    <a:bodyPr/>
                    <a:lstStyle/>
                    <a:p>
                      <a:pPr marL="76200" marR="76200" lvl="0" indent="0" algn="l" rtl="0" fontAlgn="t">
                        <a:lnSpc>
                          <a:spcPct val="100000"/>
                        </a:lnSpc>
                        <a:spcBef>
                          <a:spcPts val="0"/>
                        </a:spcBef>
                        <a:spcAft>
                          <a:spcPts val="0"/>
                        </a:spcAft>
                      </a:pPr>
                      <a:r>
                        <a:rPr lang="ja-JP" altLang="en-US" sz="1400" u="none" strike="noStrike" cap="none" spc="0" dirty="0">
                          <a:solidFill>
                            <a:srgbClr val="000000">
                              <a:alpha val="100000"/>
                            </a:srgbClr>
                          </a:solidFill>
                          <a:latin typeface="游ゴシック"/>
                        </a:rPr>
                        <a:t>屋外貯蔵所</a:t>
                      </a:r>
                      <a:endParaRPr lang="en-US" altLang="ja" sz="1400" u="none" strike="noStrike" cap="none" spc="0" dirty="0">
                        <a:solidFill>
                          <a:srgbClr val="000000">
                            <a:alpha val="100000"/>
                          </a:srgbClr>
                        </a:solidFill>
                        <a:latin typeface="游ゴシック"/>
                      </a:endParaRP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ハザード</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高</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リスク評価</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en-US" altLang="ja" sz="1400" u="none" strike="noStrike" cap="none" spc="0" dirty="0">
                          <a:solidFill>
                            <a:srgbClr val="000000">
                              <a:alpha val="100000"/>
                            </a:srgbClr>
                          </a:solidFill>
                          <a:latin typeface="游ゴシック"/>
                        </a:rPr>
                        <a:t>High</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2"/>
                  </a:ext>
                </a:extLst>
              </a:tr>
              <a:tr h="314325">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コントロール</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改善可</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完了予定月</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3"/>
                  </a:ext>
                </a:extLst>
              </a:tr>
              <a:tr h="314325">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対策</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中</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改善状況</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4"/>
                  </a:ext>
                </a:extLst>
              </a:tr>
              <a:tr h="1485900">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状況</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rtl="0" fontAlgn="t">
                        <a:lnSpc>
                          <a:spcPct val="100000"/>
                        </a:lnSpc>
                        <a:spcBef>
                          <a:spcPts val="0"/>
                        </a:spcBef>
                        <a:spcAft>
                          <a:spcPts val="0"/>
                        </a:spcAft>
                      </a:pPr>
                      <a:r>
                        <a:rPr lang="ja-JP" altLang="en-US" sz="1400" u="none" strike="noStrike" cap="none" spc="0" dirty="0">
                          <a:solidFill>
                            <a:srgbClr val="000000">
                              <a:alpha val="100000"/>
                            </a:srgbClr>
                          </a:solidFill>
                          <a:latin typeface="+mn-lt"/>
                        </a:rPr>
                        <a:t>屋外貯蔵所において雨漏りが発生しており、</a:t>
                      </a:r>
                      <a:r>
                        <a:rPr lang="ja-JP" altLang="en-US" sz="1400" u="none" strike="noStrike" cap="none" spc="0" dirty="0">
                          <a:solidFill>
                            <a:schemeClr val="tx1"/>
                          </a:solidFill>
                          <a:latin typeface="+mn-lt"/>
                        </a:rPr>
                        <a:t>油の流出防止のための</a:t>
                      </a:r>
                      <a:r>
                        <a:rPr lang="ja-JP" altLang="en-US" sz="1400" u="none" strike="noStrike" cap="none" spc="0" dirty="0">
                          <a:solidFill>
                            <a:srgbClr val="000000">
                              <a:alpha val="100000"/>
                            </a:srgbClr>
                          </a:solidFill>
                          <a:latin typeface="+mn-lt"/>
                        </a:rPr>
                        <a:t>溝に雨水の滞留が認められました。この状態では、危険物漏えい時に雨水とともに流出・拡散するおそれがあるほか、容器の腐食や保管環境の悪化につながるおそれがあります。</a:t>
                      </a:r>
                      <a:endParaRPr lang="en-US" altLang="ja-JP" sz="1400" u="none" strike="noStrike" cap="none" spc="0" dirty="0">
                        <a:solidFill>
                          <a:srgbClr val="000000">
                            <a:alpha val="100000"/>
                          </a:srgbClr>
                        </a:solidFill>
                        <a:latin typeface="游ゴシック"/>
                      </a:endParaRP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rowSpan="3" gridSpan="3">
                  <a:txBody>
                    <a:bodyPr/>
                    <a:lstStyle/>
                    <a:p>
                      <a:pPr marL="0" marR="0" lvl="0" indent="0" algn="ctr" rtl="0" fontAlgn="ctr">
                        <a:lnSpc>
                          <a:spcPct val="100000"/>
                        </a:lnSpc>
                        <a:spcBef>
                          <a:spcPts val="0"/>
                        </a:spcBef>
                        <a:spcAft>
                          <a:spcPts val="0"/>
                        </a:spcAft>
                      </a:pP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rowSpan="3"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rowSpan="3"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5"/>
                  </a:ext>
                </a:extLst>
              </a:tr>
              <a:tr h="1485900">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対策</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rtl="0" fontAlgn="t">
                        <a:lnSpc>
                          <a:spcPct val="100000"/>
                        </a:lnSpc>
                        <a:spcBef>
                          <a:spcPts val="0"/>
                        </a:spcBef>
                        <a:spcAft>
                          <a:spcPts val="0"/>
                        </a:spcAft>
                      </a:pPr>
                      <a:r>
                        <a:rPr lang="ja-JP" altLang="en-US" sz="1400" u="none" strike="noStrike" cap="none" spc="0" dirty="0">
                          <a:solidFill>
                            <a:srgbClr val="000000">
                              <a:alpha val="100000"/>
                            </a:srgbClr>
                          </a:solidFill>
                          <a:latin typeface="+mn-lt"/>
                        </a:rPr>
                        <a:t>雨漏り箇所の補修および定期点検の実施をお勧めします。</a:t>
                      </a:r>
                      <a:endParaRPr lang="ja" sz="1400" u="none" strike="noStrike" cap="none" spc="0" dirty="0">
                        <a:solidFill>
                          <a:srgbClr val="000000">
                            <a:alpha val="100000"/>
                          </a:srgbClr>
                        </a:solidFill>
                        <a:latin typeface="游ゴシック"/>
                      </a:endParaRPr>
                    </a:p>
                  </a:txBody>
                  <a:tcPr marL="76200" marR="76200" marT="3810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gridSpan="3"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9"/>
                  </a:ext>
                </a:extLst>
              </a:tr>
              <a:tr h="417155">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参照</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ctr" rtl="0" fontAlgn="t">
                        <a:lnSpc>
                          <a:spcPct val="100000"/>
                        </a:lnSpc>
                        <a:spcBef>
                          <a:spcPts val="0"/>
                        </a:spcBef>
                        <a:spcAft>
                          <a:spcPts val="0"/>
                        </a:spcAft>
                      </a:pPr>
                      <a:r>
                        <a:rPr lang="ja" sz="1400" u="none" strike="noStrike" cap="none" spc="0" dirty="0">
                          <a:solidFill>
                            <a:srgbClr val="000000">
                              <a:alpha val="100000"/>
                            </a:srgbClr>
                          </a:solidFill>
                          <a:latin typeface="游ゴシック"/>
                        </a:rPr>
                        <a:t> </a:t>
                      </a:r>
                      <a:endParaRPr lang="ja" altLang="ja-JP" sz="1400" u="none" strike="noStrike" cap="none" spc="0" dirty="0">
                        <a:solidFill>
                          <a:srgbClr val="000000">
                            <a:alpha val="100000"/>
                          </a:srgbClr>
                        </a:solidFill>
                        <a:latin typeface="+mn-lt"/>
                      </a:endParaRPr>
                    </a:p>
                  </a:txBody>
                  <a:tcPr marL="76200" marR="76200" marT="3810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gridSpan="3"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13"/>
                  </a:ext>
                </a:extLst>
              </a:tr>
            </a:tbl>
          </a:graphicData>
        </a:graphic>
      </p:graphicFrame>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リスク低減に向けたご提案事項</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12"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16</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13" name="グループ化 12">
            <a:extLst>
              <a:ext uri="{FF2B5EF4-FFF2-40B4-BE49-F238E27FC236}">
                <a16:creationId xmlns:a16="http://schemas.microsoft.com/office/drawing/2014/main" id="{94E1FEEE-2214-43B3-8732-7AC0580F5C3A}"/>
              </a:ext>
            </a:extLst>
          </p:cNvPr>
          <p:cNvGrpSpPr/>
          <p:nvPr/>
        </p:nvGrpSpPr>
        <p:grpSpPr>
          <a:xfrm>
            <a:off x="360000" y="370800"/>
            <a:ext cx="720000" cy="672000"/>
            <a:chOff x="360000" y="370800"/>
            <a:chExt cx="720000" cy="672000"/>
          </a:xfrm>
        </p:grpSpPr>
        <p:sp>
          <p:nvSpPr>
            <p:cNvPr id="14" name="正方形/長方形 13">
              <a:extLst>
                <a:ext uri="{FF2B5EF4-FFF2-40B4-BE49-F238E27FC236}">
                  <a16:creationId xmlns:a16="http://schemas.microsoft.com/office/drawing/2014/main" id="{7DF71110-5BDE-49F7-BBD3-C3E7EE4105B6}"/>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8A8BED04-F439-4736-85C7-A8ACFA014095}"/>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3</a:t>
              </a:r>
            </a:p>
          </p:txBody>
        </p:sp>
      </p:grpSp>
      <p:sp>
        <p:nvSpPr>
          <p:cNvPr id="9" name="テキスト ボックス 8">
            <a:extLst>
              <a:ext uri="{FF2B5EF4-FFF2-40B4-BE49-F238E27FC236}">
                <a16:creationId xmlns:a16="http://schemas.microsoft.com/office/drawing/2014/main" id="{F1714271-B86D-4E8B-B24C-F0166D62EC83}"/>
              </a:ext>
            </a:extLst>
          </p:cNvPr>
          <p:cNvSpPr txBox="1"/>
          <p:nvPr/>
        </p:nvSpPr>
        <p:spPr>
          <a:xfrm>
            <a:off x="9899650" y="1570953"/>
            <a:ext cx="2144684" cy="399011"/>
          </a:xfrm>
          <a:prstGeom prst="rect">
            <a:avLst/>
          </a:prstGeom>
          <a:noFill/>
        </p:spPr>
        <p:txBody>
          <a:bodyPr wrap="square" rtlCol="0">
            <a:noAutofit/>
          </a:bodyPr>
          <a:lstStyle/>
          <a:p>
            <a:r>
              <a:rPr kumimoji="1" lang="ja-JP" altLang="en-US" sz="1200" dirty="0">
                <a:latin typeface="+mn-ea"/>
                <a:ea typeface="+mn-ea"/>
              </a:rPr>
              <a:t>←カテゴリーの選択肢</a:t>
            </a:r>
            <a:endParaRPr kumimoji="1" lang="en-US" altLang="ja-JP" sz="1200" dirty="0">
              <a:latin typeface="+mn-ea"/>
              <a:ea typeface="+mn-ea"/>
            </a:endParaRPr>
          </a:p>
          <a:p>
            <a:r>
              <a:rPr lang="ja-JP" altLang="en-US" sz="1200" dirty="0">
                <a:latin typeface="+mn-ea"/>
                <a:ea typeface="+mn-ea"/>
              </a:rPr>
              <a:t>電気機器</a:t>
            </a:r>
            <a:endParaRPr lang="en-US" altLang="ja-JP" sz="1200" dirty="0">
              <a:latin typeface="+mn-ea"/>
              <a:ea typeface="+mn-ea"/>
            </a:endParaRPr>
          </a:p>
          <a:p>
            <a:r>
              <a:rPr lang="ja-JP" altLang="en-US" sz="1200" dirty="0">
                <a:latin typeface="+mn-ea"/>
                <a:ea typeface="+mn-ea"/>
              </a:rPr>
              <a:t>危険物</a:t>
            </a:r>
            <a:endParaRPr lang="en-US" altLang="ja-JP" sz="1200" dirty="0">
              <a:latin typeface="+mn-ea"/>
              <a:ea typeface="+mn-ea"/>
            </a:endParaRPr>
          </a:p>
          <a:p>
            <a:r>
              <a:rPr kumimoji="1" lang="ja-JP" altLang="en-US" sz="1200" dirty="0">
                <a:latin typeface="+mn-ea"/>
                <a:ea typeface="+mn-ea"/>
              </a:rPr>
              <a:t>整理・整頓・清掃</a:t>
            </a:r>
            <a:endParaRPr kumimoji="1" lang="en-US" altLang="ja-JP" sz="1200" dirty="0">
              <a:latin typeface="+mn-ea"/>
              <a:ea typeface="+mn-ea"/>
            </a:endParaRPr>
          </a:p>
          <a:p>
            <a:r>
              <a:rPr lang="ja-JP" altLang="en-US" sz="1200" dirty="0">
                <a:latin typeface="+mn-ea"/>
                <a:ea typeface="+mn-ea"/>
              </a:rPr>
              <a:t>消防火設備</a:t>
            </a:r>
            <a:endParaRPr lang="en-US" altLang="ja-JP" sz="1200" dirty="0">
              <a:latin typeface="+mn-ea"/>
              <a:ea typeface="+mn-ea"/>
            </a:endParaRPr>
          </a:p>
          <a:p>
            <a:r>
              <a:rPr kumimoji="1" lang="ja-JP" altLang="en-US" sz="1200" dirty="0">
                <a:latin typeface="+mn-ea"/>
                <a:ea typeface="+mn-ea"/>
              </a:rPr>
              <a:t>防災管理</a:t>
            </a:r>
            <a:endParaRPr kumimoji="1" lang="en-US" altLang="ja-JP" sz="1200" dirty="0">
              <a:latin typeface="+mn-ea"/>
              <a:ea typeface="+mn-ea"/>
            </a:endParaRPr>
          </a:p>
          <a:p>
            <a:r>
              <a:rPr lang="ja-JP" altLang="en-US" sz="1200" dirty="0">
                <a:latin typeface="+mn-ea"/>
                <a:ea typeface="+mn-ea"/>
              </a:rPr>
              <a:t>生産工程</a:t>
            </a:r>
            <a:endParaRPr lang="en-US" altLang="ja-JP" sz="1200" dirty="0">
              <a:latin typeface="+mn-ea"/>
              <a:ea typeface="+mn-ea"/>
            </a:endParaRPr>
          </a:p>
          <a:p>
            <a:r>
              <a:rPr kumimoji="1" lang="ja-JP" altLang="en-US" sz="1200" dirty="0">
                <a:latin typeface="+mn-ea"/>
                <a:ea typeface="+mn-ea"/>
              </a:rPr>
              <a:t>機械・設備</a:t>
            </a:r>
            <a:endParaRPr kumimoji="1" lang="en-US" altLang="ja-JP" sz="1200" dirty="0">
              <a:latin typeface="+mn-ea"/>
              <a:ea typeface="+mn-ea"/>
            </a:endParaRPr>
          </a:p>
          <a:p>
            <a:r>
              <a:rPr lang="ja-JP" altLang="en-US" sz="1200" dirty="0">
                <a:latin typeface="+mn-ea"/>
                <a:ea typeface="+mn-ea"/>
              </a:rPr>
              <a:t>自然災害</a:t>
            </a:r>
            <a:endParaRPr lang="en-US" altLang="ja-JP" sz="1200" dirty="0">
              <a:latin typeface="+mn-ea"/>
              <a:ea typeface="+mn-ea"/>
            </a:endParaRPr>
          </a:p>
          <a:p>
            <a:r>
              <a:rPr kumimoji="1" lang="ja-JP" altLang="en-US" sz="1200" dirty="0">
                <a:latin typeface="+mn-ea"/>
                <a:ea typeface="+mn-ea"/>
              </a:rPr>
              <a:t>その他</a:t>
            </a:r>
          </a:p>
        </p:txBody>
      </p:sp>
      <p:pic>
        <p:nvPicPr>
          <p:cNvPr id="3" name="図 2">
            <a:extLst>
              <a:ext uri="{FF2B5EF4-FFF2-40B4-BE49-F238E27FC236}">
                <a16:creationId xmlns:a16="http://schemas.microsoft.com/office/drawing/2014/main" id="{11E67930-700F-4DEF-9A9A-AC7B0D31487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678677" y="2908099"/>
            <a:ext cx="2062801" cy="1547101"/>
          </a:xfrm>
          <a:prstGeom prst="rect">
            <a:avLst/>
          </a:prstGeom>
        </p:spPr>
      </p:pic>
      <p:pic>
        <p:nvPicPr>
          <p:cNvPr id="11" name="図 10">
            <a:extLst>
              <a:ext uri="{FF2B5EF4-FFF2-40B4-BE49-F238E27FC236}">
                <a16:creationId xmlns:a16="http://schemas.microsoft.com/office/drawing/2014/main" id="{F45E333E-FDBE-454D-ACE2-D8EABA0CD89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78676" y="4558899"/>
            <a:ext cx="2062801" cy="1547100"/>
          </a:xfrm>
          <a:prstGeom prst="rect">
            <a:avLst/>
          </a:prstGeom>
        </p:spPr>
      </p:pic>
      <p:sp>
        <p:nvSpPr>
          <p:cNvPr id="2" name="楕円 1">
            <a:extLst>
              <a:ext uri="{FF2B5EF4-FFF2-40B4-BE49-F238E27FC236}">
                <a16:creationId xmlns:a16="http://schemas.microsoft.com/office/drawing/2014/main" id="{3C3B41F5-588B-49CB-8E18-E930E931FF18}"/>
              </a:ext>
            </a:extLst>
          </p:cNvPr>
          <p:cNvSpPr/>
          <p:nvPr/>
        </p:nvSpPr>
        <p:spPr>
          <a:xfrm>
            <a:off x="7458891" y="4558899"/>
            <a:ext cx="1282586" cy="1332450"/>
          </a:xfrm>
          <a:prstGeom prst="ellipse">
            <a:avLst/>
          </a:prstGeom>
          <a:noFill/>
          <a:ln w="9525">
            <a:solidFill>
              <a:srgbClr val="FF0000"/>
            </a:solidFill>
          </a:ln>
          <a:extLst>
            <a:ext uri="{909E8E84-426E-40DD-AFC4-6F175D3DCCD1}">
              <a14:hiddenFill xmlns:a14="http://schemas.microsoft.com/office/drawing/2010/main">
                <a:solidFill>
                  <a:srgbClr val="D2D3D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rgbClr val="000000"/>
              </a:solidFill>
            </a:endParaRPr>
          </a:p>
        </p:txBody>
      </p:sp>
      <p:sp>
        <p:nvSpPr>
          <p:cNvPr id="4" name="テキスト ボックス 3">
            <a:extLst>
              <a:ext uri="{FF2B5EF4-FFF2-40B4-BE49-F238E27FC236}">
                <a16:creationId xmlns:a16="http://schemas.microsoft.com/office/drawing/2014/main" id="{1AD24EE5-0D80-42C7-ABE3-F340EC47BE66}"/>
              </a:ext>
            </a:extLst>
          </p:cNvPr>
          <p:cNvSpPr txBox="1"/>
          <p:nvPr/>
        </p:nvSpPr>
        <p:spPr>
          <a:xfrm>
            <a:off x="8456203" y="5912732"/>
            <a:ext cx="914400" cy="261257"/>
          </a:xfrm>
          <a:prstGeom prst="rect">
            <a:avLst/>
          </a:prstGeom>
          <a:solidFill>
            <a:schemeClr val="bg1"/>
          </a:solidFill>
          <a:ln>
            <a:solidFill>
              <a:schemeClr val="tx1"/>
            </a:solidFill>
          </a:ln>
        </p:spPr>
        <p:txBody>
          <a:bodyPr wrap="none" rtlCol="0">
            <a:noAutofit/>
          </a:bodyPr>
          <a:lstStyle/>
          <a:p>
            <a:r>
              <a:rPr kumimoji="1" lang="ja-JP" altLang="en-US" sz="1200" dirty="0">
                <a:latin typeface="+mn-ea"/>
                <a:ea typeface="+mn-ea"/>
              </a:rPr>
              <a:t>雨水の滞留</a:t>
            </a:r>
          </a:p>
        </p:txBody>
      </p:sp>
      <p:cxnSp>
        <p:nvCxnSpPr>
          <p:cNvPr id="7" name="直線コネクタ 6">
            <a:extLst>
              <a:ext uri="{FF2B5EF4-FFF2-40B4-BE49-F238E27FC236}">
                <a16:creationId xmlns:a16="http://schemas.microsoft.com/office/drawing/2014/main" id="{9F18CF0B-5140-4308-BD7C-5E6B97042555}"/>
              </a:ext>
            </a:extLst>
          </p:cNvPr>
          <p:cNvCxnSpPr>
            <a:cxnSpLocks/>
            <a:stCxn id="4" idx="0"/>
            <a:endCxn id="2" idx="5"/>
          </p:cNvCxnSpPr>
          <p:nvPr/>
        </p:nvCxnSpPr>
        <p:spPr>
          <a:xfrm flipH="1" flipV="1">
            <a:off x="8553647" y="5696216"/>
            <a:ext cx="359756" cy="21651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062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リスク低減に向けたご提案事項</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12"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17</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13" name="グループ化 12">
            <a:extLst>
              <a:ext uri="{FF2B5EF4-FFF2-40B4-BE49-F238E27FC236}">
                <a16:creationId xmlns:a16="http://schemas.microsoft.com/office/drawing/2014/main" id="{94E1FEEE-2214-43B3-8732-7AC0580F5C3A}"/>
              </a:ext>
            </a:extLst>
          </p:cNvPr>
          <p:cNvGrpSpPr/>
          <p:nvPr/>
        </p:nvGrpSpPr>
        <p:grpSpPr>
          <a:xfrm>
            <a:off x="360000" y="370800"/>
            <a:ext cx="720000" cy="672000"/>
            <a:chOff x="360000" y="370800"/>
            <a:chExt cx="720000" cy="672000"/>
          </a:xfrm>
        </p:grpSpPr>
        <p:sp>
          <p:nvSpPr>
            <p:cNvPr id="14" name="正方形/長方形 13">
              <a:extLst>
                <a:ext uri="{FF2B5EF4-FFF2-40B4-BE49-F238E27FC236}">
                  <a16:creationId xmlns:a16="http://schemas.microsoft.com/office/drawing/2014/main" id="{7DF71110-5BDE-49F7-BBD3-C3E7EE4105B6}"/>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8A8BED04-F439-4736-85C7-A8ACFA014095}"/>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3</a:t>
              </a:r>
            </a:p>
          </p:txBody>
        </p:sp>
      </p:grpSp>
      <p:sp>
        <p:nvSpPr>
          <p:cNvPr id="9" name="テキスト ボックス 8">
            <a:extLst>
              <a:ext uri="{FF2B5EF4-FFF2-40B4-BE49-F238E27FC236}">
                <a16:creationId xmlns:a16="http://schemas.microsoft.com/office/drawing/2014/main" id="{F1714271-B86D-4E8B-B24C-F0166D62EC83}"/>
              </a:ext>
            </a:extLst>
          </p:cNvPr>
          <p:cNvSpPr txBox="1"/>
          <p:nvPr/>
        </p:nvSpPr>
        <p:spPr>
          <a:xfrm>
            <a:off x="9899650" y="1570953"/>
            <a:ext cx="2144684" cy="399011"/>
          </a:xfrm>
          <a:prstGeom prst="rect">
            <a:avLst/>
          </a:prstGeom>
          <a:noFill/>
        </p:spPr>
        <p:txBody>
          <a:bodyPr wrap="square" rtlCol="0">
            <a:noAutofit/>
          </a:bodyPr>
          <a:lstStyle/>
          <a:p>
            <a:r>
              <a:rPr kumimoji="1" lang="ja-JP" altLang="en-US" sz="1200" dirty="0">
                <a:latin typeface="+mn-ea"/>
                <a:ea typeface="+mn-ea"/>
              </a:rPr>
              <a:t>←カテゴリーの選択肢</a:t>
            </a:r>
            <a:endParaRPr kumimoji="1" lang="en-US" altLang="ja-JP" sz="1200" dirty="0">
              <a:latin typeface="+mn-ea"/>
              <a:ea typeface="+mn-ea"/>
            </a:endParaRPr>
          </a:p>
          <a:p>
            <a:r>
              <a:rPr lang="ja-JP" altLang="en-US" sz="1200" dirty="0">
                <a:latin typeface="+mn-ea"/>
                <a:ea typeface="+mn-ea"/>
              </a:rPr>
              <a:t>電気機器</a:t>
            </a:r>
            <a:endParaRPr lang="en-US" altLang="ja-JP" sz="1200" dirty="0">
              <a:latin typeface="+mn-ea"/>
              <a:ea typeface="+mn-ea"/>
            </a:endParaRPr>
          </a:p>
          <a:p>
            <a:r>
              <a:rPr lang="ja-JP" altLang="en-US" sz="1200" dirty="0">
                <a:latin typeface="+mn-ea"/>
                <a:ea typeface="+mn-ea"/>
              </a:rPr>
              <a:t>危険物</a:t>
            </a:r>
            <a:endParaRPr lang="en-US" altLang="ja-JP" sz="1200" dirty="0">
              <a:latin typeface="+mn-ea"/>
              <a:ea typeface="+mn-ea"/>
            </a:endParaRPr>
          </a:p>
          <a:p>
            <a:r>
              <a:rPr kumimoji="1" lang="ja-JP" altLang="en-US" sz="1200" dirty="0">
                <a:latin typeface="+mn-ea"/>
                <a:ea typeface="+mn-ea"/>
              </a:rPr>
              <a:t>整理・整頓・清掃</a:t>
            </a:r>
            <a:endParaRPr kumimoji="1" lang="en-US" altLang="ja-JP" sz="1200" dirty="0">
              <a:latin typeface="+mn-ea"/>
              <a:ea typeface="+mn-ea"/>
            </a:endParaRPr>
          </a:p>
          <a:p>
            <a:r>
              <a:rPr lang="ja-JP" altLang="en-US" sz="1200" dirty="0">
                <a:latin typeface="+mn-ea"/>
                <a:ea typeface="+mn-ea"/>
              </a:rPr>
              <a:t>消防火設備</a:t>
            </a:r>
            <a:endParaRPr lang="en-US" altLang="ja-JP" sz="1200" dirty="0">
              <a:latin typeface="+mn-ea"/>
              <a:ea typeface="+mn-ea"/>
            </a:endParaRPr>
          </a:p>
          <a:p>
            <a:r>
              <a:rPr kumimoji="1" lang="ja-JP" altLang="en-US" sz="1200" dirty="0">
                <a:latin typeface="+mn-ea"/>
                <a:ea typeface="+mn-ea"/>
              </a:rPr>
              <a:t>防災管理</a:t>
            </a:r>
            <a:endParaRPr kumimoji="1" lang="en-US" altLang="ja-JP" sz="1200" dirty="0">
              <a:latin typeface="+mn-ea"/>
              <a:ea typeface="+mn-ea"/>
            </a:endParaRPr>
          </a:p>
          <a:p>
            <a:r>
              <a:rPr lang="ja-JP" altLang="en-US" sz="1200" dirty="0">
                <a:latin typeface="+mn-ea"/>
                <a:ea typeface="+mn-ea"/>
              </a:rPr>
              <a:t>生産工程</a:t>
            </a:r>
            <a:endParaRPr lang="en-US" altLang="ja-JP" sz="1200" dirty="0">
              <a:latin typeface="+mn-ea"/>
              <a:ea typeface="+mn-ea"/>
            </a:endParaRPr>
          </a:p>
          <a:p>
            <a:r>
              <a:rPr kumimoji="1" lang="ja-JP" altLang="en-US" sz="1200" dirty="0">
                <a:latin typeface="+mn-ea"/>
                <a:ea typeface="+mn-ea"/>
              </a:rPr>
              <a:t>機械・設備</a:t>
            </a:r>
            <a:endParaRPr kumimoji="1" lang="en-US" altLang="ja-JP" sz="1200" dirty="0">
              <a:latin typeface="+mn-ea"/>
              <a:ea typeface="+mn-ea"/>
            </a:endParaRPr>
          </a:p>
          <a:p>
            <a:r>
              <a:rPr lang="ja-JP" altLang="en-US" sz="1200" dirty="0">
                <a:latin typeface="+mn-ea"/>
                <a:ea typeface="+mn-ea"/>
              </a:rPr>
              <a:t>自然災害</a:t>
            </a:r>
            <a:endParaRPr lang="en-US" altLang="ja-JP" sz="1200" dirty="0">
              <a:latin typeface="+mn-ea"/>
              <a:ea typeface="+mn-ea"/>
            </a:endParaRPr>
          </a:p>
          <a:p>
            <a:r>
              <a:rPr kumimoji="1" lang="ja-JP" altLang="en-US" sz="1200" dirty="0">
                <a:latin typeface="+mn-ea"/>
                <a:ea typeface="+mn-ea"/>
              </a:rPr>
              <a:t>その他</a:t>
            </a:r>
          </a:p>
        </p:txBody>
      </p:sp>
      <p:graphicFrame>
        <p:nvGraphicFramePr>
          <p:cNvPr id="10" name="表 9">
            <a:extLst>
              <a:ext uri="{FF2B5EF4-FFF2-40B4-BE49-F238E27FC236}">
                <a16:creationId xmlns:a16="http://schemas.microsoft.com/office/drawing/2014/main" id="{84D7994D-E475-4C46-8F73-827FF7B86691}"/>
              </a:ext>
            </a:extLst>
          </p:cNvPr>
          <p:cNvGraphicFramePr>
            <a:graphicFrameLocks noGrp="1"/>
          </p:cNvGraphicFramePr>
          <p:nvPr>
            <p:extLst>
              <p:ext uri="{D42A27DB-BD31-4B8C-83A1-F6EECF244321}">
                <p14:modId xmlns:p14="http://schemas.microsoft.com/office/powerpoint/2010/main" val="1323815386"/>
              </p:ext>
            </p:extLst>
          </p:nvPr>
        </p:nvGraphicFramePr>
        <p:xfrm>
          <a:off x="361950" y="1257303"/>
          <a:ext cx="9172575" cy="5114493"/>
        </p:xfrm>
        <a:graphic>
          <a:graphicData uri="http://schemas.openxmlformats.org/drawingml/2006/table">
            <a:tbl>
              <a:tblPr firstRow="1" bandRow="1"/>
              <a:tblGrid>
                <a:gridCol w="990600">
                  <a:extLst>
                    <a:ext uri="{9D8B030D-6E8A-4147-A177-3AD203B41FA5}">
                      <a16:colId xmlns:a16="http://schemas.microsoft.com/office/drawing/2014/main" val="20000"/>
                    </a:ext>
                  </a:extLst>
                </a:gridCol>
                <a:gridCol w="3057525">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238250">
                  <a:extLst>
                    <a:ext uri="{9D8B030D-6E8A-4147-A177-3AD203B41FA5}">
                      <a16:colId xmlns:a16="http://schemas.microsoft.com/office/drawing/2014/main" val="20004"/>
                    </a:ext>
                  </a:extLst>
                </a:gridCol>
                <a:gridCol w="1238250">
                  <a:extLst>
                    <a:ext uri="{9D8B030D-6E8A-4147-A177-3AD203B41FA5}">
                      <a16:colId xmlns:a16="http://schemas.microsoft.com/office/drawing/2014/main" val="20005"/>
                    </a:ext>
                  </a:extLst>
                </a:gridCol>
              </a:tblGrid>
              <a:tr h="242790">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20</a:t>
                      </a:r>
                      <a:r>
                        <a:rPr lang="en-US" altLang="ja-JP" sz="1400" u="none" strike="noStrike" cap="none" spc="0" dirty="0">
                          <a:solidFill>
                            <a:srgbClr val="000000">
                              <a:alpha val="100000"/>
                            </a:srgbClr>
                          </a:solidFill>
                          <a:latin typeface="游ゴシック"/>
                        </a:rPr>
                        <a:t>26</a:t>
                      </a:r>
                      <a:r>
                        <a:rPr lang="ja" sz="1400" u="none" strike="noStrike" cap="none" spc="0" dirty="0">
                          <a:solidFill>
                            <a:srgbClr val="000000">
                              <a:alpha val="100000"/>
                            </a:srgbClr>
                          </a:solidFill>
                          <a:latin typeface="游ゴシック"/>
                        </a:rPr>
                        <a:t>-0</a:t>
                      </a:r>
                      <a:r>
                        <a:rPr lang="en-US" altLang="ja" sz="1400" u="none" strike="noStrike" cap="none" spc="0" dirty="0">
                          <a:solidFill>
                            <a:srgbClr val="000000">
                              <a:alpha val="100000"/>
                            </a:srgbClr>
                          </a:solidFill>
                          <a:latin typeface="游ゴシック"/>
                        </a:rPr>
                        <a:t>4</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5">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mn-lt"/>
                        </a:rPr>
                        <a:t>止水板の止水性能の確認と</a:t>
                      </a:r>
                      <a:r>
                        <a:rPr lang="ja-JP" altLang="en-US" sz="1400" u="none" strike="noStrike" cap="none" spc="0" dirty="0">
                          <a:solidFill>
                            <a:schemeClr val="tx1"/>
                          </a:solidFill>
                          <a:latin typeface="+mn-lt"/>
                        </a:rPr>
                        <a:t>定期的な点検の実施</a:t>
                      </a:r>
                      <a:endParaRPr lang="ja" altLang="ja-JP" sz="1400" u="none" strike="noStrike" cap="none" spc="0" dirty="0">
                        <a:solidFill>
                          <a:schemeClr val="tx1"/>
                        </a:solidFill>
                        <a:latin typeface="+mn-lt"/>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0"/>
                  </a:ext>
                </a:extLst>
              </a:tr>
              <a:tr h="242790">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ぺリル</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水災</a:t>
                      </a:r>
                      <a:endParaRPr lang="en-US" altLang="ja-JP"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カテゴリー</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3">
                  <a:txBody>
                    <a:bodyPr/>
                    <a:lstStyle/>
                    <a:p>
                      <a:r>
                        <a:rPr lang="ja-JP" altLang="en-US" sz="1400" dirty="0">
                          <a:latin typeface="+mn-ea"/>
                          <a:ea typeface="+mn-ea"/>
                        </a:rPr>
                        <a:t>自然災害</a:t>
                      </a:r>
                      <a:endParaRPr lang="en-US" altLang="ja-JP" sz="1400" dirty="0">
                        <a:latin typeface="+mn-ea"/>
                        <a:ea typeface="+mn-ea"/>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1"/>
                  </a:ext>
                </a:extLst>
              </a:tr>
              <a:tr h="242790">
                <a:tc rowSpan="3">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場所</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rowSpan="3">
                  <a:txBody>
                    <a:bodyPr/>
                    <a:lstStyle/>
                    <a:p>
                      <a:pPr marL="76200" marR="76200" lvl="0" indent="0" algn="l" defTabSz="913851" rtl="0" eaLnBrk="1" fontAlgn="t" latinLnBrk="0" hangingPunct="1">
                        <a:lnSpc>
                          <a:spcPct val="100000"/>
                        </a:lnSpc>
                        <a:spcBef>
                          <a:spcPts val="0"/>
                        </a:spcBef>
                        <a:spcAft>
                          <a:spcPts val="0"/>
                        </a:spcAft>
                        <a:buClrTx/>
                        <a:buSzTx/>
                        <a:buFontTx/>
                        <a:buNone/>
                        <a:tabLst/>
                        <a:defRPr/>
                      </a:pPr>
                      <a:r>
                        <a:rPr kumimoji="1" lang="en-US" altLang="ja-JP" sz="1400" dirty="0">
                          <a:latin typeface="+mn-ea"/>
                          <a:ea typeface="+mn-ea"/>
                        </a:rPr>
                        <a:t>7</a:t>
                      </a:r>
                      <a:r>
                        <a:rPr kumimoji="1" lang="ja-JP" altLang="en-US" sz="1400" dirty="0">
                          <a:latin typeface="+mn-ea"/>
                          <a:ea typeface="+mn-ea"/>
                        </a:rPr>
                        <a:t>線材工場変電設備周辺</a:t>
                      </a:r>
                      <a:endParaRPr kumimoji="1" lang="en-US" altLang="ja-JP" sz="1400" dirty="0">
                        <a:latin typeface="+mn-ea"/>
                        <a:ea typeface="+mn-ea"/>
                      </a:endParaRP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ハザード</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中</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リスク評価</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en-US" altLang="ja" sz="1400" u="none" strike="noStrike" cap="none" spc="0" dirty="0">
                          <a:solidFill>
                            <a:srgbClr val="000000">
                              <a:alpha val="100000"/>
                            </a:srgbClr>
                          </a:solidFill>
                          <a:latin typeface="+mn-lt"/>
                        </a:rPr>
                        <a:t>Moderate</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2"/>
                  </a:ext>
                </a:extLst>
              </a:tr>
              <a:tr h="242790">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コントロール</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改善可</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完了予定月</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3"/>
                  </a:ext>
                </a:extLst>
              </a:tr>
              <a:tr h="242790">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対策</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容易</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改善状況</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4"/>
                  </a:ext>
                </a:extLst>
              </a:tr>
              <a:tr h="1195683">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状況</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defTabSz="913851" rtl="0" eaLnBrk="1" fontAlgn="t" latinLnBrk="0" hangingPunct="1">
                        <a:lnSpc>
                          <a:spcPct val="100000"/>
                        </a:lnSpc>
                        <a:spcBef>
                          <a:spcPts val="0"/>
                        </a:spcBef>
                        <a:spcAft>
                          <a:spcPts val="0"/>
                        </a:spcAft>
                        <a:buClrTx/>
                        <a:buSzTx/>
                        <a:buFontTx/>
                        <a:buNone/>
                        <a:tabLst/>
                        <a:defRPr/>
                      </a:pPr>
                      <a:r>
                        <a:rPr kumimoji="1" lang="en-US" altLang="ja-JP" sz="1400" dirty="0">
                          <a:latin typeface="+mn-ea"/>
                          <a:ea typeface="+mn-ea"/>
                        </a:rPr>
                        <a:t>7</a:t>
                      </a:r>
                      <a:r>
                        <a:rPr kumimoji="1" lang="ja-JP" altLang="en-US" sz="1400" dirty="0">
                          <a:latin typeface="+mn-ea"/>
                          <a:ea typeface="+mn-ea"/>
                        </a:rPr>
                        <a:t>線材工場の変電設備周辺には約</a:t>
                      </a:r>
                      <a:r>
                        <a:rPr kumimoji="1" lang="en-US" altLang="ja-JP" sz="1400" dirty="0">
                          <a:latin typeface="+mn-ea"/>
                          <a:ea typeface="+mn-ea"/>
                        </a:rPr>
                        <a:t>0.7m</a:t>
                      </a:r>
                      <a:r>
                        <a:rPr kumimoji="1" lang="ja-JP" altLang="en-US" sz="1400" dirty="0">
                          <a:latin typeface="+mn-ea"/>
                          <a:ea typeface="+mn-ea"/>
                        </a:rPr>
                        <a:t>の止水板が設置されていますが、継ぎ目部分ではテープの剥離が見られ、隙間が生じている可能性があります。加えて、止水板自体についても劣化が進行している可能性があり、十分な止水性が確保されていないおそれがあります。</a:t>
                      </a:r>
                      <a:endParaRPr lang="ja" sz="1400" u="none" strike="noStrike" cap="none" spc="0" dirty="0">
                        <a:solidFill>
                          <a:schemeClr val="tx1"/>
                        </a:solidFill>
                        <a:latin typeface="游ゴシック"/>
                      </a:endParaRP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rowSpan="3" gridSpan="3">
                  <a:txBody>
                    <a:bodyPr/>
                    <a:lstStyle/>
                    <a:p>
                      <a:pPr marL="0" marR="0" lvl="0" indent="0" algn="ctr" rtl="0" fontAlgn="ctr">
                        <a:lnSpc>
                          <a:spcPct val="100000"/>
                        </a:lnSpc>
                        <a:spcBef>
                          <a:spcPts val="0"/>
                        </a:spcBef>
                        <a:spcAft>
                          <a:spcPts val="0"/>
                        </a:spcAft>
                      </a:pP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rowSpan="3"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rowSpan="3"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5"/>
                  </a:ext>
                </a:extLst>
              </a:tr>
              <a:tr h="1582725">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対策</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defTabSz="913851" rtl="0" eaLnBrk="1" fontAlgn="t" latinLnBrk="0" hangingPunct="1">
                        <a:lnSpc>
                          <a:spcPct val="100000"/>
                        </a:lnSpc>
                        <a:spcBef>
                          <a:spcPts val="0"/>
                        </a:spcBef>
                        <a:spcAft>
                          <a:spcPts val="0"/>
                        </a:spcAft>
                        <a:buClrTx/>
                        <a:buSzTx/>
                        <a:buFontTx/>
                        <a:buNone/>
                        <a:tabLst/>
                        <a:defRPr/>
                      </a:pPr>
                      <a:r>
                        <a:rPr lang="ja-JP" altLang="en-US" sz="1400" u="none" strike="noStrike" cap="none" spc="0" dirty="0">
                          <a:solidFill>
                            <a:schemeClr val="tx1"/>
                          </a:solidFill>
                          <a:latin typeface="+mn-ea"/>
                          <a:ea typeface="+mn-ea"/>
                        </a:rPr>
                        <a:t>テープの劣化や隙間の有無を確認のうえ、止水性能を再確認することが望まれます。また、継ぎ目部はテープ接着ではなく、専用パッキン、シーリング材、押さえ金物等を用いた止水性の高い構造へ改修することをお勧めします。あわせて、テープや板材の劣化、剥離、隙間の発生状況等について定期的に点検を実施し、必要に応じて補修・更新を行うことをお勧めします。</a:t>
                      </a:r>
                      <a:endParaRPr lang="ja" sz="1400" u="none" strike="noStrike" cap="none" spc="0" dirty="0">
                        <a:solidFill>
                          <a:schemeClr val="tx1"/>
                        </a:solidFill>
                        <a:latin typeface="+mn-ea"/>
                        <a:ea typeface="+mn-ea"/>
                      </a:endParaRPr>
                    </a:p>
                  </a:txBody>
                  <a:tcPr marL="76200" marR="76200" marT="3810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gridSpan="3"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9"/>
                  </a:ext>
                </a:extLst>
              </a:tr>
              <a:tr h="793953">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参照</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defTabSz="913851" rtl="0" eaLnBrk="1" fontAlgn="t" latinLnBrk="0" hangingPunct="1">
                        <a:lnSpc>
                          <a:spcPct val="100000"/>
                        </a:lnSpc>
                        <a:spcBef>
                          <a:spcPts val="0"/>
                        </a:spcBef>
                        <a:spcAft>
                          <a:spcPts val="0"/>
                        </a:spcAft>
                        <a:buClrTx/>
                        <a:buSzTx/>
                        <a:buFontTx/>
                        <a:buNone/>
                        <a:tabLst/>
                        <a:defRPr/>
                      </a:pPr>
                      <a:endParaRPr lang="en-US" altLang="ja" sz="1400" u="none" strike="noStrike" cap="none" spc="0" dirty="0">
                        <a:solidFill>
                          <a:srgbClr val="000000">
                            <a:alpha val="100000"/>
                          </a:srgbClr>
                        </a:solidFill>
                        <a:latin typeface="+mn-ea"/>
                        <a:ea typeface="+mn-ea"/>
                      </a:endParaRPr>
                    </a:p>
                  </a:txBody>
                  <a:tcPr marL="76200" marR="76200" marT="3810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gridSpan="3"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13"/>
                  </a:ext>
                </a:extLst>
              </a:tr>
            </a:tbl>
          </a:graphicData>
        </a:graphic>
      </p:graphicFrame>
      <p:pic>
        <p:nvPicPr>
          <p:cNvPr id="3" name="図 2">
            <a:extLst>
              <a:ext uri="{FF2B5EF4-FFF2-40B4-BE49-F238E27FC236}">
                <a16:creationId xmlns:a16="http://schemas.microsoft.com/office/drawing/2014/main" id="{BC7CA3E6-1D00-489B-BEC7-04DDA37AD01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16847" y="3232821"/>
            <a:ext cx="3386163" cy="2539623"/>
          </a:xfrm>
          <a:prstGeom prst="rect">
            <a:avLst/>
          </a:prstGeom>
        </p:spPr>
      </p:pic>
    </p:spTree>
    <p:extLst>
      <p:ext uri="{BB962C8B-B14F-4D97-AF65-F5344CB8AC3E}">
        <p14:creationId xmlns:p14="http://schemas.microsoft.com/office/powerpoint/2010/main" val="4216118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リスク低減に向けたご提案事項</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12"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18</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13" name="グループ化 12">
            <a:extLst>
              <a:ext uri="{FF2B5EF4-FFF2-40B4-BE49-F238E27FC236}">
                <a16:creationId xmlns:a16="http://schemas.microsoft.com/office/drawing/2014/main" id="{94E1FEEE-2214-43B3-8732-7AC0580F5C3A}"/>
              </a:ext>
            </a:extLst>
          </p:cNvPr>
          <p:cNvGrpSpPr/>
          <p:nvPr/>
        </p:nvGrpSpPr>
        <p:grpSpPr>
          <a:xfrm>
            <a:off x="360000" y="370800"/>
            <a:ext cx="720000" cy="672000"/>
            <a:chOff x="360000" y="370800"/>
            <a:chExt cx="720000" cy="672000"/>
          </a:xfrm>
        </p:grpSpPr>
        <p:sp>
          <p:nvSpPr>
            <p:cNvPr id="14" name="正方形/長方形 13">
              <a:extLst>
                <a:ext uri="{FF2B5EF4-FFF2-40B4-BE49-F238E27FC236}">
                  <a16:creationId xmlns:a16="http://schemas.microsoft.com/office/drawing/2014/main" id="{7DF71110-5BDE-49F7-BBD3-C3E7EE4105B6}"/>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8A8BED04-F439-4736-85C7-A8ACFA014095}"/>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3</a:t>
              </a:r>
            </a:p>
          </p:txBody>
        </p:sp>
      </p:grpSp>
      <p:sp>
        <p:nvSpPr>
          <p:cNvPr id="9" name="テキスト ボックス 8">
            <a:extLst>
              <a:ext uri="{FF2B5EF4-FFF2-40B4-BE49-F238E27FC236}">
                <a16:creationId xmlns:a16="http://schemas.microsoft.com/office/drawing/2014/main" id="{F1714271-B86D-4E8B-B24C-F0166D62EC83}"/>
              </a:ext>
            </a:extLst>
          </p:cNvPr>
          <p:cNvSpPr txBox="1"/>
          <p:nvPr/>
        </p:nvSpPr>
        <p:spPr>
          <a:xfrm>
            <a:off x="9899650" y="1570953"/>
            <a:ext cx="2144684" cy="399011"/>
          </a:xfrm>
          <a:prstGeom prst="rect">
            <a:avLst/>
          </a:prstGeom>
          <a:noFill/>
        </p:spPr>
        <p:txBody>
          <a:bodyPr wrap="square" rtlCol="0">
            <a:noAutofit/>
          </a:bodyPr>
          <a:lstStyle/>
          <a:p>
            <a:r>
              <a:rPr kumimoji="1" lang="ja-JP" altLang="en-US" sz="1200" dirty="0">
                <a:latin typeface="+mn-ea"/>
                <a:ea typeface="+mn-ea"/>
              </a:rPr>
              <a:t>←カテゴリーの選択肢</a:t>
            </a:r>
            <a:endParaRPr kumimoji="1" lang="en-US" altLang="ja-JP" sz="1200" dirty="0">
              <a:latin typeface="+mn-ea"/>
              <a:ea typeface="+mn-ea"/>
            </a:endParaRPr>
          </a:p>
          <a:p>
            <a:r>
              <a:rPr lang="ja-JP" altLang="en-US" sz="1200" dirty="0">
                <a:latin typeface="+mn-ea"/>
                <a:ea typeface="+mn-ea"/>
              </a:rPr>
              <a:t>電気機器</a:t>
            </a:r>
            <a:endParaRPr lang="en-US" altLang="ja-JP" sz="1200" dirty="0">
              <a:latin typeface="+mn-ea"/>
              <a:ea typeface="+mn-ea"/>
            </a:endParaRPr>
          </a:p>
          <a:p>
            <a:r>
              <a:rPr lang="ja-JP" altLang="en-US" sz="1200" dirty="0">
                <a:latin typeface="+mn-ea"/>
                <a:ea typeface="+mn-ea"/>
              </a:rPr>
              <a:t>危険物</a:t>
            </a:r>
            <a:endParaRPr lang="en-US" altLang="ja-JP" sz="1200" dirty="0">
              <a:latin typeface="+mn-ea"/>
              <a:ea typeface="+mn-ea"/>
            </a:endParaRPr>
          </a:p>
          <a:p>
            <a:r>
              <a:rPr kumimoji="1" lang="ja-JP" altLang="en-US" sz="1200" dirty="0">
                <a:latin typeface="+mn-ea"/>
                <a:ea typeface="+mn-ea"/>
              </a:rPr>
              <a:t>整理・整頓・清掃</a:t>
            </a:r>
            <a:endParaRPr kumimoji="1" lang="en-US" altLang="ja-JP" sz="1200" dirty="0">
              <a:latin typeface="+mn-ea"/>
              <a:ea typeface="+mn-ea"/>
            </a:endParaRPr>
          </a:p>
          <a:p>
            <a:r>
              <a:rPr lang="ja-JP" altLang="en-US" sz="1200" dirty="0">
                <a:latin typeface="+mn-ea"/>
                <a:ea typeface="+mn-ea"/>
              </a:rPr>
              <a:t>消防火設備</a:t>
            </a:r>
            <a:endParaRPr lang="en-US" altLang="ja-JP" sz="1200" dirty="0">
              <a:latin typeface="+mn-ea"/>
              <a:ea typeface="+mn-ea"/>
            </a:endParaRPr>
          </a:p>
          <a:p>
            <a:r>
              <a:rPr kumimoji="1" lang="ja-JP" altLang="en-US" sz="1200" dirty="0">
                <a:latin typeface="+mn-ea"/>
                <a:ea typeface="+mn-ea"/>
              </a:rPr>
              <a:t>防災管理</a:t>
            </a:r>
            <a:endParaRPr kumimoji="1" lang="en-US" altLang="ja-JP" sz="1200" dirty="0">
              <a:latin typeface="+mn-ea"/>
              <a:ea typeface="+mn-ea"/>
            </a:endParaRPr>
          </a:p>
          <a:p>
            <a:r>
              <a:rPr lang="ja-JP" altLang="en-US" sz="1200" dirty="0">
                <a:latin typeface="+mn-ea"/>
                <a:ea typeface="+mn-ea"/>
              </a:rPr>
              <a:t>生産工程</a:t>
            </a:r>
            <a:endParaRPr lang="en-US" altLang="ja-JP" sz="1200" dirty="0">
              <a:latin typeface="+mn-ea"/>
              <a:ea typeface="+mn-ea"/>
            </a:endParaRPr>
          </a:p>
          <a:p>
            <a:r>
              <a:rPr kumimoji="1" lang="ja-JP" altLang="en-US" sz="1200" dirty="0">
                <a:latin typeface="+mn-ea"/>
                <a:ea typeface="+mn-ea"/>
              </a:rPr>
              <a:t>機械・設備</a:t>
            </a:r>
            <a:endParaRPr kumimoji="1" lang="en-US" altLang="ja-JP" sz="1200" dirty="0">
              <a:latin typeface="+mn-ea"/>
              <a:ea typeface="+mn-ea"/>
            </a:endParaRPr>
          </a:p>
          <a:p>
            <a:r>
              <a:rPr lang="ja-JP" altLang="en-US" sz="1200" dirty="0">
                <a:latin typeface="+mn-ea"/>
                <a:ea typeface="+mn-ea"/>
              </a:rPr>
              <a:t>自然災害</a:t>
            </a:r>
            <a:endParaRPr lang="en-US" altLang="ja-JP" sz="1200" dirty="0">
              <a:latin typeface="+mn-ea"/>
              <a:ea typeface="+mn-ea"/>
            </a:endParaRPr>
          </a:p>
          <a:p>
            <a:r>
              <a:rPr kumimoji="1" lang="ja-JP" altLang="en-US" sz="1200" dirty="0">
                <a:latin typeface="+mn-ea"/>
                <a:ea typeface="+mn-ea"/>
              </a:rPr>
              <a:t>その他</a:t>
            </a:r>
          </a:p>
        </p:txBody>
      </p:sp>
      <p:graphicFrame>
        <p:nvGraphicFramePr>
          <p:cNvPr id="10" name="表 9">
            <a:extLst>
              <a:ext uri="{FF2B5EF4-FFF2-40B4-BE49-F238E27FC236}">
                <a16:creationId xmlns:a16="http://schemas.microsoft.com/office/drawing/2014/main" id="{84D7994D-E475-4C46-8F73-827FF7B86691}"/>
              </a:ext>
            </a:extLst>
          </p:cNvPr>
          <p:cNvGraphicFramePr>
            <a:graphicFrameLocks noGrp="1"/>
          </p:cNvGraphicFramePr>
          <p:nvPr>
            <p:extLst>
              <p:ext uri="{D42A27DB-BD31-4B8C-83A1-F6EECF244321}">
                <p14:modId xmlns:p14="http://schemas.microsoft.com/office/powerpoint/2010/main" val="281771131"/>
              </p:ext>
            </p:extLst>
          </p:nvPr>
        </p:nvGraphicFramePr>
        <p:xfrm>
          <a:off x="361950" y="1257302"/>
          <a:ext cx="9172575" cy="5157009"/>
        </p:xfrm>
        <a:graphic>
          <a:graphicData uri="http://schemas.openxmlformats.org/drawingml/2006/table">
            <a:tbl>
              <a:tblPr firstRow="1" bandRow="1"/>
              <a:tblGrid>
                <a:gridCol w="990600">
                  <a:extLst>
                    <a:ext uri="{9D8B030D-6E8A-4147-A177-3AD203B41FA5}">
                      <a16:colId xmlns:a16="http://schemas.microsoft.com/office/drawing/2014/main" val="20000"/>
                    </a:ext>
                  </a:extLst>
                </a:gridCol>
                <a:gridCol w="3057525">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238250">
                  <a:extLst>
                    <a:ext uri="{9D8B030D-6E8A-4147-A177-3AD203B41FA5}">
                      <a16:colId xmlns:a16="http://schemas.microsoft.com/office/drawing/2014/main" val="20004"/>
                    </a:ext>
                  </a:extLst>
                </a:gridCol>
                <a:gridCol w="1238250">
                  <a:extLst>
                    <a:ext uri="{9D8B030D-6E8A-4147-A177-3AD203B41FA5}">
                      <a16:colId xmlns:a16="http://schemas.microsoft.com/office/drawing/2014/main" val="20005"/>
                    </a:ext>
                  </a:extLst>
                </a:gridCol>
              </a:tblGrid>
              <a:tr h="233948">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20</a:t>
                      </a:r>
                      <a:r>
                        <a:rPr lang="en-US" altLang="ja-JP" sz="1400" u="none" strike="noStrike" cap="none" spc="0" dirty="0">
                          <a:solidFill>
                            <a:srgbClr val="000000">
                              <a:alpha val="100000"/>
                            </a:srgbClr>
                          </a:solidFill>
                          <a:latin typeface="游ゴシック"/>
                        </a:rPr>
                        <a:t>26</a:t>
                      </a:r>
                      <a:r>
                        <a:rPr lang="ja" sz="1400" u="none" strike="noStrike" cap="none" spc="0" dirty="0">
                          <a:solidFill>
                            <a:srgbClr val="000000">
                              <a:alpha val="100000"/>
                            </a:srgbClr>
                          </a:solidFill>
                          <a:latin typeface="游ゴシック"/>
                        </a:rPr>
                        <a:t>-0</a:t>
                      </a:r>
                      <a:r>
                        <a:rPr lang="en-US" altLang="ja" sz="1400" u="none" strike="noStrike" cap="none" spc="0" dirty="0">
                          <a:solidFill>
                            <a:srgbClr val="000000">
                              <a:alpha val="100000"/>
                            </a:srgbClr>
                          </a:solidFill>
                          <a:latin typeface="游ゴシック"/>
                        </a:rPr>
                        <a:t>5</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5">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mn-lt"/>
                        </a:rPr>
                        <a:t>排水ポンプの稼働基準の明確化</a:t>
                      </a:r>
                      <a:endParaRPr lang="ja" altLang="ja-JP" sz="1400" u="none" strike="noStrike" cap="none" spc="0" dirty="0">
                        <a:solidFill>
                          <a:srgbClr val="000000">
                            <a:alpha val="100000"/>
                          </a:srgbClr>
                        </a:solidFill>
                        <a:latin typeface="+mn-lt"/>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0"/>
                  </a:ext>
                </a:extLst>
              </a:tr>
              <a:tr h="233948">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ぺリル</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水災</a:t>
                      </a:r>
                      <a:endParaRPr lang="en-US" altLang="ja-JP"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カテゴリー</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3">
                  <a:txBody>
                    <a:bodyPr/>
                    <a:lstStyle/>
                    <a:p>
                      <a:r>
                        <a:rPr lang="ja-JP" altLang="en-US" sz="1400" dirty="0">
                          <a:latin typeface="+mn-ea"/>
                          <a:ea typeface="+mn-ea"/>
                        </a:rPr>
                        <a:t>自然災害</a:t>
                      </a:r>
                      <a:endParaRPr lang="en-US" altLang="ja-JP" sz="1400" dirty="0">
                        <a:latin typeface="+mn-ea"/>
                        <a:ea typeface="+mn-ea"/>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1"/>
                  </a:ext>
                </a:extLst>
              </a:tr>
              <a:tr h="233948">
                <a:tc rowSpan="3">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場所</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rowSpan="3">
                  <a:txBody>
                    <a:bodyPr/>
                    <a:lstStyle/>
                    <a:p>
                      <a:pPr marL="76200" marR="76200" lvl="0" indent="0" algn="l" defTabSz="913851" rtl="0" eaLnBrk="1" fontAlgn="t" latinLnBrk="0" hangingPunct="1">
                        <a:lnSpc>
                          <a:spcPct val="100000"/>
                        </a:lnSpc>
                        <a:spcBef>
                          <a:spcPts val="0"/>
                        </a:spcBef>
                        <a:spcAft>
                          <a:spcPts val="0"/>
                        </a:spcAft>
                        <a:buClrTx/>
                        <a:buSzTx/>
                        <a:buFontTx/>
                        <a:buNone/>
                        <a:tabLst/>
                        <a:defRPr/>
                      </a:pPr>
                      <a:r>
                        <a:rPr lang="ja-JP" altLang="en-US" sz="1400" u="none" strike="noStrike" cap="none" spc="0" dirty="0">
                          <a:solidFill>
                            <a:srgbClr val="000000">
                              <a:alpha val="100000"/>
                            </a:srgbClr>
                          </a:solidFill>
                          <a:latin typeface="+mn-lt"/>
                        </a:rPr>
                        <a:t>第三加工工場南</a:t>
                      </a:r>
                      <a:endParaRPr lang="ja" sz="1400" u="none" strike="noStrike" cap="none" spc="0" dirty="0">
                        <a:solidFill>
                          <a:srgbClr val="000000">
                            <a:alpha val="100000"/>
                          </a:srgbClr>
                        </a:solidFill>
                        <a:latin typeface="游ゴシック"/>
                      </a:endParaRP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ハザード</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中</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リスク評価</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en-US" altLang="ja" sz="1400" u="none" strike="noStrike" cap="none" spc="0" dirty="0">
                          <a:solidFill>
                            <a:srgbClr val="000000">
                              <a:alpha val="100000"/>
                            </a:srgbClr>
                          </a:solidFill>
                          <a:latin typeface="+mn-lt"/>
                        </a:rPr>
                        <a:t>Moderate</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2"/>
                  </a:ext>
                </a:extLst>
              </a:tr>
              <a:tr h="233948">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コントロール</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改善可</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完了予定月</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3"/>
                  </a:ext>
                </a:extLst>
              </a:tr>
              <a:tr h="233948">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対策</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容易</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改善状況</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4"/>
                  </a:ext>
                </a:extLst>
              </a:tr>
              <a:tr h="1623455">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状況</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rtl="0" fontAlgn="t">
                        <a:lnSpc>
                          <a:spcPct val="100000"/>
                        </a:lnSpc>
                        <a:spcBef>
                          <a:spcPts val="0"/>
                        </a:spcBef>
                        <a:spcAft>
                          <a:spcPts val="0"/>
                        </a:spcAft>
                      </a:pPr>
                      <a:r>
                        <a:rPr lang="ja-JP" altLang="en-US" sz="1400" u="none" strike="noStrike" cap="none" spc="0" dirty="0">
                          <a:solidFill>
                            <a:schemeClr val="tx1"/>
                          </a:solidFill>
                          <a:latin typeface="+mn-lt"/>
                        </a:rPr>
                        <a:t>構内の浸水を排水するための排水ポンプが設置されており、側溝が満水となった際に手動で起動する運用となっていますが、手動対応のため起動判断や現地操作に時間を要し、豪雨時には排水開始が遅れるおそれがあります。その結果、構内冠水につながる可能性があります。また、作業者が現地で対応する必要があるため、転倒や避難遅れ等の人的リスクも伴います。</a:t>
                      </a:r>
                      <a:endParaRPr lang="ja" sz="1400" u="none" strike="noStrike" cap="none" spc="0" dirty="0">
                        <a:solidFill>
                          <a:schemeClr val="tx1"/>
                        </a:solidFill>
                        <a:latin typeface="游ゴシック"/>
                      </a:endParaRP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rowSpan="3" gridSpan="3">
                  <a:txBody>
                    <a:bodyPr/>
                    <a:lstStyle/>
                    <a:p>
                      <a:pPr marL="0" marR="0" lvl="0" indent="0" algn="ctr" rtl="0" fontAlgn="ctr">
                        <a:lnSpc>
                          <a:spcPct val="100000"/>
                        </a:lnSpc>
                        <a:spcBef>
                          <a:spcPts val="0"/>
                        </a:spcBef>
                        <a:spcAft>
                          <a:spcPts val="0"/>
                        </a:spcAft>
                      </a:pP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rowSpan="3"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rowSpan="3"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5"/>
                  </a:ext>
                </a:extLst>
              </a:tr>
              <a:tr h="1226453">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対策</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defTabSz="913851" rtl="0" eaLnBrk="1" fontAlgn="t" latinLnBrk="0" hangingPunct="1">
                        <a:lnSpc>
                          <a:spcPct val="100000"/>
                        </a:lnSpc>
                        <a:spcBef>
                          <a:spcPts val="0"/>
                        </a:spcBef>
                        <a:spcAft>
                          <a:spcPts val="0"/>
                        </a:spcAft>
                        <a:buClrTx/>
                        <a:buSzTx/>
                        <a:buFontTx/>
                        <a:buNone/>
                        <a:tabLst/>
                        <a:defRPr/>
                      </a:pPr>
                      <a:r>
                        <a:rPr lang="ja-JP" altLang="en-US" sz="1400" u="none" strike="noStrike" cap="none" spc="0" dirty="0">
                          <a:solidFill>
                            <a:schemeClr val="tx1"/>
                          </a:solidFill>
                          <a:latin typeface="+mn-ea"/>
                          <a:ea typeface="+mn-ea"/>
                        </a:rPr>
                        <a:t>排水ポンプの起動水位を明確に設定するとともに、水位到達時に自動で起動する仕組みの導入を検討することをお勧めします。これにより、起動判断のばらつきや対応遅れを防止し、構内冠水リスクおよび作業者の現地対応に伴う人的リスクの低減が期待されます。</a:t>
                      </a:r>
                      <a:endParaRPr lang="ja" sz="1400" u="none" strike="noStrike" cap="none" spc="0" dirty="0">
                        <a:solidFill>
                          <a:schemeClr val="tx1"/>
                        </a:solidFill>
                        <a:latin typeface="+mn-ea"/>
                        <a:ea typeface="+mn-ea"/>
                      </a:endParaRPr>
                    </a:p>
                  </a:txBody>
                  <a:tcPr marL="76200" marR="76200" marT="3810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gridSpan="3"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9"/>
                  </a:ext>
                </a:extLst>
              </a:tr>
              <a:tr h="836469">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参照</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ctr" defTabSz="913851" rtl="0" eaLnBrk="1" fontAlgn="t" latinLnBrk="0" hangingPunct="1">
                        <a:lnSpc>
                          <a:spcPct val="100000"/>
                        </a:lnSpc>
                        <a:spcBef>
                          <a:spcPts val="0"/>
                        </a:spcBef>
                        <a:spcAft>
                          <a:spcPts val="0"/>
                        </a:spcAft>
                        <a:buClrTx/>
                        <a:buSzTx/>
                        <a:buFontTx/>
                        <a:buNone/>
                        <a:tabLst/>
                        <a:defRPr/>
                      </a:pPr>
                      <a:endParaRPr lang="en-US" altLang="ja" sz="1400" u="none" strike="noStrike" cap="none" spc="0" dirty="0">
                        <a:solidFill>
                          <a:srgbClr val="000000">
                            <a:alpha val="100000"/>
                          </a:srgbClr>
                        </a:solidFill>
                        <a:latin typeface="+mn-ea"/>
                        <a:ea typeface="+mn-ea"/>
                      </a:endParaRPr>
                    </a:p>
                  </a:txBody>
                  <a:tcPr marL="76200" marR="76200" marT="3810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gridSpan="3"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13"/>
                  </a:ext>
                </a:extLst>
              </a:tr>
            </a:tbl>
          </a:graphicData>
        </a:graphic>
      </p:graphicFrame>
      <p:pic>
        <p:nvPicPr>
          <p:cNvPr id="7" name="図 6">
            <a:extLst>
              <a:ext uri="{FF2B5EF4-FFF2-40B4-BE49-F238E27FC236}">
                <a16:creationId xmlns:a16="http://schemas.microsoft.com/office/drawing/2014/main" id="{5C77B01A-B849-4CEC-8D41-47DA8B7214A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58918" y="3213462"/>
            <a:ext cx="3344092" cy="2508069"/>
          </a:xfrm>
          <a:prstGeom prst="rect">
            <a:avLst/>
          </a:prstGeom>
        </p:spPr>
      </p:pic>
    </p:spTree>
    <p:extLst>
      <p:ext uri="{BB962C8B-B14F-4D97-AF65-F5344CB8AC3E}">
        <p14:creationId xmlns:p14="http://schemas.microsoft.com/office/powerpoint/2010/main" val="323108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リスク低減に向けたご提案事項</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12"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19</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13" name="グループ化 12">
            <a:extLst>
              <a:ext uri="{FF2B5EF4-FFF2-40B4-BE49-F238E27FC236}">
                <a16:creationId xmlns:a16="http://schemas.microsoft.com/office/drawing/2014/main" id="{94E1FEEE-2214-43B3-8732-7AC0580F5C3A}"/>
              </a:ext>
            </a:extLst>
          </p:cNvPr>
          <p:cNvGrpSpPr/>
          <p:nvPr/>
        </p:nvGrpSpPr>
        <p:grpSpPr>
          <a:xfrm>
            <a:off x="360000" y="370800"/>
            <a:ext cx="720000" cy="672000"/>
            <a:chOff x="360000" y="370800"/>
            <a:chExt cx="720000" cy="672000"/>
          </a:xfrm>
        </p:grpSpPr>
        <p:sp>
          <p:nvSpPr>
            <p:cNvPr id="14" name="正方形/長方形 13">
              <a:extLst>
                <a:ext uri="{FF2B5EF4-FFF2-40B4-BE49-F238E27FC236}">
                  <a16:creationId xmlns:a16="http://schemas.microsoft.com/office/drawing/2014/main" id="{7DF71110-5BDE-49F7-BBD3-C3E7EE4105B6}"/>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8A8BED04-F439-4736-85C7-A8ACFA014095}"/>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3</a:t>
              </a:r>
            </a:p>
          </p:txBody>
        </p:sp>
      </p:grpSp>
      <p:sp>
        <p:nvSpPr>
          <p:cNvPr id="9" name="テキスト ボックス 8">
            <a:extLst>
              <a:ext uri="{FF2B5EF4-FFF2-40B4-BE49-F238E27FC236}">
                <a16:creationId xmlns:a16="http://schemas.microsoft.com/office/drawing/2014/main" id="{F1714271-B86D-4E8B-B24C-F0166D62EC83}"/>
              </a:ext>
            </a:extLst>
          </p:cNvPr>
          <p:cNvSpPr txBox="1"/>
          <p:nvPr/>
        </p:nvSpPr>
        <p:spPr>
          <a:xfrm>
            <a:off x="9899650" y="1570953"/>
            <a:ext cx="2144684" cy="399011"/>
          </a:xfrm>
          <a:prstGeom prst="rect">
            <a:avLst/>
          </a:prstGeom>
          <a:noFill/>
        </p:spPr>
        <p:txBody>
          <a:bodyPr wrap="square" rtlCol="0">
            <a:noAutofit/>
          </a:bodyPr>
          <a:lstStyle/>
          <a:p>
            <a:r>
              <a:rPr kumimoji="1" lang="ja-JP" altLang="en-US" sz="1200" dirty="0">
                <a:latin typeface="+mn-ea"/>
                <a:ea typeface="+mn-ea"/>
              </a:rPr>
              <a:t>←カテゴリーの選択肢</a:t>
            </a:r>
            <a:endParaRPr kumimoji="1" lang="en-US" altLang="ja-JP" sz="1200" dirty="0">
              <a:latin typeface="+mn-ea"/>
              <a:ea typeface="+mn-ea"/>
            </a:endParaRPr>
          </a:p>
          <a:p>
            <a:r>
              <a:rPr lang="ja-JP" altLang="en-US" sz="1200" dirty="0">
                <a:latin typeface="+mn-ea"/>
                <a:ea typeface="+mn-ea"/>
              </a:rPr>
              <a:t>電気機器</a:t>
            </a:r>
            <a:endParaRPr lang="en-US" altLang="ja-JP" sz="1200" dirty="0">
              <a:latin typeface="+mn-ea"/>
              <a:ea typeface="+mn-ea"/>
            </a:endParaRPr>
          </a:p>
          <a:p>
            <a:r>
              <a:rPr lang="ja-JP" altLang="en-US" sz="1200" dirty="0">
                <a:latin typeface="+mn-ea"/>
                <a:ea typeface="+mn-ea"/>
              </a:rPr>
              <a:t>危険物</a:t>
            </a:r>
            <a:endParaRPr lang="en-US" altLang="ja-JP" sz="1200" dirty="0">
              <a:latin typeface="+mn-ea"/>
              <a:ea typeface="+mn-ea"/>
            </a:endParaRPr>
          </a:p>
          <a:p>
            <a:r>
              <a:rPr kumimoji="1" lang="ja-JP" altLang="en-US" sz="1200" dirty="0">
                <a:latin typeface="+mn-ea"/>
                <a:ea typeface="+mn-ea"/>
              </a:rPr>
              <a:t>整理・整頓・清掃</a:t>
            </a:r>
            <a:endParaRPr kumimoji="1" lang="en-US" altLang="ja-JP" sz="1200" dirty="0">
              <a:latin typeface="+mn-ea"/>
              <a:ea typeface="+mn-ea"/>
            </a:endParaRPr>
          </a:p>
          <a:p>
            <a:r>
              <a:rPr lang="ja-JP" altLang="en-US" sz="1200" dirty="0">
                <a:latin typeface="+mn-ea"/>
                <a:ea typeface="+mn-ea"/>
              </a:rPr>
              <a:t>消防火設備</a:t>
            </a:r>
            <a:endParaRPr lang="en-US" altLang="ja-JP" sz="1200" dirty="0">
              <a:latin typeface="+mn-ea"/>
              <a:ea typeface="+mn-ea"/>
            </a:endParaRPr>
          </a:p>
          <a:p>
            <a:r>
              <a:rPr kumimoji="1" lang="ja-JP" altLang="en-US" sz="1200" dirty="0">
                <a:latin typeface="+mn-ea"/>
                <a:ea typeface="+mn-ea"/>
              </a:rPr>
              <a:t>防災管理</a:t>
            </a:r>
            <a:endParaRPr kumimoji="1" lang="en-US" altLang="ja-JP" sz="1200" dirty="0">
              <a:latin typeface="+mn-ea"/>
              <a:ea typeface="+mn-ea"/>
            </a:endParaRPr>
          </a:p>
          <a:p>
            <a:r>
              <a:rPr lang="ja-JP" altLang="en-US" sz="1200" dirty="0">
                <a:latin typeface="+mn-ea"/>
                <a:ea typeface="+mn-ea"/>
              </a:rPr>
              <a:t>生産工程</a:t>
            </a:r>
            <a:endParaRPr lang="en-US" altLang="ja-JP" sz="1200" dirty="0">
              <a:latin typeface="+mn-ea"/>
              <a:ea typeface="+mn-ea"/>
            </a:endParaRPr>
          </a:p>
          <a:p>
            <a:r>
              <a:rPr kumimoji="1" lang="ja-JP" altLang="en-US" sz="1200" dirty="0">
                <a:latin typeface="+mn-ea"/>
                <a:ea typeface="+mn-ea"/>
              </a:rPr>
              <a:t>機械・設備</a:t>
            </a:r>
            <a:endParaRPr kumimoji="1" lang="en-US" altLang="ja-JP" sz="1200" dirty="0">
              <a:latin typeface="+mn-ea"/>
              <a:ea typeface="+mn-ea"/>
            </a:endParaRPr>
          </a:p>
          <a:p>
            <a:r>
              <a:rPr lang="ja-JP" altLang="en-US" sz="1200" dirty="0">
                <a:latin typeface="+mn-ea"/>
                <a:ea typeface="+mn-ea"/>
              </a:rPr>
              <a:t>自然災害</a:t>
            </a:r>
            <a:endParaRPr lang="en-US" altLang="ja-JP" sz="1200" dirty="0">
              <a:latin typeface="+mn-ea"/>
              <a:ea typeface="+mn-ea"/>
            </a:endParaRPr>
          </a:p>
          <a:p>
            <a:r>
              <a:rPr kumimoji="1" lang="ja-JP" altLang="en-US" sz="1200" dirty="0">
                <a:latin typeface="+mn-ea"/>
                <a:ea typeface="+mn-ea"/>
              </a:rPr>
              <a:t>その他</a:t>
            </a:r>
          </a:p>
        </p:txBody>
      </p:sp>
      <p:graphicFrame>
        <p:nvGraphicFramePr>
          <p:cNvPr id="10" name="表 9">
            <a:extLst>
              <a:ext uri="{FF2B5EF4-FFF2-40B4-BE49-F238E27FC236}">
                <a16:creationId xmlns:a16="http://schemas.microsoft.com/office/drawing/2014/main" id="{84D7994D-E475-4C46-8F73-827FF7B86691}"/>
              </a:ext>
            </a:extLst>
          </p:cNvPr>
          <p:cNvGraphicFramePr>
            <a:graphicFrameLocks noGrp="1"/>
          </p:cNvGraphicFramePr>
          <p:nvPr>
            <p:extLst>
              <p:ext uri="{D42A27DB-BD31-4B8C-83A1-F6EECF244321}">
                <p14:modId xmlns:p14="http://schemas.microsoft.com/office/powerpoint/2010/main" val="3464105914"/>
              </p:ext>
            </p:extLst>
          </p:nvPr>
        </p:nvGraphicFramePr>
        <p:xfrm>
          <a:off x="361950" y="1257300"/>
          <a:ext cx="9172575" cy="4960580"/>
        </p:xfrm>
        <a:graphic>
          <a:graphicData uri="http://schemas.openxmlformats.org/drawingml/2006/table">
            <a:tbl>
              <a:tblPr firstRow="1" bandRow="1"/>
              <a:tblGrid>
                <a:gridCol w="990600">
                  <a:extLst>
                    <a:ext uri="{9D8B030D-6E8A-4147-A177-3AD203B41FA5}">
                      <a16:colId xmlns:a16="http://schemas.microsoft.com/office/drawing/2014/main" val="20000"/>
                    </a:ext>
                  </a:extLst>
                </a:gridCol>
                <a:gridCol w="3057525">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238250">
                  <a:extLst>
                    <a:ext uri="{9D8B030D-6E8A-4147-A177-3AD203B41FA5}">
                      <a16:colId xmlns:a16="http://schemas.microsoft.com/office/drawing/2014/main" val="20004"/>
                    </a:ext>
                  </a:extLst>
                </a:gridCol>
                <a:gridCol w="1238250">
                  <a:extLst>
                    <a:ext uri="{9D8B030D-6E8A-4147-A177-3AD203B41FA5}">
                      <a16:colId xmlns:a16="http://schemas.microsoft.com/office/drawing/2014/main" val="20005"/>
                    </a:ext>
                  </a:extLst>
                </a:gridCol>
              </a:tblGrid>
              <a:tr h="314325">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20</a:t>
                      </a:r>
                      <a:r>
                        <a:rPr lang="en-US" altLang="ja-JP" sz="1400" u="none" strike="noStrike" cap="none" spc="0" dirty="0">
                          <a:solidFill>
                            <a:srgbClr val="000000">
                              <a:alpha val="100000"/>
                            </a:srgbClr>
                          </a:solidFill>
                          <a:latin typeface="游ゴシック"/>
                        </a:rPr>
                        <a:t>26</a:t>
                      </a:r>
                      <a:r>
                        <a:rPr lang="ja" sz="1400" u="none" strike="noStrike" cap="none" spc="0" dirty="0">
                          <a:solidFill>
                            <a:srgbClr val="000000">
                              <a:alpha val="100000"/>
                            </a:srgbClr>
                          </a:solidFill>
                          <a:latin typeface="游ゴシック"/>
                        </a:rPr>
                        <a:t>-0</a:t>
                      </a:r>
                      <a:r>
                        <a:rPr lang="en-US" altLang="ja" sz="1400" u="none" strike="noStrike" cap="none" spc="0" dirty="0">
                          <a:solidFill>
                            <a:srgbClr val="000000">
                              <a:alpha val="100000"/>
                            </a:srgbClr>
                          </a:solidFill>
                          <a:latin typeface="游ゴシック"/>
                        </a:rPr>
                        <a:t>6</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5">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mn-lt"/>
                        </a:rPr>
                        <a:t>排水溝の定期的な点検と清掃</a:t>
                      </a:r>
                      <a:endParaRPr lang="ja" altLang="ja-JP" sz="1400" u="none" strike="noStrike" cap="none" spc="0" dirty="0">
                        <a:solidFill>
                          <a:srgbClr val="000000">
                            <a:alpha val="100000"/>
                          </a:srgbClr>
                        </a:solidFill>
                        <a:latin typeface="+mn-lt"/>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0"/>
                  </a:ext>
                </a:extLst>
              </a:tr>
              <a:tr h="314325">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ぺリル</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水災</a:t>
                      </a:r>
                      <a:endParaRPr lang="en-US" altLang="ja-JP"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カテゴリー</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3">
                  <a:txBody>
                    <a:bodyPr/>
                    <a:lstStyle/>
                    <a:p>
                      <a:r>
                        <a:rPr lang="ja-JP" altLang="en-US" sz="1400" dirty="0">
                          <a:latin typeface="+mn-ea"/>
                          <a:ea typeface="+mn-ea"/>
                        </a:rPr>
                        <a:t>自然災害</a:t>
                      </a:r>
                      <a:endParaRPr lang="en-US" altLang="ja-JP" sz="1400" dirty="0">
                        <a:latin typeface="+mn-ea"/>
                        <a:ea typeface="+mn-ea"/>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1"/>
                  </a:ext>
                </a:extLst>
              </a:tr>
              <a:tr h="314325">
                <a:tc rowSpan="3">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場所</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rowSpan="3">
                  <a:txBody>
                    <a:bodyPr/>
                    <a:lstStyle/>
                    <a:p>
                      <a:pPr marL="76200" marR="76200" lvl="0" indent="0" algn="l" rtl="0" fontAlgn="t">
                        <a:lnSpc>
                          <a:spcPct val="100000"/>
                        </a:lnSpc>
                        <a:spcBef>
                          <a:spcPts val="0"/>
                        </a:spcBef>
                        <a:spcAft>
                          <a:spcPts val="0"/>
                        </a:spcAft>
                      </a:pPr>
                      <a:r>
                        <a:rPr lang="ja-JP" altLang="en-US" sz="1400" u="none" strike="noStrike" cap="none" spc="0" dirty="0">
                          <a:solidFill>
                            <a:srgbClr val="000000">
                              <a:alpha val="100000"/>
                            </a:srgbClr>
                          </a:solidFill>
                          <a:latin typeface="游ゴシック"/>
                        </a:rPr>
                        <a:t>構内全般</a:t>
                      </a:r>
                      <a:endParaRPr lang="ja" sz="1400" u="none" strike="noStrike" cap="none" spc="0" dirty="0">
                        <a:solidFill>
                          <a:srgbClr val="000000">
                            <a:alpha val="100000"/>
                          </a:srgbClr>
                        </a:solidFill>
                        <a:latin typeface="游ゴシック"/>
                      </a:endParaRP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ハザード</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游ゴシック"/>
                        </a:rPr>
                        <a:t>中</a:t>
                      </a:r>
                      <a:endParaRPr lang="ja" sz="1400" u="none" strike="noStrike" cap="none" spc="0" dirty="0">
                        <a:solidFill>
                          <a:srgbClr val="000000">
                            <a:alpha val="100000"/>
                          </a:srgbClr>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リスク評価</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en-US" altLang="ja-JP" sz="1400" u="none" strike="noStrike" cap="none" spc="0" dirty="0">
                          <a:solidFill>
                            <a:schemeClr val="tx1"/>
                          </a:solidFill>
                          <a:latin typeface="游ゴシック"/>
                        </a:rPr>
                        <a:t>Moderate</a:t>
                      </a:r>
                      <a:endParaRPr lang="ja" sz="1400" u="none" strike="noStrike" cap="none" spc="0" dirty="0">
                        <a:solidFill>
                          <a:schemeClr val="tx1"/>
                        </a:solidFill>
                        <a:latin typeface="游ゴシック"/>
                      </a:endParaRP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2"/>
                  </a:ext>
                </a:extLst>
              </a:tr>
              <a:tr h="314325">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コントロール</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dirty="0">
                          <a:solidFill>
                            <a:srgbClr val="000000">
                              <a:alpha val="100000"/>
                            </a:srgbClr>
                          </a:solidFill>
                          <a:latin typeface="游ゴシック"/>
                        </a:rPr>
                        <a:t>改善可</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完了予定月</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3"/>
                  </a:ext>
                </a:extLst>
              </a:tr>
              <a:tr h="314325">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vMerge="1">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対策</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JP" altLang="en-US" sz="1400" u="none" strike="noStrike" cap="none" spc="0" dirty="0">
                          <a:solidFill>
                            <a:srgbClr val="000000">
                              <a:alpha val="100000"/>
                            </a:srgbClr>
                          </a:solidFill>
                          <a:latin typeface="+mn-lt"/>
                        </a:rPr>
                        <a:t>難</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改善状況</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a:txBody>
                    <a:bodyPr/>
                    <a:lstStyle/>
                    <a:p>
                      <a:pPr marL="76200" marR="76200" lvl="0" indent="0" algn="l" rtl="0" fontAlgn="ctr">
                        <a:lnSpc>
                          <a:spcPct val="100000"/>
                        </a:lnSpc>
                        <a:spcBef>
                          <a:spcPts val="0"/>
                        </a:spcBef>
                        <a:spcAft>
                          <a:spcPts val="0"/>
                        </a:spcAft>
                      </a:pPr>
                      <a:r>
                        <a:rPr lang="ja" sz="1400" u="none" strike="noStrike" cap="none" spc="0">
                          <a:solidFill>
                            <a:srgbClr val="000000">
                              <a:alpha val="100000"/>
                            </a:srgbClr>
                          </a:solidFill>
                          <a:latin typeface="游ゴシック"/>
                        </a:rPr>
                        <a:t> </a:t>
                      </a:r>
                    </a:p>
                  </a:txBody>
                  <a:tcPr marL="76200" marR="7620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extLst>
                  <a:ext uri="{0D108BD9-81ED-4DB2-BD59-A6C34878D82A}">
                    <a16:rowId xmlns:a16="http://schemas.microsoft.com/office/drawing/2014/main" val="10004"/>
                  </a:ext>
                </a:extLst>
              </a:tr>
              <a:tr h="1485900">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状況</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rtl="0" fontAlgn="t">
                        <a:lnSpc>
                          <a:spcPct val="100000"/>
                        </a:lnSpc>
                        <a:spcBef>
                          <a:spcPts val="0"/>
                        </a:spcBef>
                        <a:spcAft>
                          <a:spcPts val="0"/>
                        </a:spcAft>
                      </a:pPr>
                      <a:r>
                        <a:rPr lang="ja-JP" altLang="en-US" sz="1400" u="none" strike="noStrike" cap="none" spc="0" dirty="0">
                          <a:solidFill>
                            <a:schemeClr val="tx1"/>
                          </a:solidFill>
                          <a:latin typeface="+mn-lt"/>
                        </a:rPr>
                        <a:t>構内の排水溝に、雑草の繁茂や土砂の堆積が見られました。大雨時に雨水を十分に排水できず、構内の冠水につながるおそれがあります。</a:t>
                      </a:r>
                      <a:endParaRPr lang="ja" sz="1400" u="none" strike="noStrike" cap="none" spc="0" dirty="0">
                        <a:solidFill>
                          <a:schemeClr val="tx1"/>
                        </a:solidFill>
                        <a:latin typeface="游ゴシック"/>
                      </a:endParaRP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rowSpan="3" gridSpan="3">
                  <a:txBody>
                    <a:bodyPr/>
                    <a:lstStyle/>
                    <a:p>
                      <a:pPr marL="0" marR="0" lvl="0" indent="0" algn="ctr" rtl="0" fontAlgn="ctr">
                        <a:lnSpc>
                          <a:spcPct val="100000"/>
                        </a:lnSpc>
                        <a:spcBef>
                          <a:spcPts val="0"/>
                        </a:spcBef>
                        <a:spcAft>
                          <a:spcPts val="0"/>
                        </a:spcAft>
                      </a:pPr>
                      <a:endParaRPr lang="ja" sz="1400" u="none" strike="noStrike" cap="none" spc="0" dirty="0">
                        <a:solidFill>
                          <a:srgbClr val="000000">
                            <a:alpha val="100000"/>
                          </a:srgbClr>
                        </a:solidFill>
                        <a:latin typeface="游ゴシック"/>
                      </a:endParaRPr>
                    </a:p>
                  </a:txBody>
                  <a:tcPr marL="0" marR="0" marT="38100" marB="0" anchor="ctr">
                    <a:lnL w="12700" cap="flat" cmpd="sng" algn="ctr">
                      <a:solidFill>
                        <a:srgbClr val="BFBFBF">
                          <a:alpha val="100000"/>
                        </a:srgbClr>
                      </a:solidFill>
                      <a:prstDash val="solid"/>
                      <a:round/>
                      <a:headEnd type="none" w="med" len="med"/>
                      <a:tailEnd type="none" w="med" len="med"/>
                    </a:lnL>
                    <a:lnR w="12700" cap="flat" cmpd="sng" algn="ctr">
                      <a:solidFill>
                        <a:srgbClr val="BFBFBF">
                          <a:alpha val="100000"/>
                        </a:srgbClr>
                      </a:solidFill>
                      <a:prstDash val="solid"/>
                      <a:round/>
                      <a:headEnd type="none" w="med" len="med"/>
                      <a:tailEnd type="none" w="med" len="med"/>
                    </a:lnR>
                    <a:lnT w="12700" cap="flat" cmpd="sng" algn="ctr">
                      <a:solidFill>
                        <a:srgbClr val="BFBFBF">
                          <a:alpha val="100000"/>
                        </a:srgbClr>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rowSpan="3"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rowSpan="3"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5"/>
                  </a:ext>
                </a:extLst>
              </a:tr>
              <a:tr h="1485900">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対策</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rtl="0" fontAlgn="t">
                        <a:lnSpc>
                          <a:spcPct val="100000"/>
                        </a:lnSpc>
                        <a:spcBef>
                          <a:spcPts val="0"/>
                        </a:spcBef>
                        <a:spcAft>
                          <a:spcPts val="0"/>
                        </a:spcAft>
                      </a:pPr>
                      <a:r>
                        <a:rPr lang="ja-JP" altLang="en-US" sz="1400" u="none" strike="noStrike" cap="none" spc="0" dirty="0">
                          <a:solidFill>
                            <a:schemeClr val="tx1"/>
                          </a:solidFill>
                          <a:latin typeface="+mn-lt"/>
                        </a:rPr>
                        <a:t>事業所全体で定期的に排水溝の点検・清掃を実施することをお勧めします。特に、台風接近前後には重点的に点検を行い、排水機能を確保することが望まれます。</a:t>
                      </a:r>
                      <a:endParaRPr lang="ja" sz="1400" u="none" strike="noStrike" cap="none" spc="0" dirty="0">
                        <a:solidFill>
                          <a:schemeClr val="tx1"/>
                        </a:solidFill>
                        <a:latin typeface="游ゴシック"/>
                      </a:endParaRPr>
                    </a:p>
                  </a:txBody>
                  <a:tcPr marL="76200" marR="76200" marT="3810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gridSpan="3"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09"/>
                  </a:ext>
                </a:extLst>
              </a:tr>
              <a:tr h="417155">
                <a:tc>
                  <a:txBody>
                    <a:bodyPr/>
                    <a:lstStyle/>
                    <a:p>
                      <a:pPr marL="76200" marR="76200" lvl="0" indent="0" algn="l" rtl="0" fontAlgn="t">
                        <a:lnSpc>
                          <a:spcPct val="100000"/>
                        </a:lnSpc>
                        <a:spcBef>
                          <a:spcPts val="0"/>
                        </a:spcBef>
                        <a:spcAft>
                          <a:spcPts val="0"/>
                        </a:spcAft>
                      </a:pPr>
                      <a:r>
                        <a:rPr lang="ja" sz="1400" u="none" strike="noStrike" cap="none" spc="0" dirty="0">
                          <a:solidFill>
                            <a:srgbClr val="000000">
                              <a:alpha val="100000"/>
                            </a:srgbClr>
                          </a:solidFill>
                          <a:latin typeface="游ゴシック"/>
                        </a:rPr>
                        <a:t>参照</a:t>
                      </a:r>
                    </a:p>
                  </a:txBody>
                  <a:tcPr marL="76200" marR="76200" marT="38100" marB="0">
                    <a:lnL w="12700" cap="flat" cmpd="sng" algn="ctr">
                      <a:solidFill>
                        <a:srgbClr val="BFBFBF">
                          <a:alpha val="100000"/>
                        </a:srgbClr>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CCE0DE">
                        <a:alpha val="100000"/>
                      </a:srgbClr>
                    </a:solidFill>
                  </a:tcPr>
                </a:tc>
                <a:tc gridSpan="2">
                  <a:txBody>
                    <a:bodyPr/>
                    <a:lstStyle/>
                    <a:p>
                      <a:pPr marL="76200" marR="76200" lvl="0" indent="0" algn="l" rtl="0" fontAlgn="t">
                        <a:lnSpc>
                          <a:spcPct val="100000"/>
                        </a:lnSpc>
                        <a:spcBef>
                          <a:spcPts val="0"/>
                        </a:spcBef>
                        <a:spcAft>
                          <a:spcPts val="0"/>
                        </a:spcAft>
                      </a:pPr>
                      <a:endParaRPr lang="ja" sz="1400" u="none" strike="noStrike" cap="none" spc="0" dirty="0">
                        <a:solidFill>
                          <a:schemeClr val="tx1"/>
                        </a:solidFill>
                        <a:latin typeface="游ゴシック"/>
                      </a:endParaRPr>
                    </a:p>
                  </a:txBody>
                  <a:tcPr marL="76200" marR="76200" marT="3810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FFFFFF">
                        <a:alpha val="100000"/>
                      </a:srgbClr>
                    </a:solidFill>
                  </a:tcPr>
                </a:tc>
                <a:tc h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gridSpan="3"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hMerge="1" vMerge="1">
                  <a:txBody>
                    <a:bodyPr/>
                    <a:lstStyle/>
                    <a:p>
                      <a:pPr marL="0" marR="0" lvl="0" indent="0" algn="l" rtl="0" fontAlgn="base">
                        <a:lnSpc>
                          <a:spcPct val="100000"/>
                        </a:lnSpc>
                        <a:spcBef>
                          <a:spcPts val="0"/>
                        </a:spcBef>
                        <a:spcAft>
                          <a:spcPts val="0"/>
                        </a:spcAft>
                      </a:pPr>
                      <a:endParaRPr/>
                    </a:p>
                  </a:txBody>
                  <a:tcP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extLst>
                  <a:ext uri="{0D108BD9-81ED-4DB2-BD59-A6C34878D82A}">
                    <a16:rowId xmlns:a16="http://schemas.microsoft.com/office/drawing/2014/main" val="10013"/>
                  </a:ext>
                </a:extLst>
              </a:tr>
            </a:tbl>
          </a:graphicData>
        </a:graphic>
      </p:graphicFrame>
      <p:pic>
        <p:nvPicPr>
          <p:cNvPr id="7" name="図 6">
            <a:extLst>
              <a:ext uri="{FF2B5EF4-FFF2-40B4-BE49-F238E27FC236}">
                <a16:creationId xmlns:a16="http://schemas.microsoft.com/office/drawing/2014/main" id="{A39C2C4D-3518-484D-AA10-66C1BF47234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982650" y="3337560"/>
            <a:ext cx="3189527" cy="2392145"/>
          </a:xfrm>
          <a:prstGeom prst="rect">
            <a:avLst/>
          </a:prstGeom>
        </p:spPr>
      </p:pic>
    </p:spTree>
    <p:extLst>
      <p:ext uri="{BB962C8B-B14F-4D97-AF65-F5344CB8AC3E}">
        <p14:creationId xmlns:p14="http://schemas.microsoft.com/office/powerpoint/2010/main" val="3948904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kumimoji="1" lang="ja-JP" altLang="en-US">
                <a:effectLst>
                  <a:glow rad="190500">
                    <a:schemeClr val="bg1">
                      <a:alpha val="60000"/>
                    </a:schemeClr>
                  </a:glow>
                </a:effectLst>
              </a:rPr>
              <a:t>好取組事例</a:t>
            </a:r>
            <a:endParaRPr kumimoji="1" lang="ja-JP" altLang="en-US" dirty="0">
              <a:effectLst>
                <a:glow rad="190500">
                  <a:schemeClr val="bg1">
                    <a:alpha val="60000"/>
                  </a:schemeClr>
                </a:glow>
              </a:effectLst>
            </a:endParaRPr>
          </a:p>
        </p:txBody>
      </p:sp>
      <p:sp>
        <p:nvSpPr>
          <p:cNvPr id="5" name="テキスト プレースホルダー 4"/>
          <p:cNvSpPr>
            <a:spLocks noGrp="1"/>
          </p:cNvSpPr>
          <p:nvPr>
            <p:ph type="body" sz="quarter" idx="11"/>
          </p:nvPr>
        </p:nvSpPr>
        <p:spPr/>
        <p:txBody>
          <a:bodyPr>
            <a:normAutofit/>
          </a:bodyPr>
          <a:lstStyle/>
          <a:p>
            <a:r>
              <a:rPr kumimoji="1" lang="en-US" altLang="ja-JP" dirty="0"/>
              <a:t>4</a:t>
            </a:r>
            <a:endParaRPr kumimoji="1" lang="ja-JP" altLang="en-US" dirty="0"/>
          </a:p>
        </p:txBody>
      </p:sp>
      <p:sp>
        <p:nvSpPr>
          <p:cNvPr id="7"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20</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400225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p:cNvGraphicFramePr>
            <a:graphicFrameLocks noGrp="1"/>
          </p:cNvGraphicFramePr>
          <p:nvPr>
            <p:extLst>
              <p:ext uri="{D42A27DB-BD31-4B8C-83A1-F6EECF244321}">
                <p14:modId xmlns:p14="http://schemas.microsoft.com/office/powerpoint/2010/main" val="769189667"/>
              </p:ext>
            </p:extLst>
          </p:nvPr>
        </p:nvGraphicFramePr>
        <p:xfrm>
          <a:off x="385894" y="1266739"/>
          <a:ext cx="9127221" cy="5003432"/>
        </p:xfrm>
        <a:graphic>
          <a:graphicData uri="http://schemas.openxmlformats.org/drawingml/2006/table">
            <a:tbl>
              <a:tblPr/>
              <a:tblGrid>
                <a:gridCol w="1524445">
                  <a:extLst>
                    <a:ext uri="{9D8B030D-6E8A-4147-A177-3AD203B41FA5}">
                      <a16:colId xmlns:a16="http://schemas.microsoft.com/office/drawing/2014/main" val="20000"/>
                    </a:ext>
                  </a:extLst>
                </a:gridCol>
                <a:gridCol w="3081791">
                  <a:extLst>
                    <a:ext uri="{9D8B030D-6E8A-4147-A177-3AD203B41FA5}">
                      <a16:colId xmlns:a16="http://schemas.microsoft.com/office/drawing/2014/main" val="20001"/>
                    </a:ext>
                  </a:extLst>
                </a:gridCol>
                <a:gridCol w="2034477">
                  <a:extLst>
                    <a:ext uri="{9D8B030D-6E8A-4147-A177-3AD203B41FA5}">
                      <a16:colId xmlns:a16="http://schemas.microsoft.com/office/drawing/2014/main" val="20002"/>
                    </a:ext>
                  </a:extLst>
                </a:gridCol>
                <a:gridCol w="2486508">
                  <a:extLst>
                    <a:ext uri="{9D8B030D-6E8A-4147-A177-3AD203B41FA5}">
                      <a16:colId xmlns:a16="http://schemas.microsoft.com/office/drawing/2014/main" val="20003"/>
                    </a:ext>
                  </a:extLst>
                </a:gridCol>
              </a:tblGrid>
              <a:tr h="337511">
                <a:tc>
                  <a:txBody>
                    <a:bodyPr/>
                    <a:lstStyle>
                      <a:lvl1pPr eaLnBrk="0" hangingPunct="0">
                        <a:spcBef>
                          <a:spcPct val="20000"/>
                        </a:spcBef>
                        <a:buClr>
                          <a:srgbClr val="9EA0A1"/>
                        </a:buClr>
                        <a:buSzPct val="110000"/>
                        <a:buFont typeface="Wingdings" pitchFamily="2" charset="2"/>
                        <a:defRPr kumimoji="1" sz="1400">
                          <a:solidFill>
                            <a:schemeClr val="tx1"/>
                          </a:solidFill>
                          <a:latin typeface="HG丸ｺﾞｼｯｸM-PRO" pitchFamily="50" charset="-128"/>
                          <a:ea typeface="HG丸ｺﾞｼｯｸM-PRO" pitchFamily="50" charset="-128"/>
                        </a:defRPr>
                      </a:lvl1pPr>
                      <a:lvl2pPr marL="742950" indent="-285750" eaLnBrk="0" hangingPunct="0">
                        <a:spcBef>
                          <a:spcPct val="20000"/>
                        </a:spcBef>
                        <a:buClr>
                          <a:srgbClr val="9EA0A1"/>
                        </a:buClr>
                        <a:buSzPct val="120000"/>
                        <a:buFont typeface="Arial" charset="0"/>
                        <a:defRPr kumimoji="1" sz="1400">
                          <a:solidFill>
                            <a:schemeClr val="tx1"/>
                          </a:solidFill>
                          <a:latin typeface="HG丸ｺﾞｼｯｸM-PRO" pitchFamily="50" charset="-128"/>
                          <a:ea typeface="HG丸ｺﾞｼｯｸM-PRO" pitchFamily="50" charset="-128"/>
                        </a:defRPr>
                      </a:lvl2pPr>
                      <a:lvl3pPr marL="11430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3pPr>
                      <a:lvl4pPr marL="16002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4pPr>
                      <a:lvl5pPr marL="20574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5pPr>
                      <a:lvl6pPr marL="25146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6pPr>
                      <a:lvl7pPr marL="29718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7pPr>
                      <a:lvl8pPr marL="34290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8pPr>
                      <a:lvl9pPr marL="38862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dirty="0">
                          <a:ln>
                            <a:noFill/>
                          </a:ln>
                          <a:solidFill>
                            <a:srgbClr val="003300"/>
                          </a:solidFill>
                          <a:effectLst/>
                          <a:latin typeface="游ゴシック" panose="020B0400000000000000" pitchFamily="50" charset="-128"/>
                          <a:ea typeface="游ゴシック" panose="020B0400000000000000" pitchFamily="50" charset="-128"/>
                          <a:cs typeface="メイリオ" panose="020B0604030504040204" pitchFamily="50" charset="-128"/>
                        </a:rPr>
                        <a:t>No</a:t>
                      </a:r>
                      <a:endParaRPr kumimoji="1"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endParaRPr>
                    </a:p>
                  </a:txBody>
                  <a:tcPr marL="59144" marR="59144"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CCE0DE"/>
                    </a:solidFill>
                  </a:tcPr>
                </a:tc>
                <a:tc gridSpan="2">
                  <a:txBody>
                    <a:bodyPr/>
                    <a:lstStyle>
                      <a:lvl1pPr indent="133350" eaLnBrk="0" hangingPunct="0">
                        <a:spcBef>
                          <a:spcPct val="20000"/>
                        </a:spcBef>
                        <a:buClr>
                          <a:srgbClr val="9EA0A1"/>
                        </a:buClr>
                        <a:buSzPct val="110000"/>
                        <a:buFont typeface="Wingdings" pitchFamily="2" charset="2"/>
                        <a:tabLst>
                          <a:tab pos="2698750" algn="ctr"/>
                          <a:tab pos="5399088" algn="r"/>
                        </a:tabLst>
                        <a:defRPr kumimoji="1" sz="1400">
                          <a:solidFill>
                            <a:schemeClr val="tx1"/>
                          </a:solidFill>
                          <a:latin typeface="HG丸ｺﾞｼｯｸM-PRO" pitchFamily="50" charset="-128"/>
                          <a:ea typeface="HG丸ｺﾞｼｯｸM-PRO" pitchFamily="50" charset="-128"/>
                        </a:defRPr>
                      </a:lvl1pPr>
                      <a:lvl2pPr marL="742950" indent="-285750" eaLnBrk="0" hangingPunct="0">
                        <a:spcBef>
                          <a:spcPct val="20000"/>
                        </a:spcBef>
                        <a:buClr>
                          <a:srgbClr val="9EA0A1"/>
                        </a:buClr>
                        <a:buSzPct val="120000"/>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2pPr>
                      <a:lvl3pPr marL="1143000" indent="-228600" eaLnBrk="0" hangingPunct="0">
                        <a:spcBef>
                          <a:spcPct val="20000"/>
                        </a:spcBef>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3pPr>
                      <a:lvl4pPr marL="1600200" indent="-228600" eaLnBrk="0" hangingPunct="0">
                        <a:spcBef>
                          <a:spcPct val="20000"/>
                        </a:spcBef>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4pPr>
                      <a:lvl5pPr marL="2057400" indent="-228600" eaLnBrk="0" hangingPunct="0">
                        <a:spcBef>
                          <a:spcPct val="20000"/>
                        </a:spcBef>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5pPr>
                      <a:lvl6pPr marL="25146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6pPr>
                      <a:lvl7pPr marL="29718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7pPr>
                      <a:lvl8pPr marL="34290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8pPr>
                      <a:lvl9pPr marL="38862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9pPr>
                    </a:lstStyle>
                    <a:p>
                      <a:pPr marL="0" marR="0" lvl="0" indent="133350" algn="ctr" defTabSz="914400" rtl="0" eaLnBrk="1" fontAlgn="base" latinLnBrk="0" hangingPunct="1">
                        <a:lnSpc>
                          <a:spcPct val="100000"/>
                        </a:lnSpc>
                        <a:spcBef>
                          <a:spcPct val="0"/>
                        </a:spcBef>
                        <a:spcAft>
                          <a:spcPct val="0"/>
                        </a:spcAft>
                        <a:buClrTx/>
                        <a:buSzTx/>
                        <a:buFontTx/>
                        <a:buNone/>
                        <a:tabLst>
                          <a:tab pos="2698750" algn="ctr"/>
                          <a:tab pos="5399088" algn="r"/>
                        </a:tabLst>
                      </a:pPr>
                      <a:r>
                        <a:rPr kumimoji="1" lang="zh-CN" altLang="ja-JP" sz="1400" b="0" i="0" u="none" strike="noStrike" cap="none" normalizeH="0" baseline="0" dirty="0">
                          <a:ln>
                            <a:noFill/>
                          </a:ln>
                          <a:solidFill>
                            <a:srgbClr val="003300"/>
                          </a:solidFill>
                          <a:effectLst/>
                          <a:latin typeface="游ゴシック" panose="020B0400000000000000" pitchFamily="50" charset="-128"/>
                          <a:ea typeface="游ゴシック" panose="020B0400000000000000" pitchFamily="50" charset="-128"/>
                          <a:cs typeface="メイリオ" panose="020B0604030504040204" pitchFamily="50" charset="-128"/>
                        </a:rPr>
                        <a:t>内容</a:t>
                      </a:r>
                      <a:endParaRPr kumimoji="1"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endParaRPr>
                    </a:p>
                  </a:txBody>
                  <a:tcPr marL="59144" marR="59144"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CCE0DE"/>
                    </a:solidFill>
                  </a:tcPr>
                </a:tc>
                <a:tc hMerge="1">
                  <a:txBody>
                    <a:bodyPr/>
                    <a:lstStyle/>
                    <a:p>
                      <a:endParaRPr kumimoji="1" lang="ja-JP" altLang="en-US"/>
                    </a:p>
                  </a:txBody>
                  <a:tcPr/>
                </a:tc>
                <a:tc>
                  <a:txBody>
                    <a:bodyPr/>
                    <a:lstStyle>
                      <a:lvl1pPr marL="400050" indent="-400050" eaLnBrk="0" hangingPunct="0">
                        <a:spcBef>
                          <a:spcPct val="20000"/>
                        </a:spcBef>
                        <a:buClr>
                          <a:srgbClr val="9EA0A1"/>
                        </a:buClr>
                        <a:buSzPct val="110000"/>
                        <a:buFont typeface="Wingdings" pitchFamily="2" charset="2"/>
                        <a:tabLst>
                          <a:tab pos="2698750" algn="ctr"/>
                          <a:tab pos="5399088" algn="r"/>
                        </a:tabLst>
                        <a:defRPr kumimoji="1" sz="1400">
                          <a:solidFill>
                            <a:schemeClr val="tx1"/>
                          </a:solidFill>
                          <a:latin typeface="HG丸ｺﾞｼｯｸM-PRO" pitchFamily="50" charset="-128"/>
                          <a:ea typeface="HG丸ｺﾞｼｯｸM-PRO" pitchFamily="50" charset="-128"/>
                        </a:defRPr>
                      </a:lvl1pPr>
                      <a:lvl2pPr marL="742950" indent="-285750" eaLnBrk="0" hangingPunct="0">
                        <a:spcBef>
                          <a:spcPct val="20000"/>
                        </a:spcBef>
                        <a:buClr>
                          <a:srgbClr val="9EA0A1"/>
                        </a:buClr>
                        <a:buSzPct val="120000"/>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2pPr>
                      <a:lvl3pPr marL="1143000" indent="-228600" eaLnBrk="0" hangingPunct="0">
                        <a:spcBef>
                          <a:spcPct val="20000"/>
                        </a:spcBef>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3pPr>
                      <a:lvl4pPr marL="1600200" indent="-228600" eaLnBrk="0" hangingPunct="0">
                        <a:spcBef>
                          <a:spcPct val="20000"/>
                        </a:spcBef>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4pPr>
                      <a:lvl5pPr marL="2057400" indent="-228600" eaLnBrk="0" hangingPunct="0">
                        <a:spcBef>
                          <a:spcPct val="20000"/>
                        </a:spcBef>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5pPr>
                      <a:lvl6pPr marL="25146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6pPr>
                      <a:lvl7pPr marL="29718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7pPr>
                      <a:lvl8pPr marL="34290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8pPr>
                      <a:lvl9pPr marL="38862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9pPr>
                    </a:lstStyle>
                    <a:p>
                      <a:pPr marL="400050" marR="0" lvl="0" indent="-400050" algn="ctr" defTabSz="914400" rtl="0" eaLnBrk="1" fontAlgn="base" latinLnBrk="0" hangingPunct="1">
                        <a:lnSpc>
                          <a:spcPct val="100000"/>
                        </a:lnSpc>
                        <a:spcBef>
                          <a:spcPct val="0"/>
                        </a:spcBef>
                        <a:spcAft>
                          <a:spcPct val="0"/>
                        </a:spcAft>
                        <a:buClrTx/>
                        <a:buSzTx/>
                        <a:buFontTx/>
                        <a:buNone/>
                        <a:tabLst>
                          <a:tab pos="2698750" algn="ctr"/>
                          <a:tab pos="5399088" algn="r"/>
                        </a:tabLst>
                      </a:pPr>
                      <a:r>
                        <a:rPr kumimoji="1" lang="zh-TW" altLang="ja-JP" sz="1400" b="0" i="0" u="none" strike="noStrike" cap="none" normalizeH="0" baseline="0" dirty="0">
                          <a:ln>
                            <a:noFill/>
                          </a:ln>
                          <a:solidFill>
                            <a:srgbClr val="003300"/>
                          </a:solidFill>
                          <a:effectLst/>
                          <a:latin typeface="游ゴシック" panose="020B0400000000000000" pitchFamily="50" charset="-128"/>
                          <a:ea typeface="游ゴシック" panose="020B0400000000000000" pitchFamily="50" charset="-128"/>
                          <a:cs typeface="メイリオ" panose="020B0604030504040204" pitchFamily="50" charset="-128"/>
                        </a:rPr>
                        <a:t>場所</a:t>
                      </a:r>
                      <a:endParaRPr kumimoji="1"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endParaRPr>
                    </a:p>
                  </a:txBody>
                  <a:tcPr marL="59144" marR="59144"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CCE0DE"/>
                    </a:solidFill>
                  </a:tcPr>
                </a:tc>
                <a:extLst>
                  <a:ext uri="{0D108BD9-81ED-4DB2-BD59-A6C34878D82A}">
                    <a16:rowId xmlns:a16="http://schemas.microsoft.com/office/drawing/2014/main" val="10000"/>
                  </a:ext>
                </a:extLst>
              </a:tr>
              <a:tr h="504837">
                <a:tc>
                  <a:txBody>
                    <a:bodyPr/>
                    <a:lstStyle>
                      <a:lvl1pPr eaLnBrk="0" hangingPunct="0">
                        <a:spcBef>
                          <a:spcPct val="20000"/>
                        </a:spcBef>
                        <a:buClr>
                          <a:srgbClr val="9EA0A1"/>
                        </a:buClr>
                        <a:buSzPct val="110000"/>
                        <a:buFont typeface="Wingdings" pitchFamily="2" charset="2"/>
                        <a:defRPr kumimoji="1" sz="1400">
                          <a:solidFill>
                            <a:schemeClr val="tx1"/>
                          </a:solidFill>
                          <a:latin typeface="HG丸ｺﾞｼｯｸM-PRO" pitchFamily="50" charset="-128"/>
                          <a:ea typeface="HG丸ｺﾞｼｯｸM-PRO" pitchFamily="50" charset="-128"/>
                        </a:defRPr>
                      </a:lvl1pPr>
                      <a:lvl2pPr marL="742950" indent="-285750" eaLnBrk="0" hangingPunct="0">
                        <a:spcBef>
                          <a:spcPct val="20000"/>
                        </a:spcBef>
                        <a:buClr>
                          <a:srgbClr val="9EA0A1"/>
                        </a:buClr>
                        <a:buSzPct val="120000"/>
                        <a:buFont typeface="Arial" charset="0"/>
                        <a:defRPr kumimoji="1" sz="1400">
                          <a:solidFill>
                            <a:schemeClr val="tx1"/>
                          </a:solidFill>
                          <a:latin typeface="HG丸ｺﾞｼｯｸM-PRO" pitchFamily="50" charset="-128"/>
                          <a:ea typeface="HG丸ｺﾞｼｯｸM-PRO" pitchFamily="50" charset="-128"/>
                        </a:defRPr>
                      </a:lvl2pPr>
                      <a:lvl3pPr marL="11430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3pPr>
                      <a:lvl4pPr marL="16002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4pPr>
                      <a:lvl5pPr marL="20574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5pPr>
                      <a:lvl6pPr marL="25146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6pPr>
                      <a:lvl7pPr marL="29718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7pPr>
                      <a:lvl8pPr marL="34290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8pPr>
                      <a:lvl9pPr marL="38862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rPr>
                        <a:t>好</a:t>
                      </a: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rPr>
                        <a:t>26-01</a:t>
                      </a:r>
                      <a:endParaRPr kumimoji="1"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endParaRPr>
                    </a:p>
                  </a:txBody>
                  <a:tcPr marL="59144" marR="59144"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gridSpan="2">
                  <a:txBody>
                    <a:bodyPr/>
                    <a:lstStyle/>
                    <a:p>
                      <a:pPr algn="ctr">
                        <a:spcAft>
                          <a:spcPts val="0"/>
                        </a:spcAft>
                        <a:tabLst>
                          <a:tab pos="2700020" algn="ctr"/>
                          <a:tab pos="5400040" algn="r"/>
                        </a:tabLst>
                      </a:pPr>
                      <a:r>
                        <a:rPr lang="ja-JP" altLang="en-US" sz="1400" b="0" dirty="0">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rPr>
                        <a:t>水災タイムラインの策定</a:t>
                      </a:r>
                    </a:p>
                  </a:txBody>
                  <a:tcPr marL="68585" marR="6858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a:txBody>
                    <a:bodyPr/>
                    <a:lstStyle/>
                    <a:p>
                      <a:pPr marL="0" algn="ctr" defTabSz="914400" rtl="0" eaLnBrk="1" latinLnBrk="0" hangingPunct="1">
                        <a:spcAft>
                          <a:spcPts val="0"/>
                        </a:spcAft>
                        <a:tabLst>
                          <a:tab pos="2700020" algn="ctr"/>
                          <a:tab pos="5400040" algn="r"/>
                        </a:tabLst>
                      </a:pPr>
                      <a:r>
                        <a:rPr kumimoji="1" lang="ja-JP" altLang="en-US" sz="1400" b="0" kern="1200" dirty="0">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rPr>
                        <a:t>ー</a:t>
                      </a:r>
                      <a:endParaRPr kumimoji="1" lang="ja-JP" sz="1400" b="0" kern="1200" dirty="0">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endParaRPr>
                    </a:p>
                  </a:txBody>
                  <a:tcPr marL="68585" marR="6858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61084">
                <a:tc gridSpan="2">
                  <a:txBody>
                    <a:bodyPr/>
                    <a:lstStyle>
                      <a:lvl1pPr marL="71438" eaLnBrk="0" hangingPunct="0">
                        <a:spcBef>
                          <a:spcPct val="20000"/>
                        </a:spcBef>
                        <a:buClr>
                          <a:srgbClr val="9EA0A1"/>
                        </a:buClr>
                        <a:buSzPct val="110000"/>
                        <a:buFont typeface="Wingdings" pitchFamily="2" charset="2"/>
                        <a:defRPr kumimoji="1" sz="1400">
                          <a:solidFill>
                            <a:schemeClr val="tx1"/>
                          </a:solidFill>
                          <a:latin typeface="HG丸ｺﾞｼｯｸM-PRO" pitchFamily="50" charset="-128"/>
                          <a:ea typeface="HG丸ｺﾞｼｯｸM-PRO" pitchFamily="50" charset="-128"/>
                        </a:defRPr>
                      </a:lvl1pPr>
                      <a:lvl2pPr marL="742950" indent="-285750" eaLnBrk="0" hangingPunct="0">
                        <a:spcBef>
                          <a:spcPct val="20000"/>
                        </a:spcBef>
                        <a:buClr>
                          <a:srgbClr val="9EA0A1"/>
                        </a:buClr>
                        <a:buSzPct val="120000"/>
                        <a:buFont typeface="Arial" charset="0"/>
                        <a:defRPr kumimoji="1" sz="1400">
                          <a:solidFill>
                            <a:schemeClr val="tx1"/>
                          </a:solidFill>
                          <a:latin typeface="HG丸ｺﾞｼｯｸM-PRO" pitchFamily="50" charset="-128"/>
                          <a:ea typeface="HG丸ｺﾞｼｯｸM-PRO" pitchFamily="50" charset="-128"/>
                        </a:defRPr>
                      </a:lvl2pPr>
                      <a:lvl3pPr marL="11430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3pPr>
                      <a:lvl4pPr marL="16002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4pPr>
                      <a:lvl5pPr marL="20574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5pPr>
                      <a:lvl6pPr marL="25146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6pPr>
                      <a:lvl7pPr marL="29718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7pPr>
                      <a:lvl8pPr marL="34290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8pPr>
                      <a:lvl9pPr marL="38862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kern="12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rPr>
                        <a:t>台風接近時の対応内容を時系列で示した水災タイムラインが策定されており、水害発生時に、いつ・誰が・何をするかが明確にされています。</a:t>
                      </a:r>
                      <a:endParaRPr kumimoji="1" lang="ja-JP" altLang="ja-JP" sz="1400" b="0" kern="12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59144" marR="59144"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kumimoji="1" lang="ja-JP" altLang="en-US"/>
                    </a:p>
                  </a:txBody>
                  <a:tcPr/>
                </a:tc>
                <a:tc gridSpan="2">
                  <a:txBody>
                    <a:bodyPr/>
                    <a:lstStyle/>
                    <a:p>
                      <a:pPr marL="0" algn="ctr" defTabSz="914400" rtl="0" eaLnBrk="1" latinLnBrk="0" hangingPunct="1"/>
                      <a:r>
                        <a:rPr kumimoji="1" lang="ja-JP" altLang="en-US" sz="1400" b="0" kern="12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rPr>
                        <a:t>写真はありません</a:t>
                      </a:r>
                    </a:p>
                  </a:txBody>
                  <a:tcPr marL="59144" marR="59144"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kumimoji="1" lang="ja-JP" altLang="en-US"/>
                    </a:p>
                  </a:txBody>
                  <a:tcPr/>
                </a:tc>
                <a:extLst>
                  <a:ext uri="{0D108BD9-81ED-4DB2-BD59-A6C34878D82A}">
                    <a16:rowId xmlns:a16="http://schemas.microsoft.com/office/drawing/2014/main" val="10002"/>
                  </a:ext>
                </a:extLst>
              </a:tr>
            </a:tbl>
          </a:graphicData>
        </a:graphic>
      </p:graphicFrame>
      <p:sp>
        <p:nvSpPr>
          <p:cNvPr id="7" name="スライド番号プレースホルダー 5"/>
          <p:cNvSpPr>
            <a:spLocks noGrp="1"/>
          </p:cNvSpPr>
          <p:nvPr>
            <p:ph type="sldNum" sz="quarter" idx="4"/>
          </p:nvPr>
        </p:nvSpPr>
        <p:spPr>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21</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11" name="テキスト ボックス 10">
            <a:extLst>
              <a:ext uri="{FF2B5EF4-FFF2-40B4-BE49-F238E27FC236}">
                <a16:creationId xmlns:a16="http://schemas.microsoft.com/office/drawing/2014/main" id="{93001B68-B243-4F63-A73A-1B839CF9A144}"/>
              </a:ext>
            </a:extLst>
          </p:cNvPr>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好取組事例</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grpSp>
        <p:nvGrpSpPr>
          <p:cNvPr id="10" name="グループ化 9">
            <a:extLst>
              <a:ext uri="{FF2B5EF4-FFF2-40B4-BE49-F238E27FC236}">
                <a16:creationId xmlns:a16="http://schemas.microsoft.com/office/drawing/2014/main" id="{DD561EB4-5117-4EE0-A7B9-E3DD73B1407D}"/>
              </a:ext>
            </a:extLst>
          </p:cNvPr>
          <p:cNvGrpSpPr/>
          <p:nvPr/>
        </p:nvGrpSpPr>
        <p:grpSpPr>
          <a:xfrm>
            <a:off x="360000" y="370800"/>
            <a:ext cx="720000" cy="672000"/>
            <a:chOff x="360000" y="370800"/>
            <a:chExt cx="720000" cy="672000"/>
          </a:xfrm>
        </p:grpSpPr>
        <p:sp>
          <p:nvSpPr>
            <p:cNvPr id="12" name="正方形/長方形 11">
              <a:extLst>
                <a:ext uri="{FF2B5EF4-FFF2-40B4-BE49-F238E27FC236}">
                  <a16:creationId xmlns:a16="http://schemas.microsoft.com/office/drawing/2014/main" id="{AE2FFC1B-F3F7-4872-A757-62EE9F250CD1}"/>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3" name="テキスト ボックス 12">
              <a:extLst>
                <a:ext uri="{FF2B5EF4-FFF2-40B4-BE49-F238E27FC236}">
                  <a16:creationId xmlns:a16="http://schemas.microsoft.com/office/drawing/2014/main" id="{84ABF424-0D12-48E3-8E43-6439D4533133}"/>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4</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
        <p:nvSpPr>
          <p:cNvPr id="8" name="スライド番号プレースホルダー 5">
            <a:extLst>
              <a:ext uri="{FF2B5EF4-FFF2-40B4-BE49-F238E27FC236}">
                <a16:creationId xmlns:a16="http://schemas.microsoft.com/office/drawing/2014/main" id="{E343A1E0-B3B0-467E-8DB6-AF0E61CCBF21}"/>
              </a:ext>
            </a:extLst>
          </p:cNvPr>
          <p:cNvSpPr txBox="1">
            <a:spLocks/>
          </p:cNvSpPr>
          <p:nvPr/>
        </p:nvSpPr>
        <p:spPr>
          <a:xfrm>
            <a:off x="9172177" y="6390901"/>
            <a:ext cx="461667" cy="268288"/>
          </a:xfrm>
          <a:prstGeom prst="rect">
            <a:avLst/>
          </a:prstGeom>
        </p:spPr>
        <p:txBody>
          <a:bodyPr lIns="0" tIns="0" rIns="0" bIns="0" anchor="b"/>
          <a:lstStyle>
            <a:defPPr>
              <a:defRPr lang="ja-JP"/>
            </a:defPPr>
            <a:lvl1pPr algn="r" rtl="0" fontAlgn="auto">
              <a:spcBef>
                <a:spcPts val="0"/>
              </a:spcBef>
              <a:spcAft>
                <a:spcPts val="0"/>
              </a:spcAft>
              <a:defRPr kumimoji="1" lang="ja-JP" altLang="en-US" sz="1199" kern="1200">
                <a:solidFill>
                  <a:srgbClr val="414243"/>
                </a:solidFill>
                <a:latin typeface="Arial" pitchFamily="34"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algn="ctr"/>
            <a:fld id="{3C987C2D-0993-D24A-8F17-67855EAE4BDA}" type="slidenum">
              <a:rPr lang="en-US" altLang="ja-JP" smtClean="0">
                <a:solidFill>
                  <a:schemeClr val="bg1"/>
                </a:solidFill>
                <a:latin typeface="游ゴシック" panose="020B0400000000000000" pitchFamily="50" charset="-128"/>
                <a:ea typeface="游ゴシック" panose="020B0400000000000000" pitchFamily="50" charset="-128"/>
              </a:rPr>
              <a:pPr algn="ctr"/>
              <a:t>21</a:t>
            </a:fld>
            <a:endParaRPr lang="ja-JP" altLang="en-US"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683189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p:cNvGraphicFramePr>
            <a:graphicFrameLocks noGrp="1"/>
          </p:cNvGraphicFramePr>
          <p:nvPr>
            <p:extLst>
              <p:ext uri="{D42A27DB-BD31-4B8C-83A1-F6EECF244321}">
                <p14:modId xmlns:p14="http://schemas.microsoft.com/office/powerpoint/2010/main" val="1432100908"/>
              </p:ext>
            </p:extLst>
          </p:nvPr>
        </p:nvGraphicFramePr>
        <p:xfrm>
          <a:off x="385894" y="1266739"/>
          <a:ext cx="9127221" cy="5003432"/>
        </p:xfrm>
        <a:graphic>
          <a:graphicData uri="http://schemas.openxmlformats.org/drawingml/2006/table">
            <a:tbl>
              <a:tblPr/>
              <a:tblGrid>
                <a:gridCol w="1524445">
                  <a:extLst>
                    <a:ext uri="{9D8B030D-6E8A-4147-A177-3AD203B41FA5}">
                      <a16:colId xmlns:a16="http://schemas.microsoft.com/office/drawing/2014/main" val="20000"/>
                    </a:ext>
                  </a:extLst>
                </a:gridCol>
                <a:gridCol w="3081791">
                  <a:extLst>
                    <a:ext uri="{9D8B030D-6E8A-4147-A177-3AD203B41FA5}">
                      <a16:colId xmlns:a16="http://schemas.microsoft.com/office/drawing/2014/main" val="20001"/>
                    </a:ext>
                  </a:extLst>
                </a:gridCol>
                <a:gridCol w="2034477">
                  <a:extLst>
                    <a:ext uri="{9D8B030D-6E8A-4147-A177-3AD203B41FA5}">
                      <a16:colId xmlns:a16="http://schemas.microsoft.com/office/drawing/2014/main" val="20002"/>
                    </a:ext>
                  </a:extLst>
                </a:gridCol>
                <a:gridCol w="2486508">
                  <a:extLst>
                    <a:ext uri="{9D8B030D-6E8A-4147-A177-3AD203B41FA5}">
                      <a16:colId xmlns:a16="http://schemas.microsoft.com/office/drawing/2014/main" val="20003"/>
                    </a:ext>
                  </a:extLst>
                </a:gridCol>
              </a:tblGrid>
              <a:tr h="337511">
                <a:tc>
                  <a:txBody>
                    <a:bodyPr/>
                    <a:lstStyle>
                      <a:lvl1pPr eaLnBrk="0" hangingPunct="0">
                        <a:spcBef>
                          <a:spcPct val="20000"/>
                        </a:spcBef>
                        <a:buClr>
                          <a:srgbClr val="9EA0A1"/>
                        </a:buClr>
                        <a:buSzPct val="110000"/>
                        <a:buFont typeface="Wingdings" pitchFamily="2" charset="2"/>
                        <a:defRPr kumimoji="1" sz="1400">
                          <a:solidFill>
                            <a:schemeClr val="tx1"/>
                          </a:solidFill>
                          <a:latin typeface="HG丸ｺﾞｼｯｸM-PRO" pitchFamily="50" charset="-128"/>
                          <a:ea typeface="HG丸ｺﾞｼｯｸM-PRO" pitchFamily="50" charset="-128"/>
                        </a:defRPr>
                      </a:lvl1pPr>
                      <a:lvl2pPr marL="742950" indent="-285750" eaLnBrk="0" hangingPunct="0">
                        <a:spcBef>
                          <a:spcPct val="20000"/>
                        </a:spcBef>
                        <a:buClr>
                          <a:srgbClr val="9EA0A1"/>
                        </a:buClr>
                        <a:buSzPct val="120000"/>
                        <a:buFont typeface="Arial" charset="0"/>
                        <a:defRPr kumimoji="1" sz="1400">
                          <a:solidFill>
                            <a:schemeClr val="tx1"/>
                          </a:solidFill>
                          <a:latin typeface="HG丸ｺﾞｼｯｸM-PRO" pitchFamily="50" charset="-128"/>
                          <a:ea typeface="HG丸ｺﾞｼｯｸM-PRO" pitchFamily="50" charset="-128"/>
                        </a:defRPr>
                      </a:lvl2pPr>
                      <a:lvl3pPr marL="11430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3pPr>
                      <a:lvl4pPr marL="16002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4pPr>
                      <a:lvl5pPr marL="20574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5pPr>
                      <a:lvl6pPr marL="25146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6pPr>
                      <a:lvl7pPr marL="29718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7pPr>
                      <a:lvl8pPr marL="34290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8pPr>
                      <a:lvl9pPr marL="38862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dirty="0">
                          <a:ln>
                            <a:noFill/>
                          </a:ln>
                          <a:solidFill>
                            <a:srgbClr val="003300"/>
                          </a:solidFill>
                          <a:effectLst/>
                          <a:latin typeface="游ゴシック" panose="020B0400000000000000" pitchFamily="50" charset="-128"/>
                          <a:ea typeface="游ゴシック" panose="020B0400000000000000" pitchFamily="50" charset="-128"/>
                          <a:cs typeface="メイリオ" panose="020B0604030504040204" pitchFamily="50" charset="-128"/>
                        </a:rPr>
                        <a:t>No</a:t>
                      </a:r>
                      <a:endParaRPr kumimoji="1"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endParaRPr>
                    </a:p>
                  </a:txBody>
                  <a:tcPr marL="59144" marR="59144"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CCE0DE"/>
                    </a:solidFill>
                  </a:tcPr>
                </a:tc>
                <a:tc gridSpan="2">
                  <a:txBody>
                    <a:bodyPr/>
                    <a:lstStyle>
                      <a:lvl1pPr indent="133350" eaLnBrk="0" hangingPunct="0">
                        <a:spcBef>
                          <a:spcPct val="20000"/>
                        </a:spcBef>
                        <a:buClr>
                          <a:srgbClr val="9EA0A1"/>
                        </a:buClr>
                        <a:buSzPct val="110000"/>
                        <a:buFont typeface="Wingdings" pitchFamily="2" charset="2"/>
                        <a:tabLst>
                          <a:tab pos="2698750" algn="ctr"/>
                          <a:tab pos="5399088" algn="r"/>
                        </a:tabLst>
                        <a:defRPr kumimoji="1" sz="1400">
                          <a:solidFill>
                            <a:schemeClr val="tx1"/>
                          </a:solidFill>
                          <a:latin typeface="HG丸ｺﾞｼｯｸM-PRO" pitchFamily="50" charset="-128"/>
                          <a:ea typeface="HG丸ｺﾞｼｯｸM-PRO" pitchFamily="50" charset="-128"/>
                        </a:defRPr>
                      </a:lvl1pPr>
                      <a:lvl2pPr marL="742950" indent="-285750" eaLnBrk="0" hangingPunct="0">
                        <a:spcBef>
                          <a:spcPct val="20000"/>
                        </a:spcBef>
                        <a:buClr>
                          <a:srgbClr val="9EA0A1"/>
                        </a:buClr>
                        <a:buSzPct val="120000"/>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2pPr>
                      <a:lvl3pPr marL="1143000" indent="-228600" eaLnBrk="0" hangingPunct="0">
                        <a:spcBef>
                          <a:spcPct val="20000"/>
                        </a:spcBef>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3pPr>
                      <a:lvl4pPr marL="1600200" indent="-228600" eaLnBrk="0" hangingPunct="0">
                        <a:spcBef>
                          <a:spcPct val="20000"/>
                        </a:spcBef>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4pPr>
                      <a:lvl5pPr marL="2057400" indent="-228600" eaLnBrk="0" hangingPunct="0">
                        <a:spcBef>
                          <a:spcPct val="20000"/>
                        </a:spcBef>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5pPr>
                      <a:lvl6pPr marL="25146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6pPr>
                      <a:lvl7pPr marL="29718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7pPr>
                      <a:lvl8pPr marL="34290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8pPr>
                      <a:lvl9pPr marL="38862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9pPr>
                    </a:lstStyle>
                    <a:p>
                      <a:pPr marL="0" marR="0" lvl="0" indent="133350" algn="ctr" defTabSz="914400" rtl="0" eaLnBrk="1" fontAlgn="base" latinLnBrk="0" hangingPunct="1">
                        <a:lnSpc>
                          <a:spcPct val="100000"/>
                        </a:lnSpc>
                        <a:spcBef>
                          <a:spcPct val="0"/>
                        </a:spcBef>
                        <a:spcAft>
                          <a:spcPct val="0"/>
                        </a:spcAft>
                        <a:buClrTx/>
                        <a:buSzTx/>
                        <a:buFontTx/>
                        <a:buNone/>
                        <a:tabLst>
                          <a:tab pos="2698750" algn="ctr"/>
                          <a:tab pos="5399088" algn="r"/>
                        </a:tabLst>
                      </a:pPr>
                      <a:r>
                        <a:rPr kumimoji="1" lang="zh-CN" altLang="ja-JP" sz="1400" b="0" i="0" u="none" strike="noStrike" cap="none" normalizeH="0" baseline="0" dirty="0">
                          <a:ln>
                            <a:noFill/>
                          </a:ln>
                          <a:solidFill>
                            <a:srgbClr val="003300"/>
                          </a:solidFill>
                          <a:effectLst/>
                          <a:latin typeface="游ゴシック" panose="020B0400000000000000" pitchFamily="50" charset="-128"/>
                          <a:ea typeface="游ゴシック" panose="020B0400000000000000" pitchFamily="50" charset="-128"/>
                          <a:cs typeface="メイリオ" panose="020B0604030504040204" pitchFamily="50" charset="-128"/>
                        </a:rPr>
                        <a:t>内容</a:t>
                      </a:r>
                      <a:endParaRPr kumimoji="1"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endParaRPr>
                    </a:p>
                  </a:txBody>
                  <a:tcPr marL="59144" marR="59144"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CCE0DE"/>
                    </a:solidFill>
                  </a:tcPr>
                </a:tc>
                <a:tc hMerge="1">
                  <a:txBody>
                    <a:bodyPr/>
                    <a:lstStyle/>
                    <a:p>
                      <a:endParaRPr kumimoji="1" lang="ja-JP" altLang="en-US"/>
                    </a:p>
                  </a:txBody>
                  <a:tcPr/>
                </a:tc>
                <a:tc>
                  <a:txBody>
                    <a:bodyPr/>
                    <a:lstStyle>
                      <a:lvl1pPr marL="400050" indent="-400050" eaLnBrk="0" hangingPunct="0">
                        <a:spcBef>
                          <a:spcPct val="20000"/>
                        </a:spcBef>
                        <a:buClr>
                          <a:srgbClr val="9EA0A1"/>
                        </a:buClr>
                        <a:buSzPct val="110000"/>
                        <a:buFont typeface="Wingdings" pitchFamily="2" charset="2"/>
                        <a:tabLst>
                          <a:tab pos="2698750" algn="ctr"/>
                          <a:tab pos="5399088" algn="r"/>
                        </a:tabLst>
                        <a:defRPr kumimoji="1" sz="1400">
                          <a:solidFill>
                            <a:schemeClr val="tx1"/>
                          </a:solidFill>
                          <a:latin typeface="HG丸ｺﾞｼｯｸM-PRO" pitchFamily="50" charset="-128"/>
                          <a:ea typeface="HG丸ｺﾞｼｯｸM-PRO" pitchFamily="50" charset="-128"/>
                        </a:defRPr>
                      </a:lvl1pPr>
                      <a:lvl2pPr marL="742950" indent="-285750" eaLnBrk="0" hangingPunct="0">
                        <a:spcBef>
                          <a:spcPct val="20000"/>
                        </a:spcBef>
                        <a:buClr>
                          <a:srgbClr val="9EA0A1"/>
                        </a:buClr>
                        <a:buSzPct val="120000"/>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2pPr>
                      <a:lvl3pPr marL="1143000" indent="-228600" eaLnBrk="0" hangingPunct="0">
                        <a:spcBef>
                          <a:spcPct val="20000"/>
                        </a:spcBef>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3pPr>
                      <a:lvl4pPr marL="1600200" indent="-228600" eaLnBrk="0" hangingPunct="0">
                        <a:spcBef>
                          <a:spcPct val="20000"/>
                        </a:spcBef>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4pPr>
                      <a:lvl5pPr marL="2057400" indent="-228600" eaLnBrk="0" hangingPunct="0">
                        <a:spcBef>
                          <a:spcPct val="20000"/>
                        </a:spcBef>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5pPr>
                      <a:lvl6pPr marL="25146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6pPr>
                      <a:lvl7pPr marL="29718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7pPr>
                      <a:lvl8pPr marL="34290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8pPr>
                      <a:lvl9pPr marL="3886200" indent="-228600" eaLnBrk="0" fontAlgn="base" hangingPunct="0">
                        <a:spcBef>
                          <a:spcPct val="20000"/>
                        </a:spcBef>
                        <a:spcAft>
                          <a:spcPct val="0"/>
                        </a:spcAft>
                        <a:buClr>
                          <a:srgbClr val="9EA0A1"/>
                        </a:buClr>
                        <a:buFont typeface="Arial" charset="0"/>
                        <a:tabLst>
                          <a:tab pos="2698750" algn="ctr"/>
                          <a:tab pos="5399088" algn="r"/>
                        </a:tabLst>
                        <a:defRPr kumimoji="1" sz="1400">
                          <a:solidFill>
                            <a:schemeClr val="tx1"/>
                          </a:solidFill>
                          <a:latin typeface="HG丸ｺﾞｼｯｸM-PRO" pitchFamily="50" charset="-128"/>
                          <a:ea typeface="HG丸ｺﾞｼｯｸM-PRO" pitchFamily="50" charset="-128"/>
                        </a:defRPr>
                      </a:lvl9pPr>
                    </a:lstStyle>
                    <a:p>
                      <a:pPr marL="400050" marR="0" lvl="0" indent="-400050" algn="ctr" defTabSz="914400" rtl="0" eaLnBrk="1" fontAlgn="base" latinLnBrk="0" hangingPunct="1">
                        <a:lnSpc>
                          <a:spcPct val="100000"/>
                        </a:lnSpc>
                        <a:spcBef>
                          <a:spcPct val="0"/>
                        </a:spcBef>
                        <a:spcAft>
                          <a:spcPct val="0"/>
                        </a:spcAft>
                        <a:buClrTx/>
                        <a:buSzTx/>
                        <a:buFontTx/>
                        <a:buNone/>
                        <a:tabLst>
                          <a:tab pos="2698750" algn="ctr"/>
                          <a:tab pos="5399088" algn="r"/>
                        </a:tabLst>
                      </a:pPr>
                      <a:r>
                        <a:rPr kumimoji="1" lang="zh-TW" altLang="ja-JP" sz="1400" b="0" i="0" u="none" strike="noStrike" cap="none" normalizeH="0" baseline="0" dirty="0">
                          <a:ln>
                            <a:noFill/>
                          </a:ln>
                          <a:solidFill>
                            <a:srgbClr val="003300"/>
                          </a:solidFill>
                          <a:effectLst/>
                          <a:latin typeface="游ゴシック" panose="020B0400000000000000" pitchFamily="50" charset="-128"/>
                          <a:ea typeface="游ゴシック" panose="020B0400000000000000" pitchFamily="50" charset="-128"/>
                          <a:cs typeface="メイリオ" panose="020B0604030504040204" pitchFamily="50" charset="-128"/>
                        </a:rPr>
                        <a:t>場所</a:t>
                      </a:r>
                      <a:endParaRPr kumimoji="1"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endParaRPr>
                    </a:p>
                  </a:txBody>
                  <a:tcPr marL="59144" marR="59144"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CCE0DE"/>
                    </a:solidFill>
                  </a:tcPr>
                </a:tc>
                <a:extLst>
                  <a:ext uri="{0D108BD9-81ED-4DB2-BD59-A6C34878D82A}">
                    <a16:rowId xmlns:a16="http://schemas.microsoft.com/office/drawing/2014/main" val="10000"/>
                  </a:ext>
                </a:extLst>
              </a:tr>
              <a:tr h="504837">
                <a:tc>
                  <a:txBody>
                    <a:bodyPr/>
                    <a:lstStyle>
                      <a:lvl1pPr eaLnBrk="0" hangingPunct="0">
                        <a:spcBef>
                          <a:spcPct val="20000"/>
                        </a:spcBef>
                        <a:buClr>
                          <a:srgbClr val="9EA0A1"/>
                        </a:buClr>
                        <a:buSzPct val="110000"/>
                        <a:buFont typeface="Wingdings" pitchFamily="2" charset="2"/>
                        <a:defRPr kumimoji="1" sz="1400">
                          <a:solidFill>
                            <a:schemeClr val="tx1"/>
                          </a:solidFill>
                          <a:latin typeface="HG丸ｺﾞｼｯｸM-PRO" pitchFamily="50" charset="-128"/>
                          <a:ea typeface="HG丸ｺﾞｼｯｸM-PRO" pitchFamily="50" charset="-128"/>
                        </a:defRPr>
                      </a:lvl1pPr>
                      <a:lvl2pPr marL="742950" indent="-285750" eaLnBrk="0" hangingPunct="0">
                        <a:spcBef>
                          <a:spcPct val="20000"/>
                        </a:spcBef>
                        <a:buClr>
                          <a:srgbClr val="9EA0A1"/>
                        </a:buClr>
                        <a:buSzPct val="120000"/>
                        <a:buFont typeface="Arial" charset="0"/>
                        <a:defRPr kumimoji="1" sz="1400">
                          <a:solidFill>
                            <a:schemeClr val="tx1"/>
                          </a:solidFill>
                          <a:latin typeface="HG丸ｺﾞｼｯｸM-PRO" pitchFamily="50" charset="-128"/>
                          <a:ea typeface="HG丸ｺﾞｼｯｸM-PRO" pitchFamily="50" charset="-128"/>
                        </a:defRPr>
                      </a:lvl2pPr>
                      <a:lvl3pPr marL="11430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3pPr>
                      <a:lvl4pPr marL="16002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4pPr>
                      <a:lvl5pPr marL="20574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5pPr>
                      <a:lvl6pPr marL="25146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6pPr>
                      <a:lvl7pPr marL="29718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7pPr>
                      <a:lvl8pPr marL="34290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8pPr>
                      <a:lvl9pPr marL="38862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rPr>
                        <a:t>好</a:t>
                      </a: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rPr>
                        <a:t>26-02</a:t>
                      </a:r>
                      <a:endParaRPr kumimoji="1"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endParaRPr>
                    </a:p>
                  </a:txBody>
                  <a:tcPr marL="59144" marR="59144"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gridSpan="2">
                  <a:txBody>
                    <a:bodyPr/>
                    <a:lstStyle/>
                    <a:p>
                      <a:pPr algn="ctr">
                        <a:spcAft>
                          <a:spcPts val="0"/>
                        </a:spcAft>
                        <a:tabLst>
                          <a:tab pos="2700020" algn="ctr"/>
                          <a:tab pos="5400040" algn="r"/>
                        </a:tabLst>
                      </a:pPr>
                      <a:r>
                        <a:rPr lang="ja-JP" altLang="en-US" sz="1400" b="0" dirty="0">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rPr>
                        <a:t>防災備蓄品の準備</a:t>
                      </a:r>
                    </a:p>
                  </a:txBody>
                  <a:tcPr marL="68585" marR="6858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a:txBody>
                    <a:bodyPr/>
                    <a:lstStyle/>
                    <a:p>
                      <a:pPr marL="0" algn="ctr" defTabSz="914400" rtl="0" eaLnBrk="1" latinLnBrk="0" hangingPunct="1">
                        <a:spcAft>
                          <a:spcPts val="0"/>
                        </a:spcAft>
                        <a:tabLst>
                          <a:tab pos="2700020" algn="ctr"/>
                          <a:tab pos="5400040" algn="r"/>
                        </a:tabLst>
                      </a:pPr>
                      <a:r>
                        <a:rPr kumimoji="1" lang="ja-JP" altLang="en-US" sz="1400" b="0" kern="1200" dirty="0">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rPr>
                        <a:t>事務所備蓄倉庫</a:t>
                      </a:r>
                      <a:endParaRPr kumimoji="1" lang="ja-JP" sz="1400" b="0" kern="1200" dirty="0">
                        <a:solidFill>
                          <a:schemeClr val="tx1"/>
                        </a:solidFill>
                        <a:effectLst/>
                        <a:latin typeface="游ゴシック" panose="020B0400000000000000" pitchFamily="50" charset="-128"/>
                        <a:ea typeface="游ゴシック" panose="020B0400000000000000" pitchFamily="50" charset="-128"/>
                        <a:cs typeface="メイリオ" panose="020B0604030504040204" pitchFamily="50" charset="-128"/>
                      </a:endParaRPr>
                    </a:p>
                  </a:txBody>
                  <a:tcPr marL="68585" marR="68585"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61084">
                <a:tc gridSpan="2">
                  <a:txBody>
                    <a:bodyPr/>
                    <a:lstStyle>
                      <a:lvl1pPr marL="71438" eaLnBrk="0" hangingPunct="0">
                        <a:spcBef>
                          <a:spcPct val="20000"/>
                        </a:spcBef>
                        <a:buClr>
                          <a:srgbClr val="9EA0A1"/>
                        </a:buClr>
                        <a:buSzPct val="110000"/>
                        <a:buFont typeface="Wingdings" pitchFamily="2" charset="2"/>
                        <a:defRPr kumimoji="1" sz="1400">
                          <a:solidFill>
                            <a:schemeClr val="tx1"/>
                          </a:solidFill>
                          <a:latin typeface="HG丸ｺﾞｼｯｸM-PRO" pitchFamily="50" charset="-128"/>
                          <a:ea typeface="HG丸ｺﾞｼｯｸM-PRO" pitchFamily="50" charset="-128"/>
                        </a:defRPr>
                      </a:lvl1pPr>
                      <a:lvl2pPr marL="742950" indent="-285750" eaLnBrk="0" hangingPunct="0">
                        <a:spcBef>
                          <a:spcPct val="20000"/>
                        </a:spcBef>
                        <a:buClr>
                          <a:srgbClr val="9EA0A1"/>
                        </a:buClr>
                        <a:buSzPct val="120000"/>
                        <a:buFont typeface="Arial" charset="0"/>
                        <a:defRPr kumimoji="1" sz="1400">
                          <a:solidFill>
                            <a:schemeClr val="tx1"/>
                          </a:solidFill>
                          <a:latin typeface="HG丸ｺﾞｼｯｸM-PRO" pitchFamily="50" charset="-128"/>
                          <a:ea typeface="HG丸ｺﾞｼｯｸM-PRO" pitchFamily="50" charset="-128"/>
                        </a:defRPr>
                      </a:lvl2pPr>
                      <a:lvl3pPr marL="11430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3pPr>
                      <a:lvl4pPr marL="16002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4pPr>
                      <a:lvl5pPr marL="2057400" indent="-228600" eaLnBrk="0" hangingPunct="0">
                        <a:spcBef>
                          <a:spcPct val="20000"/>
                        </a:spcBef>
                        <a:buClr>
                          <a:srgbClr val="9EA0A1"/>
                        </a:buClr>
                        <a:buFont typeface="Arial" charset="0"/>
                        <a:defRPr kumimoji="1" sz="1400">
                          <a:solidFill>
                            <a:schemeClr val="tx1"/>
                          </a:solidFill>
                          <a:latin typeface="HG丸ｺﾞｼｯｸM-PRO" pitchFamily="50" charset="-128"/>
                          <a:ea typeface="HG丸ｺﾞｼｯｸM-PRO" pitchFamily="50" charset="-128"/>
                        </a:defRPr>
                      </a:lvl5pPr>
                      <a:lvl6pPr marL="25146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6pPr>
                      <a:lvl7pPr marL="29718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7pPr>
                      <a:lvl8pPr marL="34290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8pPr>
                      <a:lvl9pPr marL="3886200" indent="-228600" eaLnBrk="0" fontAlgn="base" hangingPunct="0">
                        <a:spcBef>
                          <a:spcPct val="20000"/>
                        </a:spcBef>
                        <a:spcAft>
                          <a:spcPct val="0"/>
                        </a:spcAft>
                        <a:buClr>
                          <a:srgbClr val="9EA0A1"/>
                        </a:buClr>
                        <a:buFont typeface="Arial" charset="0"/>
                        <a:defRPr kumimoji="1" sz="1400">
                          <a:solidFill>
                            <a:schemeClr val="tx1"/>
                          </a:solidFill>
                          <a:latin typeface="HG丸ｺﾞｼｯｸM-PRO" pitchFamily="50" charset="-128"/>
                          <a:ea typeface="HG丸ｺﾞｼｯｸM-PRO"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kern="12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rPr>
                        <a:t>従業員</a:t>
                      </a:r>
                      <a:r>
                        <a:rPr kumimoji="1" lang="en-US" altLang="ja-JP" sz="1400" b="0" kern="12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rPr>
                        <a:t>×3</a:t>
                      </a:r>
                      <a:r>
                        <a:rPr kumimoji="1" lang="ja-JP" altLang="en-US" sz="1400" b="0" kern="12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rPr>
                        <a:t>日以上の防災備蓄品が準備されており、災害時の安全確保に向けた体制が整えられています。</a:t>
                      </a:r>
                      <a:endParaRPr kumimoji="1" lang="ja-JP" altLang="ja-JP" sz="1400" b="0" kern="12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59144" marR="59144"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kumimoji="1" lang="ja-JP" altLang="en-US"/>
                    </a:p>
                  </a:txBody>
                  <a:tcPr/>
                </a:tc>
                <a:tc gridSpan="2">
                  <a:txBody>
                    <a:bodyPr/>
                    <a:lstStyle/>
                    <a:p>
                      <a:pPr marL="0" algn="ctr" defTabSz="914400" rtl="0" eaLnBrk="1" latinLnBrk="0" hangingPunct="1"/>
                      <a:r>
                        <a:rPr kumimoji="1" lang="ja-JP" altLang="en-US" sz="1400" b="0" kern="12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rPr>
                        <a:t>写真はありません</a:t>
                      </a:r>
                    </a:p>
                  </a:txBody>
                  <a:tcPr marL="59144" marR="59144"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kumimoji="1" lang="ja-JP" altLang="en-US"/>
                    </a:p>
                  </a:txBody>
                  <a:tcPr/>
                </a:tc>
                <a:extLst>
                  <a:ext uri="{0D108BD9-81ED-4DB2-BD59-A6C34878D82A}">
                    <a16:rowId xmlns:a16="http://schemas.microsoft.com/office/drawing/2014/main" val="10002"/>
                  </a:ext>
                </a:extLst>
              </a:tr>
            </a:tbl>
          </a:graphicData>
        </a:graphic>
      </p:graphicFrame>
      <p:sp>
        <p:nvSpPr>
          <p:cNvPr id="7" name="スライド番号プレースホルダー 5"/>
          <p:cNvSpPr>
            <a:spLocks noGrp="1"/>
          </p:cNvSpPr>
          <p:nvPr>
            <p:ph type="sldNum" sz="quarter" idx="4"/>
          </p:nvPr>
        </p:nvSpPr>
        <p:spPr>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22</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11" name="テキスト ボックス 10">
            <a:extLst>
              <a:ext uri="{FF2B5EF4-FFF2-40B4-BE49-F238E27FC236}">
                <a16:creationId xmlns:a16="http://schemas.microsoft.com/office/drawing/2014/main" id="{93001B68-B243-4F63-A73A-1B839CF9A144}"/>
              </a:ext>
            </a:extLst>
          </p:cNvPr>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好取組事例</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grpSp>
        <p:nvGrpSpPr>
          <p:cNvPr id="10" name="グループ化 9">
            <a:extLst>
              <a:ext uri="{FF2B5EF4-FFF2-40B4-BE49-F238E27FC236}">
                <a16:creationId xmlns:a16="http://schemas.microsoft.com/office/drawing/2014/main" id="{DD561EB4-5117-4EE0-A7B9-E3DD73B1407D}"/>
              </a:ext>
            </a:extLst>
          </p:cNvPr>
          <p:cNvGrpSpPr/>
          <p:nvPr/>
        </p:nvGrpSpPr>
        <p:grpSpPr>
          <a:xfrm>
            <a:off x="360000" y="370800"/>
            <a:ext cx="720000" cy="672000"/>
            <a:chOff x="360000" y="370800"/>
            <a:chExt cx="720000" cy="672000"/>
          </a:xfrm>
        </p:grpSpPr>
        <p:sp>
          <p:nvSpPr>
            <p:cNvPr id="12" name="正方形/長方形 11">
              <a:extLst>
                <a:ext uri="{FF2B5EF4-FFF2-40B4-BE49-F238E27FC236}">
                  <a16:creationId xmlns:a16="http://schemas.microsoft.com/office/drawing/2014/main" id="{AE2FFC1B-F3F7-4872-A757-62EE9F250CD1}"/>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3" name="テキスト ボックス 12">
              <a:extLst>
                <a:ext uri="{FF2B5EF4-FFF2-40B4-BE49-F238E27FC236}">
                  <a16:creationId xmlns:a16="http://schemas.microsoft.com/office/drawing/2014/main" id="{84ABF424-0D12-48E3-8E43-6439D4533133}"/>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4</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
        <p:nvSpPr>
          <p:cNvPr id="8" name="スライド番号プレースホルダー 5">
            <a:extLst>
              <a:ext uri="{FF2B5EF4-FFF2-40B4-BE49-F238E27FC236}">
                <a16:creationId xmlns:a16="http://schemas.microsoft.com/office/drawing/2014/main" id="{E343A1E0-B3B0-467E-8DB6-AF0E61CCBF21}"/>
              </a:ext>
            </a:extLst>
          </p:cNvPr>
          <p:cNvSpPr txBox="1">
            <a:spLocks/>
          </p:cNvSpPr>
          <p:nvPr/>
        </p:nvSpPr>
        <p:spPr>
          <a:xfrm>
            <a:off x="9172177" y="6390901"/>
            <a:ext cx="461667" cy="268288"/>
          </a:xfrm>
          <a:prstGeom prst="rect">
            <a:avLst/>
          </a:prstGeom>
        </p:spPr>
        <p:txBody>
          <a:bodyPr lIns="0" tIns="0" rIns="0" bIns="0" anchor="b"/>
          <a:lstStyle>
            <a:defPPr>
              <a:defRPr lang="ja-JP"/>
            </a:defPPr>
            <a:lvl1pPr algn="r" rtl="0" fontAlgn="auto">
              <a:spcBef>
                <a:spcPts val="0"/>
              </a:spcBef>
              <a:spcAft>
                <a:spcPts val="0"/>
              </a:spcAft>
              <a:defRPr kumimoji="1" lang="ja-JP" altLang="en-US" sz="1199" kern="1200">
                <a:solidFill>
                  <a:srgbClr val="414243"/>
                </a:solidFill>
                <a:latin typeface="Arial" pitchFamily="34"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algn="ctr"/>
            <a:fld id="{3C987C2D-0993-D24A-8F17-67855EAE4BDA}" type="slidenum">
              <a:rPr lang="en-US" altLang="ja-JP" smtClean="0">
                <a:solidFill>
                  <a:schemeClr val="bg1"/>
                </a:solidFill>
                <a:latin typeface="游ゴシック" panose="020B0400000000000000" pitchFamily="50" charset="-128"/>
                <a:ea typeface="游ゴシック" panose="020B0400000000000000" pitchFamily="50" charset="-128"/>
              </a:rPr>
              <a:pPr algn="ctr"/>
              <a:t>22</a:t>
            </a:fld>
            <a:endParaRPr lang="ja-JP" altLang="en-US" dirty="0">
              <a:solidFill>
                <a:schemeClr val="bg1"/>
              </a:solidFill>
              <a:latin typeface="游ゴシック" panose="020B0400000000000000" pitchFamily="50" charset="-128"/>
              <a:ea typeface="游ゴシック" panose="020B0400000000000000" pitchFamily="50" charset="-128"/>
            </a:endParaRPr>
          </a:p>
        </p:txBody>
      </p:sp>
      <p:pic>
        <p:nvPicPr>
          <p:cNvPr id="14" name="図 13">
            <a:extLst>
              <a:ext uri="{FF2B5EF4-FFF2-40B4-BE49-F238E27FC236}">
                <a16:creationId xmlns:a16="http://schemas.microsoft.com/office/drawing/2014/main" id="{044A5CBB-F619-4C6E-979F-A6C0F602200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55526" y="2857137"/>
            <a:ext cx="4033426" cy="3025070"/>
          </a:xfrm>
          <a:prstGeom prst="rect">
            <a:avLst/>
          </a:prstGeom>
        </p:spPr>
      </p:pic>
      <p:pic>
        <p:nvPicPr>
          <p:cNvPr id="6" name="図 5">
            <a:extLst>
              <a:ext uri="{FF2B5EF4-FFF2-40B4-BE49-F238E27FC236}">
                <a16:creationId xmlns:a16="http://schemas.microsoft.com/office/drawing/2014/main" id="{3094E494-0A1D-4A40-BA50-E785977294D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55526" y="2836699"/>
            <a:ext cx="1542537" cy="1156903"/>
          </a:xfrm>
          <a:prstGeom prst="rect">
            <a:avLst/>
          </a:prstGeom>
          <a:ln>
            <a:solidFill>
              <a:schemeClr val="tx1"/>
            </a:solidFill>
          </a:ln>
        </p:spPr>
      </p:pic>
    </p:spTree>
    <p:extLst>
      <p:ext uri="{BB962C8B-B14F-4D97-AF65-F5344CB8AC3E}">
        <p14:creationId xmlns:p14="http://schemas.microsoft.com/office/powerpoint/2010/main" val="3488358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lang="ja-JP" altLang="en-US" dirty="0">
                <a:effectLst>
                  <a:glow rad="190500">
                    <a:schemeClr val="bg1">
                      <a:alpha val="60000"/>
                    </a:schemeClr>
                  </a:glow>
                </a:effectLst>
              </a:rPr>
              <a:t>水災リスク</a:t>
            </a:r>
            <a:endParaRPr kumimoji="1" lang="ja-JP" altLang="en-US" dirty="0">
              <a:effectLst>
                <a:glow rad="190500">
                  <a:schemeClr val="bg1">
                    <a:alpha val="60000"/>
                  </a:schemeClr>
                </a:glow>
              </a:effectLst>
            </a:endParaRPr>
          </a:p>
        </p:txBody>
      </p:sp>
      <p:sp>
        <p:nvSpPr>
          <p:cNvPr id="5" name="テキスト プレースホルダー 4"/>
          <p:cNvSpPr>
            <a:spLocks noGrp="1"/>
          </p:cNvSpPr>
          <p:nvPr>
            <p:ph type="body" sz="quarter" idx="11"/>
          </p:nvPr>
        </p:nvSpPr>
        <p:spPr/>
        <p:txBody>
          <a:bodyPr>
            <a:normAutofit/>
          </a:bodyPr>
          <a:lstStyle/>
          <a:p>
            <a:r>
              <a:rPr lang="en-US" altLang="ja-JP" dirty="0"/>
              <a:t>5</a:t>
            </a:r>
            <a:endParaRPr kumimoji="1" lang="ja-JP" altLang="en-US" dirty="0"/>
          </a:p>
        </p:txBody>
      </p:sp>
      <p:sp>
        <p:nvSpPr>
          <p:cNvPr id="7"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23</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202895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lang="ja-JP" altLang="en-US" sz="2400" dirty="0">
                <a:latin typeface="游ゴシック" panose="020B0400000000000000" pitchFamily="50" charset="-128"/>
                <a:ea typeface="游ゴシック" panose="020B0400000000000000" pitchFamily="50" charset="-128"/>
              </a:rPr>
              <a:t>水災・土砂災害ハザード情報</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18"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24</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52" name="テキスト ボックス 7">
            <a:extLst>
              <a:ext uri="{FF2B5EF4-FFF2-40B4-BE49-F238E27FC236}">
                <a16:creationId xmlns:a16="http://schemas.microsoft.com/office/drawing/2014/main" id="{73A99685-EE03-43C9-A024-AEE9D30AD636}"/>
              </a:ext>
            </a:extLst>
          </p:cNvPr>
          <p:cNvSpPr txBox="1">
            <a:spLocks noChangeArrowheads="1"/>
          </p:cNvSpPr>
          <p:nvPr/>
        </p:nvSpPr>
        <p:spPr bwMode="auto">
          <a:xfrm>
            <a:off x="125413" y="1090800"/>
            <a:ext cx="9648823" cy="720001"/>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fontAlgn="auto" hangingPunct="1">
              <a:spcBef>
                <a:spcPts val="0"/>
              </a:spcBef>
              <a:spcAft>
                <a:spcPts val="0"/>
              </a:spcAft>
              <a:defRPr/>
            </a:pPr>
            <a:r>
              <a:rPr lang="ja-JP" altLang="en-US" sz="1400" dirty="0">
                <a:latin typeface="+mn-ea"/>
                <a:ea typeface="+mn-ea"/>
              </a:rPr>
              <a:t>対象拠点は台地に位置し、周辺地域より約</a:t>
            </a:r>
            <a:r>
              <a:rPr lang="en-US" altLang="ja-JP" sz="1400" dirty="0">
                <a:latin typeface="+mn-ea"/>
                <a:ea typeface="+mn-ea"/>
              </a:rPr>
              <a:t>10m</a:t>
            </a:r>
            <a:r>
              <a:rPr lang="ja-JP" altLang="en-US" sz="1400" dirty="0">
                <a:latin typeface="+mn-ea"/>
                <a:ea typeface="+mn-ea"/>
              </a:rPr>
              <a:t>高い標高です。敷地南側には三孤子川、敷地北側には員弁川が位置していますが、河川氾濫による浸水想定区域には該当していません。高潮浸水想定区域、</a:t>
            </a:r>
            <a:r>
              <a:rPr kumimoji="1" lang="ja-JP" altLang="en-US" sz="1400" dirty="0">
                <a:solidFill>
                  <a:schemeClr val="tx1"/>
                </a:solidFill>
                <a:latin typeface="+mn-ea"/>
                <a:ea typeface="+mn-ea"/>
              </a:rPr>
              <a:t>内水</a:t>
            </a:r>
            <a:r>
              <a:rPr lang="ja-JP" altLang="en-US" sz="1400" dirty="0">
                <a:latin typeface="+mn-ea"/>
                <a:ea typeface="+mn-ea"/>
              </a:rPr>
              <a:t>はん濫による浸水想定区域図及び、土砂災害警戒区域等にも該当していません。その他水災ハザード情報は公表されていません。</a:t>
            </a:r>
            <a:endParaRPr kumimoji="1" lang="en-US" altLang="ja-JP" sz="1400" b="0" i="0" u="none" strike="noStrike" kern="0" cap="none" spc="0" normalizeH="0" baseline="0" noProof="0" dirty="0">
              <a:ln>
                <a:noFill/>
              </a:ln>
              <a:effectLst/>
              <a:uLnTx/>
              <a:uFillTx/>
              <a:latin typeface="+mn-ea"/>
              <a:ea typeface="+mn-ea"/>
            </a:endParaRPr>
          </a:p>
          <a:p>
            <a:pPr marL="0" marR="0" lvl="0" indent="0" defTabSz="914400" eaLnBrk="1" fontAlgn="auto" latinLnBrk="0" hangingPunct="1">
              <a:lnSpc>
                <a:spcPct val="100000"/>
              </a:lnSpc>
              <a:spcBef>
                <a:spcPts val="0"/>
              </a:spcBef>
              <a:spcAft>
                <a:spcPts val="0"/>
              </a:spcAft>
              <a:buClrTx/>
              <a:buSzTx/>
              <a:buFontTx/>
              <a:buNone/>
              <a:tabLst/>
              <a:defRPr/>
            </a:pPr>
            <a:endParaRPr kumimoji="1" lang="en-US" altLang="ja-JP" sz="1400" b="0" i="0" u="none" strike="noStrike" kern="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graphicFrame>
        <p:nvGraphicFramePr>
          <p:cNvPr id="15" name="表 14">
            <a:extLst>
              <a:ext uri="{FF2B5EF4-FFF2-40B4-BE49-F238E27FC236}">
                <a16:creationId xmlns:a16="http://schemas.microsoft.com/office/drawing/2014/main" id="{AFFDABE8-BDDE-4AA7-978D-FB25FD0F1A3D}"/>
              </a:ext>
            </a:extLst>
          </p:cNvPr>
          <p:cNvGraphicFramePr>
            <a:graphicFrameLocks noGrp="1"/>
          </p:cNvGraphicFramePr>
          <p:nvPr>
            <p:extLst>
              <p:ext uri="{D42A27DB-BD31-4B8C-83A1-F6EECF244321}">
                <p14:modId xmlns:p14="http://schemas.microsoft.com/office/powerpoint/2010/main" val="1452937163"/>
              </p:ext>
            </p:extLst>
          </p:nvPr>
        </p:nvGraphicFramePr>
        <p:xfrm>
          <a:off x="146746" y="2105236"/>
          <a:ext cx="9606153" cy="531733"/>
        </p:xfrm>
        <a:graphic>
          <a:graphicData uri="http://schemas.openxmlformats.org/drawingml/2006/table">
            <a:tbl>
              <a:tblPr/>
              <a:tblGrid>
                <a:gridCol w="2135229">
                  <a:extLst>
                    <a:ext uri="{9D8B030D-6E8A-4147-A177-3AD203B41FA5}">
                      <a16:colId xmlns:a16="http://schemas.microsoft.com/office/drawing/2014/main" val="4179272557"/>
                    </a:ext>
                  </a:extLst>
                </a:gridCol>
                <a:gridCol w="2490308">
                  <a:extLst>
                    <a:ext uri="{9D8B030D-6E8A-4147-A177-3AD203B41FA5}">
                      <a16:colId xmlns:a16="http://schemas.microsoft.com/office/drawing/2014/main" val="314493181"/>
                    </a:ext>
                  </a:extLst>
                </a:gridCol>
                <a:gridCol w="2490308">
                  <a:extLst>
                    <a:ext uri="{9D8B030D-6E8A-4147-A177-3AD203B41FA5}">
                      <a16:colId xmlns:a16="http://schemas.microsoft.com/office/drawing/2014/main" val="131772342"/>
                    </a:ext>
                  </a:extLst>
                </a:gridCol>
                <a:gridCol w="2490308">
                  <a:extLst>
                    <a:ext uri="{9D8B030D-6E8A-4147-A177-3AD203B41FA5}">
                      <a16:colId xmlns:a16="http://schemas.microsoft.com/office/drawing/2014/main" val="693049794"/>
                    </a:ext>
                  </a:extLst>
                </a:gridCol>
              </a:tblGrid>
              <a:tr h="132850">
                <a:tc rowSpan="2">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最寄りの河川・</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海岸までの距離</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河川名</a:t>
                      </a:r>
                      <a:endParaRPr lang="en-US" sz="1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河川までの距離</a:t>
                      </a:r>
                      <a:endParaRPr lang="en-US" sz="1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海岸までの距離</a:t>
                      </a:r>
                      <a:endParaRPr lang="en-US" sz="1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extLst>
                  <a:ext uri="{0D108BD9-81ED-4DB2-BD59-A6C34878D82A}">
                    <a16:rowId xmlns:a16="http://schemas.microsoft.com/office/drawing/2014/main" val="1778410917"/>
                  </a:ext>
                </a:extLst>
              </a:tr>
              <a:tr h="308848">
                <a:tc vMerge="1">
                  <a:txBody>
                    <a:bodyPr/>
                    <a:lstStyle/>
                    <a:p>
                      <a:endParaRPr kumimoji="1" lang="ja-JP" altLang="en-US" dirty="0"/>
                    </a:p>
                  </a:txBody>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lang="ja-JP" altLang="en-US" sz="1400" dirty="0">
                          <a:latin typeface="+mn-ea"/>
                          <a:ea typeface="+mn-ea"/>
                        </a:rPr>
                        <a:t>三孤子川</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約</a:t>
                      </a:r>
                      <a:r>
                        <a:rPr kumimoji="1" lang="en-US" altLang="ja-JP" sz="1400" dirty="0">
                          <a:solidFill>
                            <a:schemeClr val="tx1"/>
                          </a:solidFill>
                          <a:latin typeface="游ゴシック" panose="020B0400000000000000" pitchFamily="50" charset="-128"/>
                          <a:ea typeface="游ゴシック" panose="020B0400000000000000" pitchFamily="50" charset="-128"/>
                        </a:rPr>
                        <a:t>170m</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kumimoji="1" lang="en-US" altLang="ja-JP" sz="1400" dirty="0">
                          <a:solidFill>
                            <a:schemeClr val="tx1"/>
                          </a:solidFill>
                          <a:latin typeface="游ゴシック" panose="020B0400000000000000" pitchFamily="50" charset="-128"/>
                          <a:ea typeface="游ゴシック" panose="020B0400000000000000" pitchFamily="50" charset="-128"/>
                        </a:rPr>
                        <a:t> </a:t>
                      </a:r>
                      <a:r>
                        <a:rPr kumimoji="1" lang="ja-JP" altLang="en-US" sz="1400" dirty="0">
                          <a:solidFill>
                            <a:schemeClr val="tx1"/>
                          </a:solidFill>
                          <a:latin typeface="游ゴシック" panose="020B0400000000000000" pitchFamily="50" charset="-128"/>
                          <a:ea typeface="游ゴシック" panose="020B0400000000000000" pitchFamily="50" charset="-128"/>
                        </a:rPr>
                        <a:t>約</a:t>
                      </a:r>
                      <a:r>
                        <a:rPr kumimoji="1" lang="en-US" altLang="ja-JP" sz="1400" dirty="0">
                          <a:solidFill>
                            <a:schemeClr val="tx1"/>
                          </a:solidFill>
                          <a:latin typeface="游ゴシック" panose="020B0400000000000000" pitchFamily="50" charset="-128"/>
                          <a:ea typeface="游ゴシック" panose="020B0400000000000000" pitchFamily="50" charset="-128"/>
                        </a:rPr>
                        <a:t>12km</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3032405"/>
                  </a:ext>
                </a:extLst>
              </a:tr>
            </a:tbl>
          </a:graphicData>
        </a:graphic>
      </p:graphicFrame>
      <p:graphicFrame>
        <p:nvGraphicFramePr>
          <p:cNvPr id="16" name="表 15">
            <a:extLst>
              <a:ext uri="{FF2B5EF4-FFF2-40B4-BE49-F238E27FC236}">
                <a16:creationId xmlns:a16="http://schemas.microsoft.com/office/drawing/2014/main" id="{67FA2769-A406-413B-85D7-799A59F0F66E}"/>
              </a:ext>
            </a:extLst>
          </p:cNvPr>
          <p:cNvGraphicFramePr>
            <a:graphicFrameLocks noGrp="1"/>
          </p:cNvGraphicFramePr>
          <p:nvPr>
            <p:extLst>
              <p:ext uri="{D42A27DB-BD31-4B8C-83A1-F6EECF244321}">
                <p14:modId xmlns:p14="http://schemas.microsoft.com/office/powerpoint/2010/main" val="3966149746"/>
              </p:ext>
            </p:extLst>
          </p:nvPr>
        </p:nvGraphicFramePr>
        <p:xfrm>
          <a:off x="146748" y="3349668"/>
          <a:ext cx="9606153" cy="978421"/>
        </p:xfrm>
        <a:graphic>
          <a:graphicData uri="http://schemas.openxmlformats.org/drawingml/2006/table">
            <a:tbl>
              <a:tblPr/>
              <a:tblGrid>
                <a:gridCol w="2157737">
                  <a:extLst>
                    <a:ext uri="{9D8B030D-6E8A-4147-A177-3AD203B41FA5}">
                      <a16:colId xmlns:a16="http://schemas.microsoft.com/office/drawing/2014/main" val="4179272557"/>
                    </a:ext>
                  </a:extLst>
                </a:gridCol>
                <a:gridCol w="2111790">
                  <a:extLst>
                    <a:ext uri="{9D8B030D-6E8A-4147-A177-3AD203B41FA5}">
                      <a16:colId xmlns:a16="http://schemas.microsoft.com/office/drawing/2014/main" val="314493181"/>
                    </a:ext>
                  </a:extLst>
                </a:gridCol>
                <a:gridCol w="2417874">
                  <a:extLst>
                    <a:ext uri="{9D8B030D-6E8A-4147-A177-3AD203B41FA5}">
                      <a16:colId xmlns:a16="http://schemas.microsoft.com/office/drawing/2014/main" val="131772342"/>
                    </a:ext>
                  </a:extLst>
                </a:gridCol>
                <a:gridCol w="2918752">
                  <a:extLst>
                    <a:ext uri="{9D8B030D-6E8A-4147-A177-3AD203B41FA5}">
                      <a16:colId xmlns:a16="http://schemas.microsoft.com/office/drawing/2014/main" val="693049794"/>
                    </a:ext>
                  </a:extLst>
                </a:gridCol>
              </a:tblGrid>
              <a:tr h="141439">
                <a:tc rowSpan="2">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河川氾濫・高潮による</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浸水想定区域</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河川氾濫（計画規模）</a:t>
                      </a:r>
                      <a:endParaRPr lang="en-US" sz="1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河川氾濫（想定最大規模）</a:t>
                      </a:r>
                      <a:endParaRPr lang="en-US" sz="1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高潮</a:t>
                      </a:r>
                      <a:endParaRPr lang="en-US" sz="1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extLst>
                  <a:ext uri="{0D108BD9-81ED-4DB2-BD59-A6C34878D82A}">
                    <a16:rowId xmlns:a16="http://schemas.microsoft.com/office/drawing/2014/main" val="1778410917"/>
                  </a:ext>
                </a:extLst>
              </a:tr>
              <a:tr h="328816">
                <a:tc vMerge="1">
                  <a:txBody>
                    <a:bodyPr/>
                    <a:lstStyle/>
                    <a:p>
                      <a:endParaRPr kumimoji="1" lang="ja-JP" altLang="en-US" dirty="0"/>
                    </a:p>
                  </a:txBody>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游ゴシック" panose="020B0400000000000000" pitchFamily="50" charset="-128"/>
                          <a:ea typeface="游ゴシック" panose="020B0400000000000000" pitchFamily="50" charset="-128"/>
                        </a:rPr>
                        <a:t>非該当</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游ゴシック" panose="020B0400000000000000" pitchFamily="50" charset="-128"/>
                          <a:ea typeface="游ゴシック" panose="020B0400000000000000" pitchFamily="50" charset="-128"/>
                        </a:rPr>
                        <a:t>非該当</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游ゴシック" panose="020B0400000000000000" pitchFamily="50" charset="-128"/>
                          <a:ea typeface="游ゴシック" panose="020B0400000000000000" pitchFamily="50" charset="-128"/>
                        </a:rPr>
                        <a:t>非該当</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3032405"/>
                  </a:ext>
                </a:extLst>
              </a:tr>
              <a:tr h="270790">
                <a:tc>
                  <a:txBody>
                    <a:body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（出典）</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100" dirty="0">
                          <a:solidFill>
                            <a:schemeClr val="tx1"/>
                          </a:solidFill>
                          <a:latin typeface="游ゴシック" panose="020B0400000000000000" pitchFamily="50" charset="-128"/>
                          <a:ea typeface="游ゴシック" panose="020B0400000000000000" pitchFamily="50" charset="-128"/>
                        </a:rPr>
                        <a:t>出典：</a:t>
                      </a:r>
                      <a:r>
                        <a:rPr lang="ja-JP" altLang="en-US" sz="1100" dirty="0">
                          <a:latin typeface="游ゴシック" panose="020B0400000000000000" pitchFamily="50" charset="-128"/>
                          <a:ea typeface="游ゴシック" panose="020B0400000000000000" pitchFamily="50" charset="-128"/>
                        </a:rPr>
                        <a:t>員弁川水系洪水浸水想定区域図</a:t>
                      </a:r>
                      <a:r>
                        <a:rPr kumimoji="1" lang="ja-JP" altLang="en-US" sz="1100" dirty="0">
                          <a:solidFill>
                            <a:schemeClr val="tx1"/>
                          </a:solidFill>
                          <a:latin typeface="游ゴシック" panose="020B0400000000000000" pitchFamily="50" charset="-128"/>
                          <a:ea typeface="游ゴシック" panose="020B0400000000000000" pitchFamily="50" charset="-128"/>
                        </a:rPr>
                        <a:t>／三重県</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100" dirty="0">
                          <a:solidFill>
                            <a:schemeClr val="tx1"/>
                          </a:solidFill>
                          <a:latin typeface="游ゴシック" panose="020B0400000000000000" pitchFamily="50" charset="-128"/>
                          <a:ea typeface="游ゴシック" panose="020B0400000000000000" pitchFamily="50" charset="-128"/>
                        </a:rPr>
                        <a:t>出典：</a:t>
                      </a:r>
                      <a:r>
                        <a:rPr lang="ja-JP" altLang="en-US" sz="1100" dirty="0">
                          <a:latin typeface="游ゴシック" panose="020B0400000000000000" pitchFamily="50" charset="-128"/>
                          <a:ea typeface="游ゴシック" panose="020B0400000000000000" pitchFamily="50" charset="-128"/>
                        </a:rPr>
                        <a:t>員弁川水系洪水浸水想定区域図</a:t>
                      </a:r>
                      <a:r>
                        <a:rPr kumimoji="1" lang="ja-JP" altLang="en-US" sz="1100" dirty="0">
                          <a:solidFill>
                            <a:schemeClr val="tx1"/>
                          </a:solidFill>
                          <a:latin typeface="游ゴシック" panose="020B0400000000000000" pitchFamily="50" charset="-128"/>
                          <a:ea typeface="游ゴシック" panose="020B0400000000000000" pitchFamily="50" charset="-128"/>
                        </a:rPr>
                        <a:t>／三重県</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100" dirty="0">
                          <a:solidFill>
                            <a:schemeClr val="tx1"/>
                          </a:solidFill>
                          <a:latin typeface="游ゴシック" panose="020B0400000000000000" pitchFamily="50" charset="-128"/>
                          <a:ea typeface="游ゴシック" panose="020B0400000000000000" pitchFamily="50" charset="-128"/>
                        </a:rPr>
                        <a:t>出典：</a:t>
                      </a:r>
                      <a:r>
                        <a:rPr lang="zh-CN" altLang="en-US" sz="1100" dirty="0">
                          <a:latin typeface="游ゴシック" panose="020B0400000000000000" pitchFamily="50" charset="-128"/>
                          <a:ea typeface="游ゴシック" panose="020B0400000000000000" pitchFamily="50" charset="-128"/>
                        </a:rPr>
                        <a:t>伊勢湾沿岸［三重県区間］高潮浸水想定区域図</a:t>
                      </a:r>
                      <a:r>
                        <a:rPr kumimoji="1" lang="ja-JP" altLang="en-US" sz="1100" dirty="0">
                          <a:solidFill>
                            <a:schemeClr val="tx1"/>
                          </a:solidFill>
                          <a:latin typeface="游ゴシック" panose="020B0400000000000000" pitchFamily="50" charset="-128"/>
                          <a:ea typeface="游ゴシック" panose="020B0400000000000000" pitchFamily="50" charset="-128"/>
                        </a:rPr>
                        <a:t>／三重県</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6762438"/>
                  </a:ext>
                </a:extLst>
              </a:tr>
            </a:tbl>
          </a:graphicData>
        </a:graphic>
      </p:graphicFrame>
      <p:graphicFrame>
        <p:nvGraphicFramePr>
          <p:cNvPr id="19" name="表 18">
            <a:extLst>
              <a:ext uri="{FF2B5EF4-FFF2-40B4-BE49-F238E27FC236}">
                <a16:creationId xmlns:a16="http://schemas.microsoft.com/office/drawing/2014/main" id="{33D88EE5-0F5B-4C0C-B30B-58BDEF277057}"/>
              </a:ext>
            </a:extLst>
          </p:cNvPr>
          <p:cNvGraphicFramePr>
            <a:graphicFrameLocks noGrp="1"/>
          </p:cNvGraphicFramePr>
          <p:nvPr>
            <p:extLst>
              <p:ext uri="{D42A27DB-BD31-4B8C-83A1-F6EECF244321}">
                <p14:modId xmlns:p14="http://schemas.microsoft.com/office/powerpoint/2010/main" val="1384568308"/>
              </p:ext>
            </p:extLst>
          </p:nvPr>
        </p:nvGraphicFramePr>
        <p:xfrm>
          <a:off x="146746" y="4473488"/>
          <a:ext cx="9606153" cy="954405"/>
        </p:xfrm>
        <a:graphic>
          <a:graphicData uri="http://schemas.openxmlformats.org/drawingml/2006/table">
            <a:tbl>
              <a:tblPr/>
              <a:tblGrid>
                <a:gridCol w="2135229">
                  <a:extLst>
                    <a:ext uri="{9D8B030D-6E8A-4147-A177-3AD203B41FA5}">
                      <a16:colId xmlns:a16="http://schemas.microsoft.com/office/drawing/2014/main" val="4179272557"/>
                    </a:ext>
                  </a:extLst>
                </a:gridCol>
                <a:gridCol w="2350606">
                  <a:extLst>
                    <a:ext uri="{9D8B030D-6E8A-4147-A177-3AD203B41FA5}">
                      <a16:colId xmlns:a16="http://schemas.microsoft.com/office/drawing/2014/main" val="314493181"/>
                    </a:ext>
                  </a:extLst>
                </a:gridCol>
                <a:gridCol w="2560159">
                  <a:extLst>
                    <a:ext uri="{9D8B030D-6E8A-4147-A177-3AD203B41FA5}">
                      <a16:colId xmlns:a16="http://schemas.microsoft.com/office/drawing/2014/main" val="131772342"/>
                    </a:ext>
                  </a:extLst>
                </a:gridCol>
                <a:gridCol w="2560159">
                  <a:extLst>
                    <a:ext uri="{9D8B030D-6E8A-4147-A177-3AD203B41FA5}">
                      <a16:colId xmlns:a16="http://schemas.microsoft.com/office/drawing/2014/main" val="693049794"/>
                    </a:ext>
                  </a:extLst>
                </a:gridCol>
              </a:tblGrid>
              <a:tr h="119640">
                <a:tc rowSpan="2">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土砂災害警戒区域等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地すべり　警戒区域等</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土石流　警戒区域等</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急傾斜地崩壊　警戒区域等</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extLst>
                  <a:ext uri="{0D108BD9-81ED-4DB2-BD59-A6C34878D82A}">
                    <a16:rowId xmlns:a16="http://schemas.microsoft.com/office/drawing/2014/main" val="1778410917"/>
                  </a:ext>
                </a:extLst>
              </a:tr>
              <a:tr h="163611">
                <a:tc vMerge="1">
                  <a:txBody>
                    <a:bodyPr/>
                    <a:lstStyle/>
                    <a:p>
                      <a:endParaRPr kumimoji="1" lang="ja-JP" altLang="en-US" dirty="0"/>
                    </a:p>
                  </a:txBody>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游ゴシック" panose="020B0400000000000000" pitchFamily="50" charset="-128"/>
                          <a:ea typeface="游ゴシック" panose="020B0400000000000000" pitchFamily="50" charset="-128"/>
                        </a:rPr>
                        <a:t>非該当</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非該当</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非該当</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3032405"/>
                  </a:ext>
                </a:extLst>
              </a:tr>
              <a:tr h="229055">
                <a:tc>
                  <a:txBody>
                    <a:body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（出典）</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gridSpan="3">
                  <a:txBody>
                    <a:bodyPr/>
                    <a:lstStyle/>
                    <a:p>
                      <a:pPr algn="ctr"/>
                      <a:r>
                        <a:rPr kumimoji="1" lang="ja-JP" altLang="en-US" sz="1100" dirty="0">
                          <a:solidFill>
                            <a:schemeClr val="tx1"/>
                          </a:solidFill>
                          <a:latin typeface="游ゴシック" panose="020B0400000000000000" pitchFamily="50" charset="-128"/>
                          <a:ea typeface="游ゴシック" panose="020B0400000000000000" pitchFamily="50" charset="-128"/>
                        </a:rPr>
                        <a:t>出典：重ねるハザードマップ</a:t>
                      </a:r>
                      <a:endParaRPr kumimoji="1" lang="en-US" altLang="ja-JP" sz="11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100" dirty="0">
                          <a:solidFill>
                            <a:schemeClr val="tx1"/>
                          </a:solidFill>
                          <a:latin typeface="游ゴシック" panose="020B0400000000000000" pitchFamily="50" charset="-128"/>
                          <a:ea typeface="游ゴシック" panose="020B0400000000000000" pitchFamily="50" charset="-128"/>
                        </a:rPr>
                        <a:t>／国土交通省</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400" dirty="0">
                        <a:solidFill>
                          <a:schemeClr val="tx1"/>
                        </a:solidFill>
                        <a:latin typeface="游ゴシック" panose="020B0400000000000000" pitchFamily="50" charset="-128"/>
                        <a:ea typeface="游ゴシック" panose="020B0400000000000000"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400" dirty="0">
                        <a:solidFill>
                          <a:schemeClr val="tx1"/>
                        </a:solidFill>
                        <a:latin typeface="游ゴシック" panose="020B0400000000000000" pitchFamily="50" charset="-128"/>
                        <a:ea typeface="游ゴシック" panose="020B0400000000000000" pitchFamily="50"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5251699"/>
                  </a:ext>
                </a:extLst>
              </a:tr>
            </a:tbl>
          </a:graphicData>
        </a:graphic>
      </p:graphicFrame>
      <p:graphicFrame>
        <p:nvGraphicFramePr>
          <p:cNvPr id="20" name="表 19">
            <a:extLst>
              <a:ext uri="{FF2B5EF4-FFF2-40B4-BE49-F238E27FC236}">
                <a16:creationId xmlns:a16="http://schemas.microsoft.com/office/drawing/2014/main" id="{660979A4-82B3-47E2-8E7E-24AA3A3C64E1}"/>
              </a:ext>
            </a:extLst>
          </p:cNvPr>
          <p:cNvGraphicFramePr>
            <a:graphicFrameLocks noGrp="1"/>
          </p:cNvGraphicFramePr>
          <p:nvPr>
            <p:extLst>
              <p:ext uri="{D42A27DB-BD31-4B8C-83A1-F6EECF244321}">
                <p14:modId xmlns:p14="http://schemas.microsoft.com/office/powerpoint/2010/main" val="435479236"/>
              </p:ext>
            </p:extLst>
          </p:nvPr>
        </p:nvGraphicFramePr>
        <p:xfrm>
          <a:off x="146747" y="2736542"/>
          <a:ext cx="9606152" cy="527685"/>
        </p:xfrm>
        <a:graphic>
          <a:graphicData uri="http://schemas.openxmlformats.org/drawingml/2006/table">
            <a:tbl>
              <a:tblPr/>
              <a:tblGrid>
                <a:gridCol w="2135228">
                  <a:extLst>
                    <a:ext uri="{9D8B030D-6E8A-4147-A177-3AD203B41FA5}">
                      <a16:colId xmlns:a16="http://schemas.microsoft.com/office/drawing/2014/main" val="4179272557"/>
                    </a:ext>
                  </a:extLst>
                </a:gridCol>
                <a:gridCol w="1867731">
                  <a:extLst>
                    <a:ext uri="{9D8B030D-6E8A-4147-A177-3AD203B41FA5}">
                      <a16:colId xmlns:a16="http://schemas.microsoft.com/office/drawing/2014/main" val="314493181"/>
                    </a:ext>
                  </a:extLst>
                </a:gridCol>
                <a:gridCol w="1867731">
                  <a:extLst>
                    <a:ext uri="{9D8B030D-6E8A-4147-A177-3AD203B41FA5}">
                      <a16:colId xmlns:a16="http://schemas.microsoft.com/office/drawing/2014/main" val="3347436271"/>
                    </a:ext>
                  </a:extLst>
                </a:gridCol>
                <a:gridCol w="1867731">
                  <a:extLst>
                    <a:ext uri="{9D8B030D-6E8A-4147-A177-3AD203B41FA5}">
                      <a16:colId xmlns:a16="http://schemas.microsoft.com/office/drawing/2014/main" val="131772342"/>
                    </a:ext>
                  </a:extLst>
                </a:gridCol>
                <a:gridCol w="1867731">
                  <a:extLst>
                    <a:ext uri="{9D8B030D-6E8A-4147-A177-3AD203B41FA5}">
                      <a16:colId xmlns:a16="http://schemas.microsoft.com/office/drawing/2014/main" val="693049794"/>
                    </a:ext>
                  </a:extLst>
                </a:gridCol>
              </a:tblGrid>
              <a:tr h="0">
                <a:tc rowSpan="2">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周辺地域との標高差</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東</a:t>
                      </a:r>
                      <a:endParaRPr lang="en-US" sz="1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西</a:t>
                      </a:r>
                      <a:endParaRPr lang="en-US" sz="1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南</a:t>
                      </a:r>
                      <a:endParaRPr lang="en-US" sz="1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北</a:t>
                      </a:r>
                      <a:endParaRPr lang="en-US" sz="14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extLst>
                  <a:ext uri="{0D108BD9-81ED-4DB2-BD59-A6C34878D82A}">
                    <a16:rowId xmlns:a16="http://schemas.microsoft.com/office/drawing/2014/main" val="1778410917"/>
                  </a:ext>
                </a:extLst>
              </a:tr>
              <a:tr h="0">
                <a:tc vMerge="1">
                  <a:txBody>
                    <a:bodyPr/>
                    <a:lstStyle/>
                    <a:p>
                      <a:endParaRPr kumimoji="1" lang="ja-JP" altLang="en-US" dirty="0"/>
                    </a:p>
                  </a:txBody>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周辺より</a:t>
                      </a:r>
                      <a:r>
                        <a:rPr kumimoji="1" lang="en-US" altLang="ja-JP" sz="1400" dirty="0">
                          <a:solidFill>
                            <a:schemeClr val="tx1"/>
                          </a:solidFill>
                          <a:latin typeface="游ゴシック" panose="020B0400000000000000" pitchFamily="50" charset="-128"/>
                          <a:ea typeface="游ゴシック" panose="020B0400000000000000" pitchFamily="50" charset="-128"/>
                        </a:rPr>
                        <a:t>10m</a:t>
                      </a:r>
                      <a:r>
                        <a:rPr kumimoji="1" lang="ja-JP" altLang="en-US" sz="1400" dirty="0">
                          <a:solidFill>
                            <a:schemeClr val="tx1"/>
                          </a:solidFill>
                          <a:latin typeface="游ゴシック" panose="020B0400000000000000" pitchFamily="50" charset="-128"/>
                          <a:ea typeface="游ゴシック" panose="020B0400000000000000" pitchFamily="50" charset="-128"/>
                        </a:rPr>
                        <a:t>高い</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ほぼ同じ</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周辺より</a:t>
                      </a:r>
                      <a:r>
                        <a:rPr kumimoji="1" lang="en-US" altLang="ja-JP" sz="1400" dirty="0">
                          <a:solidFill>
                            <a:schemeClr val="tx1"/>
                          </a:solidFill>
                          <a:latin typeface="游ゴシック" panose="020B0400000000000000" pitchFamily="50" charset="-128"/>
                          <a:ea typeface="游ゴシック" panose="020B0400000000000000" pitchFamily="50" charset="-128"/>
                        </a:rPr>
                        <a:t>10m</a:t>
                      </a:r>
                      <a:r>
                        <a:rPr kumimoji="1" lang="ja-JP" altLang="en-US" sz="1400" dirty="0">
                          <a:solidFill>
                            <a:schemeClr val="tx1"/>
                          </a:solidFill>
                          <a:latin typeface="游ゴシック" panose="020B0400000000000000" pitchFamily="50" charset="-128"/>
                          <a:ea typeface="游ゴシック" panose="020B0400000000000000" pitchFamily="50" charset="-128"/>
                        </a:rPr>
                        <a:t>高い</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周辺より</a:t>
                      </a:r>
                      <a:r>
                        <a:rPr kumimoji="1" lang="en-US" altLang="ja-JP" sz="1400" dirty="0">
                          <a:solidFill>
                            <a:schemeClr val="tx1"/>
                          </a:solidFill>
                          <a:latin typeface="游ゴシック" panose="020B0400000000000000" pitchFamily="50" charset="-128"/>
                          <a:ea typeface="游ゴシック" panose="020B0400000000000000" pitchFamily="50" charset="-128"/>
                        </a:rPr>
                        <a:t>10m</a:t>
                      </a:r>
                      <a:r>
                        <a:rPr kumimoji="1" lang="ja-JP" altLang="en-US" sz="1400" dirty="0">
                          <a:solidFill>
                            <a:schemeClr val="tx1"/>
                          </a:solidFill>
                          <a:latin typeface="游ゴシック" panose="020B0400000000000000" pitchFamily="50" charset="-128"/>
                          <a:ea typeface="游ゴシック" panose="020B0400000000000000" pitchFamily="50" charset="-128"/>
                        </a:rPr>
                        <a:t>高い</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3032405"/>
                  </a:ext>
                </a:extLst>
              </a:tr>
            </a:tbl>
          </a:graphicData>
        </a:graphic>
      </p:graphicFrame>
      <p:grpSp>
        <p:nvGrpSpPr>
          <p:cNvPr id="11" name="グループ化 10">
            <a:extLst>
              <a:ext uri="{FF2B5EF4-FFF2-40B4-BE49-F238E27FC236}">
                <a16:creationId xmlns:a16="http://schemas.microsoft.com/office/drawing/2014/main" id="{88FEF8B9-6946-4783-8110-1680E2F6A8DF}"/>
              </a:ext>
            </a:extLst>
          </p:cNvPr>
          <p:cNvGrpSpPr/>
          <p:nvPr/>
        </p:nvGrpSpPr>
        <p:grpSpPr>
          <a:xfrm>
            <a:off x="360000" y="370800"/>
            <a:ext cx="720000" cy="672000"/>
            <a:chOff x="360000" y="370800"/>
            <a:chExt cx="720000" cy="672000"/>
          </a:xfrm>
        </p:grpSpPr>
        <p:sp>
          <p:nvSpPr>
            <p:cNvPr id="12" name="正方形/長方形 11">
              <a:extLst>
                <a:ext uri="{FF2B5EF4-FFF2-40B4-BE49-F238E27FC236}">
                  <a16:creationId xmlns:a16="http://schemas.microsoft.com/office/drawing/2014/main" id="{3694ED66-8FC1-4EED-B8A6-66295C06CEF9}"/>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3" name="テキスト ボックス 12">
              <a:extLst>
                <a:ext uri="{FF2B5EF4-FFF2-40B4-BE49-F238E27FC236}">
                  <a16:creationId xmlns:a16="http://schemas.microsoft.com/office/drawing/2014/main" id="{31626DD9-C15C-4A38-887A-E26BC34AEDD9}"/>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5</a:t>
              </a:r>
            </a:p>
          </p:txBody>
        </p:sp>
      </p:grpSp>
      <p:graphicFrame>
        <p:nvGraphicFramePr>
          <p:cNvPr id="17" name="表 16">
            <a:extLst>
              <a:ext uri="{FF2B5EF4-FFF2-40B4-BE49-F238E27FC236}">
                <a16:creationId xmlns:a16="http://schemas.microsoft.com/office/drawing/2014/main" id="{7180AC6B-76C6-436D-97BB-9F8813E3E8E9}"/>
              </a:ext>
            </a:extLst>
          </p:cNvPr>
          <p:cNvGraphicFramePr>
            <a:graphicFrameLocks noGrp="1"/>
          </p:cNvGraphicFramePr>
          <p:nvPr>
            <p:extLst>
              <p:ext uri="{D42A27DB-BD31-4B8C-83A1-F6EECF244321}">
                <p14:modId xmlns:p14="http://schemas.microsoft.com/office/powerpoint/2010/main" val="350959955"/>
              </p:ext>
            </p:extLst>
          </p:nvPr>
        </p:nvGraphicFramePr>
        <p:xfrm>
          <a:off x="146746" y="5573293"/>
          <a:ext cx="9606154" cy="802005"/>
        </p:xfrm>
        <a:graphic>
          <a:graphicData uri="http://schemas.openxmlformats.org/drawingml/2006/table">
            <a:tbl>
              <a:tblPr/>
              <a:tblGrid>
                <a:gridCol w="2135230">
                  <a:extLst>
                    <a:ext uri="{9D8B030D-6E8A-4147-A177-3AD203B41FA5}">
                      <a16:colId xmlns:a16="http://schemas.microsoft.com/office/drawing/2014/main" val="4179272557"/>
                    </a:ext>
                  </a:extLst>
                </a:gridCol>
                <a:gridCol w="7470924">
                  <a:extLst>
                    <a:ext uri="{9D8B030D-6E8A-4147-A177-3AD203B41FA5}">
                      <a16:colId xmlns:a16="http://schemas.microsoft.com/office/drawing/2014/main" val="314493181"/>
                    </a:ext>
                  </a:extLst>
                </a:gridCol>
              </a:tblGrid>
              <a:tr h="167531">
                <a:tc rowSpan="2">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その他の水災ハザード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内水氾濫、ため池決壊、ダム下流浸水想定図等</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extLst>
                  <a:ext uri="{0D108BD9-81ED-4DB2-BD59-A6C34878D82A}">
                    <a16:rowId xmlns:a16="http://schemas.microsoft.com/office/drawing/2014/main" val="1778410917"/>
                  </a:ext>
                </a:extLst>
              </a:tr>
              <a:tr h="206192">
                <a:tc vMerge="1">
                  <a:txBody>
                    <a:bodyPr/>
                    <a:lstStyle/>
                    <a:p>
                      <a:endParaRPr kumimoji="1" lang="ja-JP" altLang="en-US" dirty="0"/>
                    </a:p>
                  </a:txBody>
                  <a:tcPr/>
                </a:tc>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latin typeface="游ゴシック" panose="020B0400000000000000" pitchFamily="50" charset="-128"/>
                          <a:ea typeface="游ゴシック" panose="020B0400000000000000" pitchFamily="50" charset="-128"/>
                        </a:rPr>
                        <a:t>その他の水災ハザードは公表されていません</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3032405"/>
                  </a:ext>
                </a:extLst>
              </a:tr>
              <a:tr h="229102">
                <a:tc>
                  <a:txBody>
                    <a:body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（出典）</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latin typeface="游ゴシック" panose="020B0400000000000000" pitchFamily="50" charset="-128"/>
                          <a:ea typeface="游ゴシック" panose="020B0400000000000000" pitchFamily="50" charset="-128"/>
                        </a:rPr>
                        <a:t>なし</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5251699"/>
                  </a:ext>
                </a:extLst>
              </a:tr>
            </a:tbl>
          </a:graphicData>
        </a:graphic>
      </p:graphicFrame>
    </p:spTree>
    <p:extLst>
      <p:ext uri="{BB962C8B-B14F-4D97-AF65-F5344CB8AC3E}">
        <p14:creationId xmlns:p14="http://schemas.microsoft.com/office/powerpoint/2010/main" val="1269017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DF0B6CB4-DEC8-BA10-423D-DBF4B0F13302}"/>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4644904" y="2322227"/>
            <a:ext cx="4153059" cy="3308068"/>
          </a:xfrm>
          <a:prstGeom prst="rect">
            <a:avLst/>
          </a:prstGeom>
        </p:spPr>
      </p:pic>
      <p:pic>
        <p:nvPicPr>
          <p:cNvPr id="18" name="図 17">
            <a:extLst>
              <a:ext uri="{FF2B5EF4-FFF2-40B4-BE49-F238E27FC236}">
                <a16:creationId xmlns:a16="http://schemas.microsoft.com/office/drawing/2014/main" id="{C42EB719-CDEA-3CA8-F480-E91AF70D6BED}"/>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8141582" y="2607525"/>
            <a:ext cx="1414868" cy="3147513"/>
          </a:xfrm>
          <a:prstGeom prst="rect">
            <a:avLst/>
          </a:prstGeom>
        </p:spPr>
      </p:pic>
      <p:pic>
        <p:nvPicPr>
          <p:cNvPr id="9" name="図 8">
            <a:extLst>
              <a:ext uri="{FF2B5EF4-FFF2-40B4-BE49-F238E27FC236}">
                <a16:creationId xmlns:a16="http://schemas.microsoft.com/office/drawing/2014/main" id="{89395601-A079-BBE1-5EF3-352E6E490D37}"/>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390688" y="2337046"/>
            <a:ext cx="4076275" cy="3283800"/>
          </a:xfrm>
          <a:prstGeom prst="rect">
            <a:avLst/>
          </a:prstGeom>
        </p:spPr>
      </p:pic>
      <p:sp>
        <p:nvSpPr>
          <p:cNvPr id="39" name="正方形/長方形 38">
            <a:extLst>
              <a:ext uri="{FF2B5EF4-FFF2-40B4-BE49-F238E27FC236}">
                <a16:creationId xmlns:a16="http://schemas.microsoft.com/office/drawing/2014/main" id="{0E7FC68B-3551-4064-AC63-9204E8715052}"/>
              </a:ext>
            </a:extLst>
          </p:cNvPr>
          <p:cNvSpPr/>
          <p:nvPr/>
        </p:nvSpPr>
        <p:spPr>
          <a:xfrm>
            <a:off x="8134350" y="2254004"/>
            <a:ext cx="1427637" cy="307777"/>
          </a:xfrm>
          <a:prstGeom prst="rect">
            <a:avLst/>
          </a:prstGeom>
          <a:solidFill>
            <a:srgbClr val="006659"/>
          </a:solidFill>
          <a:ln w="12700">
            <a:solidFill>
              <a:srgbClr val="006659"/>
            </a:solid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標高の凡例</a:t>
            </a:r>
          </a:p>
        </p:txBody>
      </p:sp>
      <p:sp>
        <p:nvSpPr>
          <p:cNvPr id="6" name="テキスト ボックス 5"/>
          <p:cNvSpPr txBox="1"/>
          <p:nvPr/>
        </p:nvSpPr>
        <p:spPr>
          <a:xfrm>
            <a:off x="1291335" y="370800"/>
            <a:ext cx="7504321"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立地状況（地形）</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5" name="テキスト ボックス 7"/>
          <p:cNvSpPr txBox="1">
            <a:spLocks noChangeArrowheads="1"/>
          </p:cNvSpPr>
          <p:nvPr/>
        </p:nvSpPr>
        <p:spPr bwMode="auto">
          <a:xfrm>
            <a:off x="374885" y="1235173"/>
            <a:ext cx="9181565" cy="491490"/>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defRPr/>
            </a:pPr>
            <a:r>
              <a:rPr lang="ja-JP" altLang="en-US" sz="1400" dirty="0">
                <a:solidFill>
                  <a:prstClr val="black"/>
                </a:solidFill>
                <a:latin typeface="游ゴシック" panose="020B0400000000000000" pitchFamily="50" charset="-128"/>
                <a:ea typeface="游ゴシック" panose="020B0400000000000000" pitchFamily="50" charset="-128"/>
              </a:rPr>
              <a:t>対象拠点</a:t>
            </a:r>
            <a:r>
              <a:rPr lang="ja-JP" altLang="en-US" sz="1400" dirty="0">
                <a:latin typeface="游ゴシック" panose="020B0400000000000000" pitchFamily="50" charset="-128"/>
                <a:ea typeface="游ゴシック" panose="020B0400000000000000" pitchFamily="50" charset="-128"/>
              </a:rPr>
              <a:t>は台地に位置しています。標高は約</a:t>
            </a:r>
            <a:r>
              <a:rPr lang="en-US" altLang="ja-JP" sz="1400" dirty="0">
                <a:latin typeface="游ゴシック" panose="020B0400000000000000" pitchFamily="50" charset="-128"/>
                <a:ea typeface="游ゴシック" panose="020B0400000000000000" pitchFamily="50" charset="-128"/>
              </a:rPr>
              <a:t>54</a:t>
            </a:r>
            <a:r>
              <a:rPr lang="ja-JP" altLang="en-US" sz="1400" dirty="0">
                <a:latin typeface="游ゴシック" panose="020B0400000000000000" pitchFamily="50" charset="-128"/>
                <a:ea typeface="游ゴシック" panose="020B0400000000000000" pitchFamily="50" charset="-128"/>
              </a:rPr>
              <a:t>～</a:t>
            </a:r>
            <a:r>
              <a:rPr lang="en-US" altLang="ja-JP" sz="1400" dirty="0">
                <a:latin typeface="游ゴシック" panose="020B0400000000000000" pitchFamily="50" charset="-128"/>
                <a:ea typeface="游ゴシック" panose="020B0400000000000000" pitchFamily="50" charset="-128"/>
              </a:rPr>
              <a:t>56m</a:t>
            </a:r>
            <a:r>
              <a:rPr lang="ja-JP" altLang="en-US" sz="1400" dirty="0">
                <a:latin typeface="游ゴシック" panose="020B0400000000000000" pitchFamily="50" charset="-128"/>
                <a:ea typeface="游ゴシック" panose="020B0400000000000000" pitchFamily="50" charset="-128"/>
              </a:rPr>
              <a:t>で周辺地形と比べて</a:t>
            </a:r>
            <a:r>
              <a:rPr lang="en-US" altLang="ja-JP" sz="1400" dirty="0">
                <a:latin typeface="游ゴシック" panose="020B0400000000000000" pitchFamily="50" charset="-128"/>
                <a:ea typeface="游ゴシック" panose="020B0400000000000000" pitchFamily="50" charset="-128"/>
              </a:rPr>
              <a:t>10m</a:t>
            </a:r>
            <a:r>
              <a:rPr lang="ja-JP" altLang="en-US" sz="1400" dirty="0">
                <a:latin typeface="游ゴシック" panose="020B0400000000000000" pitchFamily="50" charset="-128"/>
                <a:ea typeface="游ゴシック" panose="020B0400000000000000" pitchFamily="50" charset="-128"/>
              </a:rPr>
              <a:t>程度高くなっています。敷地北側には員弁川水系員弁川、敷地南側には員弁川水系三孤子川が位置しています。</a:t>
            </a:r>
            <a:endPar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endParaRPr>
          </a:p>
        </p:txBody>
      </p:sp>
      <p:sp>
        <p:nvSpPr>
          <p:cNvPr id="19"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25</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26" name="グループ化 25">
            <a:extLst>
              <a:ext uri="{FF2B5EF4-FFF2-40B4-BE49-F238E27FC236}">
                <a16:creationId xmlns:a16="http://schemas.microsoft.com/office/drawing/2014/main" id="{AD9AB79F-E031-49F2-BAA0-0454996B00CE}"/>
              </a:ext>
            </a:extLst>
          </p:cNvPr>
          <p:cNvGrpSpPr/>
          <p:nvPr/>
        </p:nvGrpSpPr>
        <p:grpSpPr>
          <a:xfrm>
            <a:off x="360000" y="370800"/>
            <a:ext cx="720000" cy="672000"/>
            <a:chOff x="360000" y="370800"/>
            <a:chExt cx="720000" cy="672000"/>
          </a:xfrm>
        </p:grpSpPr>
        <p:sp>
          <p:nvSpPr>
            <p:cNvPr id="29" name="正方形/長方形 28">
              <a:extLst>
                <a:ext uri="{FF2B5EF4-FFF2-40B4-BE49-F238E27FC236}">
                  <a16:creationId xmlns:a16="http://schemas.microsoft.com/office/drawing/2014/main" id="{B38AE848-A3BD-4D1E-A794-61F48C94CB86}"/>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31" name="テキスト ボックス 30">
              <a:extLst>
                <a:ext uri="{FF2B5EF4-FFF2-40B4-BE49-F238E27FC236}">
                  <a16:creationId xmlns:a16="http://schemas.microsoft.com/office/drawing/2014/main" id="{CEAFD16E-F927-4903-9DC9-D06D6FB2CB72}"/>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5</a:t>
              </a:r>
            </a:p>
          </p:txBody>
        </p:sp>
      </p:grpSp>
      <p:sp>
        <p:nvSpPr>
          <p:cNvPr id="35" name="正方形/長方形 34">
            <a:extLst>
              <a:ext uri="{FF2B5EF4-FFF2-40B4-BE49-F238E27FC236}">
                <a16:creationId xmlns:a16="http://schemas.microsoft.com/office/drawing/2014/main" id="{85542568-043B-4A0E-8788-E7EBA19BB812}"/>
              </a:ext>
            </a:extLst>
          </p:cNvPr>
          <p:cNvSpPr/>
          <p:nvPr/>
        </p:nvSpPr>
        <p:spPr>
          <a:xfrm>
            <a:off x="1834322" y="3577357"/>
            <a:ext cx="978728" cy="826928"/>
          </a:xfrm>
          <a:prstGeom prst="rect">
            <a:avLst/>
          </a:prstGeom>
          <a:noFill/>
          <a:ln w="19050">
            <a:solidFill>
              <a:srgbClr val="901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endParaRPr>
          </a:p>
        </p:txBody>
      </p:sp>
      <p:cxnSp>
        <p:nvCxnSpPr>
          <p:cNvPr id="36" name="直線コネクタ 35">
            <a:extLst>
              <a:ext uri="{FF2B5EF4-FFF2-40B4-BE49-F238E27FC236}">
                <a16:creationId xmlns:a16="http://schemas.microsoft.com/office/drawing/2014/main" id="{FA9B57A7-E3CD-4E28-AF8D-5EB54705FB77}"/>
              </a:ext>
            </a:extLst>
          </p:cNvPr>
          <p:cNvCxnSpPr>
            <a:cxnSpLocks/>
          </p:cNvCxnSpPr>
          <p:nvPr/>
        </p:nvCxnSpPr>
        <p:spPr>
          <a:xfrm flipV="1">
            <a:off x="1834322" y="2312778"/>
            <a:ext cx="2810582" cy="1255130"/>
          </a:xfrm>
          <a:prstGeom prst="line">
            <a:avLst/>
          </a:prstGeom>
          <a:ln w="15875">
            <a:solidFill>
              <a:srgbClr val="901006"/>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6E54FD17-EB2B-4FF2-8958-2D46B579B37F}"/>
              </a:ext>
            </a:extLst>
          </p:cNvPr>
          <p:cNvCxnSpPr>
            <a:cxnSpLocks/>
          </p:cNvCxnSpPr>
          <p:nvPr/>
        </p:nvCxnSpPr>
        <p:spPr>
          <a:xfrm>
            <a:off x="1834322" y="4393998"/>
            <a:ext cx="2810582" cy="1226848"/>
          </a:xfrm>
          <a:prstGeom prst="line">
            <a:avLst/>
          </a:prstGeom>
          <a:ln w="15875">
            <a:solidFill>
              <a:srgbClr val="901006"/>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153B142B-B881-42EF-9D86-BC148F8BD179}"/>
              </a:ext>
            </a:extLst>
          </p:cNvPr>
          <p:cNvCxnSpPr>
            <a:cxnSpLocks/>
            <a:stCxn id="44" idx="2"/>
            <a:endCxn id="10" idx="6"/>
          </p:cNvCxnSpPr>
          <p:nvPr/>
        </p:nvCxnSpPr>
        <p:spPr>
          <a:xfrm flipH="1">
            <a:off x="6816436" y="2995688"/>
            <a:ext cx="312636" cy="555034"/>
          </a:xfrm>
          <a:prstGeom prst="straightConnector1">
            <a:avLst/>
          </a:prstGeom>
          <a:ln>
            <a:solidFill>
              <a:srgbClr val="901006"/>
            </a:solidFill>
            <a:tailEnd type="triangle"/>
          </a:ln>
          <a:effectLst>
            <a:glow rad="38100">
              <a:schemeClr val="bg1">
                <a:alpha val="50000"/>
              </a:schemeClr>
            </a:glow>
          </a:effectLst>
        </p:spPr>
        <p:style>
          <a:lnRef idx="1">
            <a:schemeClr val="accent1"/>
          </a:lnRef>
          <a:fillRef idx="0">
            <a:schemeClr val="accent1"/>
          </a:fillRef>
          <a:effectRef idx="0">
            <a:schemeClr val="accent1"/>
          </a:effectRef>
          <a:fontRef idx="minor">
            <a:schemeClr val="tx1"/>
          </a:fontRef>
        </p:style>
      </p:cxnSp>
      <p:sp>
        <p:nvSpPr>
          <p:cNvPr id="44" name="正方形/長方形 43">
            <a:extLst>
              <a:ext uri="{FF2B5EF4-FFF2-40B4-BE49-F238E27FC236}">
                <a16:creationId xmlns:a16="http://schemas.microsoft.com/office/drawing/2014/main" id="{A2A9A2E4-C20E-4925-A64F-864532F1AECB}"/>
              </a:ext>
            </a:extLst>
          </p:cNvPr>
          <p:cNvSpPr/>
          <p:nvPr/>
        </p:nvSpPr>
        <p:spPr>
          <a:xfrm>
            <a:off x="6669811" y="2718689"/>
            <a:ext cx="918521" cy="276999"/>
          </a:xfrm>
          <a:prstGeom prst="rect">
            <a:avLst/>
          </a:prstGeom>
          <a:solidFill>
            <a:srgbClr val="901006"/>
          </a:solidFill>
          <a:effectLst>
            <a:glow rad="63500">
              <a:schemeClr val="bg1">
                <a:alpha val="50000"/>
              </a:schemeClr>
            </a:glow>
          </a:effectLst>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対象拠点</a:t>
            </a:r>
          </a:p>
        </p:txBody>
      </p:sp>
      <p:sp>
        <p:nvSpPr>
          <p:cNvPr id="45" name="正方形/長方形 44">
            <a:extLst>
              <a:ext uri="{FF2B5EF4-FFF2-40B4-BE49-F238E27FC236}">
                <a16:creationId xmlns:a16="http://schemas.microsoft.com/office/drawing/2014/main" id="{7FE5BAED-3A34-4910-8BCE-7DEAD5793740}"/>
              </a:ext>
            </a:extLst>
          </p:cNvPr>
          <p:cNvSpPr/>
          <p:nvPr/>
        </p:nvSpPr>
        <p:spPr>
          <a:xfrm>
            <a:off x="8141582" y="4257151"/>
            <a:ext cx="1383541" cy="372000"/>
          </a:xfrm>
          <a:prstGeom prst="rect">
            <a:avLst/>
          </a:prstGeom>
          <a:noFill/>
          <a:ln>
            <a:solidFill>
              <a:srgbClr val="901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endParaRPr>
          </a:p>
        </p:txBody>
      </p:sp>
      <p:sp>
        <p:nvSpPr>
          <p:cNvPr id="25" name="正方形/長方形 24">
            <a:extLst>
              <a:ext uri="{FF2B5EF4-FFF2-40B4-BE49-F238E27FC236}">
                <a16:creationId xmlns:a16="http://schemas.microsoft.com/office/drawing/2014/main" id="{8D64FBD9-1A25-4B84-ADF8-C2DE2F8909CF}"/>
              </a:ext>
            </a:extLst>
          </p:cNvPr>
          <p:cNvSpPr/>
          <p:nvPr/>
        </p:nvSpPr>
        <p:spPr>
          <a:xfrm>
            <a:off x="2415745" y="5772000"/>
            <a:ext cx="3983339" cy="261610"/>
          </a:xfrm>
          <a:prstGeom prst="rect">
            <a:avLst/>
          </a:prstGeom>
        </p:spPr>
        <p:txBody>
          <a:bodyPr wrap="square">
            <a:spAutoFit/>
          </a:bodyPr>
          <a:lstStyle/>
          <a:p>
            <a:pPr algn="ctr"/>
            <a:r>
              <a:rPr lang="ja-JP" altLang="en-US" sz="1100" dirty="0">
                <a:latin typeface="游ゴシック" panose="020B0400000000000000" pitchFamily="50" charset="-128"/>
                <a:ea typeface="游ゴシック" panose="020B0400000000000000" pitchFamily="50" charset="-128"/>
              </a:rPr>
              <a:t>図：色別標高図</a:t>
            </a:r>
            <a:endParaRPr lang="en-US" altLang="ja-JP" sz="1100" dirty="0">
              <a:effectLst/>
              <a:latin typeface="游ゴシック" panose="020B0400000000000000" pitchFamily="50" charset="-128"/>
              <a:ea typeface="游ゴシック" panose="020B0400000000000000" pitchFamily="50" charset="-128"/>
            </a:endParaRPr>
          </a:p>
        </p:txBody>
      </p:sp>
      <p:sp>
        <p:nvSpPr>
          <p:cNvPr id="27" name="正方形/長方形 26">
            <a:extLst>
              <a:ext uri="{FF2B5EF4-FFF2-40B4-BE49-F238E27FC236}">
                <a16:creationId xmlns:a16="http://schemas.microsoft.com/office/drawing/2014/main" id="{C6DAAD92-6AC9-495E-A1E7-A69DF6E3312C}"/>
              </a:ext>
            </a:extLst>
          </p:cNvPr>
          <p:cNvSpPr/>
          <p:nvPr/>
        </p:nvSpPr>
        <p:spPr>
          <a:xfrm>
            <a:off x="1537012" y="6184764"/>
            <a:ext cx="7992047" cy="261610"/>
          </a:xfrm>
          <a:prstGeom prst="rect">
            <a:avLst/>
          </a:prstGeom>
        </p:spPr>
        <p:txBody>
          <a:bodyPr wrap="square">
            <a:spAutoFit/>
          </a:bodyPr>
          <a:lstStyle/>
          <a:p>
            <a:pPr algn="r"/>
            <a:r>
              <a:rPr lang="ja-JP" altLang="en-US" sz="1100" dirty="0">
                <a:latin typeface="游ゴシック" panose="020B0400000000000000" pitchFamily="50" charset="-128"/>
                <a:ea typeface="游ゴシック" panose="020B0400000000000000" pitchFamily="50" charset="-128"/>
              </a:rPr>
              <a:t>（出典：国土地理院「地理院地図」をもとに弊社作成）</a:t>
            </a:r>
            <a:endParaRPr lang="en-US" altLang="ja-JP" sz="1100" dirty="0">
              <a:effectLst/>
              <a:latin typeface="游ゴシック" panose="020B0400000000000000" pitchFamily="50" charset="-128"/>
              <a:ea typeface="游ゴシック" panose="020B0400000000000000" pitchFamily="50" charset="-128"/>
            </a:endParaRPr>
          </a:p>
        </p:txBody>
      </p:sp>
      <p:cxnSp>
        <p:nvCxnSpPr>
          <p:cNvPr id="37" name="直線矢印コネクタ 36">
            <a:extLst>
              <a:ext uri="{FF2B5EF4-FFF2-40B4-BE49-F238E27FC236}">
                <a16:creationId xmlns:a16="http://schemas.microsoft.com/office/drawing/2014/main" id="{0FA4CD04-C9B1-421C-9B72-DAD85B83DB16}"/>
              </a:ext>
            </a:extLst>
          </p:cNvPr>
          <p:cNvCxnSpPr>
            <a:cxnSpLocks/>
            <a:stCxn id="48" idx="1"/>
          </p:cNvCxnSpPr>
          <p:nvPr/>
        </p:nvCxnSpPr>
        <p:spPr>
          <a:xfrm flipH="1">
            <a:off x="2515322" y="3841173"/>
            <a:ext cx="799355" cy="356767"/>
          </a:xfrm>
          <a:prstGeom prst="straightConnector1">
            <a:avLst/>
          </a:prstGeom>
          <a:ln>
            <a:solidFill>
              <a:srgbClr val="2390B7"/>
            </a:solidFill>
            <a:tailEnd type="triangle"/>
          </a:ln>
          <a:effectLst>
            <a:glow rad="38100">
              <a:schemeClr val="bg1">
                <a:alpha val="50000"/>
              </a:schemeClr>
            </a:glow>
          </a:effectLst>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59F3C55F-A114-4360-99FD-A4B1AD9B0C30}"/>
              </a:ext>
            </a:extLst>
          </p:cNvPr>
          <p:cNvSpPr/>
          <p:nvPr/>
        </p:nvSpPr>
        <p:spPr>
          <a:xfrm>
            <a:off x="3314677" y="3702673"/>
            <a:ext cx="918521" cy="276999"/>
          </a:xfrm>
          <a:prstGeom prst="rect">
            <a:avLst/>
          </a:prstGeom>
          <a:solidFill>
            <a:srgbClr val="2390B7"/>
          </a:solidFill>
          <a:ln>
            <a:solidFill>
              <a:srgbClr val="2390B7"/>
            </a:solidFill>
          </a:ln>
          <a:effectLst>
            <a:glow rad="63500">
              <a:schemeClr val="bg1">
                <a:alpha val="50000"/>
              </a:schemeClr>
            </a:glow>
          </a:effectLst>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三孤子川</a:t>
            </a:r>
          </a:p>
        </p:txBody>
      </p:sp>
      <p:sp>
        <p:nvSpPr>
          <p:cNvPr id="10" name="フリーフォーム: 図形 9">
            <a:extLst>
              <a:ext uri="{FF2B5EF4-FFF2-40B4-BE49-F238E27FC236}">
                <a16:creationId xmlns:a16="http://schemas.microsoft.com/office/drawing/2014/main" id="{053683A7-3423-A069-0B9A-E74AE0911629}"/>
              </a:ext>
            </a:extLst>
          </p:cNvPr>
          <p:cNvSpPr/>
          <p:nvPr/>
        </p:nvSpPr>
        <p:spPr>
          <a:xfrm>
            <a:off x="5973288" y="3431969"/>
            <a:ext cx="1615044" cy="1235034"/>
          </a:xfrm>
          <a:custGeom>
            <a:avLst/>
            <a:gdLst>
              <a:gd name="csX0" fmla="*/ 47502 w 1615044"/>
              <a:gd name="csY0" fmla="*/ 0 h 1235034"/>
              <a:gd name="csX1" fmla="*/ 0 w 1615044"/>
              <a:gd name="csY1" fmla="*/ 522514 h 1235034"/>
              <a:gd name="csX2" fmla="*/ 771896 w 1615044"/>
              <a:gd name="csY2" fmla="*/ 593766 h 1235034"/>
              <a:gd name="csX3" fmla="*/ 748146 w 1615044"/>
              <a:gd name="csY3" fmla="*/ 1235034 h 1235034"/>
              <a:gd name="csX4" fmla="*/ 1615044 w 1615044"/>
              <a:gd name="csY4" fmla="*/ 1235034 h 1235034"/>
              <a:gd name="csX5" fmla="*/ 1140031 w 1615044"/>
              <a:gd name="csY5" fmla="*/ 308758 h 1235034"/>
              <a:gd name="csX6" fmla="*/ 843148 w 1615044"/>
              <a:gd name="csY6" fmla="*/ 118753 h 1235034"/>
              <a:gd name="csX7" fmla="*/ 47502 w 1615044"/>
              <a:gd name="csY7" fmla="*/ 0 h 12350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615044" h="1235034">
                <a:moveTo>
                  <a:pt x="47502" y="0"/>
                </a:moveTo>
                <a:lnTo>
                  <a:pt x="0" y="522514"/>
                </a:lnTo>
                <a:lnTo>
                  <a:pt x="771896" y="593766"/>
                </a:lnTo>
                <a:lnTo>
                  <a:pt x="748146" y="1235034"/>
                </a:lnTo>
                <a:lnTo>
                  <a:pt x="1615044" y="1235034"/>
                </a:lnTo>
                <a:lnTo>
                  <a:pt x="1140031" y="308758"/>
                </a:lnTo>
                <a:lnTo>
                  <a:pt x="843148" y="118753"/>
                </a:lnTo>
                <a:lnTo>
                  <a:pt x="47502" y="0"/>
                </a:lnTo>
                <a:close/>
              </a:path>
            </a:pathLst>
          </a:custGeom>
          <a:noFill/>
          <a:ln w="9525">
            <a:solidFill>
              <a:srgbClr val="FF0000"/>
            </a:solidFill>
          </a:ln>
          <a:extLst>
            <a:ext uri="{909E8E84-426E-40DD-AFC4-6F175D3DCCD1}">
              <a14:hiddenFill xmlns:a14="http://schemas.microsoft.com/office/drawing/2010/main">
                <a:solidFill>
                  <a:srgbClr val="D2D3D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rgbClr val="000000"/>
              </a:solidFill>
            </a:endParaRPr>
          </a:p>
        </p:txBody>
      </p:sp>
      <p:cxnSp>
        <p:nvCxnSpPr>
          <p:cNvPr id="33" name="直線矢印コネクタ 32">
            <a:extLst>
              <a:ext uri="{FF2B5EF4-FFF2-40B4-BE49-F238E27FC236}">
                <a16:creationId xmlns:a16="http://schemas.microsoft.com/office/drawing/2014/main" id="{C126E924-52B6-FF67-E81C-BE890F6AE179}"/>
              </a:ext>
            </a:extLst>
          </p:cNvPr>
          <p:cNvCxnSpPr>
            <a:cxnSpLocks/>
            <a:stCxn id="34" idx="1"/>
          </p:cNvCxnSpPr>
          <p:nvPr/>
        </p:nvCxnSpPr>
        <p:spPr>
          <a:xfrm flipH="1" flipV="1">
            <a:off x="6905625" y="4901015"/>
            <a:ext cx="288048" cy="425771"/>
          </a:xfrm>
          <a:prstGeom prst="straightConnector1">
            <a:avLst/>
          </a:prstGeom>
          <a:ln>
            <a:solidFill>
              <a:srgbClr val="2390B7"/>
            </a:solidFill>
            <a:tailEnd type="triangle"/>
          </a:ln>
          <a:effectLst>
            <a:glow rad="38100">
              <a:schemeClr val="bg1">
                <a:alpha val="50000"/>
              </a:schemeClr>
            </a:glow>
          </a:effectLst>
        </p:spPr>
        <p:style>
          <a:lnRef idx="1">
            <a:schemeClr val="accent1"/>
          </a:lnRef>
          <a:fillRef idx="0">
            <a:schemeClr val="accent1"/>
          </a:fillRef>
          <a:effectRef idx="0">
            <a:schemeClr val="accent1"/>
          </a:effectRef>
          <a:fontRef idx="minor">
            <a:schemeClr val="tx1"/>
          </a:fontRef>
        </p:style>
      </p:cxnSp>
      <p:sp>
        <p:nvSpPr>
          <p:cNvPr id="34" name="正方形/長方形 33">
            <a:extLst>
              <a:ext uri="{FF2B5EF4-FFF2-40B4-BE49-F238E27FC236}">
                <a16:creationId xmlns:a16="http://schemas.microsoft.com/office/drawing/2014/main" id="{4F590A06-9BCE-8BB6-D50B-E32B11B4867E}"/>
              </a:ext>
            </a:extLst>
          </p:cNvPr>
          <p:cNvSpPr/>
          <p:nvPr/>
        </p:nvSpPr>
        <p:spPr>
          <a:xfrm>
            <a:off x="7193673" y="5188286"/>
            <a:ext cx="871655" cy="276999"/>
          </a:xfrm>
          <a:prstGeom prst="rect">
            <a:avLst/>
          </a:prstGeom>
          <a:solidFill>
            <a:srgbClr val="2390B7"/>
          </a:solidFill>
          <a:ln>
            <a:solidFill>
              <a:srgbClr val="2390B7"/>
            </a:solidFill>
          </a:ln>
          <a:effectLst>
            <a:glow rad="63500">
              <a:schemeClr val="bg1">
                <a:alpha val="50000"/>
              </a:schemeClr>
            </a:glow>
          </a:effectLst>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三孤子川</a:t>
            </a:r>
          </a:p>
        </p:txBody>
      </p:sp>
      <p:cxnSp>
        <p:nvCxnSpPr>
          <p:cNvPr id="43" name="直線矢印コネクタ 42">
            <a:extLst>
              <a:ext uri="{FF2B5EF4-FFF2-40B4-BE49-F238E27FC236}">
                <a16:creationId xmlns:a16="http://schemas.microsoft.com/office/drawing/2014/main" id="{14FBA989-FF38-28A8-D493-AB213A931EF4}"/>
              </a:ext>
            </a:extLst>
          </p:cNvPr>
          <p:cNvCxnSpPr>
            <a:cxnSpLocks/>
          </p:cNvCxnSpPr>
          <p:nvPr/>
        </p:nvCxnSpPr>
        <p:spPr>
          <a:xfrm>
            <a:off x="2188285" y="2726691"/>
            <a:ext cx="519289" cy="102806"/>
          </a:xfrm>
          <a:prstGeom prst="straightConnector1">
            <a:avLst/>
          </a:prstGeom>
          <a:ln>
            <a:solidFill>
              <a:srgbClr val="2390B7"/>
            </a:solidFill>
            <a:tailEnd type="triangle"/>
          </a:ln>
          <a:effectLst>
            <a:glow rad="38100">
              <a:schemeClr val="bg1">
                <a:alpha val="50000"/>
              </a:schemeClr>
            </a:glow>
          </a:effectLst>
        </p:spPr>
        <p:style>
          <a:lnRef idx="1">
            <a:schemeClr val="accent1"/>
          </a:lnRef>
          <a:fillRef idx="0">
            <a:schemeClr val="accent1"/>
          </a:fillRef>
          <a:effectRef idx="0">
            <a:schemeClr val="accent1"/>
          </a:effectRef>
          <a:fontRef idx="minor">
            <a:schemeClr val="tx1"/>
          </a:fontRef>
        </p:style>
      </p:cxnSp>
      <p:sp>
        <p:nvSpPr>
          <p:cNvPr id="46" name="正方形/長方形 45">
            <a:extLst>
              <a:ext uri="{FF2B5EF4-FFF2-40B4-BE49-F238E27FC236}">
                <a16:creationId xmlns:a16="http://schemas.microsoft.com/office/drawing/2014/main" id="{01AA24C7-2B24-77B4-4E70-C7B2FF6CD365}"/>
              </a:ext>
            </a:extLst>
          </p:cNvPr>
          <p:cNvSpPr/>
          <p:nvPr/>
        </p:nvSpPr>
        <p:spPr>
          <a:xfrm>
            <a:off x="1174240" y="2552498"/>
            <a:ext cx="918521" cy="276999"/>
          </a:xfrm>
          <a:prstGeom prst="rect">
            <a:avLst/>
          </a:prstGeom>
          <a:solidFill>
            <a:srgbClr val="2390B7"/>
          </a:solidFill>
          <a:ln>
            <a:solidFill>
              <a:srgbClr val="2390B7"/>
            </a:solidFill>
          </a:ln>
          <a:effectLst>
            <a:glow rad="63500">
              <a:schemeClr val="bg1">
                <a:alpha val="50000"/>
              </a:schemeClr>
            </a:glow>
          </a:effectLst>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員弁川</a:t>
            </a:r>
          </a:p>
        </p:txBody>
      </p:sp>
    </p:spTree>
    <p:extLst>
      <p:ext uri="{BB962C8B-B14F-4D97-AF65-F5344CB8AC3E}">
        <p14:creationId xmlns:p14="http://schemas.microsoft.com/office/powerpoint/2010/main" val="39481124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771BDC60-1010-56F3-40ED-67BDFD0EA0E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884582" y="1867032"/>
            <a:ext cx="3297093" cy="3094126"/>
          </a:xfrm>
          <a:prstGeom prst="rect">
            <a:avLst/>
          </a:prstGeom>
        </p:spPr>
      </p:pic>
      <p:pic>
        <p:nvPicPr>
          <p:cNvPr id="4" name="図 3">
            <a:extLst>
              <a:ext uri="{FF2B5EF4-FFF2-40B4-BE49-F238E27FC236}">
                <a16:creationId xmlns:a16="http://schemas.microsoft.com/office/drawing/2014/main" id="{3AF87BDB-A08C-FA58-E670-01CD562E7D90}"/>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5635189" y="1873545"/>
            <a:ext cx="3297093" cy="3094125"/>
          </a:xfrm>
          <a:prstGeom prst="rect">
            <a:avLst/>
          </a:prstGeom>
        </p:spPr>
      </p:pic>
      <p:sp>
        <p:nvSpPr>
          <p:cNvPr id="6" name="テキスト ボックス 5"/>
          <p:cNvSpPr txBox="1"/>
          <p:nvPr/>
        </p:nvSpPr>
        <p:spPr>
          <a:xfrm>
            <a:off x="1291335" y="370800"/>
            <a:ext cx="7504321" cy="720000"/>
          </a:xfrm>
          <a:prstGeom prst="rect">
            <a:avLst/>
          </a:prstGeom>
          <a:noFill/>
        </p:spPr>
        <p:txBody>
          <a:bodyPr wrap="square" lIns="0" tIns="0" rIns="0" bIns="0" numCol="1" rtlCol="0" anchor="ctr" anchorCtr="0">
            <a:noAutofit/>
          </a:bodyPr>
          <a:lstStyle/>
          <a:p>
            <a:pPr marL="0" indent="0" algn="l">
              <a:buFont typeface="Wingdings" charset="2"/>
              <a:buNone/>
            </a:pPr>
            <a:r>
              <a:rPr lang="ja-JP" altLang="en-US" sz="2400" dirty="0">
                <a:latin typeface="游ゴシック" panose="020B0400000000000000" pitchFamily="50" charset="-128"/>
                <a:ea typeface="游ゴシック" panose="020B0400000000000000" pitchFamily="50" charset="-128"/>
              </a:rPr>
              <a:t>浸水想定区域図（河川氾濫）</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5" name="テキスト ボックス 7"/>
          <p:cNvSpPr txBox="1">
            <a:spLocks noChangeArrowheads="1"/>
          </p:cNvSpPr>
          <p:nvPr/>
        </p:nvSpPr>
        <p:spPr bwMode="auto">
          <a:xfrm>
            <a:off x="374885" y="1235173"/>
            <a:ext cx="9181565" cy="547033"/>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defRPr/>
            </a:pPr>
            <a:r>
              <a:rPr kumimoji="1" lang="ja-JP" altLang="en-US" sz="1400" b="0" i="0" u="none" strike="noStrike" kern="1200" cap="none" spc="0" normalizeH="0" baseline="0" noProof="0" dirty="0">
                <a:ln>
                  <a:noFill/>
                </a:ln>
                <a:effectLst/>
                <a:uLnTx/>
                <a:uFillTx/>
                <a:latin typeface="+mn-ea"/>
                <a:ea typeface="+mn-ea"/>
              </a:rPr>
              <a:t>洪水浸水想定区域図によると</a:t>
            </a:r>
            <a:r>
              <a:rPr lang="ja-JP" altLang="en-US" sz="1400" dirty="0">
                <a:solidFill>
                  <a:prstClr val="black"/>
                </a:solidFill>
                <a:latin typeface="+mn-ea"/>
                <a:ea typeface="+mn-ea"/>
              </a:rPr>
              <a:t>、対象拠点において浸水は想定されていません。</a:t>
            </a:r>
            <a:endParaRPr kumimoji="1" lang="ja-JP" altLang="en-US" sz="1400" b="0" i="0" u="none" strike="noStrike" kern="1200" cap="none" spc="0" normalizeH="0" baseline="0" noProof="0" dirty="0">
              <a:ln>
                <a:noFill/>
              </a:ln>
              <a:effectLst/>
              <a:uLnTx/>
              <a:uFillTx/>
              <a:latin typeface="+mn-ea"/>
              <a:ea typeface="+mn-ea"/>
            </a:endParaRPr>
          </a:p>
        </p:txBody>
      </p:sp>
      <p:sp>
        <p:nvSpPr>
          <p:cNvPr id="19"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26</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26" name="グループ化 25">
            <a:extLst>
              <a:ext uri="{FF2B5EF4-FFF2-40B4-BE49-F238E27FC236}">
                <a16:creationId xmlns:a16="http://schemas.microsoft.com/office/drawing/2014/main" id="{AD9AB79F-E031-49F2-BAA0-0454996B00CE}"/>
              </a:ext>
            </a:extLst>
          </p:cNvPr>
          <p:cNvGrpSpPr/>
          <p:nvPr/>
        </p:nvGrpSpPr>
        <p:grpSpPr>
          <a:xfrm>
            <a:off x="360000" y="370800"/>
            <a:ext cx="720000" cy="672000"/>
            <a:chOff x="360000" y="370800"/>
            <a:chExt cx="720000" cy="672000"/>
          </a:xfrm>
        </p:grpSpPr>
        <p:sp>
          <p:nvSpPr>
            <p:cNvPr id="29" name="正方形/長方形 28">
              <a:extLst>
                <a:ext uri="{FF2B5EF4-FFF2-40B4-BE49-F238E27FC236}">
                  <a16:creationId xmlns:a16="http://schemas.microsoft.com/office/drawing/2014/main" id="{B38AE848-A3BD-4D1E-A794-61F48C94CB86}"/>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31" name="テキスト ボックス 30">
              <a:extLst>
                <a:ext uri="{FF2B5EF4-FFF2-40B4-BE49-F238E27FC236}">
                  <a16:creationId xmlns:a16="http://schemas.microsoft.com/office/drawing/2014/main" id="{CEAFD16E-F927-4903-9DC9-D06D6FB2CB72}"/>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5</a:t>
              </a:r>
            </a:p>
          </p:txBody>
        </p:sp>
      </p:grpSp>
      <p:sp>
        <p:nvSpPr>
          <p:cNvPr id="35" name="コンテンツ プレースホルダ 2">
            <a:extLst>
              <a:ext uri="{FF2B5EF4-FFF2-40B4-BE49-F238E27FC236}">
                <a16:creationId xmlns:a16="http://schemas.microsoft.com/office/drawing/2014/main" id="{B21589B8-7A88-47E6-A81A-DD0A8E32C4FF}"/>
              </a:ext>
            </a:extLst>
          </p:cNvPr>
          <p:cNvSpPr txBox="1">
            <a:spLocks/>
          </p:cNvSpPr>
          <p:nvPr/>
        </p:nvSpPr>
        <p:spPr bwMode="auto">
          <a:xfrm>
            <a:off x="5028490" y="4927597"/>
            <a:ext cx="4510492" cy="490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EA0A1"/>
              </a:buClr>
              <a:buSzPct val="110000"/>
              <a:buFont typeface="Wingdings" pitchFamily="2" charset="2"/>
              <a:buChar char="n"/>
              <a:defRPr kumimoji="1" sz="1200">
                <a:solidFill>
                  <a:schemeClr val="tx1"/>
                </a:solidFill>
                <a:latin typeface="Arial" charset="0"/>
                <a:ea typeface="ＭＳ Ｐゴシック" charset="-128"/>
              </a:defRPr>
            </a:lvl1pPr>
            <a:lvl2pPr marL="742950" indent="-285750" eaLnBrk="0" hangingPunct="0">
              <a:spcBef>
                <a:spcPct val="20000"/>
              </a:spcBef>
              <a:buClr>
                <a:srgbClr val="9EA0A1"/>
              </a:buClr>
              <a:buSzPct val="120000"/>
              <a:buFont typeface="Arial" charset="0"/>
              <a:buChar char="»"/>
              <a:defRPr kumimoji="1" sz="1200">
                <a:solidFill>
                  <a:schemeClr val="tx1"/>
                </a:solidFill>
                <a:latin typeface="Arial" charset="0"/>
                <a:ea typeface="ＭＳ Ｐゴシック" charset="-128"/>
              </a:defRPr>
            </a:lvl2pPr>
            <a:lvl3pPr marL="11430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3pPr>
            <a:lvl4pPr marL="16002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4pPr>
            <a:lvl5pPr marL="20574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5pPr>
            <a:lvl6pPr marL="25146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6pPr>
            <a:lvl7pPr marL="29718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7pPr>
            <a:lvl8pPr marL="34290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8pPr>
            <a:lvl9pPr marL="38862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9pPr>
          </a:lstStyle>
          <a:p>
            <a:pPr algn="ctr">
              <a:buClrTx/>
              <a:buSzPct val="90000"/>
              <a:buNone/>
            </a:pPr>
            <a:r>
              <a:rPr lang="ja-JP" altLang="en-US" sz="1100" dirty="0">
                <a:latin typeface="游ゴシック" panose="020B0400000000000000" pitchFamily="50" charset="-128"/>
                <a:ea typeface="游ゴシック" panose="020B0400000000000000" pitchFamily="50" charset="-128"/>
                <a:cs typeface="メイリオ" pitchFamily="50" charset="-128"/>
              </a:rPr>
              <a:t>図：洪水浸水想定区域図（想定最大規模）</a:t>
            </a:r>
            <a:endParaRPr lang="en-US" altLang="ja-JP" sz="1100" dirty="0">
              <a:latin typeface="游ゴシック" panose="020B0400000000000000" pitchFamily="50" charset="-128"/>
              <a:ea typeface="游ゴシック" panose="020B0400000000000000" pitchFamily="50" charset="-128"/>
              <a:cs typeface="メイリオ" pitchFamily="50" charset="-128"/>
            </a:endParaRPr>
          </a:p>
          <a:p>
            <a:pPr lvl="0" algn="ctr" defTabSz="913851" eaLnBrk="1" fontAlgn="auto" hangingPunct="1">
              <a:spcBef>
                <a:spcPts val="0"/>
              </a:spcBef>
              <a:spcAft>
                <a:spcPts val="0"/>
              </a:spcAft>
              <a:buClrTx/>
              <a:buSzTx/>
              <a:buNone/>
              <a:defRPr/>
            </a:pPr>
            <a:r>
              <a:rPr lang="ja-JP" altLang="en-US" sz="1100" dirty="0">
                <a:latin typeface="游ゴシック" panose="020B0400000000000000" pitchFamily="50" charset="-128"/>
                <a:ea typeface="游ゴシック" panose="020B0400000000000000" pitchFamily="50" charset="-128"/>
                <a:cs typeface="メイリオ" pitchFamily="50" charset="-128"/>
              </a:rPr>
              <a:t>（</a:t>
            </a:r>
            <a:r>
              <a:rPr kumimoji="1" lang="ja-JP" altLang="en-US" sz="1100" dirty="0">
                <a:solidFill>
                  <a:schemeClr val="tx1"/>
                </a:solidFill>
                <a:latin typeface="游ゴシック" panose="020B0400000000000000" pitchFamily="50" charset="-128"/>
                <a:ea typeface="游ゴシック" panose="020B0400000000000000" pitchFamily="50" charset="-128"/>
              </a:rPr>
              <a:t>出典：</a:t>
            </a:r>
            <a:r>
              <a:rPr lang="ja-JP" altLang="en-US" sz="1100" dirty="0">
                <a:latin typeface="游ゴシック" panose="020B0400000000000000" pitchFamily="50" charset="-128"/>
                <a:ea typeface="游ゴシック" panose="020B0400000000000000" pitchFamily="50" charset="-128"/>
              </a:rPr>
              <a:t>員弁川水系洪水浸水想定区域図／三重県</a:t>
            </a:r>
            <a:r>
              <a:rPr lang="ja-JP" altLang="en-US" sz="1100" dirty="0">
                <a:latin typeface="游ゴシック" panose="020B0400000000000000" pitchFamily="50" charset="-128"/>
                <a:ea typeface="游ゴシック" panose="020B0400000000000000" pitchFamily="50" charset="-128"/>
                <a:cs typeface="メイリオ" pitchFamily="50" charset="-128"/>
              </a:rPr>
              <a:t>）</a:t>
            </a:r>
            <a:endParaRPr lang="en-US" altLang="ja-JP" sz="1100" dirty="0">
              <a:latin typeface="游ゴシック" panose="020B0400000000000000" pitchFamily="50" charset="-128"/>
              <a:ea typeface="游ゴシック" panose="020B0400000000000000" pitchFamily="50" charset="-128"/>
              <a:cs typeface="メイリオ" pitchFamily="50" charset="-128"/>
            </a:endParaRPr>
          </a:p>
        </p:txBody>
      </p:sp>
      <p:sp>
        <p:nvSpPr>
          <p:cNvPr id="36" name="コンテンツ プレースホルダ 2">
            <a:extLst>
              <a:ext uri="{FF2B5EF4-FFF2-40B4-BE49-F238E27FC236}">
                <a16:creationId xmlns:a16="http://schemas.microsoft.com/office/drawing/2014/main" id="{56663BB3-EB90-407C-AE3D-4D2F8EE2D76A}"/>
              </a:ext>
            </a:extLst>
          </p:cNvPr>
          <p:cNvSpPr txBox="1">
            <a:spLocks/>
          </p:cNvSpPr>
          <p:nvPr/>
        </p:nvSpPr>
        <p:spPr bwMode="auto">
          <a:xfrm>
            <a:off x="383619" y="4927597"/>
            <a:ext cx="4510492" cy="490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EA0A1"/>
              </a:buClr>
              <a:buSzPct val="110000"/>
              <a:buFont typeface="Wingdings" pitchFamily="2" charset="2"/>
              <a:buChar char="n"/>
              <a:defRPr kumimoji="1" sz="1200">
                <a:solidFill>
                  <a:schemeClr val="tx1"/>
                </a:solidFill>
                <a:latin typeface="Arial" charset="0"/>
                <a:ea typeface="ＭＳ Ｐゴシック" charset="-128"/>
              </a:defRPr>
            </a:lvl1pPr>
            <a:lvl2pPr marL="742950" indent="-285750" eaLnBrk="0" hangingPunct="0">
              <a:spcBef>
                <a:spcPct val="20000"/>
              </a:spcBef>
              <a:buClr>
                <a:srgbClr val="9EA0A1"/>
              </a:buClr>
              <a:buSzPct val="120000"/>
              <a:buFont typeface="Arial" charset="0"/>
              <a:buChar char="»"/>
              <a:defRPr kumimoji="1" sz="1200">
                <a:solidFill>
                  <a:schemeClr val="tx1"/>
                </a:solidFill>
                <a:latin typeface="Arial" charset="0"/>
                <a:ea typeface="ＭＳ Ｐゴシック" charset="-128"/>
              </a:defRPr>
            </a:lvl2pPr>
            <a:lvl3pPr marL="11430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3pPr>
            <a:lvl4pPr marL="16002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4pPr>
            <a:lvl5pPr marL="20574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5pPr>
            <a:lvl6pPr marL="25146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6pPr>
            <a:lvl7pPr marL="29718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7pPr>
            <a:lvl8pPr marL="34290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8pPr>
            <a:lvl9pPr marL="38862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9pPr>
          </a:lstStyle>
          <a:p>
            <a:pPr algn="ctr">
              <a:buClrTx/>
              <a:buSzPct val="90000"/>
              <a:buNone/>
            </a:pPr>
            <a:r>
              <a:rPr lang="ja-JP" altLang="en-US" sz="1100" dirty="0">
                <a:latin typeface="游ゴシック" panose="020B0400000000000000" pitchFamily="50" charset="-128"/>
                <a:ea typeface="游ゴシック" panose="020B0400000000000000" pitchFamily="50" charset="-128"/>
                <a:cs typeface="メイリオ" pitchFamily="50" charset="-128"/>
              </a:rPr>
              <a:t>図：洪水浸水想定区域図（計画規模）</a:t>
            </a:r>
            <a:endParaRPr lang="en-US" altLang="ja-JP" sz="1100" dirty="0">
              <a:latin typeface="游ゴシック" panose="020B0400000000000000" pitchFamily="50" charset="-128"/>
              <a:ea typeface="游ゴシック" panose="020B0400000000000000" pitchFamily="50" charset="-128"/>
              <a:cs typeface="メイリオ" pitchFamily="50" charset="-128"/>
            </a:endParaRPr>
          </a:p>
          <a:p>
            <a:pPr lvl="0" algn="ctr" defTabSz="913851" eaLnBrk="1" fontAlgn="auto" hangingPunct="1">
              <a:spcBef>
                <a:spcPts val="0"/>
              </a:spcBef>
              <a:spcAft>
                <a:spcPts val="0"/>
              </a:spcAft>
              <a:buClrTx/>
              <a:buSzTx/>
              <a:buNone/>
              <a:defRPr/>
            </a:pPr>
            <a:r>
              <a:rPr lang="ja-JP" altLang="en-US" sz="1100" dirty="0">
                <a:latin typeface="游ゴシック" panose="020B0400000000000000" pitchFamily="50" charset="-128"/>
                <a:ea typeface="游ゴシック" panose="020B0400000000000000" pitchFamily="50" charset="-128"/>
                <a:cs typeface="メイリオ" pitchFamily="50" charset="-128"/>
              </a:rPr>
              <a:t>（</a:t>
            </a:r>
            <a:r>
              <a:rPr kumimoji="1" lang="ja-JP" altLang="en-US" sz="1100" dirty="0">
                <a:solidFill>
                  <a:schemeClr val="tx1"/>
                </a:solidFill>
                <a:latin typeface="游ゴシック" panose="020B0400000000000000" pitchFamily="50" charset="-128"/>
                <a:ea typeface="游ゴシック" panose="020B0400000000000000" pitchFamily="50" charset="-128"/>
              </a:rPr>
              <a:t>出典：</a:t>
            </a:r>
            <a:r>
              <a:rPr lang="ja-JP" altLang="en-US" sz="1100" dirty="0">
                <a:latin typeface="游ゴシック" panose="020B0400000000000000" pitchFamily="50" charset="-128"/>
                <a:ea typeface="游ゴシック" panose="020B0400000000000000" pitchFamily="50" charset="-128"/>
              </a:rPr>
              <a:t>員弁川水系洪水浸水想定区域図／三重県</a:t>
            </a:r>
            <a:r>
              <a:rPr lang="ja-JP" altLang="en-US" sz="1100" dirty="0">
                <a:latin typeface="游ゴシック" panose="020B0400000000000000" pitchFamily="50" charset="-128"/>
                <a:ea typeface="游ゴシック" panose="020B0400000000000000" pitchFamily="50" charset="-128"/>
                <a:cs typeface="メイリオ" pitchFamily="50" charset="-128"/>
              </a:rPr>
              <a:t>）</a:t>
            </a:r>
            <a:endParaRPr lang="en-US" altLang="ja-JP" sz="1100" dirty="0">
              <a:latin typeface="游ゴシック" panose="020B0400000000000000" pitchFamily="50" charset="-128"/>
              <a:ea typeface="游ゴシック" panose="020B0400000000000000" pitchFamily="50" charset="-128"/>
              <a:cs typeface="メイリオ" pitchFamily="50" charset="-128"/>
            </a:endParaRPr>
          </a:p>
        </p:txBody>
      </p:sp>
      <p:cxnSp>
        <p:nvCxnSpPr>
          <p:cNvPr id="42" name="直線矢印コネクタ 41">
            <a:extLst>
              <a:ext uri="{FF2B5EF4-FFF2-40B4-BE49-F238E27FC236}">
                <a16:creationId xmlns:a16="http://schemas.microsoft.com/office/drawing/2014/main" id="{AEC20830-18EC-4E84-8270-39A9F75C7519}"/>
              </a:ext>
            </a:extLst>
          </p:cNvPr>
          <p:cNvCxnSpPr>
            <a:cxnSpLocks/>
            <a:stCxn id="43" idx="2"/>
            <a:endCxn id="22" idx="10"/>
          </p:cNvCxnSpPr>
          <p:nvPr/>
        </p:nvCxnSpPr>
        <p:spPr>
          <a:xfrm>
            <a:off x="1842104" y="2488426"/>
            <a:ext cx="286734" cy="564337"/>
          </a:xfrm>
          <a:prstGeom prst="straightConnector1">
            <a:avLst/>
          </a:prstGeom>
          <a:ln w="15875">
            <a:solidFill>
              <a:srgbClr val="006659"/>
            </a:solidFill>
            <a:tailEnd type="triangle"/>
          </a:ln>
          <a:effectLst>
            <a:glow rad="63500">
              <a:schemeClr val="bg1">
                <a:alpha val="50000"/>
              </a:schemeClr>
            </a:glow>
          </a:effectLst>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94A0975B-E4C1-46C2-A936-CCB485CD2747}"/>
              </a:ext>
            </a:extLst>
          </p:cNvPr>
          <p:cNvSpPr txBox="1"/>
          <p:nvPr/>
        </p:nvSpPr>
        <p:spPr>
          <a:xfrm>
            <a:off x="1398827" y="2212525"/>
            <a:ext cx="886553" cy="275901"/>
          </a:xfrm>
          <a:prstGeom prst="rect">
            <a:avLst/>
          </a:prstGeom>
          <a:solidFill>
            <a:srgbClr val="006659"/>
          </a:solidFill>
        </p:spPr>
        <p:txBody>
          <a:bodyPr wrap="square" rtlCol="0" anchor="ctr">
            <a:noAutofit/>
          </a:bodyP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対象拠点</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cxnSp>
        <p:nvCxnSpPr>
          <p:cNvPr id="56" name="直線矢印コネクタ 55">
            <a:extLst>
              <a:ext uri="{FF2B5EF4-FFF2-40B4-BE49-F238E27FC236}">
                <a16:creationId xmlns:a16="http://schemas.microsoft.com/office/drawing/2014/main" id="{AF055BCF-CDD0-4826-86EF-DCF3D8D81D87}"/>
              </a:ext>
            </a:extLst>
          </p:cNvPr>
          <p:cNvCxnSpPr>
            <a:cxnSpLocks/>
            <a:stCxn id="57" idx="2"/>
            <a:endCxn id="25" idx="10"/>
          </p:cNvCxnSpPr>
          <p:nvPr/>
        </p:nvCxnSpPr>
        <p:spPr>
          <a:xfrm>
            <a:off x="6519700" y="2490859"/>
            <a:ext cx="396592" cy="561903"/>
          </a:xfrm>
          <a:prstGeom prst="straightConnector1">
            <a:avLst/>
          </a:prstGeom>
          <a:ln w="15875">
            <a:solidFill>
              <a:srgbClr val="006659"/>
            </a:solidFill>
            <a:tailEnd type="triangle"/>
          </a:ln>
          <a:effectLst>
            <a:glow rad="63500">
              <a:schemeClr val="bg1">
                <a:alpha val="50000"/>
              </a:schemeClr>
            </a:glow>
          </a:effectLst>
        </p:spPr>
        <p:style>
          <a:lnRef idx="1">
            <a:schemeClr val="accent1"/>
          </a:lnRef>
          <a:fillRef idx="0">
            <a:schemeClr val="accent1"/>
          </a:fillRef>
          <a:effectRef idx="0">
            <a:schemeClr val="accent1"/>
          </a:effectRef>
          <a:fontRef idx="minor">
            <a:schemeClr val="tx1"/>
          </a:fontRef>
        </p:style>
      </p:cxnSp>
      <p:sp>
        <p:nvSpPr>
          <p:cNvPr id="57" name="テキスト ボックス 56">
            <a:extLst>
              <a:ext uri="{FF2B5EF4-FFF2-40B4-BE49-F238E27FC236}">
                <a16:creationId xmlns:a16="http://schemas.microsoft.com/office/drawing/2014/main" id="{39C24ADF-AF13-44F7-8432-C17C86AB2061}"/>
              </a:ext>
            </a:extLst>
          </p:cNvPr>
          <p:cNvSpPr txBox="1"/>
          <p:nvPr/>
        </p:nvSpPr>
        <p:spPr>
          <a:xfrm>
            <a:off x="6076423" y="2214958"/>
            <a:ext cx="886553" cy="275901"/>
          </a:xfrm>
          <a:prstGeom prst="rect">
            <a:avLst/>
          </a:prstGeom>
          <a:solidFill>
            <a:srgbClr val="006659"/>
          </a:solidFill>
        </p:spPr>
        <p:txBody>
          <a:bodyPr wrap="square" rtlCol="0" anchor="ctr">
            <a:noAutofit/>
          </a:bodyP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対象拠点</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graphicFrame>
        <p:nvGraphicFramePr>
          <p:cNvPr id="18" name="表 17">
            <a:extLst>
              <a:ext uri="{FF2B5EF4-FFF2-40B4-BE49-F238E27FC236}">
                <a16:creationId xmlns:a16="http://schemas.microsoft.com/office/drawing/2014/main" id="{47F63CC2-5C5E-446C-BB9D-513FA4091BBC}"/>
              </a:ext>
            </a:extLst>
          </p:cNvPr>
          <p:cNvGraphicFramePr>
            <a:graphicFrameLocks noGrp="1"/>
          </p:cNvGraphicFramePr>
          <p:nvPr>
            <p:extLst>
              <p:ext uri="{D42A27DB-BD31-4B8C-83A1-F6EECF244321}">
                <p14:modId xmlns:p14="http://schemas.microsoft.com/office/powerpoint/2010/main" val="227335627"/>
              </p:ext>
            </p:extLst>
          </p:nvPr>
        </p:nvGraphicFramePr>
        <p:xfrm>
          <a:off x="351934" y="5381651"/>
          <a:ext cx="9164097" cy="860625"/>
        </p:xfrm>
        <a:graphic>
          <a:graphicData uri="http://schemas.openxmlformats.org/drawingml/2006/table">
            <a:tbl>
              <a:tblPr/>
              <a:tblGrid>
                <a:gridCol w="3788666">
                  <a:extLst>
                    <a:ext uri="{9D8B030D-6E8A-4147-A177-3AD203B41FA5}">
                      <a16:colId xmlns:a16="http://schemas.microsoft.com/office/drawing/2014/main" val="1010394674"/>
                    </a:ext>
                  </a:extLst>
                </a:gridCol>
                <a:gridCol w="3589867">
                  <a:extLst>
                    <a:ext uri="{9D8B030D-6E8A-4147-A177-3AD203B41FA5}">
                      <a16:colId xmlns:a16="http://schemas.microsoft.com/office/drawing/2014/main" val="277632053"/>
                    </a:ext>
                  </a:extLst>
                </a:gridCol>
                <a:gridCol w="1785564">
                  <a:extLst>
                    <a:ext uri="{9D8B030D-6E8A-4147-A177-3AD203B41FA5}">
                      <a16:colId xmlns:a16="http://schemas.microsoft.com/office/drawing/2014/main" val="2699088540"/>
                    </a:ext>
                  </a:extLst>
                </a:gridCol>
              </a:tblGrid>
              <a:tr h="143213">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想定降雨の規模</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想定降雨量</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algn="ctr" fontAlgn="ctr"/>
                      <a:r>
                        <a:rPr lang="ja-JP" altLang="en-US" sz="1400" b="0" i="0" u="none" strike="noStrike" dirty="0">
                          <a:solidFill>
                            <a:schemeClr val="tx1"/>
                          </a:solidFill>
                          <a:effectLst/>
                          <a:latin typeface="游ゴシック" panose="020B0400000000000000" pitchFamily="50" charset="-128"/>
                          <a:ea typeface="游ゴシック" panose="020B0400000000000000" pitchFamily="50" charset="-128"/>
                        </a:rPr>
                        <a:t>想定浸水深</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extLst>
                  <a:ext uri="{0D108BD9-81ED-4DB2-BD59-A6C34878D82A}">
                    <a16:rowId xmlns:a16="http://schemas.microsoft.com/office/drawing/2014/main" val="2557327539"/>
                  </a:ext>
                </a:extLst>
              </a:tr>
              <a:tr h="332940">
                <a:tc>
                  <a:txBody>
                    <a:bodyPr/>
                    <a:lstStyle>
                      <a:lvl1pPr marL="0" algn="l" defTabSz="913851" rtl="0" eaLnBrk="1" latinLnBrk="0" hangingPunct="1">
                        <a:defRPr kumimoji="1" sz="1799" kern="1200">
                          <a:solidFill>
                            <a:schemeClr val="dk1"/>
                          </a:solidFill>
                          <a:latin typeface="Calibri"/>
                        </a:defRPr>
                      </a:lvl1pPr>
                      <a:lvl2pPr marL="456926" algn="l" defTabSz="913851" rtl="0" eaLnBrk="1" latinLnBrk="0" hangingPunct="1">
                        <a:defRPr kumimoji="1" sz="1799" kern="1200">
                          <a:solidFill>
                            <a:schemeClr val="dk1"/>
                          </a:solidFill>
                          <a:latin typeface="Calibri"/>
                        </a:defRPr>
                      </a:lvl2pPr>
                      <a:lvl3pPr marL="913851" algn="l" defTabSz="913851" rtl="0" eaLnBrk="1" latinLnBrk="0" hangingPunct="1">
                        <a:defRPr kumimoji="1" sz="1799" kern="1200">
                          <a:solidFill>
                            <a:schemeClr val="dk1"/>
                          </a:solidFill>
                          <a:latin typeface="Calibri"/>
                        </a:defRPr>
                      </a:lvl3pPr>
                      <a:lvl4pPr marL="1370777" algn="l" defTabSz="913851" rtl="0" eaLnBrk="1" latinLnBrk="0" hangingPunct="1">
                        <a:defRPr kumimoji="1" sz="1799" kern="1200">
                          <a:solidFill>
                            <a:schemeClr val="dk1"/>
                          </a:solidFill>
                          <a:latin typeface="Calibri"/>
                        </a:defRPr>
                      </a:lvl4pPr>
                      <a:lvl5pPr marL="1827703" algn="l" defTabSz="913851" rtl="0" eaLnBrk="1" latinLnBrk="0" hangingPunct="1">
                        <a:defRPr kumimoji="1" sz="1799" kern="1200">
                          <a:solidFill>
                            <a:schemeClr val="dk1"/>
                          </a:solidFill>
                          <a:latin typeface="Calibri"/>
                        </a:defRPr>
                      </a:lvl5pPr>
                      <a:lvl6pPr marL="2284628" algn="l" defTabSz="913851" rtl="0" eaLnBrk="1" latinLnBrk="0" hangingPunct="1">
                        <a:defRPr kumimoji="1" sz="1799" kern="1200">
                          <a:solidFill>
                            <a:schemeClr val="dk1"/>
                          </a:solidFill>
                          <a:latin typeface="Calibri"/>
                        </a:defRPr>
                      </a:lvl6pPr>
                      <a:lvl7pPr marL="2741554" algn="l" defTabSz="913851" rtl="0" eaLnBrk="1" latinLnBrk="0" hangingPunct="1">
                        <a:defRPr kumimoji="1" sz="1799" kern="1200">
                          <a:solidFill>
                            <a:schemeClr val="dk1"/>
                          </a:solidFill>
                          <a:latin typeface="Calibri"/>
                        </a:defRPr>
                      </a:lvl7pPr>
                      <a:lvl8pPr marL="3198480" algn="l" defTabSz="913851" rtl="0" eaLnBrk="1" latinLnBrk="0" hangingPunct="1">
                        <a:defRPr kumimoji="1" sz="1799" kern="1200">
                          <a:solidFill>
                            <a:schemeClr val="dk1"/>
                          </a:solidFill>
                          <a:latin typeface="Calibri"/>
                        </a:defRPr>
                      </a:lvl8pPr>
                      <a:lvl9pPr marL="3655405" algn="l" defTabSz="913851" rtl="0" eaLnBrk="1" latinLnBrk="0" hangingPunct="1">
                        <a:defRPr kumimoji="1" sz="1799" kern="1200">
                          <a:solidFill>
                            <a:schemeClr val="dk1"/>
                          </a:solidFill>
                          <a:latin typeface="Calibri"/>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游ゴシック" panose="020B0400000000000000" pitchFamily="50" charset="-128"/>
                          <a:ea typeface="游ゴシック" panose="020B0400000000000000" pitchFamily="50" charset="-128"/>
                        </a:rPr>
                        <a:t>計画規模（年超過確率</a:t>
                      </a:r>
                      <a:r>
                        <a:rPr kumimoji="1" lang="en-US" altLang="ja-JP" sz="1400" dirty="0">
                          <a:solidFill>
                            <a:schemeClr val="tx1"/>
                          </a:solidFill>
                          <a:latin typeface="游ゴシック" panose="020B0400000000000000" pitchFamily="50" charset="-128"/>
                          <a:ea typeface="游ゴシック" panose="020B0400000000000000" pitchFamily="50" charset="-128"/>
                        </a:rPr>
                        <a:t>1/100</a:t>
                      </a:r>
                      <a:r>
                        <a:rPr kumimoji="1" lang="ja-JP" altLang="en-US" sz="1400" dirty="0">
                          <a:solidFill>
                            <a:schemeClr val="tx1"/>
                          </a:solidFill>
                          <a:latin typeface="游ゴシック" panose="020B0400000000000000" pitchFamily="50" charset="-128"/>
                          <a:ea typeface="游ゴシック" panose="020B0400000000000000" pitchFamily="50" charset="-128"/>
                        </a:rPr>
                        <a:t>の降雨）</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游ゴシック" panose="020B0400000000000000" pitchFamily="50" charset="-128"/>
                          <a:ea typeface="游ゴシック" panose="020B0400000000000000" pitchFamily="50" charset="-128"/>
                        </a:rPr>
                        <a:t>三孤子川流域の</a:t>
                      </a:r>
                      <a:r>
                        <a:rPr kumimoji="1" lang="en-US" altLang="ja-JP" sz="1400" dirty="0">
                          <a:solidFill>
                            <a:schemeClr val="tx1"/>
                          </a:solidFill>
                          <a:latin typeface="游ゴシック" panose="020B0400000000000000" pitchFamily="50" charset="-128"/>
                          <a:ea typeface="游ゴシック" panose="020B0400000000000000" pitchFamily="50" charset="-128"/>
                        </a:rPr>
                        <a:t>24</a:t>
                      </a:r>
                      <a:r>
                        <a:rPr kumimoji="1" lang="ja-JP" altLang="en-US" sz="1400" dirty="0">
                          <a:solidFill>
                            <a:schemeClr val="tx1"/>
                          </a:solidFill>
                          <a:latin typeface="游ゴシック" panose="020B0400000000000000" pitchFamily="50" charset="-128"/>
                          <a:ea typeface="游ゴシック" panose="020B0400000000000000" pitchFamily="50" charset="-128"/>
                        </a:rPr>
                        <a:t>時間雨量</a:t>
                      </a:r>
                      <a:r>
                        <a:rPr kumimoji="1" lang="en-US" altLang="ja-JP" sz="1400" dirty="0">
                          <a:solidFill>
                            <a:schemeClr val="tx1"/>
                          </a:solidFill>
                          <a:latin typeface="游ゴシック" panose="020B0400000000000000" pitchFamily="50" charset="-128"/>
                          <a:ea typeface="游ゴシック" panose="020B0400000000000000" pitchFamily="50" charset="-128"/>
                        </a:rPr>
                        <a:t>250mm</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游ゴシック" panose="020B0400000000000000" pitchFamily="50" charset="-128"/>
                          <a:ea typeface="游ゴシック" panose="020B0400000000000000" pitchFamily="50" charset="-128"/>
                        </a:rPr>
                        <a:t>非該当</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9823330"/>
                  </a:ext>
                </a:extLst>
              </a:tr>
              <a:tr h="195847">
                <a:tc>
                  <a:txBody>
                    <a:body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游ゴシック" panose="020B0400000000000000" pitchFamily="50" charset="-128"/>
                          <a:ea typeface="游ゴシック" panose="020B0400000000000000" pitchFamily="50" charset="-128"/>
                        </a:rPr>
                        <a:t>想定最大規模（想定し得る最大規模の降雨）</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游ゴシック" panose="020B0400000000000000" pitchFamily="50" charset="-128"/>
                          <a:ea typeface="游ゴシック" panose="020B0400000000000000" pitchFamily="50" charset="-128"/>
                        </a:rPr>
                        <a:t>三孤子川流域の</a:t>
                      </a:r>
                      <a:r>
                        <a:rPr kumimoji="1" lang="en-US" altLang="ja-JP" sz="1400" dirty="0">
                          <a:solidFill>
                            <a:schemeClr val="tx1"/>
                          </a:solidFill>
                          <a:latin typeface="游ゴシック" panose="020B0400000000000000" pitchFamily="50" charset="-128"/>
                          <a:ea typeface="游ゴシック" panose="020B0400000000000000" pitchFamily="50" charset="-128"/>
                        </a:rPr>
                        <a:t>24</a:t>
                      </a:r>
                      <a:r>
                        <a:rPr kumimoji="1" lang="ja-JP" altLang="en-US" sz="1400" dirty="0">
                          <a:solidFill>
                            <a:schemeClr val="tx1"/>
                          </a:solidFill>
                          <a:latin typeface="游ゴシック" panose="020B0400000000000000" pitchFamily="50" charset="-128"/>
                          <a:ea typeface="游ゴシック" panose="020B0400000000000000" pitchFamily="50" charset="-128"/>
                        </a:rPr>
                        <a:t>時間雨量</a:t>
                      </a:r>
                      <a:r>
                        <a:rPr kumimoji="1" lang="en-US" altLang="ja-JP" sz="1400" dirty="0">
                          <a:solidFill>
                            <a:schemeClr val="tx1"/>
                          </a:solidFill>
                          <a:latin typeface="游ゴシック" panose="020B0400000000000000" pitchFamily="50" charset="-128"/>
                          <a:ea typeface="游ゴシック" panose="020B0400000000000000" pitchFamily="50" charset="-128"/>
                        </a:rPr>
                        <a:t>836mm</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游ゴシック" panose="020B0400000000000000" pitchFamily="50" charset="-128"/>
                          <a:ea typeface="游ゴシック" panose="020B0400000000000000" pitchFamily="50" charset="-128"/>
                        </a:rPr>
                        <a:t>非該当</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1582674"/>
                  </a:ext>
                </a:extLst>
              </a:tr>
            </a:tbl>
          </a:graphicData>
        </a:graphic>
      </p:graphicFrame>
      <p:sp>
        <p:nvSpPr>
          <p:cNvPr id="28" name="テキスト ボックス 27">
            <a:extLst>
              <a:ext uri="{FF2B5EF4-FFF2-40B4-BE49-F238E27FC236}">
                <a16:creationId xmlns:a16="http://schemas.microsoft.com/office/drawing/2014/main" id="{5FACC6AA-70BD-4B12-8925-CD9BDE21A658}"/>
              </a:ext>
            </a:extLst>
          </p:cNvPr>
          <p:cNvSpPr txBox="1"/>
          <p:nvPr/>
        </p:nvSpPr>
        <p:spPr>
          <a:xfrm>
            <a:off x="6083605" y="2186027"/>
            <a:ext cx="886553" cy="275901"/>
          </a:xfrm>
          <a:prstGeom prst="rect">
            <a:avLst/>
          </a:prstGeom>
          <a:solidFill>
            <a:srgbClr val="006659"/>
          </a:solidFill>
        </p:spPr>
        <p:txBody>
          <a:bodyPr wrap="square" rtlCol="0" anchor="ctr">
            <a:noAutofit/>
          </a:bodyP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対象拠点</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pic>
        <p:nvPicPr>
          <p:cNvPr id="12" name="図 11">
            <a:extLst>
              <a:ext uri="{FF2B5EF4-FFF2-40B4-BE49-F238E27FC236}">
                <a16:creationId xmlns:a16="http://schemas.microsoft.com/office/drawing/2014/main" id="{EB264473-B63F-9E98-9185-6B1C007082CB}"/>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3228978" y="1867032"/>
            <a:ext cx="1334953" cy="1561967"/>
          </a:xfrm>
          <a:prstGeom prst="rect">
            <a:avLst/>
          </a:prstGeom>
        </p:spPr>
      </p:pic>
      <p:pic>
        <p:nvPicPr>
          <p:cNvPr id="16" name="図 15">
            <a:extLst>
              <a:ext uri="{FF2B5EF4-FFF2-40B4-BE49-F238E27FC236}">
                <a16:creationId xmlns:a16="http://schemas.microsoft.com/office/drawing/2014/main" id="{6D69289D-2832-581C-F1AC-5D9F154C0236}"/>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7991600" y="1858641"/>
            <a:ext cx="1334953" cy="1561967"/>
          </a:xfrm>
          <a:prstGeom prst="rect">
            <a:avLst/>
          </a:prstGeom>
        </p:spPr>
      </p:pic>
      <p:sp>
        <p:nvSpPr>
          <p:cNvPr id="22" name="フリーフォーム: 図形 21">
            <a:extLst>
              <a:ext uri="{FF2B5EF4-FFF2-40B4-BE49-F238E27FC236}">
                <a16:creationId xmlns:a16="http://schemas.microsoft.com/office/drawing/2014/main" id="{5BC2735F-870F-D242-B44D-AB402C4D7D14}"/>
              </a:ext>
            </a:extLst>
          </p:cNvPr>
          <p:cNvSpPr/>
          <p:nvPr/>
        </p:nvSpPr>
        <p:spPr>
          <a:xfrm>
            <a:off x="1700213" y="3024188"/>
            <a:ext cx="1109662" cy="714375"/>
          </a:xfrm>
          <a:custGeom>
            <a:avLst/>
            <a:gdLst>
              <a:gd name="csX0" fmla="*/ 0 w 1109662"/>
              <a:gd name="csY0" fmla="*/ 0 h 714375"/>
              <a:gd name="csX1" fmla="*/ 4762 w 1109662"/>
              <a:gd name="csY1" fmla="*/ 338137 h 714375"/>
              <a:gd name="csX2" fmla="*/ 485775 w 1109662"/>
              <a:gd name="csY2" fmla="*/ 347662 h 714375"/>
              <a:gd name="csX3" fmla="*/ 485775 w 1109662"/>
              <a:gd name="csY3" fmla="*/ 714375 h 714375"/>
              <a:gd name="csX4" fmla="*/ 652462 w 1109662"/>
              <a:gd name="csY4" fmla="*/ 700087 h 714375"/>
              <a:gd name="csX5" fmla="*/ 809625 w 1109662"/>
              <a:gd name="csY5" fmla="*/ 657225 h 714375"/>
              <a:gd name="csX6" fmla="*/ 1109662 w 1109662"/>
              <a:gd name="csY6" fmla="*/ 676275 h 714375"/>
              <a:gd name="csX7" fmla="*/ 1081087 w 1109662"/>
              <a:gd name="csY7" fmla="*/ 642937 h 714375"/>
              <a:gd name="csX8" fmla="*/ 957262 w 1109662"/>
              <a:gd name="csY8" fmla="*/ 195262 h 714375"/>
              <a:gd name="csX9" fmla="*/ 733425 w 1109662"/>
              <a:gd name="csY9" fmla="*/ 57150 h 714375"/>
              <a:gd name="csX10" fmla="*/ 428625 w 1109662"/>
              <a:gd name="csY10" fmla="*/ 28575 h 714375"/>
              <a:gd name="csX11" fmla="*/ 285750 w 1109662"/>
              <a:gd name="csY11" fmla="*/ 9525 h 714375"/>
              <a:gd name="csX12" fmla="*/ 0 w 1109662"/>
              <a:gd name="csY12" fmla="*/ 0 h 7143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09662" h="714375">
                <a:moveTo>
                  <a:pt x="0" y="0"/>
                </a:moveTo>
                <a:cubicBezTo>
                  <a:pt x="1587" y="112712"/>
                  <a:pt x="3175" y="225425"/>
                  <a:pt x="4762" y="338137"/>
                </a:cubicBezTo>
                <a:lnTo>
                  <a:pt x="485775" y="347662"/>
                </a:lnTo>
                <a:lnTo>
                  <a:pt x="485775" y="714375"/>
                </a:lnTo>
                <a:lnTo>
                  <a:pt x="652462" y="700087"/>
                </a:lnTo>
                <a:lnTo>
                  <a:pt x="809625" y="657225"/>
                </a:lnTo>
                <a:lnTo>
                  <a:pt x="1109662" y="676275"/>
                </a:lnTo>
                <a:lnTo>
                  <a:pt x="1081087" y="642937"/>
                </a:lnTo>
                <a:lnTo>
                  <a:pt x="957262" y="195262"/>
                </a:lnTo>
                <a:lnTo>
                  <a:pt x="733425" y="57150"/>
                </a:lnTo>
                <a:lnTo>
                  <a:pt x="428625" y="28575"/>
                </a:lnTo>
                <a:lnTo>
                  <a:pt x="285750" y="9525"/>
                </a:lnTo>
                <a:lnTo>
                  <a:pt x="0" y="0"/>
                </a:lnTo>
                <a:close/>
              </a:path>
            </a:pathLst>
          </a:custGeom>
          <a:noFill/>
          <a:ln w="9525">
            <a:solidFill>
              <a:srgbClr val="FF0000"/>
            </a:solidFill>
          </a:ln>
          <a:extLst>
            <a:ext uri="{909E8E84-426E-40DD-AFC4-6F175D3DCCD1}">
              <a14:hiddenFill xmlns:a14="http://schemas.microsoft.com/office/drawing/2010/main">
                <a:solidFill>
                  <a:srgbClr val="D2D3D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rgbClr val="000000"/>
              </a:solidFill>
            </a:endParaRPr>
          </a:p>
        </p:txBody>
      </p:sp>
      <p:sp>
        <p:nvSpPr>
          <p:cNvPr id="25" name="フリーフォーム: 図形 24">
            <a:extLst>
              <a:ext uri="{FF2B5EF4-FFF2-40B4-BE49-F238E27FC236}">
                <a16:creationId xmlns:a16="http://schemas.microsoft.com/office/drawing/2014/main" id="{C810F7B9-C8FA-2796-378B-38C6F790C6FB}"/>
              </a:ext>
            </a:extLst>
          </p:cNvPr>
          <p:cNvSpPr/>
          <p:nvPr/>
        </p:nvSpPr>
        <p:spPr>
          <a:xfrm>
            <a:off x="6487667" y="3024187"/>
            <a:ext cx="1109662" cy="714375"/>
          </a:xfrm>
          <a:custGeom>
            <a:avLst/>
            <a:gdLst>
              <a:gd name="csX0" fmla="*/ 0 w 1109662"/>
              <a:gd name="csY0" fmla="*/ 0 h 714375"/>
              <a:gd name="csX1" fmla="*/ 4762 w 1109662"/>
              <a:gd name="csY1" fmla="*/ 338137 h 714375"/>
              <a:gd name="csX2" fmla="*/ 485775 w 1109662"/>
              <a:gd name="csY2" fmla="*/ 347662 h 714375"/>
              <a:gd name="csX3" fmla="*/ 485775 w 1109662"/>
              <a:gd name="csY3" fmla="*/ 714375 h 714375"/>
              <a:gd name="csX4" fmla="*/ 652462 w 1109662"/>
              <a:gd name="csY4" fmla="*/ 700087 h 714375"/>
              <a:gd name="csX5" fmla="*/ 809625 w 1109662"/>
              <a:gd name="csY5" fmla="*/ 657225 h 714375"/>
              <a:gd name="csX6" fmla="*/ 1109662 w 1109662"/>
              <a:gd name="csY6" fmla="*/ 676275 h 714375"/>
              <a:gd name="csX7" fmla="*/ 1081087 w 1109662"/>
              <a:gd name="csY7" fmla="*/ 642937 h 714375"/>
              <a:gd name="csX8" fmla="*/ 957262 w 1109662"/>
              <a:gd name="csY8" fmla="*/ 195262 h 714375"/>
              <a:gd name="csX9" fmla="*/ 733425 w 1109662"/>
              <a:gd name="csY9" fmla="*/ 57150 h 714375"/>
              <a:gd name="csX10" fmla="*/ 428625 w 1109662"/>
              <a:gd name="csY10" fmla="*/ 28575 h 714375"/>
              <a:gd name="csX11" fmla="*/ 285750 w 1109662"/>
              <a:gd name="csY11" fmla="*/ 9525 h 714375"/>
              <a:gd name="csX12" fmla="*/ 0 w 1109662"/>
              <a:gd name="csY12" fmla="*/ 0 h 7143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09662" h="714375">
                <a:moveTo>
                  <a:pt x="0" y="0"/>
                </a:moveTo>
                <a:cubicBezTo>
                  <a:pt x="1587" y="112712"/>
                  <a:pt x="3175" y="225425"/>
                  <a:pt x="4762" y="338137"/>
                </a:cubicBezTo>
                <a:lnTo>
                  <a:pt x="485775" y="347662"/>
                </a:lnTo>
                <a:lnTo>
                  <a:pt x="485775" y="714375"/>
                </a:lnTo>
                <a:lnTo>
                  <a:pt x="652462" y="700087"/>
                </a:lnTo>
                <a:lnTo>
                  <a:pt x="809625" y="657225"/>
                </a:lnTo>
                <a:lnTo>
                  <a:pt x="1109662" y="676275"/>
                </a:lnTo>
                <a:lnTo>
                  <a:pt x="1081087" y="642937"/>
                </a:lnTo>
                <a:lnTo>
                  <a:pt x="957262" y="195262"/>
                </a:lnTo>
                <a:lnTo>
                  <a:pt x="733425" y="57150"/>
                </a:lnTo>
                <a:lnTo>
                  <a:pt x="428625" y="28575"/>
                </a:lnTo>
                <a:lnTo>
                  <a:pt x="285750" y="9525"/>
                </a:lnTo>
                <a:lnTo>
                  <a:pt x="0" y="0"/>
                </a:lnTo>
                <a:close/>
              </a:path>
            </a:pathLst>
          </a:custGeom>
          <a:noFill/>
          <a:ln w="9525">
            <a:solidFill>
              <a:srgbClr val="FF0000"/>
            </a:solidFill>
          </a:ln>
          <a:extLst>
            <a:ext uri="{909E8E84-426E-40DD-AFC4-6F175D3DCCD1}">
              <a14:hiddenFill xmlns:a14="http://schemas.microsoft.com/office/drawing/2010/main">
                <a:solidFill>
                  <a:srgbClr val="D2D3D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rgbClr val="000000"/>
              </a:solidFill>
            </a:endParaRPr>
          </a:p>
        </p:txBody>
      </p:sp>
    </p:spTree>
    <p:extLst>
      <p:ext uri="{BB962C8B-B14F-4D97-AF65-F5344CB8AC3E}">
        <p14:creationId xmlns:p14="http://schemas.microsoft.com/office/powerpoint/2010/main" val="3734895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pPr marL="0" indent="0" algn="l">
              <a:buFont typeface="Wingdings" charset="2"/>
              <a:buNone/>
            </a:pPr>
            <a:r>
              <a:rPr lang="ja-JP" altLang="en-US" sz="2400" dirty="0">
                <a:latin typeface="游ゴシック" panose="020B0400000000000000" pitchFamily="50" charset="-128"/>
                <a:ea typeface="游ゴシック" panose="020B0400000000000000" pitchFamily="50" charset="-128"/>
              </a:rPr>
              <a:t>浸水想定区域図（高潮）</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5" name="テキスト ボックス 7"/>
          <p:cNvSpPr txBox="1">
            <a:spLocks noChangeArrowheads="1"/>
          </p:cNvSpPr>
          <p:nvPr/>
        </p:nvSpPr>
        <p:spPr bwMode="auto">
          <a:xfrm>
            <a:off x="368909" y="1225252"/>
            <a:ext cx="9161832" cy="520132"/>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algn="just" eaLnBrk="1" hangingPunct="1">
              <a:defRPr/>
            </a:pPr>
            <a:r>
              <a:rPr lang="zh-CN" altLang="en-US" sz="1400" dirty="0">
                <a:latin typeface="+mn-ea"/>
                <a:ea typeface="+mn-ea"/>
              </a:rPr>
              <a:t>伊勢湾沿岸［三重県区間］高潮浸水想定区域図</a:t>
            </a:r>
            <a:r>
              <a:rPr lang="ja-JP" altLang="en-US" sz="1400" dirty="0">
                <a:latin typeface="+mn-ea"/>
                <a:ea typeface="+mn-ea"/>
              </a:rPr>
              <a:t>によると、</a:t>
            </a:r>
            <a:r>
              <a:rPr lang="ja-JP" altLang="en-US" sz="1400" dirty="0">
                <a:solidFill>
                  <a:prstClr val="black"/>
                </a:solidFill>
                <a:latin typeface="+mn-ea"/>
                <a:ea typeface="+mn-ea"/>
              </a:rPr>
              <a:t>対象拠点において浸水は想定されていません。</a:t>
            </a:r>
            <a:endParaRPr kumimoji="1" lang="en-US" altLang="ja-JP" sz="1400" b="0" i="0" u="none" strike="noStrike" kern="1200" cap="none" spc="0" normalizeH="0" baseline="0" noProof="0" dirty="0">
              <a:ln>
                <a:noFill/>
              </a:ln>
              <a:effectLst/>
              <a:uLnTx/>
              <a:uFillTx/>
              <a:latin typeface="+mn-ea"/>
              <a:ea typeface="+mn-ea"/>
            </a:endParaRPr>
          </a:p>
        </p:txBody>
      </p:sp>
      <p:sp>
        <p:nvSpPr>
          <p:cNvPr id="19"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27</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24" name="コンテンツ プレースホルダ 2">
            <a:extLst>
              <a:ext uri="{FF2B5EF4-FFF2-40B4-BE49-F238E27FC236}">
                <a16:creationId xmlns:a16="http://schemas.microsoft.com/office/drawing/2014/main" id="{26332DC5-8B34-437E-8285-927459200899}"/>
              </a:ext>
            </a:extLst>
          </p:cNvPr>
          <p:cNvSpPr txBox="1">
            <a:spLocks/>
          </p:cNvSpPr>
          <p:nvPr/>
        </p:nvSpPr>
        <p:spPr bwMode="auto">
          <a:xfrm>
            <a:off x="310420" y="5884335"/>
            <a:ext cx="9161832" cy="474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EA0A1"/>
              </a:buClr>
              <a:buSzPct val="110000"/>
              <a:buFont typeface="Wingdings" pitchFamily="2" charset="2"/>
              <a:buChar char="n"/>
              <a:defRPr kumimoji="1" sz="1200">
                <a:solidFill>
                  <a:schemeClr val="tx1"/>
                </a:solidFill>
                <a:latin typeface="Arial" charset="0"/>
                <a:ea typeface="ＭＳ Ｐゴシック" charset="-128"/>
              </a:defRPr>
            </a:lvl1pPr>
            <a:lvl2pPr marL="742950" indent="-285750" eaLnBrk="0" hangingPunct="0">
              <a:spcBef>
                <a:spcPct val="20000"/>
              </a:spcBef>
              <a:buClr>
                <a:srgbClr val="9EA0A1"/>
              </a:buClr>
              <a:buSzPct val="120000"/>
              <a:buFont typeface="Arial" charset="0"/>
              <a:buChar char="»"/>
              <a:defRPr kumimoji="1" sz="1200">
                <a:solidFill>
                  <a:schemeClr val="tx1"/>
                </a:solidFill>
                <a:latin typeface="Arial" charset="0"/>
                <a:ea typeface="ＭＳ Ｐゴシック" charset="-128"/>
              </a:defRPr>
            </a:lvl2pPr>
            <a:lvl3pPr marL="11430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3pPr>
            <a:lvl4pPr marL="16002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4pPr>
            <a:lvl5pPr marL="20574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5pPr>
            <a:lvl6pPr marL="25146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6pPr>
            <a:lvl7pPr marL="29718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7pPr>
            <a:lvl8pPr marL="34290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8pPr>
            <a:lvl9pPr marL="38862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9pPr>
          </a:lstStyle>
          <a:p>
            <a:pPr algn="ctr">
              <a:buClrTx/>
              <a:buSzPct val="90000"/>
              <a:buNone/>
            </a:pPr>
            <a:r>
              <a:rPr lang="ja-JP" altLang="en-US" sz="1100" dirty="0">
                <a:latin typeface="游ゴシック" panose="020B0400000000000000" pitchFamily="50" charset="-128"/>
                <a:ea typeface="游ゴシック" panose="020B0400000000000000" pitchFamily="50" charset="-128"/>
                <a:cs typeface="メイリオ" pitchFamily="50" charset="-128"/>
              </a:rPr>
              <a:t>図：高潮浸水想定区域図</a:t>
            </a:r>
            <a:endParaRPr lang="en-US" altLang="ja-JP" sz="1100" dirty="0">
              <a:latin typeface="游ゴシック" panose="020B0400000000000000" pitchFamily="50" charset="-128"/>
              <a:ea typeface="游ゴシック" panose="020B0400000000000000" pitchFamily="50" charset="-128"/>
              <a:cs typeface="メイリオ" pitchFamily="50" charset="-128"/>
            </a:endParaRPr>
          </a:p>
          <a:p>
            <a:pPr algn="ctr">
              <a:buClrTx/>
              <a:buSzPct val="90000"/>
              <a:buNone/>
            </a:pPr>
            <a:r>
              <a:rPr lang="ja-JP" altLang="en-US" sz="1100" dirty="0">
                <a:latin typeface="游ゴシック" panose="020B0400000000000000" pitchFamily="50" charset="-128"/>
                <a:ea typeface="游ゴシック" panose="020B0400000000000000" pitchFamily="50" charset="-128"/>
                <a:cs typeface="メイリオ" pitchFamily="50" charset="-128"/>
              </a:rPr>
              <a:t>（出典：</a:t>
            </a:r>
            <a:r>
              <a:rPr lang="zh-CN" altLang="en-US" sz="1100" dirty="0">
                <a:latin typeface="游ゴシック" panose="020B0400000000000000" pitchFamily="50" charset="-128"/>
                <a:ea typeface="游ゴシック" panose="020B0400000000000000" pitchFamily="50" charset="-128"/>
              </a:rPr>
              <a:t>伊勢湾沿岸［三重県区間］高潮浸水想定区域図</a:t>
            </a:r>
            <a:r>
              <a:rPr lang="ja-JP" altLang="en-US" sz="1100" dirty="0">
                <a:latin typeface="游ゴシック" panose="020B0400000000000000" pitchFamily="50" charset="-128"/>
                <a:ea typeface="游ゴシック" panose="020B0400000000000000" pitchFamily="50" charset="-128"/>
              </a:rPr>
              <a:t>／三重県</a:t>
            </a:r>
            <a:r>
              <a:rPr lang="ja-JP" altLang="en-US" sz="1100" dirty="0">
                <a:latin typeface="游ゴシック" panose="020B0400000000000000" pitchFamily="50" charset="-128"/>
                <a:ea typeface="游ゴシック" panose="020B0400000000000000" pitchFamily="50" charset="-128"/>
                <a:cs typeface="メイリオ" pitchFamily="50" charset="-128"/>
              </a:rPr>
              <a:t>）</a:t>
            </a:r>
            <a:endParaRPr lang="en-US" altLang="ja-JP" sz="1100" dirty="0">
              <a:solidFill>
                <a:srgbClr val="000000"/>
              </a:solidFill>
              <a:latin typeface="游ゴシック" panose="020B0400000000000000" pitchFamily="50" charset="-128"/>
              <a:ea typeface="游ゴシック" panose="020B0400000000000000" pitchFamily="50" charset="-128"/>
              <a:cs typeface="メイリオ" pitchFamily="50" charset="-128"/>
            </a:endParaRPr>
          </a:p>
        </p:txBody>
      </p:sp>
      <p:grpSp>
        <p:nvGrpSpPr>
          <p:cNvPr id="9" name="グループ化 8">
            <a:extLst>
              <a:ext uri="{FF2B5EF4-FFF2-40B4-BE49-F238E27FC236}">
                <a16:creationId xmlns:a16="http://schemas.microsoft.com/office/drawing/2014/main" id="{AE7FE662-9C01-4828-9A54-49369E0973DC}"/>
              </a:ext>
            </a:extLst>
          </p:cNvPr>
          <p:cNvGrpSpPr/>
          <p:nvPr/>
        </p:nvGrpSpPr>
        <p:grpSpPr>
          <a:xfrm>
            <a:off x="360000" y="370800"/>
            <a:ext cx="720000" cy="672000"/>
            <a:chOff x="360000" y="370800"/>
            <a:chExt cx="720000" cy="672000"/>
          </a:xfrm>
        </p:grpSpPr>
        <p:sp>
          <p:nvSpPr>
            <p:cNvPr id="10" name="正方形/長方形 9">
              <a:extLst>
                <a:ext uri="{FF2B5EF4-FFF2-40B4-BE49-F238E27FC236}">
                  <a16:creationId xmlns:a16="http://schemas.microsoft.com/office/drawing/2014/main" id="{1302048D-CCA1-4008-9BF3-3A3754DA985A}"/>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1" name="テキスト ボックス 10">
              <a:extLst>
                <a:ext uri="{FF2B5EF4-FFF2-40B4-BE49-F238E27FC236}">
                  <a16:creationId xmlns:a16="http://schemas.microsoft.com/office/drawing/2014/main" id="{71C36A87-946D-4195-BF06-D8F55F775211}"/>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5</a:t>
              </a:r>
            </a:p>
          </p:txBody>
        </p:sp>
      </p:grpSp>
      <p:pic>
        <p:nvPicPr>
          <p:cNvPr id="13" name="図 12">
            <a:extLst>
              <a:ext uri="{FF2B5EF4-FFF2-40B4-BE49-F238E27FC236}">
                <a16:creationId xmlns:a16="http://schemas.microsoft.com/office/drawing/2014/main" id="{7FD19D5E-009A-52A8-32FE-8539EC5C7FBC}"/>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291336" y="1777879"/>
            <a:ext cx="7185221" cy="4073961"/>
          </a:xfrm>
          <a:prstGeom prst="rect">
            <a:avLst/>
          </a:prstGeom>
        </p:spPr>
      </p:pic>
      <p:cxnSp>
        <p:nvCxnSpPr>
          <p:cNvPr id="18" name="直線矢印コネクタ 17">
            <a:extLst>
              <a:ext uri="{FF2B5EF4-FFF2-40B4-BE49-F238E27FC236}">
                <a16:creationId xmlns:a16="http://schemas.microsoft.com/office/drawing/2014/main" id="{B4BBA0B7-B28D-AC1A-BA88-5424C907BC7B}"/>
              </a:ext>
            </a:extLst>
          </p:cNvPr>
          <p:cNvCxnSpPr>
            <a:cxnSpLocks/>
            <a:stCxn id="21" idx="2"/>
          </p:cNvCxnSpPr>
          <p:nvPr/>
        </p:nvCxnSpPr>
        <p:spPr>
          <a:xfrm>
            <a:off x="3387440" y="3394740"/>
            <a:ext cx="286734" cy="564337"/>
          </a:xfrm>
          <a:prstGeom prst="straightConnector1">
            <a:avLst/>
          </a:prstGeom>
          <a:ln w="15875">
            <a:solidFill>
              <a:srgbClr val="006659"/>
            </a:solidFill>
            <a:tailEnd type="triangle"/>
          </a:ln>
          <a:effectLst>
            <a:glow rad="63500">
              <a:schemeClr val="bg1">
                <a:alpha val="50000"/>
              </a:schemeClr>
            </a:glow>
          </a:effectLst>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837642BC-DBF0-43EA-EC0C-61AE0F4FE476}"/>
              </a:ext>
            </a:extLst>
          </p:cNvPr>
          <p:cNvSpPr txBox="1"/>
          <p:nvPr/>
        </p:nvSpPr>
        <p:spPr>
          <a:xfrm>
            <a:off x="2944163" y="3118839"/>
            <a:ext cx="886553" cy="275901"/>
          </a:xfrm>
          <a:prstGeom prst="rect">
            <a:avLst/>
          </a:prstGeom>
          <a:solidFill>
            <a:srgbClr val="006659"/>
          </a:solidFill>
        </p:spPr>
        <p:txBody>
          <a:bodyPr wrap="square" rtlCol="0" anchor="ctr">
            <a:noAutofit/>
          </a:bodyP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対象拠点</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167936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17AE550C-D013-B7FE-1406-016509ABFFF8}"/>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597024" y="1914055"/>
            <a:ext cx="6705600" cy="3904016"/>
          </a:xfrm>
          <a:prstGeom prst="rect">
            <a:avLst/>
          </a:prstGeom>
        </p:spPr>
      </p:pic>
      <p:sp>
        <p:nvSpPr>
          <p:cNvPr id="6" name="テキスト ボックス 5"/>
          <p:cNvSpPr txBox="1"/>
          <p:nvPr/>
        </p:nvSpPr>
        <p:spPr>
          <a:xfrm>
            <a:off x="1291335" y="370800"/>
            <a:ext cx="7504321" cy="720000"/>
          </a:xfrm>
          <a:prstGeom prst="rect">
            <a:avLst/>
          </a:prstGeom>
          <a:noFill/>
        </p:spPr>
        <p:txBody>
          <a:bodyPr wrap="square" lIns="0" tIns="0" rIns="0" bIns="0" numCol="1" rtlCol="0" anchor="ctr" anchorCtr="0">
            <a:noAutofit/>
          </a:bodyPr>
          <a:lstStyle/>
          <a:p>
            <a:pPr marL="0" indent="0" algn="l">
              <a:buFont typeface="Wingdings" charset="2"/>
              <a:buNone/>
            </a:pPr>
            <a:r>
              <a:rPr kumimoji="1" lang="ja-JP" altLang="en-US" sz="2400" dirty="0">
                <a:solidFill>
                  <a:schemeClr val="tx1"/>
                </a:solidFill>
                <a:latin typeface="游ゴシック" panose="020B0400000000000000" pitchFamily="50" charset="-128"/>
                <a:ea typeface="游ゴシック" panose="020B0400000000000000" pitchFamily="50" charset="-128"/>
              </a:rPr>
              <a:t>土砂災害危険度マップ</a:t>
            </a:r>
            <a:endParaRPr kumimoji="1" lang="en-US" altLang="ja-JP" sz="2400" dirty="0">
              <a:solidFill>
                <a:schemeClr val="tx1"/>
              </a:solidFill>
              <a:latin typeface="游ゴシック" panose="020B0400000000000000" pitchFamily="50" charset="-128"/>
              <a:ea typeface="游ゴシック" panose="020B0400000000000000" pitchFamily="50" charset="-128"/>
            </a:endParaRPr>
          </a:p>
        </p:txBody>
      </p:sp>
      <p:sp>
        <p:nvSpPr>
          <p:cNvPr id="5" name="テキスト ボックス 7"/>
          <p:cNvSpPr txBox="1">
            <a:spLocks noChangeArrowheads="1"/>
          </p:cNvSpPr>
          <p:nvPr/>
        </p:nvSpPr>
        <p:spPr bwMode="auto">
          <a:xfrm>
            <a:off x="359042" y="1202660"/>
            <a:ext cx="9181565" cy="474259"/>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defRPr/>
            </a:pPr>
            <a:r>
              <a:rPr lang="ja-JP" altLang="en-US" sz="1400" dirty="0">
                <a:solidFill>
                  <a:prstClr val="black"/>
                </a:solidFill>
                <a:latin typeface="+mn-ea"/>
                <a:ea typeface="+mn-ea"/>
              </a:rPr>
              <a:t>対象拠点は重ねる</a:t>
            </a:r>
            <a:r>
              <a:rPr lang="ja-JP" altLang="en-US" sz="1400" dirty="0">
                <a:latin typeface="+mn-ea"/>
                <a:ea typeface="+mn-ea"/>
                <a:cs typeface="メイリオ" pitchFamily="50" charset="-128"/>
              </a:rPr>
              <a:t>ハザードマップ</a:t>
            </a:r>
            <a:r>
              <a:rPr lang="ja-JP" altLang="en-US" sz="1400" dirty="0">
                <a:solidFill>
                  <a:prstClr val="black"/>
                </a:solidFill>
                <a:latin typeface="+mn-ea"/>
                <a:ea typeface="+mn-ea"/>
              </a:rPr>
              <a:t>によると、土砂災害</a:t>
            </a:r>
            <a:r>
              <a:rPr lang="ja-JP" altLang="en-US" sz="1400" dirty="0">
                <a:latin typeface="+mn-ea"/>
                <a:ea typeface="+mn-ea"/>
              </a:rPr>
              <a:t>警戒区域および特別警戒区域には</a:t>
            </a:r>
            <a:r>
              <a:rPr lang="ja-JP" altLang="en-US" sz="1400" dirty="0">
                <a:solidFill>
                  <a:prstClr val="black"/>
                </a:solidFill>
                <a:latin typeface="+mn-ea"/>
                <a:ea typeface="+mn-ea"/>
              </a:rPr>
              <a:t>該当していません。</a:t>
            </a:r>
            <a:endParaRPr kumimoji="1" lang="en-US" altLang="ja-JP" sz="1400" b="0" i="0" u="none" strike="noStrike" kern="1200" cap="none" spc="0" normalizeH="0" baseline="0" noProof="0" dirty="0">
              <a:ln>
                <a:noFill/>
              </a:ln>
              <a:solidFill>
                <a:srgbClr val="FF0000"/>
              </a:solidFill>
              <a:effectLst/>
              <a:uLnTx/>
              <a:uFillTx/>
              <a:latin typeface="+mn-ea"/>
              <a:ea typeface="+mn-ea"/>
            </a:endParaRPr>
          </a:p>
        </p:txBody>
      </p:sp>
      <p:sp>
        <p:nvSpPr>
          <p:cNvPr id="19"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28</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11" name="グループ化 10">
            <a:extLst>
              <a:ext uri="{FF2B5EF4-FFF2-40B4-BE49-F238E27FC236}">
                <a16:creationId xmlns:a16="http://schemas.microsoft.com/office/drawing/2014/main" id="{6DF47ABB-5F22-401D-A77E-1CF37A2FAE2E}"/>
              </a:ext>
            </a:extLst>
          </p:cNvPr>
          <p:cNvGrpSpPr/>
          <p:nvPr/>
        </p:nvGrpSpPr>
        <p:grpSpPr>
          <a:xfrm>
            <a:off x="360000" y="370800"/>
            <a:ext cx="720000" cy="672000"/>
            <a:chOff x="360000" y="370800"/>
            <a:chExt cx="720000" cy="672000"/>
          </a:xfrm>
        </p:grpSpPr>
        <p:sp>
          <p:nvSpPr>
            <p:cNvPr id="12" name="正方形/長方形 11">
              <a:extLst>
                <a:ext uri="{FF2B5EF4-FFF2-40B4-BE49-F238E27FC236}">
                  <a16:creationId xmlns:a16="http://schemas.microsoft.com/office/drawing/2014/main" id="{4CC0D5B8-2264-4035-BCA8-5CBFCD9D8D58}"/>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3" name="テキスト ボックス 12">
              <a:extLst>
                <a:ext uri="{FF2B5EF4-FFF2-40B4-BE49-F238E27FC236}">
                  <a16:creationId xmlns:a16="http://schemas.microsoft.com/office/drawing/2014/main" id="{B784BB0F-57AF-486F-A908-725BF387D26A}"/>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5</a:t>
              </a:r>
            </a:p>
          </p:txBody>
        </p:sp>
      </p:grpSp>
      <p:sp>
        <p:nvSpPr>
          <p:cNvPr id="15" name="コンテンツ プレースホルダ 2">
            <a:extLst>
              <a:ext uri="{FF2B5EF4-FFF2-40B4-BE49-F238E27FC236}">
                <a16:creationId xmlns:a16="http://schemas.microsoft.com/office/drawing/2014/main" id="{D48CF0BC-2831-4213-A85F-7B397EFE2487}"/>
              </a:ext>
            </a:extLst>
          </p:cNvPr>
          <p:cNvSpPr txBox="1">
            <a:spLocks/>
          </p:cNvSpPr>
          <p:nvPr/>
        </p:nvSpPr>
        <p:spPr bwMode="auto">
          <a:xfrm>
            <a:off x="379733" y="5884335"/>
            <a:ext cx="9161832" cy="474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EA0A1"/>
              </a:buClr>
              <a:buSzPct val="110000"/>
              <a:buFont typeface="Wingdings" pitchFamily="2" charset="2"/>
              <a:buChar char="n"/>
              <a:defRPr kumimoji="1" sz="1200">
                <a:solidFill>
                  <a:schemeClr val="tx1"/>
                </a:solidFill>
                <a:latin typeface="Arial" charset="0"/>
                <a:ea typeface="ＭＳ Ｐゴシック" charset="-128"/>
              </a:defRPr>
            </a:lvl1pPr>
            <a:lvl2pPr marL="742950" indent="-285750" eaLnBrk="0" hangingPunct="0">
              <a:spcBef>
                <a:spcPct val="20000"/>
              </a:spcBef>
              <a:buClr>
                <a:srgbClr val="9EA0A1"/>
              </a:buClr>
              <a:buSzPct val="120000"/>
              <a:buFont typeface="Arial" charset="0"/>
              <a:buChar char="»"/>
              <a:defRPr kumimoji="1" sz="1200">
                <a:solidFill>
                  <a:schemeClr val="tx1"/>
                </a:solidFill>
                <a:latin typeface="Arial" charset="0"/>
                <a:ea typeface="ＭＳ Ｐゴシック" charset="-128"/>
              </a:defRPr>
            </a:lvl2pPr>
            <a:lvl3pPr marL="11430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3pPr>
            <a:lvl4pPr marL="16002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4pPr>
            <a:lvl5pPr marL="2057400" indent="-228600" eaLnBrk="0" hangingPunct="0">
              <a:spcBef>
                <a:spcPct val="20000"/>
              </a:spcBef>
              <a:buClr>
                <a:srgbClr val="9EA0A1"/>
              </a:buClr>
              <a:buFont typeface="Arial" charset="0"/>
              <a:buChar char="-"/>
              <a:defRPr kumimoji="1" sz="1200">
                <a:solidFill>
                  <a:schemeClr val="tx1"/>
                </a:solidFill>
                <a:latin typeface="Arial" charset="0"/>
                <a:ea typeface="ＭＳ Ｐゴシック" charset="-128"/>
              </a:defRPr>
            </a:lvl5pPr>
            <a:lvl6pPr marL="25146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6pPr>
            <a:lvl7pPr marL="29718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7pPr>
            <a:lvl8pPr marL="34290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8pPr>
            <a:lvl9pPr marL="38862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9pPr>
          </a:lstStyle>
          <a:p>
            <a:pPr algn="ctr">
              <a:buClrTx/>
              <a:buSzPct val="90000"/>
              <a:buNone/>
            </a:pPr>
            <a:r>
              <a:rPr lang="ja-JP" altLang="en-US" sz="1100" dirty="0">
                <a:latin typeface="游ゴシック" panose="020B0400000000000000" pitchFamily="50" charset="-128"/>
                <a:ea typeface="游ゴシック" panose="020B0400000000000000" pitchFamily="50" charset="-128"/>
                <a:cs typeface="メイリオ" pitchFamily="50" charset="-128"/>
              </a:rPr>
              <a:t>図：土砂災害警戒区域図</a:t>
            </a:r>
            <a:endParaRPr lang="en-US" altLang="ja-JP" sz="1100" dirty="0">
              <a:latin typeface="游ゴシック" panose="020B0400000000000000" pitchFamily="50" charset="-128"/>
              <a:ea typeface="游ゴシック" panose="020B0400000000000000" pitchFamily="50" charset="-128"/>
              <a:cs typeface="メイリオ" pitchFamily="50" charset="-128"/>
            </a:endParaRPr>
          </a:p>
          <a:p>
            <a:pPr algn="r">
              <a:buClrTx/>
              <a:buSzPct val="90000"/>
              <a:buNone/>
            </a:pPr>
            <a:r>
              <a:rPr lang="ja-JP" altLang="en-US" sz="1100" dirty="0">
                <a:latin typeface="游ゴシック" panose="020B0400000000000000" pitchFamily="50" charset="-128"/>
                <a:ea typeface="游ゴシック" panose="020B0400000000000000" pitchFamily="50" charset="-128"/>
                <a:cs typeface="メイリオ" pitchFamily="50" charset="-128"/>
              </a:rPr>
              <a:t>（出典：重ねるハザードマップ／国土交通省）</a:t>
            </a:r>
            <a:endParaRPr lang="en-US" altLang="ja-JP" sz="1100" dirty="0">
              <a:latin typeface="游ゴシック" panose="020B0400000000000000" pitchFamily="50" charset="-128"/>
              <a:ea typeface="游ゴシック" panose="020B0400000000000000" pitchFamily="50" charset="-128"/>
              <a:cs typeface="メイリオ" pitchFamily="50" charset="-128"/>
            </a:endParaRPr>
          </a:p>
        </p:txBody>
      </p:sp>
      <p:cxnSp>
        <p:nvCxnSpPr>
          <p:cNvPr id="20" name="直線矢印コネクタ 19">
            <a:extLst>
              <a:ext uri="{FF2B5EF4-FFF2-40B4-BE49-F238E27FC236}">
                <a16:creationId xmlns:a16="http://schemas.microsoft.com/office/drawing/2014/main" id="{40555E83-B6AA-4D33-B7D2-DB6AA2226ECD}"/>
              </a:ext>
            </a:extLst>
          </p:cNvPr>
          <p:cNvCxnSpPr>
            <a:cxnSpLocks/>
            <a:stCxn id="21" idx="2"/>
            <a:endCxn id="18" idx="10"/>
          </p:cNvCxnSpPr>
          <p:nvPr/>
        </p:nvCxnSpPr>
        <p:spPr>
          <a:xfrm flipH="1">
            <a:off x="4457700" y="3028950"/>
            <a:ext cx="12700" cy="533400"/>
          </a:xfrm>
          <a:prstGeom prst="straightConnector1">
            <a:avLst/>
          </a:prstGeom>
          <a:ln w="15875">
            <a:solidFill>
              <a:srgbClr val="006659"/>
            </a:solidFill>
            <a:tailEnd type="triangle"/>
          </a:ln>
          <a:effectLst>
            <a:glow rad="63500">
              <a:schemeClr val="bg1">
                <a:alpha val="50000"/>
              </a:schemeClr>
            </a:glow>
          </a:effectLst>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0F69B01E-9EE6-4B3F-B37E-C02360AAE99F}"/>
              </a:ext>
            </a:extLst>
          </p:cNvPr>
          <p:cNvSpPr txBox="1"/>
          <p:nvPr/>
        </p:nvSpPr>
        <p:spPr>
          <a:xfrm>
            <a:off x="4027123" y="2753049"/>
            <a:ext cx="886553" cy="275901"/>
          </a:xfrm>
          <a:prstGeom prst="rect">
            <a:avLst/>
          </a:prstGeom>
          <a:solidFill>
            <a:srgbClr val="006659"/>
          </a:solidFill>
        </p:spPr>
        <p:txBody>
          <a:bodyPr wrap="square" rtlCol="0" anchor="ctr">
            <a:noAutofit/>
          </a:bodyP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対象拠点</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sp>
        <p:nvSpPr>
          <p:cNvPr id="10" name="フリーフォーム: 図形 9">
            <a:extLst>
              <a:ext uri="{FF2B5EF4-FFF2-40B4-BE49-F238E27FC236}">
                <a16:creationId xmlns:a16="http://schemas.microsoft.com/office/drawing/2014/main" id="{F0665E29-2420-7E30-B685-6C36865D0503}"/>
              </a:ext>
            </a:extLst>
          </p:cNvPr>
          <p:cNvSpPr/>
          <p:nvPr/>
        </p:nvSpPr>
        <p:spPr>
          <a:xfrm>
            <a:off x="4457700" y="3568700"/>
            <a:ext cx="12700" cy="355600"/>
          </a:xfrm>
          <a:custGeom>
            <a:avLst/>
            <a:gdLst>
              <a:gd name="csX0" fmla="*/ 0 w 12700"/>
              <a:gd name="csY0" fmla="*/ 0 h 355600"/>
              <a:gd name="csX1" fmla="*/ 12700 w 12700"/>
              <a:gd name="csY1" fmla="*/ 355600 h 355600"/>
            </a:gdLst>
            <a:ahLst/>
            <a:cxnLst>
              <a:cxn ang="0">
                <a:pos x="csX0" y="csY0"/>
              </a:cxn>
              <a:cxn ang="0">
                <a:pos x="csX1" y="csY1"/>
              </a:cxn>
            </a:cxnLst>
            <a:rect l="l" t="t" r="r" b="b"/>
            <a:pathLst>
              <a:path w="12700" h="355600">
                <a:moveTo>
                  <a:pt x="0" y="0"/>
                </a:moveTo>
                <a:lnTo>
                  <a:pt x="12700" y="355600"/>
                </a:lnTo>
              </a:path>
            </a:pathLst>
          </a:custGeom>
          <a:noFill/>
          <a:ln w="9525">
            <a:solidFill>
              <a:srgbClr val="737677"/>
            </a:solidFill>
          </a:ln>
          <a:extLst>
            <a:ext uri="{909E8E84-426E-40DD-AFC4-6F175D3DCCD1}">
              <a14:hiddenFill xmlns:a14="http://schemas.microsoft.com/office/drawing/2010/main">
                <a:solidFill>
                  <a:srgbClr val="D2D3D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フリーフォーム: 図形 17">
            <a:extLst>
              <a:ext uri="{FF2B5EF4-FFF2-40B4-BE49-F238E27FC236}">
                <a16:creationId xmlns:a16="http://schemas.microsoft.com/office/drawing/2014/main" id="{3BE40943-F2A9-5B0E-4961-13BCE6EB97D8}"/>
              </a:ext>
            </a:extLst>
          </p:cNvPr>
          <p:cNvSpPr/>
          <p:nvPr/>
        </p:nvSpPr>
        <p:spPr>
          <a:xfrm>
            <a:off x="4083050" y="3556000"/>
            <a:ext cx="1397000" cy="908050"/>
          </a:xfrm>
          <a:custGeom>
            <a:avLst/>
            <a:gdLst>
              <a:gd name="csX0" fmla="*/ 0 w 1397000"/>
              <a:gd name="csY0" fmla="*/ 0 h 908050"/>
              <a:gd name="csX1" fmla="*/ 6350 w 1397000"/>
              <a:gd name="csY1" fmla="*/ 438150 h 908050"/>
              <a:gd name="csX2" fmla="*/ 603250 w 1397000"/>
              <a:gd name="csY2" fmla="*/ 444500 h 908050"/>
              <a:gd name="csX3" fmla="*/ 603250 w 1397000"/>
              <a:gd name="csY3" fmla="*/ 908050 h 908050"/>
              <a:gd name="csX4" fmla="*/ 838200 w 1397000"/>
              <a:gd name="csY4" fmla="*/ 908050 h 908050"/>
              <a:gd name="csX5" fmla="*/ 1003300 w 1397000"/>
              <a:gd name="csY5" fmla="*/ 831850 h 908050"/>
              <a:gd name="csX6" fmla="*/ 1397000 w 1397000"/>
              <a:gd name="csY6" fmla="*/ 850900 h 908050"/>
              <a:gd name="csX7" fmla="*/ 1174750 w 1397000"/>
              <a:gd name="csY7" fmla="*/ 247650 h 908050"/>
              <a:gd name="csX8" fmla="*/ 939800 w 1397000"/>
              <a:gd name="csY8" fmla="*/ 114300 h 908050"/>
              <a:gd name="csX9" fmla="*/ 673100 w 1397000"/>
              <a:gd name="csY9" fmla="*/ 107950 h 908050"/>
              <a:gd name="csX10" fmla="*/ 374650 w 1397000"/>
              <a:gd name="csY10" fmla="*/ 6350 h 908050"/>
              <a:gd name="csX11" fmla="*/ 0 w 1397000"/>
              <a:gd name="csY11" fmla="*/ 0 h 908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397000" h="908050">
                <a:moveTo>
                  <a:pt x="0" y="0"/>
                </a:moveTo>
                <a:cubicBezTo>
                  <a:pt x="2117" y="146050"/>
                  <a:pt x="4233" y="292100"/>
                  <a:pt x="6350" y="438150"/>
                </a:cubicBezTo>
                <a:lnTo>
                  <a:pt x="603250" y="444500"/>
                </a:lnTo>
                <a:lnTo>
                  <a:pt x="603250" y="908050"/>
                </a:lnTo>
                <a:lnTo>
                  <a:pt x="838200" y="908050"/>
                </a:lnTo>
                <a:lnTo>
                  <a:pt x="1003300" y="831850"/>
                </a:lnTo>
                <a:lnTo>
                  <a:pt x="1397000" y="850900"/>
                </a:lnTo>
                <a:lnTo>
                  <a:pt x="1174750" y="247650"/>
                </a:lnTo>
                <a:lnTo>
                  <a:pt x="939800" y="114300"/>
                </a:lnTo>
                <a:lnTo>
                  <a:pt x="673100" y="107950"/>
                </a:lnTo>
                <a:lnTo>
                  <a:pt x="374650" y="6350"/>
                </a:lnTo>
                <a:lnTo>
                  <a:pt x="0" y="0"/>
                </a:lnTo>
                <a:close/>
              </a:path>
            </a:pathLst>
          </a:custGeom>
          <a:noFill/>
          <a:ln w="9525">
            <a:solidFill>
              <a:srgbClr val="FF0000"/>
            </a:solidFill>
          </a:ln>
          <a:extLst>
            <a:ext uri="{909E8E84-426E-40DD-AFC4-6F175D3DCCD1}">
              <a14:hiddenFill xmlns:a14="http://schemas.microsoft.com/office/drawing/2010/main">
                <a:solidFill>
                  <a:srgbClr val="D2D3D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rgbClr val="000000"/>
              </a:solidFill>
            </a:endParaRPr>
          </a:p>
        </p:txBody>
      </p:sp>
    </p:spTree>
    <p:extLst>
      <p:ext uri="{BB962C8B-B14F-4D97-AF65-F5344CB8AC3E}">
        <p14:creationId xmlns:p14="http://schemas.microsoft.com/office/powerpoint/2010/main" val="34662485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水災リスク・対策状況</a:t>
            </a:r>
            <a:endParaRPr lang="en-US" altLang="ja-JP" sz="2400" dirty="0">
              <a:latin typeface="游ゴシック" panose="020B0400000000000000" pitchFamily="50" charset="-128"/>
              <a:ea typeface="游ゴシック" panose="020B0400000000000000" pitchFamily="50" charset="-128"/>
            </a:endParaRPr>
          </a:p>
        </p:txBody>
      </p:sp>
      <p:sp>
        <p:nvSpPr>
          <p:cNvPr id="24"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29</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21" name="グループ化 20">
            <a:extLst>
              <a:ext uri="{FF2B5EF4-FFF2-40B4-BE49-F238E27FC236}">
                <a16:creationId xmlns:a16="http://schemas.microsoft.com/office/drawing/2014/main" id="{C6FD7D3F-FA76-4993-814B-2ECC9625F432}"/>
              </a:ext>
            </a:extLst>
          </p:cNvPr>
          <p:cNvGrpSpPr/>
          <p:nvPr/>
        </p:nvGrpSpPr>
        <p:grpSpPr>
          <a:xfrm>
            <a:off x="360000" y="370800"/>
            <a:ext cx="720000" cy="672000"/>
            <a:chOff x="360000" y="370800"/>
            <a:chExt cx="720000" cy="672000"/>
          </a:xfrm>
        </p:grpSpPr>
        <p:sp>
          <p:nvSpPr>
            <p:cNvPr id="22" name="正方形/長方形 21">
              <a:extLst>
                <a:ext uri="{FF2B5EF4-FFF2-40B4-BE49-F238E27FC236}">
                  <a16:creationId xmlns:a16="http://schemas.microsoft.com/office/drawing/2014/main" id="{E277356B-0EC1-4F35-A1CD-F11498DB376A}"/>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A9E12D81-B347-4107-B249-C71D550FDA7A}"/>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5</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graphicFrame>
        <p:nvGraphicFramePr>
          <p:cNvPr id="15" name="表 14">
            <a:extLst>
              <a:ext uri="{FF2B5EF4-FFF2-40B4-BE49-F238E27FC236}">
                <a16:creationId xmlns:a16="http://schemas.microsoft.com/office/drawing/2014/main" id="{F1167958-9CC6-4A5F-BE45-55C27B359D5F}"/>
              </a:ext>
            </a:extLst>
          </p:cNvPr>
          <p:cNvGraphicFramePr>
            <a:graphicFrameLocks noGrp="1"/>
          </p:cNvGraphicFramePr>
          <p:nvPr>
            <p:extLst>
              <p:ext uri="{D42A27DB-BD31-4B8C-83A1-F6EECF244321}">
                <p14:modId xmlns:p14="http://schemas.microsoft.com/office/powerpoint/2010/main" val="4210440600"/>
              </p:ext>
            </p:extLst>
          </p:nvPr>
        </p:nvGraphicFramePr>
        <p:xfrm>
          <a:off x="313598" y="1090800"/>
          <a:ext cx="9272453" cy="4473210"/>
        </p:xfrm>
        <a:graphic>
          <a:graphicData uri="http://schemas.openxmlformats.org/drawingml/2006/table">
            <a:tbl>
              <a:tblPr/>
              <a:tblGrid>
                <a:gridCol w="1373144">
                  <a:extLst>
                    <a:ext uri="{9D8B030D-6E8A-4147-A177-3AD203B41FA5}">
                      <a16:colId xmlns:a16="http://schemas.microsoft.com/office/drawing/2014/main" val="175706446"/>
                    </a:ext>
                  </a:extLst>
                </a:gridCol>
                <a:gridCol w="7899309">
                  <a:extLst>
                    <a:ext uri="{9D8B030D-6E8A-4147-A177-3AD203B41FA5}">
                      <a16:colId xmlns:a16="http://schemas.microsoft.com/office/drawing/2014/main" val="181256157"/>
                    </a:ext>
                  </a:extLst>
                </a:gridCol>
              </a:tblGrid>
              <a:tr h="1531140">
                <a:tc>
                  <a:txBody>
                    <a:body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敷地全体の</a:t>
                      </a: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ハード対策</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marL="180000" indent="-180000" algn="l">
                        <a:buFont typeface="Arial" panose="020B0604020202020204" pitchFamily="34" charset="0"/>
                        <a:buChar char="•"/>
                      </a:pPr>
                      <a:r>
                        <a:rPr kumimoji="1" lang="ja-JP" altLang="en-US" sz="1400" dirty="0">
                          <a:solidFill>
                            <a:schemeClr val="tx1"/>
                          </a:solidFill>
                          <a:latin typeface="+mn-ea"/>
                          <a:ea typeface="+mn-ea"/>
                        </a:rPr>
                        <a:t>敷地全体の嵩上げはされていません。</a:t>
                      </a:r>
                      <a:endParaRPr kumimoji="1" lang="en-US" altLang="ja-JP" sz="1400" dirty="0">
                        <a:solidFill>
                          <a:schemeClr val="tx1"/>
                        </a:solidFill>
                        <a:latin typeface="+mn-ea"/>
                        <a:ea typeface="+mn-ea"/>
                      </a:endParaRPr>
                    </a:p>
                    <a:p>
                      <a:pPr marL="180000" indent="-180000" algn="l">
                        <a:buFont typeface="Arial" panose="020B0604020202020204" pitchFamily="34" charset="0"/>
                        <a:buChar char="•"/>
                      </a:pPr>
                      <a:r>
                        <a:rPr kumimoji="1" lang="ja-JP" altLang="en-US" sz="1400" dirty="0">
                          <a:solidFill>
                            <a:schemeClr val="tx1"/>
                          </a:solidFill>
                          <a:latin typeface="+mn-ea"/>
                          <a:ea typeface="+mn-ea"/>
                        </a:rPr>
                        <a:t>敷地北側には防潮壁を設置しており、</a:t>
                      </a:r>
                      <a:r>
                        <a:rPr kumimoji="1" lang="en-US" altLang="ja-JP" sz="1400" dirty="0">
                          <a:solidFill>
                            <a:schemeClr val="tx1"/>
                          </a:solidFill>
                          <a:latin typeface="+mn-ea"/>
                          <a:ea typeface="+mn-ea"/>
                        </a:rPr>
                        <a:t>G.L.+1.2m</a:t>
                      </a:r>
                      <a:r>
                        <a:rPr kumimoji="1" lang="ja-JP" altLang="en-US" sz="1400" dirty="0">
                          <a:solidFill>
                            <a:schemeClr val="tx1"/>
                          </a:solidFill>
                          <a:latin typeface="+mn-ea"/>
                          <a:ea typeface="+mn-ea"/>
                        </a:rPr>
                        <a:t>の高さを確保しています。また、工場正門には跳ね上げ式防潮堤を設置しており、止水高さは </a:t>
                      </a:r>
                      <a:r>
                        <a:rPr kumimoji="1" lang="en-US" altLang="ja-JP" sz="1400" dirty="0">
                          <a:solidFill>
                            <a:schemeClr val="tx1"/>
                          </a:solidFill>
                          <a:latin typeface="+mn-ea"/>
                          <a:ea typeface="+mn-ea"/>
                        </a:rPr>
                        <a:t>G.L.+1.2m </a:t>
                      </a:r>
                      <a:r>
                        <a:rPr kumimoji="1" lang="ja-JP" altLang="en-US" sz="1400" dirty="0">
                          <a:solidFill>
                            <a:schemeClr val="tx1"/>
                          </a:solidFill>
                          <a:latin typeface="+mn-ea"/>
                          <a:ea typeface="+mn-ea"/>
                        </a:rPr>
                        <a:t>です。</a:t>
                      </a:r>
                      <a:endParaRPr kumimoji="1" lang="en-US" altLang="ja-JP" sz="1400" dirty="0">
                        <a:solidFill>
                          <a:schemeClr val="tx1"/>
                        </a:solidFill>
                        <a:latin typeface="+mn-ea"/>
                        <a:ea typeface="+mn-ea"/>
                      </a:endParaRPr>
                    </a:p>
                    <a:p>
                      <a:pPr marL="180000" indent="-180000" algn="l">
                        <a:buFont typeface="Arial" panose="020B0604020202020204" pitchFamily="34" charset="0"/>
                        <a:buChar char="•"/>
                      </a:pPr>
                      <a:r>
                        <a:rPr kumimoji="1" lang="ja-JP" altLang="en-US" sz="1400" dirty="0">
                          <a:solidFill>
                            <a:schemeClr val="tx1"/>
                          </a:solidFill>
                          <a:latin typeface="+mn-ea"/>
                          <a:ea typeface="+mn-ea"/>
                        </a:rPr>
                        <a:t>海に面した岸壁は嵩上げされており、</a:t>
                      </a:r>
                      <a:r>
                        <a:rPr kumimoji="1" lang="en-US" altLang="ja-JP" sz="1400" dirty="0">
                          <a:solidFill>
                            <a:schemeClr val="tx1"/>
                          </a:solidFill>
                          <a:latin typeface="+mn-ea"/>
                          <a:ea typeface="+mn-ea"/>
                        </a:rPr>
                        <a:t>G.L.+4.1</a:t>
                      </a:r>
                      <a:r>
                        <a:rPr kumimoji="1" lang="ja-JP" altLang="en-US" sz="1400" dirty="0">
                          <a:solidFill>
                            <a:schemeClr val="tx1"/>
                          </a:solidFill>
                          <a:latin typeface="+mn-ea"/>
                          <a:ea typeface="+mn-ea"/>
                        </a:rPr>
                        <a:t>～</a:t>
                      </a:r>
                      <a:r>
                        <a:rPr kumimoji="1" lang="en-US" altLang="ja-JP" sz="1400" dirty="0">
                          <a:solidFill>
                            <a:schemeClr val="tx1"/>
                          </a:solidFill>
                          <a:latin typeface="+mn-ea"/>
                          <a:ea typeface="+mn-ea"/>
                        </a:rPr>
                        <a:t>4.2m</a:t>
                      </a:r>
                      <a:r>
                        <a:rPr kumimoji="1" lang="ja-JP" altLang="en-US" sz="1400" dirty="0">
                          <a:solidFill>
                            <a:schemeClr val="tx1"/>
                          </a:solidFill>
                          <a:latin typeface="+mn-ea"/>
                          <a:ea typeface="+mn-ea"/>
                        </a:rPr>
                        <a:t>の高さが確保されています。津波や高潮等への対策として有効な取り組みが実施されています。</a:t>
                      </a:r>
                      <a:endParaRPr kumimoji="1" lang="en-US" altLang="ja-JP" sz="1400" dirty="0">
                        <a:solidFill>
                          <a:schemeClr val="tx1"/>
                        </a:solidFill>
                        <a:latin typeface="+mn-ea"/>
                        <a:ea typeface="+mn-ea"/>
                      </a:endParaRPr>
                    </a:p>
                    <a:p>
                      <a:pPr marL="180000" indent="-180000" algn="l">
                        <a:buFont typeface="Arial" panose="020B0604020202020204" pitchFamily="34" charset="0"/>
                        <a:buChar char="•"/>
                      </a:pPr>
                      <a:r>
                        <a:rPr kumimoji="1" lang="ja-JP" altLang="en-US" sz="1400" dirty="0">
                          <a:solidFill>
                            <a:schemeClr val="tx1"/>
                          </a:solidFill>
                          <a:latin typeface="+mn-ea"/>
                          <a:ea typeface="+mn-ea"/>
                        </a:rPr>
                        <a:t>敷地内の浸水を排水するための排水ポンプが</a:t>
                      </a:r>
                      <a:r>
                        <a:rPr kumimoji="1" lang="ja-JP" altLang="en-US" sz="1400" dirty="0">
                          <a:latin typeface="+mn-ea"/>
                          <a:ea typeface="+mn-ea"/>
                        </a:rPr>
                        <a:t>第</a:t>
                      </a:r>
                      <a:r>
                        <a:rPr kumimoji="1" lang="en-US" altLang="ja-JP" sz="1400" dirty="0">
                          <a:latin typeface="+mn-ea"/>
                          <a:ea typeface="+mn-ea"/>
                        </a:rPr>
                        <a:t>3</a:t>
                      </a:r>
                      <a:r>
                        <a:rPr kumimoji="1" lang="ja-JP" altLang="en-US" sz="1400" dirty="0">
                          <a:latin typeface="+mn-ea"/>
                          <a:ea typeface="+mn-ea"/>
                        </a:rPr>
                        <a:t>加工工場南側に設置されています。側溝を流れる水が満水になった時点で手動で起動する運用としています。</a:t>
                      </a:r>
                      <a:endParaRPr kumimoji="1" lang="en-US" altLang="ja-JP" sz="1400" dirty="0">
                        <a:solidFill>
                          <a:schemeClr val="tx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7573530"/>
                  </a:ext>
                </a:extLst>
              </a:tr>
              <a:tr h="1943370">
                <a:tc>
                  <a:txBody>
                    <a:body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建物・設備の</a:t>
                      </a: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ハード対策</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marL="180000" marR="0" lvl="0" indent="-180000" algn="l" defTabSz="91385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dirty="0">
                          <a:solidFill>
                            <a:schemeClr val="tx1"/>
                          </a:solidFill>
                          <a:latin typeface="+mn-ea"/>
                          <a:ea typeface="+mn-ea"/>
                        </a:rPr>
                        <a:t>7</a:t>
                      </a:r>
                      <a:r>
                        <a:rPr kumimoji="1" lang="ja-JP" altLang="en-US" sz="1400" dirty="0">
                          <a:solidFill>
                            <a:schemeClr val="tx1"/>
                          </a:solidFill>
                          <a:latin typeface="+mn-ea"/>
                          <a:ea typeface="+mn-ea"/>
                        </a:rPr>
                        <a:t>線材・</a:t>
                      </a:r>
                      <a:r>
                        <a:rPr kumimoji="1" lang="en-US" altLang="ja-JP" sz="1400" dirty="0">
                          <a:solidFill>
                            <a:schemeClr val="tx1"/>
                          </a:solidFill>
                          <a:latin typeface="+mn-ea"/>
                          <a:ea typeface="+mn-ea"/>
                        </a:rPr>
                        <a:t>3</a:t>
                      </a:r>
                      <a:r>
                        <a:rPr kumimoji="1" lang="ja-JP" altLang="en-US" sz="1400" dirty="0">
                          <a:solidFill>
                            <a:schemeClr val="tx1"/>
                          </a:solidFill>
                          <a:latin typeface="+mn-ea"/>
                          <a:ea typeface="+mn-ea"/>
                        </a:rPr>
                        <a:t>加工工場では建屋内の設備区画全体が</a:t>
                      </a:r>
                      <a:r>
                        <a:rPr kumimoji="1" lang="en-US" altLang="ja-JP" sz="1400" dirty="0">
                          <a:solidFill>
                            <a:schemeClr val="tx1"/>
                          </a:solidFill>
                          <a:latin typeface="+mn-ea"/>
                          <a:ea typeface="+mn-ea"/>
                        </a:rPr>
                        <a:t>G.L.+0.7m</a:t>
                      </a:r>
                      <a:r>
                        <a:rPr kumimoji="1" lang="ja-JP" altLang="en-US" sz="1400" dirty="0">
                          <a:solidFill>
                            <a:schemeClr val="tx1"/>
                          </a:solidFill>
                          <a:latin typeface="+mn-ea"/>
                          <a:ea typeface="+mn-ea"/>
                        </a:rPr>
                        <a:t>程度嵩上げされています。さらに区画を囲うように止水板が常設されており</a:t>
                      </a:r>
                      <a:r>
                        <a:rPr kumimoji="1" lang="en-US" altLang="ja-JP" sz="1400" dirty="0">
                          <a:solidFill>
                            <a:schemeClr val="tx1"/>
                          </a:solidFill>
                          <a:latin typeface="+mn-ea"/>
                          <a:ea typeface="+mn-ea"/>
                        </a:rPr>
                        <a:t>G.L.+0.9m</a:t>
                      </a:r>
                      <a:r>
                        <a:rPr kumimoji="1" lang="ja-JP" altLang="en-US" sz="1400" dirty="0">
                          <a:solidFill>
                            <a:schemeClr val="tx1"/>
                          </a:solidFill>
                          <a:latin typeface="+mn-ea"/>
                          <a:ea typeface="+mn-ea"/>
                        </a:rPr>
                        <a:t>までの止水が可能です。</a:t>
                      </a:r>
                      <a:endParaRPr kumimoji="1" lang="en-US" altLang="ja-JP" sz="1400" dirty="0">
                        <a:solidFill>
                          <a:schemeClr val="tx1"/>
                        </a:solidFill>
                        <a:latin typeface="+mn-ea"/>
                        <a:ea typeface="+mn-ea"/>
                      </a:endParaRPr>
                    </a:p>
                    <a:p>
                      <a:pPr marL="180000" marR="0" lvl="0" indent="-180000" algn="l" defTabSz="91385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dirty="0">
                          <a:solidFill>
                            <a:schemeClr val="tx1"/>
                          </a:solidFill>
                          <a:latin typeface="+mn-ea"/>
                          <a:ea typeface="+mn-ea"/>
                        </a:rPr>
                        <a:t>7</a:t>
                      </a:r>
                      <a:r>
                        <a:rPr kumimoji="1" lang="ja-JP" altLang="en-US" sz="1400" dirty="0">
                          <a:solidFill>
                            <a:schemeClr val="tx1"/>
                          </a:solidFill>
                          <a:latin typeface="+mn-ea"/>
                          <a:ea typeface="+mn-ea"/>
                        </a:rPr>
                        <a:t>線材・</a:t>
                      </a:r>
                      <a:r>
                        <a:rPr kumimoji="1" lang="en-US" altLang="ja-JP" sz="1400" dirty="0">
                          <a:solidFill>
                            <a:schemeClr val="tx1"/>
                          </a:solidFill>
                          <a:latin typeface="+mn-ea"/>
                          <a:ea typeface="+mn-ea"/>
                        </a:rPr>
                        <a:t>3</a:t>
                      </a:r>
                      <a:r>
                        <a:rPr kumimoji="1" lang="ja-JP" altLang="en-US" sz="1400" dirty="0">
                          <a:solidFill>
                            <a:schemeClr val="tx1"/>
                          </a:solidFill>
                          <a:latin typeface="+mn-ea"/>
                          <a:ea typeface="+mn-ea"/>
                        </a:rPr>
                        <a:t>加工工場内の変電設備を囲うように</a:t>
                      </a:r>
                      <a:r>
                        <a:rPr kumimoji="1" lang="en-US" altLang="ja-JP" sz="1400" dirty="0">
                          <a:solidFill>
                            <a:schemeClr val="tx1"/>
                          </a:solidFill>
                          <a:latin typeface="+mn-ea"/>
                          <a:ea typeface="+mn-ea"/>
                        </a:rPr>
                        <a:t>G.L.+0.7m</a:t>
                      </a:r>
                      <a:r>
                        <a:rPr kumimoji="1" lang="ja-JP" altLang="en-US" sz="1400" dirty="0">
                          <a:solidFill>
                            <a:schemeClr val="tx1"/>
                          </a:solidFill>
                          <a:latin typeface="+mn-ea"/>
                          <a:ea typeface="+mn-ea"/>
                        </a:rPr>
                        <a:t>程度の止水板が常設されていますが、止水板の接合部がテープによって止められており、隙間が見受けられましたので止水性の再確認をお勧めします。</a:t>
                      </a:r>
                      <a:endParaRPr kumimoji="1" lang="en-US" altLang="ja-JP" sz="1400" dirty="0">
                        <a:solidFill>
                          <a:schemeClr val="tx1"/>
                        </a:solidFill>
                        <a:latin typeface="+mn-ea"/>
                        <a:ea typeface="+mn-ea"/>
                      </a:endParaRPr>
                    </a:p>
                    <a:p>
                      <a:pPr marL="180000" marR="0" lvl="0" indent="-180000" algn="l" defTabSz="91385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solidFill>
                            <a:schemeClr val="tx1"/>
                          </a:solidFill>
                          <a:latin typeface="+mn-ea"/>
                          <a:ea typeface="+mn-ea"/>
                        </a:rPr>
                        <a:t>電力会社からの電力を受電する受電所は床高が</a:t>
                      </a:r>
                      <a:r>
                        <a:rPr kumimoji="1" lang="en-US" altLang="ja-JP" sz="1400" dirty="0">
                          <a:solidFill>
                            <a:schemeClr val="tx1"/>
                          </a:solidFill>
                          <a:latin typeface="+mn-ea"/>
                          <a:ea typeface="+mn-ea"/>
                        </a:rPr>
                        <a:t>G.L.+1.5m</a:t>
                      </a:r>
                      <a:r>
                        <a:rPr kumimoji="1" lang="ja-JP" altLang="en-US" sz="1400" dirty="0">
                          <a:solidFill>
                            <a:schemeClr val="tx1"/>
                          </a:solidFill>
                          <a:latin typeface="+mn-ea"/>
                          <a:ea typeface="+mn-ea"/>
                        </a:rPr>
                        <a:t>程度嵩上げされています。</a:t>
                      </a:r>
                      <a:endParaRPr kumimoji="1" lang="en-US" altLang="ja-JP" sz="1400" dirty="0">
                        <a:solidFill>
                          <a:schemeClr val="tx1"/>
                        </a:solidFill>
                        <a:latin typeface="+mn-ea"/>
                        <a:ea typeface="+mn-ea"/>
                      </a:endParaRPr>
                    </a:p>
                    <a:p>
                      <a:pPr marL="180000" marR="0" lvl="0" indent="-180000" algn="l" defTabSz="91385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solidFill>
                            <a:schemeClr val="tx1"/>
                          </a:solidFill>
                          <a:latin typeface="+mn-ea"/>
                          <a:ea typeface="+mn-ea"/>
                        </a:rPr>
                        <a:t>重油タンク周辺には、高さ約</a:t>
                      </a:r>
                      <a:r>
                        <a:rPr kumimoji="1" lang="en-US" altLang="ja-JP" sz="1400" dirty="0">
                          <a:solidFill>
                            <a:schemeClr val="tx1"/>
                          </a:solidFill>
                          <a:latin typeface="+mn-ea"/>
                          <a:ea typeface="+mn-ea"/>
                        </a:rPr>
                        <a:t>G.L.+2.5m</a:t>
                      </a:r>
                      <a:r>
                        <a:rPr kumimoji="1" lang="ja-JP" altLang="en-US" sz="1400" dirty="0">
                          <a:solidFill>
                            <a:schemeClr val="tx1"/>
                          </a:solidFill>
                          <a:latin typeface="+mn-ea"/>
                          <a:ea typeface="+mn-ea"/>
                        </a:rPr>
                        <a:t>の防油堤が設置されています。さらに、重油ポンプ室の扉にはスライド式止水板が設置されており、浸水対策が講じられています。</a:t>
                      </a:r>
                      <a:endParaRPr kumimoji="1" lang="en-US" altLang="ja-JP" sz="1400" dirty="0">
                        <a:solidFill>
                          <a:schemeClr val="tx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0494860"/>
                  </a:ext>
                </a:extLst>
              </a:tr>
              <a:tr h="912795">
                <a:tc>
                  <a:txBody>
                    <a:body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平常時の防災管理・訓練等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marL="180000" marR="0" lvl="0" indent="-180000" algn="l" defTabSz="913851"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400" dirty="0">
                          <a:solidFill>
                            <a:schemeClr val="tx1"/>
                          </a:solidFill>
                          <a:latin typeface="+mn-ea"/>
                          <a:ea typeface="+mn-ea"/>
                        </a:rPr>
                        <a:t>台風を想定した</a:t>
                      </a:r>
                      <a:r>
                        <a:rPr lang="en-US" altLang="ja-JP" sz="1400" dirty="0">
                          <a:solidFill>
                            <a:schemeClr val="tx1"/>
                          </a:solidFill>
                          <a:latin typeface="+mn-ea"/>
                          <a:ea typeface="+mn-ea"/>
                        </a:rPr>
                        <a:t>BCP</a:t>
                      </a:r>
                      <a:r>
                        <a:rPr lang="ja-JP" altLang="en-US" sz="1400" dirty="0">
                          <a:solidFill>
                            <a:schemeClr val="tx1"/>
                          </a:solidFill>
                          <a:latin typeface="+mn-ea"/>
                          <a:ea typeface="+mn-ea"/>
                        </a:rPr>
                        <a:t>は策定されていませんが、台風接近時の緊急時対応計画及び水害タイムラインは策定されています。</a:t>
                      </a:r>
                      <a:endParaRPr lang="en-US" altLang="ja-JP" sz="1400" dirty="0">
                        <a:solidFill>
                          <a:schemeClr val="tx1"/>
                        </a:solidFill>
                        <a:latin typeface="+mn-ea"/>
                        <a:ea typeface="+mn-ea"/>
                      </a:endParaRPr>
                    </a:p>
                    <a:p>
                      <a:pPr marL="180000" marR="0" lvl="0" indent="-180000" algn="l" defTabSz="913851"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400" dirty="0">
                          <a:solidFill>
                            <a:schemeClr val="tx1"/>
                          </a:solidFill>
                          <a:latin typeface="+mn-ea"/>
                          <a:ea typeface="+mn-ea"/>
                        </a:rPr>
                        <a:t>各工場で個別に防災対策</a:t>
                      </a:r>
                      <a:r>
                        <a:rPr lang="en-US" altLang="ja-JP" sz="1400" dirty="0">
                          <a:solidFill>
                            <a:schemeClr val="tx1"/>
                          </a:solidFill>
                          <a:latin typeface="+mn-ea"/>
                          <a:ea typeface="+mn-ea"/>
                        </a:rPr>
                        <a:t>(</a:t>
                      </a:r>
                      <a:r>
                        <a:rPr lang="ja-JP" altLang="en-US" sz="1400" dirty="0">
                          <a:solidFill>
                            <a:schemeClr val="tx1"/>
                          </a:solidFill>
                          <a:latin typeface="+mn-ea"/>
                          <a:ea typeface="+mn-ea"/>
                        </a:rPr>
                        <a:t>土のうの準備や排水溝の清掃</a:t>
                      </a:r>
                      <a:r>
                        <a:rPr lang="en-US" altLang="ja-JP" sz="1400" dirty="0">
                          <a:solidFill>
                            <a:schemeClr val="tx1"/>
                          </a:solidFill>
                          <a:latin typeface="+mn-ea"/>
                          <a:ea typeface="+mn-ea"/>
                        </a:rPr>
                        <a:t>)</a:t>
                      </a:r>
                      <a:r>
                        <a:rPr lang="ja-JP" altLang="en-US" sz="1400" dirty="0">
                          <a:solidFill>
                            <a:schemeClr val="tx1"/>
                          </a:solidFill>
                          <a:latin typeface="+mn-ea"/>
                          <a:ea typeface="+mn-ea"/>
                        </a:rPr>
                        <a:t>を実施していますが、対策内容や水準にばらつきが生じる可能性があるため、全社的な統一基準の整備が望まれます。</a:t>
                      </a:r>
                      <a:endParaRPr lang="en-US" altLang="ja-JP" sz="1400" dirty="0">
                        <a:solidFill>
                          <a:schemeClr val="tx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111851"/>
                  </a:ext>
                </a:extLst>
              </a:tr>
            </a:tbl>
          </a:graphicData>
        </a:graphic>
      </p:graphicFrame>
    </p:spTree>
    <p:extLst>
      <p:ext uri="{BB962C8B-B14F-4D97-AF65-F5344CB8AC3E}">
        <p14:creationId xmlns:p14="http://schemas.microsoft.com/office/powerpoint/2010/main" val="2387791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水災リスク・対策状況</a:t>
            </a:r>
            <a:endParaRPr lang="en-US" altLang="ja-JP" sz="2400" dirty="0">
              <a:latin typeface="游ゴシック" panose="020B0400000000000000" pitchFamily="50" charset="-128"/>
              <a:ea typeface="游ゴシック" panose="020B0400000000000000" pitchFamily="50" charset="-128"/>
            </a:endParaRPr>
          </a:p>
        </p:txBody>
      </p:sp>
      <p:sp>
        <p:nvSpPr>
          <p:cNvPr id="24"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30</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21" name="グループ化 20">
            <a:extLst>
              <a:ext uri="{FF2B5EF4-FFF2-40B4-BE49-F238E27FC236}">
                <a16:creationId xmlns:a16="http://schemas.microsoft.com/office/drawing/2014/main" id="{C6FD7D3F-FA76-4993-814B-2ECC9625F432}"/>
              </a:ext>
            </a:extLst>
          </p:cNvPr>
          <p:cNvGrpSpPr/>
          <p:nvPr/>
        </p:nvGrpSpPr>
        <p:grpSpPr>
          <a:xfrm>
            <a:off x="360000" y="370800"/>
            <a:ext cx="720000" cy="672000"/>
            <a:chOff x="360000" y="370800"/>
            <a:chExt cx="720000" cy="672000"/>
          </a:xfrm>
        </p:grpSpPr>
        <p:sp>
          <p:nvSpPr>
            <p:cNvPr id="22" name="正方形/長方形 21">
              <a:extLst>
                <a:ext uri="{FF2B5EF4-FFF2-40B4-BE49-F238E27FC236}">
                  <a16:creationId xmlns:a16="http://schemas.microsoft.com/office/drawing/2014/main" id="{E277356B-0EC1-4F35-A1CD-F11498DB376A}"/>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A9E12D81-B347-4107-B249-C71D550FDA7A}"/>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5</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graphicFrame>
        <p:nvGraphicFramePr>
          <p:cNvPr id="15" name="表 14">
            <a:extLst>
              <a:ext uri="{FF2B5EF4-FFF2-40B4-BE49-F238E27FC236}">
                <a16:creationId xmlns:a16="http://schemas.microsoft.com/office/drawing/2014/main" id="{F1167958-9CC6-4A5F-BE45-55C27B359D5F}"/>
              </a:ext>
            </a:extLst>
          </p:cNvPr>
          <p:cNvGraphicFramePr>
            <a:graphicFrameLocks noGrp="1"/>
          </p:cNvGraphicFramePr>
          <p:nvPr>
            <p:extLst>
              <p:ext uri="{D42A27DB-BD31-4B8C-83A1-F6EECF244321}">
                <p14:modId xmlns:p14="http://schemas.microsoft.com/office/powerpoint/2010/main" val="1107173987"/>
              </p:ext>
            </p:extLst>
          </p:nvPr>
        </p:nvGraphicFramePr>
        <p:xfrm>
          <a:off x="361391" y="1255934"/>
          <a:ext cx="9043866" cy="2316480"/>
        </p:xfrm>
        <a:graphic>
          <a:graphicData uri="http://schemas.openxmlformats.org/drawingml/2006/table">
            <a:tbl>
              <a:tblPr/>
              <a:tblGrid>
                <a:gridCol w="1654028">
                  <a:extLst>
                    <a:ext uri="{9D8B030D-6E8A-4147-A177-3AD203B41FA5}">
                      <a16:colId xmlns:a16="http://schemas.microsoft.com/office/drawing/2014/main" val="175706446"/>
                    </a:ext>
                  </a:extLst>
                </a:gridCol>
                <a:gridCol w="7389838">
                  <a:extLst>
                    <a:ext uri="{9D8B030D-6E8A-4147-A177-3AD203B41FA5}">
                      <a16:colId xmlns:a16="http://schemas.microsoft.com/office/drawing/2014/main" val="3901090805"/>
                    </a:ext>
                  </a:extLst>
                </a:gridCol>
              </a:tblGrid>
              <a:tr h="1121506">
                <a:tc>
                  <a:txBody>
                    <a:body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台風接近中や</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大雨予報時等</a:t>
                      </a: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の事前対策</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marL="180000" marR="0" lvl="0" indent="-180000" algn="l" defTabSz="913851"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400" dirty="0">
                          <a:solidFill>
                            <a:schemeClr val="tx1"/>
                          </a:solidFill>
                          <a:latin typeface="+mn-ea"/>
                          <a:ea typeface="+mn-ea"/>
                        </a:rPr>
                        <a:t>台風接近時には対策会議によって具体的な対応を検討し、実行しています。</a:t>
                      </a:r>
                      <a:endParaRPr kumimoji="1" lang="en-US" altLang="ja-JP" sz="1400" dirty="0">
                        <a:solidFill>
                          <a:schemeClr val="tx1"/>
                        </a:solidFill>
                        <a:latin typeface="+mn-ea"/>
                        <a:ea typeface="+mn-ea"/>
                      </a:endParaRPr>
                    </a:p>
                    <a:p>
                      <a:pPr marL="180000" indent="-180000" algn="l">
                        <a:buFont typeface="Arial" panose="020B0604020202020204" pitchFamily="34" charset="0"/>
                        <a:buChar char="•"/>
                      </a:pPr>
                      <a:r>
                        <a:rPr kumimoji="1" lang="ja-JP" altLang="en-US" sz="1400" dirty="0">
                          <a:solidFill>
                            <a:schemeClr val="tx1"/>
                          </a:solidFill>
                          <a:latin typeface="+mn-ea"/>
                          <a:ea typeface="+mn-ea"/>
                        </a:rPr>
                        <a:t>従業員の安全確保（出退勤指示・安否確認システムの導入、避難場所の周知など）に関する取組は実施されていますが、浸水による資産損害を低減する対策として、建屋内への浸水を防ぐための止水板の設置は実施されていますが、緊急時における製品・備蓄品の上階への移動は特段実施されていません。</a:t>
                      </a:r>
                      <a:endParaRPr kumimoji="1" lang="en-US" altLang="ja-JP" sz="1400" dirty="0">
                        <a:solidFill>
                          <a:schemeClr val="tx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0871"/>
                  </a:ext>
                </a:extLst>
              </a:tr>
              <a:tr h="1121506">
                <a:tc>
                  <a:txBody>
                    <a:bodyP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その他の</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特記事項</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CE0DE"/>
                    </a:solidFill>
                  </a:tcPr>
                </a:tc>
                <a:tc>
                  <a:txBody>
                    <a:bodyPr/>
                    <a:lstStyle/>
                    <a:p>
                      <a:pPr marL="180000" indent="-180000" algn="l">
                        <a:buFont typeface="Arial" panose="020B0604020202020204" pitchFamily="34" charset="0"/>
                        <a:buChar char="•"/>
                      </a:pPr>
                      <a:r>
                        <a:rPr kumimoji="1" lang="ja-JP" altLang="en-US" sz="1400" dirty="0">
                          <a:solidFill>
                            <a:schemeClr val="tx1"/>
                          </a:solidFill>
                          <a:latin typeface="游ゴシック" panose="020B0400000000000000" pitchFamily="50" charset="-128"/>
                          <a:ea typeface="游ゴシック" panose="020B0400000000000000" pitchFamily="50" charset="-128"/>
                        </a:rPr>
                        <a:t>危険物（</a:t>
                      </a:r>
                      <a:r>
                        <a:rPr kumimoji="1" lang="ja-JP" altLang="en-US" sz="1400" u="none" dirty="0">
                          <a:solidFill>
                            <a:schemeClr val="tx1"/>
                          </a:solidFill>
                          <a:latin typeface="游ゴシック" panose="020B0400000000000000" pitchFamily="50" charset="-128"/>
                          <a:ea typeface="游ゴシック" panose="020B0400000000000000" pitchFamily="50" charset="-128"/>
                        </a:rPr>
                        <a:t>油類）については屋外貯蔵所に保管</a:t>
                      </a:r>
                      <a:r>
                        <a:rPr kumimoji="1" lang="ja-JP" altLang="en-US" sz="1400" dirty="0">
                          <a:solidFill>
                            <a:schemeClr val="tx1"/>
                          </a:solidFill>
                          <a:latin typeface="游ゴシック" panose="020B0400000000000000" pitchFamily="50" charset="-128"/>
                          <a:ea typeface="游ゴシック" panose="020B0400000000000000" pitchFamily="50" charset="-128"/>
                        </a:rPr>
                        <a:t>されており、容器が密閉されていることを確認しました。</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marL="180000" indent="-180000" algn="l">
                        <a:buFont typeface="Arial" panose="020B0604020202020204" pitchFamily="34" charset="0"/>
                        <a:buChar char="•"/>
                      </a:pPr>
                      <a:r>
                        <a:rPr kumimoji="1" lang="ja-JP" altLang="en-US" sz="1400" dirty="0">
                          <a:solidFill>
                            <a:schemeClr val="tx1"/>
                          </a:solidFill>
                          <a:latin typeface="游ゴシック" panose="020B0400000000000000" pitchFamily="50" charset="-128"/>
                          <a:ea typeface="游ゴシック" panose="020B0400000000000000" pitchFamily="50" charset="-128"/>
                        </a:rPr>
                        <a:t>非常用発電機を運用しています。ただし、停電時に確保される電源は生産設備用ではなく、管理システムや事務所用に限定されています。</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marL="180000" indent="-180000" algn="l">
                        <a:buFont typeface="Arial" panose="020B0604020202020204" pitchFamily="34" charset="0"/>
                        <a:buChar char="•"/>
                      </a:pPr>
                      <a:r>
                        <a:rPr kumimoji="1" lang="ja-JP" altLang="en-US" sz="1400" dirty="0">
                          <a:solidFill>
                            <a:schemeClr val="tx1"/>
                          </a:solidFill>
                          <a:latin typeface="游ゴシック" panose="020B0400000000000000" pitchFamily="50" charset="-128"/>
                          <a:ea typeface="游ゴシック" panose="020B0400000000000000" pitchFamily="50" charset="-128"/>
                        </a:rPr>
                        <a:t>業務データ等が格納されているサーバーは事務所</a:t>
                      </a:r>
                      <a:r>
                        <a:rPr kumimoji="1" lang="en-US" altLang="ja-JP" sz="1400" dirty="0">
                          <a:solidFill>
                            <a:schemeClr val="tx1"/>
                          </a:solidFill>
                          <a:latin typeface="游ゴシック" panose="020B0400000000000000" pitchFamily="50" charset="-128"/>
                          <a:ea typeface="游ゴシック" panose="020B0400000000000000" pitchFamily="50" charset="-128"/>
                        </a:rPr>
                        <a:t>2</a:t>
                      </a:r>
                      <a:r>
                        <a:rPr kumimoji="1" lang="ja-JP" altLang="en-US" sz="1400" dirty="0">
                          <a:solidFill>
                            <a:schemeClr val="tx1"/>
                          </a:solidFill>
                          <a:latin typeface="游ゴシック" panose="020B0400000000000000" pitchFamily="50" charset="-128"/>
                          <a:ea typeface="游ゴシック" panose="020B0400000000000000" pitchFamily="50" charset="-128"/>
                        </a:rPr>
                        <a:t>階に設置されています。</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3525222"/>
                  </a:ext>
                </a:extLst>
              </a:tr>
            </a:tbl>
          </a:graphicData>
        </a:graphic>
      </p:graphicFrame>
    </p:spTree>
    <p:extLst>
      <p:ext uri="{BB962C8B-B14F-4D97-AF65-F5344CB8AC3E}">
        <p14:creationId xmlns:p14="http://schemas.microsoft.com/office/powerpoint/2010/main" val="481879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施設の状況</a:t>
            </a:r>
            <a:endParaRPr lang="en-US" altLang="ja-JP" sz="2400" dirty="0">
              <a:latin typeface="游ゴシック" panose="020B0400000000000000" pitchFamily="50" charset="-128"/>
              <a:ea typeface="游ゴシック" panose="020B0400000000000000" pitchFamily="50" charset="-128"/>
            </a:endParaRPr>
          </a:p>
        </p:txBody>
      </p:sp>
      <p:sp>
        <p:nvSpPr>
          <p:cNvPr id="24"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31</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21" name="グループ化 20">
            <a:extLst>
              <a:ext uri="{FF2B5EF4-FFF2-40B4-BE49-F238E27FC236}">
                <a16:creationId xmlns:a16="http://schemas.microsoft.com/office/drawing/2014/main" id="{C6FD7D3F-FA76-4993-814B-2ECC9625F432}"/>
              </a:ext>
            </a:extLst>
          </p:cNvPr>
          <p:cNvGrpSpPr/>
          <p:nvPr/>
        </p:nvGrpSpPr>
        <p:grpSpPr>
          <a:xfrm>
            <a:off x="360000" y="370800"/>
            <a:ext cx="720000" cy="672000"/>
            <a:chOff x="360000" y="370800"/>
            <a:chExt cx="720000" cy="672000"/>
          </a:xfrm>
        </p:grpSpPr>
        <p:sp>
          <p:nvSpPr>
            <p:cNvPr id="22" name="正方形/長方形 21">
              <a:extLst>
                <a:ext uri="{FF2B5EF4-FFF2-40B4-BE49-F238E27FC236}">
                  <a16:creationId xmlns:a16="http://schemas.microsoft.com/office/drawing/2014/main" id="{E277356B-0EC1-4F35-A1CD-F11498DB376A}"/>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A9E12D81-B347-4107-B249-C71D550FDA7A}"/>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5</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
        <p:nvSpPr>
          <p:cNvPr id="25" name="正方形/長方形 24">
            <a:extLst>
              <a:ext uri="{FF2B5EF4-FFF2-40B4-BE49-F238E27FC236}">
                <a16:creationId xmlns:a16="http://schemas.microsoft.com/office/drawing/2014/main" id="{23E7D2C2-6200-4679-BEB6-8EDD476CB6C7}"/>
              </a:ext>
            </a:extLst>
          </p:cNvPr>
          <p:cNvSpPr/>
          <p:nvPr/>
        </p:nvSpPr>
        <p:spPr>
          <a:xfrm>
            <a:off x="3577473" y="1399858"/>
            <a:ext cx="1281650" cy="2391803"/>
          </a:xfrm>
          <a:prstGeom prst="rect">
            <a:avLst/>
          </a:prstGeom>
          <a:solidFill>
            <a:srgbClr val="CCE0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200" dirty="0">
                <a:solidFill>
                  <a:schemeClr val="tx1"/>
                </a:solidFill>
                <a:latin typeface="游ゴシック" panose="020B0400000000000000" pitchFamily="50" charset="-128"/>
                <a:ea typeface="游ゴシック" panose="020B0400000000000000" pitchFamily="50" charset="-128"/>
              </a:rPr>
              <a:t>敷地入口</a:t>
            </a:r>
            <a:endParaRPr lang="en-US" altLang="ja-JP" sz="1200" dirty="0">
              <a:solidFill>
                <a:schemeClr val="tx1"/>
              </a:solidFill>
              <a:latin typeface="游ゴシック" panose="020B0400000000000000" pitchFamily="50" charset="-128"/>
              <a:ea typeface="游ゴシック" panose="020B0400000000000000" pitchFamily="50" charset="-128"/>
            </a:endParaRPr>
          </a:p>
          <a:p>
            <a:r>
              <a:rPr lang="ja-JP" altLang="en-US" sz="1200" dirty="0">
                <a:solidFill>
                  <a:schemeClr val="tx1"/>
                </a:solidFill>
                <a:latin typeface="游ゴシック" panose="020B0400000000000000" pitchFamily="50" charset="-128"/>
                <a:ea typeface="游ゴシック" panose="020B0400000000000000" pitchFamily="50" charset="-128"/>
              </a:rPr>
              <a:t>止水板</a:t>
            </a:r>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lang="en-US" altLang="ja-JP" sz="1200" dirty="0">
              <a:solidFill>
                <a:schemeClr val="tx1"/>
              </a:solidFill>
              <a:latin typeface="游ゴシック" panose="020B0400000000000000" pitchFamily="50" charset="-128"/>
              <a:ea typeface="游ゴシック" panose="020B0400000000000000" pitchFamily="50" charset="-128"/>
            </a:endParaRPr>
          </a:p>
          <a:p>
            <a:r>
              <a:rPr kumimoji="1" lang="ja-JP" altLang="en-US" sz="1200" dirty="0">
                <a:solidFill>
                  <a:schemeClr val="tx1"/>
                </a:solidFill>
                <a:latin typeface="游ゴシック" panose="020B0400000000000000" pitchFamily="50" charset="-128"/>
                <a:ea typeface="游ゴシック" panose="020B0400000000000000" pitchFamily="50" charset="-128"/>
              </a:rPr>
              <a:t>敷地入口には</a:t>
            </a:r>
            <a:r>
              <a:rPr kumimoji="1" lang="en-US" altLang="ja-JP" sz="1200" dirty="0">
                <a:solidFill>
                  <a:schemeClr val="tx1"/>
                </a:solidFill>
                <a:latin typeface="游ゴシック" panose="020B0400000000000000" pitchFamily="50" charset="-128"/>
                <a:ea typeface="游ゴシック" panose="020B0400000000000000" pitchFamily="50" charset="-128"/>
              </a:rPr>
              <a:t>1.2m</a:t>
            </a:r>
            <a:r>
              <a:rPr kumimoji="1" lang="ja-JP" altLang="en-US" sz="1200" dirty="0">
                <a:solidFill>
                  <a:schemeClr val="tx1"/>
                </a:solidFill>
                <a:latin typeface="游ゴシック" panose="020B0400000000000000" pitchFamily="50" charset="-128"/>
                <a:ea typeface="游ゴシック" panose="020B0400000000000000" pitchFamily="50" charset="-128"/>
              </a:rPr>
              <a:t>程度の高さの跳ね上げ式の止水板が設置されています。</a:t>
            </a:r>
          </a:p>
        </p:txBody>
      </p:sp>
      <p:sp>
        <p:nvSpPr>
          <p:cNvPr id="31" name="正方形/長方形 30">
            <a:extLst>
              <a:ext uri="{FF2B5EF4-FFF2-40B4-BE49-F238E27FC236}">
                <a16:creationId xmlns:a16="http://schemas.microsoft.com/office/drawing/2014/main" id="{CFFF6E98-751D-4FE1-89AE-9F2345CA978F}"/>
              </a:ext>
            </a:extLst>
          </p:cNvPr>
          <p:cNvSpPr/>
          <p:nvPr/>
        </p:nvSpPr>
        <p:spPr>
          <a:xfrm>
            <a:off x="8210193" y="1399858"/>
            <a:ext cx="1281650" cy="2391803"/>
          </a:xfrm>
          <a:prstGeom prst="rect">
            <a:avLst/>
          </a:prstGeom>
          <a:solidFill>
            <a:srgbClr val="CCE0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200" dirty="0">
                <a:solidFill>
                  <a:schemeClr val="tx1"/>
                </a:solidFill>
                <a:latin typeface="游ゴシック" panose="020B0400000000000000" pitchFamily="50" charset="-128"/>
                <a:ea typeface="游ゴシック" panose="020B0400000000000000" pitchFamily="50" charset="-128"/>
              </a:rPr>
              <a:t>敷地北側外周</a:t>
            </a:r>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lang="en-US" altLang="ja-JP" sz="1200" dirty="0">
              <a:solidFill>
                <a:schemeClr val="tx1"/>
              </a:solidFill>
              <a:latin typeface="游ゴシック" panose="020B0400000000000000" pitchFamily="50" charset="-128"/>
              <a:ea typeface="游ゴシック" panose="020B0400000000000000" pitchFamily="50" charset="-128"/>
            </a:endParaRPr>
          </a:p>
          <a:p>
            <a:r>
              <a:rPr lang="ja-JP" altLang="en-US" sz="1200" dirty="0">
                <a:solidFill>
                  <a:schemeClr val="tx1"/>
                </a:solidFill>
                <a:latin typeface="游ゴシック" panose="020B0400000000000000" pitchFamily="50" charset="-128"/>
                <a:ea typeface="游ゴシック" panose="020B0400000000000000" pitchFamily="50" charset="-128"/>
              </a:rPr>
              <a:t>敷地北側は</a:t>
            </a:r>
            <a:r>
              <a:rPr lang="en-US" altLang="ja-JP" sz="1200" dirty="0">
                <a:solidFill>
                  <a:schemeClr val="tx1"/>
                </a:solidFill>
                <a:latin typeface="游ゴシック" panose="020B0400000000000000" pitchFamily="50" charset="-128"/>
                <a:ea typeface="游ゴシック" panose="020B0400000000000000" pitchFamily="50" charset="-128"/>
              </a:rPr>
              <a:t>G.L</a:t>
            </a:r>
            <a:r>
              <a:rPr lang="ja-JP" altLang="en-US" sz="1200" dirty="0">
                <a:solidFill>
                  <a:schemeClr val="tx1"/>
                </a:solidFill>
                <a:latin typeface="游ゴシック" panose="020B0400000000000000" pitchFamily="50" charset="-128"/>
                <a:ea typeface="游ゴシック" panose="020B0400000000000000" pitchFamily="50" charset="-128"/>
              </a:rPr>
              <a:t>＋</a:t>
            </a:r>
            <a:r>
              <a:rPr lang="en-US" altLang="ja-JP" sz="1200" dirty="0">
                <a:solidFill>
                  <a:schemeClr val="tx1"/>
                </a:solidFill>
                <a:latin typeface="游ゴシック" panose="020B0400000000000000" pitchFamily="50" charset="-128"/>
                <a:ea typeface="游ゴシック" panose="020B0400000000000000" pitchFamily="50" charset="-128"/>
              </a:rPr>
              <a:t> 1.2m</a:t>
            </a:r>
            <a:r>
              <a:rPr lang="ja-JP" altLang="en-US" sz="1200" dirty="0">
                <a:solidFill>
                  <a:schemeClr val="tx1"/>
                </a:solidFill>
                <a:latin typeface="游ゴシック" panose="020B0400000000000000" pitchFamily="50" charset="-128"/>
                <a:ea typeface="游ゴシック" panose="020B0400000000000000" pitchFamily="50" charset="-128"/>
              </a:rPr>
              <a:t>程度の防潮壁が隙間無く設置されています。</a:t>
            </a:r>
            <a:endParaRPr lang="en-US" altLang="ja-JP" sz="1200" dirty="0">
              <a:solidFill>
                <a:schemeClr val="tx1"/>
              </a:solidFill>
              <a:latin typeface="游ゴシック" panose="020B0400000000000000" pitchFamily="50" charset="-128"/>
              <a:ea typeface="游ゴシック" panose="020B0400000000000000" pitchFamily="50" charset="-128"/>
            </a:endParaRPr>
          </a:p>
        </p:txBody>
      </p:sp>
      <p:sp>
        <p:nvSpPr>
          <p:cNvPr id="33" name="正方形/長方形 32">
            <a:extLst>
              <a:ext uri="{FF2B5EF4-FFF2-40B4-BE49-F238E27FC236}">
                <a16:creationId xmlns:a16="http://schemas.microsoft.com/office/drawing/2014/main" id="{28DAD147-189C-4B30-89BF-3DEFE41DE7AC}"/>
              </a:ext>
            </a:extLst>
          </p:cNvPr>
          <p:cNvSpPr/>
          <p:nvPr/>
        </p:nvSpPr>
        <p:spPr>
          <a:xfrm>
            <a:off x="3577473" y="3939978"/>
            <a:ext cx="1281650" cy="2391803"/>
          </a:xfrm>
          <a:prstGeom prst="rect">
            <a:avLst/>
          </a:prstGeom>
          <a:solidFill>
            <a:srgbClr val="CCE0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200" dirty="0">
                <a:solidFill>
                  <a:schemeClr val="tx1"/>
                </a:solidFill>
                <a:latin typeface="游ゴシック" panose="020B0400000000000000" pitchFamily="50" charset="-128"/>
                <a:ea typeface="游ゴシック" panose="020B0400000000000000" pitchFamily="50" charset="-128"/>
              </a:rPr>
              <a:t>岸壁部</a:t>
            </a:r>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lang="en-US" altLang="ja-JP" sz="1200" dirty="0">
              <a:solidFill>
                <a:schemeClr val="tx1"/>
              </a:solidFill>
              <a:latin typeface="游ゴシック" panose="020B0400000000000000" pitchFamily="50" charset="-128"/>
              <a:ea typeface="游ゴシック" panose="020B0400000000000000" pitchFamily="50" charset="-128"/>
            </a:endParaRPr>
          </a:p>
          <a:p>
            <a:r>
              <a:rPr lang="ja-JP" altLang="en-US" sz="1200" dirty="0">
                <a:solidFill>
                  <a:schemeClr val="tx1"/>
                </a:solidFill>
                <a:latin typeface="游ゴシック" panose="020B0400000000000000" pitchFamily="50" charset="-128"/>
                <a:ea typeface="游ゴシック" panose="020B0400000000000000" pitchFamily="50" charset="-128"/>
              </a:rPr>
              <a:t>海に面したすべての岸壁部では</a:t>
            </a:r>
            <a:r>
              <a:rPr kumimoji="1" lang="en-US" altLang="ja-JP" sz="1200" dirty="0">
                <a:solidFill>
                  <a:schemeClr val="tx1"/>
                </a:solidFill>
                <a:latin typeface="+mn-ea"/>
                <a:ea typeface="+mn-ea"/>
              </a:rPr>
              <a:t>G.L.+4.1</a:t>
            </a:r>
            <a:r>
              <a:rPr kumimoji="1" lang="ja-JP" altLang="en-US" sz="1200" dirty="0">
                <a:solidFill>
                  <a:schemeClr val="tx1"/>
                </a:solidFill>
                <a:latin typeface="+mn-ea"/>
                <a:ea typeface="+mn-ea"/>
              </a:rPr>
              <a:t>～</a:t>
            </a:r>
            <a:r>
              <a:rPr kumimoji="1" lang="en-US" altLang="ja-JP" sz="1200" dirty="0">
                <a:solidFill>
                  <a:schemeClr val="tx1"/>
                </a:solidFill>
                <a:latin typeface="+mn-ea"/>
                <a:ea typeface="+mn-ea"/>
              </a:rPr>
              <a:t>4.2m</a:t>
            </a:r>
            <a:r>
              <a:rPr kumimoji="1" lang="ja-JP" altLang="en-US" sz="1200" dirty="0">
                <a:solidFill>
                  <a:schemeClr val="tx1"/>
                </a:solidFill>
                <a:latin typeface="+mn-ea"/>
                <a:ea typeface="+mn-ea"/>
              </a:rPr>
              <a:t>の嵩上げが実施されています。</a:t>
            </a:r>
            <a:endParaRPr lang="en-US" altLang="ja-JP" sz="1200" dirty="0">
              <a:solidFill>
                <a:schemeClr val="tx1"/>
              </a:solidFill>
              <a:latin typeface="游ゴシック" panose="020B0400000000000000" pitchFamily="50" charset="-128"/>
              <a:ea typeface="游ゴシック" panose="020B0400000000000000" pitchFamily="50" charset="-128"/>
            </a:endParaRPr>
          </a:p>
        </p:txBody>
      </p:sp>
      <p:sp>
        <p:nvSpPr>
          <p:cNvPr id="36" name="正方形/長方形 35">
            <a:extLst>
              <a:ext uri="{FF2B5EF4-FFF2-40B4-BE49-F238E27FC236}">
                <a16:creationId xmlns:a16="http://schemas.microsoft.com/office/drawing/2014/main" id="{9A8E1B93-04A3-4767-9543-6CF01E376239}"/>
              </a:ext>
            </a:extLst>
          </p:cNvPr>
          <p:cNvSpPr/>
          <p:nvPr/>
        </p:nvSpPr>
        <p:spPr>
          <a:xfrm>
            <a:off x="8210193" y="3939978"/>
            <a:ext cx="1281650" cy="2391803"/>
          </a:xfrm>
          <a:prstGeom prst="rect">
            <a:avLst/>
          </a:prstGeom>
          <a:solidFill>
            <a:srgbClr val="CCE0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200" dirty="0">
                <a:solidFill>
                  <a:schemeClr val="tx1"/>
                </a:solidFill>
                <a:latin typeface="游ゴシック" panose="020B0400000000000000" pitchFamily="50" charset="-128"/>
                <a:ea typeface="游ゴシック" panose="020B0400000000000000" pitchFamily="50" charset="-128"/>
              </a:rPr>
              <a:t>屋外保管品</a:t>
            </a:r>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lang="en-US" altLang="ja-JP" sz="1200" dirty="0">
              <a:solidFill>
                <a:schemeClr val="tx1"/>
              </a:solidFill>
              <a:latin typeface="游ゴシック" panose="020B0400000000000000" pitchFamily="50" charset="-128"/>
              <a:ea typeface="游ゴシック" panose="020B0400000000000000" pitchFamily="50" charset="-128"/>
            </a:endParaRPr>
          </a:p>
          <a:p>
            <a:r>
              <a:rPr lang="ja-JP" altLang="en-US" sz="1200" dirty="0">
                <a:solidFill>
                  <a:schemeClr val="tx1"/>
                </a:solidFill>
                <a:latin typeface="游ゴシック" panose="020B0400000000000000" pitchFamily="50" charset="-128"/>
                <a:ea typeface="游ゴシック" panose="020B0400000000000000" pitchFamily="50" charset="-128"/>
              </a:rPr>
              <a:t>屋外保管品として主にビレットが保管されています。</a:t>
            </a:r>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lang="en-US" altLang="ja-JP" sz="1200" dirty="0">
              <a:solidFill>
                <a:schemeClr val="tx1"/>
              </a:solidFill>
              <a:latin typeface="游ゴシック" panose="020B0400000000000000" pitchFamily="50" charset="-128"/>
              <a:ea typeface="游ゴシック" panose="020B0400000000000000" pitchFamily="50" charset="-128"/>
            </a:endParaRPr>
          </a:p>
        </p:txBody>
      </p:sp>
      <p:sp>
        <p:nvSpPr>
          <p:cNvPr id="15" name="正方形/長方形 14">
            <a:extLst>
              <a:ext uri="{FF2B5EF4-FFF2-40B4-BE49-F238E27FC236}">
                <a16:creationId xmlns:a16="http://schemas.microsoft.com/office/drawing/2014/main" id="{1D5AF997-A1EF-4271-B952-1E8D4127F59A}"/>
              </a:ext>
            </a:extLst>
          </p:cNvPr>
          <p:cNvSpPr/>
          <p:nvPr/>
        </p:nvSpPr>
        <p:spPr>
          <a:xfrm>
            <a:off x="359865" y="1399757"/>
            <a:ext cx="3189206" cy="239190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rgbClr val="000000"/>
                </a:solidFill>
              </a:rPr>
              <a:t>写真</a:t>
            </a:r>
          </a:p>
        </p:txBody>
      </p:sp>
      <p:sp>
        <p:nvSpPr>
          <p:cNvPr id="16" name="正方形/長方形 15">
            <a:extLst>
              <a:ext uri="{FF2B5EF4-FFF2-40B4-BE49-F238E27FC236}">
                <a16:creationId xmlns:a16="http://schemas.microsoft.com/office/drawing/2014/main" id="{AFE06FE4-5F9A-48DF-B6BA-C1EB770729CB}"/>
              </a:ext>
            </a:extLst>
          </p:cNvPr>
          <p:cNvSpPr/>
          <p:nvPr/>
        </p:nvSpPr>
        <p:spPr>
          <a:xfrm>
            <a:off x="4983098" y="1399757"/>
            <a:ext cx="3189206" cy="239190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rgbClr val="000000"/>
                </a:solidFill>
              </a:rPr>
              <a:t>写真</a:t>
            </a:r>
          </a:p>
        </p:txBody>
      </p:sp>
      <p:sp>
        <p:nvSpPr>
          <p:cNvPr id="17" name="正方形/長方形 16">
            <a:extLst>
              <a:ext uri="{FF2B5EF4-FFF2-40B4-BE49-F238E27FC236}">
                <a16:creationId xmlns:a16="http://schemas.microsoft.com/office/drawing/2014/main" id="{C90B863A-1428-425D-AA50-6003AFF26EFF}"/>
              </a:ext>
            </a:extLst>
          </p:cNvPr>
          <p:cNvSpPr/>
          <p:nvPr/>
        </p:nvSpPr>
        <p:spPr>
          <a:xfrm>
            <a:off x="359865" y="3939878"/>
            <a:ext cx="3189206" cy="239190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rgbClr val="000000"/>
                </a:solidFill>
              </a:rPr>
              <a:t>写真</a:t>
            </a:r>
          </a:p>
        </p:txBody>
      </p:sp>
      <p:sp>
        <p:nvSpPr>
          <p:cNvPr id="18" name="正方形/長方形 17">
            <a:extLst>
              <a:ext uri="{FF2B5EF4-FFF2-40B4-BE49-F238E27FC236}">
                <a16:creationId xmlns:a16="http://schemas.microsoft.com/office/drawing/2014/main" id="{727D5CC1-B775-415C-A29B-7765A7A67B22}"/>
              </a:ext>
            </a:extLst>
          </p:cNvPr>
          <p:cNvSpPr/>
          <p:nvPr/>
        </p:nvSpPr>
        <p:spPr>
          <a:xfrm>
            <a:off x="4983098" y="3939878"/>
            <a:ext cx="3189206" cy="239190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rgbClr val="000000"/>
                </a:solidFill>
              </a:rPr>
              <a:t>写真</a:t>
            </a:r>
          </a:p>
        </p:txBody>
      </p:sp>
      <p:pic>
        <p:nvPicPr>
          <p:cNvPr id="8" name="図 7">
            <a:extLst>
              <a:ext uri="{FF2B5EF4-FFF2-40B4-BE49-F238E27FC236}">
                <a16:creationId xmlns:a16="http://schemas.microsoft.com/office/drawing/2014/main" id="{A5BCC616-878B-40C6-8C23-AD11CB673F9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0513" y="1397855"/>
            <a:ext cx="3189071" cy="2391803"/>
          </a:xfrm>
          <a:prstGeom prst="rect">
            <a:avLst/>
          </a:prstGeom>
        </p:spPr>
      </p:pic>
      <p:pic>
        <p:nvPicPr>
          <p:cNvPr id="5" name="図 4">
            <a:extLst>
              <a:ext uri="{FF2B5EF4-FFF2-40B4-BE49-F238E27FC236}">
                <a16:creationId xmlns:a16="http://schemas.microsoft.com/office/drawing/2014/main" id="{32910D53-EF9E-440E-AB93-0E76DA3DF20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58921" y="1397855"/>
            <a:ext cx="3189071" cy="2391803"/>
          </a:xfrm>
          <a:prstGeom prst="rect">
            <a:avLst/>
          </a:prstGeom>
        </p:spPr>
      </p:pic>
      <p:cxnSp>
        <p:nvCxnSpPr>
          <p:cNvPr id="9" name="直線矢印コネクタ 8">
            <a:extLst>
              <a:ext uri="{FF2B5EF4-FFF2-40B4-BE49-F238E27FC236}">
                <a16:creationId xmlns:a16="http://schemas.microsoft.com/office/drawing/2014/main" id="{F85F2831-506B-40CC-96D8-5BFDCBB59F64}"/>
              </a:ext>
            </a:extLst>
          </p:cNvPr>
          <p:cNvCxnSpPr/>
          <p:nvPr/>
        </p:nvCxnSpPr>
        <p:spPr>
          <a:xfrm>
            <a:off x="6302774" y="2258291"/>
            <a:ext cx="0" cy="360218"/>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53A2F968-CD7E-43FC-956D-8869247834EE}"/>
              </a:ext>
            </a:extLst>
          </p:cNvPr>
          <p:cNvSpPr txBox="1"/>
          <p:nvPr/>
        </p:nvSpPr>
        <p:spPr>
          <a:xfrm>
            <a:off x="5589886" y="2258291"/>
            <a:ext cx="650687" cy="193964"/>
          </a:xfrm>
          <a:prstGeom prst="rect">
            <a:avLst/>
          </a:prstGeom>
          <a:solidFill>
            <a:schemeClr val="bg1"/>
          </a:solidFill>
          <a:ln>
            <a:solidFill>
              <a:schemeClr val="tx1"/>
            </a:solidFill>
          </a:ln>
        </p:spPr>
        <p:txBody>
          <a:bodyPr wrap="none" rtlCol="0">
            <a:noAutofit/>
          </a:bodyPr>
          <a:lstStyle/>
          <a:p>
            <a:r>
              <a:rPr kumimoji="1" lang="en-US" altLang="ja-JP" sz="900" dirty="0">
                <a:latin typeface="+mn-ea"/>
                <a:ea typeface="+mn-ea"/>
              </a:rPr>
              <a:t>G.L</a:t>
            </a:r>
            <a:r>
              <a:rPr kumimoji="1" lang="ja-JP" altLang="en-US" sz="900" dirty="0">
                <a:latin typeface="+mn-ea"/>
                <a:ea typeface="+mn-ea"/>
              </a:rPr>
              <a:t>＋</a:t>
            </a:r>
            <a:r>
              <a:rPr kumimoji="1" lang="en-US" altLang="ja-JP" sz="900" dirty="0">
                <a:latin typeface="+mn-ea"/>
                <a:ea typeface="+mn-ea"/>
              </a:rPr>
              <a:t>1.2m</a:t>
            </a:r>
            <a:endParaRPr kumimoji="1" lang="ja-JP" altLang="en-US" sz="900" dirty="0">
              <a:latin typeface="+mn-ea"/>
              <a:ea typeface="+mn-ea"/>
            </a:endParaRPr>
          </a:p>
        </p:txBody>
      </p:sp>
      <p:pic>
        <p:nvPicPr>
          <p:cNvPr id="12" name="図 11">
            <a:extLst>
              <a:ext uri="{FF2B5EF4-FFF2-40B4-BE49-F238E27FC236}">
                <a16:creationId xmlns:a16="http://schemas.microsoft.com/office/drawing/2014/main" id="{797A9461-4F10-48CA-B9A9-BDA4D18B6C3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88579" y="3937876"/>
            <a:ext cx="3131777" cy="2348833"/>
          </a:xfrm>
          <a:prstGeom prst="rect">
            <a:avLst/>
          </a:prstGeom>
        </p:spPr>
      </p:pic>
      <p:pic>
        <p:nvPicPr>
          <p:cNvPr id="14" name="図 13">
            <a:extLst>
              <a:ext uri="{FF2B5EF4-FFF2-40B4-BE49-F238E27FC236}">
                <a16:creationId xmlns:a16="http://schemas.microsoft.com/office/drawing/2014/main" id="{61196E61-10A4-4BC6-8191-F77A6589E53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945644" y="3939978"/>
            <a:ext cx="3189071" cy="2391803"/>
          </a:xfrm>
          <a:prstGeom prst="rect">
            <a:avLst/>
          </a:prstGeom>
        </p:spPr>
      </p:pic>
    </p:spTree>
    <p:extLst>
      <p:ext uri="{BB962C8B-B14F-4D97-AF65-F5344CB8AC3E}">
        <p14:creationId xmlns:p14="http://schemas.microsoft.com/office/powerpoint/2010/main" val="920513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施設の状況</a:t>
            </a:r>
            <a:endParaRPr lang="en-US" altLang="ja-JP" sz="2400" dirty="0">
              <a:latin typeface="游ゴシック" panose="020B0400000000000000" pitchFamily="50" charset="-128"/>
              <a:ea typeface="游ゴシック" panose="020B0400000000000000" pitchFamily="50" charset="-128"/>
            </a:endParaRPr>
          </a:p>
        </p:txBody>
      </p:sp>
      <p:sp>
        <p:nvSpPr>
          <p:cNvPr id="24"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32</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21" name="グループ化 20">
            <a:extLst>
              <a:ext uri="{FF2B5EF4-FFF2-40B4-BE49-F238E27FC236}">
                <a16:creationId xmlns:a16="http://schemas.microsoft.com/office/drawing/2014/main" id="{C6FD7D3F-FA76-4993-814B-2ECC9625F432}"/>
              </a:ext>
            </a:extLst>
          </p:cNvPr>
          <p:cNvGrpSpPr/>
          <p:nvPr/>
        </p:nvGrpSpPr>
        <p:grpSpPr>
          <a:xfrm>
            <a:off x="360000" y="370800"/>
            <a:ext cx="720000" cy="672000"/>
            <a:chOff x="360000" y="370800"/>
            <a:chExt cx="720000" cy="672000"/>
          </a:xfrm>
        </p:grpSpPr>
        <p:sp>
          <p:nvSpPr>
            <p:cNvPr id="22" name="正方形/長方形 21">
              <a:extLst>
                <a:ext uri="{FF2B5EF4-FFF2-40B4-BE49-F238E27FC236}">
                  <a16:creationId xmlns:a16="http://schemas.microsoft.com/office/drawing/2014/main" id="{E277356B-0EC1-4F35-A1CD-F11498DB376A}"/>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A9E12D81-B347-4107-B249-C71D550FDA7A}"/>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5</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
        <p:nvSpPr>
          <p:cNvPr id="25" name="正方形/長方形 24">
            <a:extLst>
              <a:ext uri="{FF2B5EF4-FFF2-40B4-BE49-F238E27FC236}">
                <a16:creationId xmlns:a16="http://schemas.microsoft.com/office/drawing/2014/main" id="{23E7D2C2-6200-4679-BEB6-8EDD476CB6C7}"/>
              </a:ext>
            </a:extLst>
          </p:cNvPr>
          <p:cNvSpPr/>
          <p:nvPr/>
        </p:nvSpPr>
        <p:spPr>
          <a:xfrm>
            <a:off x="3577473" y="1399858"/>
            <a:ext cx="1281650" cy="2391803"/>
          </a:xfrm>
          <a:prstGeom prst="rect">
            <a:avLst/>
          </a:prstGeom>
          <a:solidFill>
            <a:srgbClr val="CCE0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200" dirty="0">
                <a:solidFill>
                  <a:schemeClr val="tx1"/>
                </a:solidFill>
                <a:latin typeface="游ゴシック" panose="020B0400000000000000" pitchFamily="50" charset="-128"/>
                <a:ea typeface="游ゴシック" panose="020B0400000000000000" pitchFamily="50" charset="-128"/>
              </a:rPr>
              <a:t>重油タンク</a:t>
            </a:r>
            <a:endParaRPr lang="en-US" altLang="ja-JP" sz="1200" dirty="0">
              <a:solidFill>
                <a:schemeClr val="tx1"/>
              </a:solidFill>
              <a:latin typeface="游ゴシック" panose="020B0400000000000000" pitchFamily="50" charset="-128"/>
              <a:ea typeface="游ゴシック" panose="020B0400000000000000" pitchFamily="50" charset="-128"/>
            </a:endParaRPr>
          </a:p>
          <a:p>
            <a:r>
              <a:rPr lang="ja-JP" altLang="en-US" sz="1200" dirty="0">
                <a:solidFill>
                  <a:schemeClr val="tx1"/>
                </a:solidFill>
                <a:latin typeface="游ゴシック" panose="020B0400000000000000" pitchFamily="50" charset="-128"/>
                <a:ea typeface="游ゴシック" panose="020B0400000000000000" pitchFamily="50" charset="-128"/>
              </a:rPr>
              <a:t>ポンプ室</a:t>
            </a:r>
            <a:endParaRPr lang="en-US" altLang="ja-JP" sz="1200" dirty="0">
              <a:solidFill>
                <a:schemeClr val="tx1"/>
              </a:solidFill>
              <a:latin typeface="游ゴシック" panose="020B0400000000000000" pitchFamily="50" charset="-128"/>
              <a:ea typeface="游ゴシック" panose="020B0400000000000000" pitchFamily="50" charset="-128"/>
            </a:endParaRPr>
          </a:p>
          <a:p>
            <a:r>
              <a:rPr lang="ja-JP" altLang="en-US" sz="1200" dirty="0">
                <a:solidFill>
                  <a:schemeClr val="tx1"/>
                </a:solidFill>
                <a:latin typeface="游ゴシック" panose="020B0400000000000000" pitchFamily="50" charset="-128"/>
                <a:ea typeface="游ゴシック" panose="020B0400000000000000" pitchFamily="50" charset="-128"/>
              </a:rPr>
              <a:t>止水板</a:t>
            </a:r>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lang="en-US" altLang="ja-JP" sz="1200" dirty="0">
              <a:solidFill>
                <a:schemeClr val="tx1"/>
              </a:solidFill>
              <a:latin typeface="游ゴシック" panose="020B0400000000000000" pitchFamily="50" charset="-128"/>
              <a:ea typeface="游ゴシック" panose="020B0400000000000000" pitchFamily="50" charset="-128"/>
            </a:endParaRPr>
          </a:p>
          <a:p>
            <a:r>
              <a:rPr lang="ja-JP" altLang="en-US" sz="1200" dirty="0">
                <a:solidFill>
                  <a:schemeClr val="tx1"/>
                </a:solidFill>
                <a:latin typeface="游ゴシック" panose="020B0400000000000000" pitchFamily="50" charset="-128"/>
                <a:ea typeface="游ゴシック" panose="020B0400000000000000" pitchFamily="50" charset="-128"/>
              </a:rPr>
              <a:t>ポンプ室入り口にスライド式の止水板が設置されています。</a:t>
            </a:r>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lang="en-US" altLang="ja-JP" sz="1200" dirty="0">
              <a:solidFill>
                <a:schemeClr val="tx1"/>
              </a:solidFill>
              <a:latin typeface="游ゴシック" panose="020B0400000000000000" pitchFamily="50" charset="-128"/>
              <a:ea typeface="游ゴシック" panose="020B0400000000000000" pitchFamily="50" charset="-128"/>
            </a:endParaRPr>
          </a:p>
        </p:txBody>
      </p:sp>
      <p:sp>
        <p:nvSpPr>
          <p:cNvPr id="31" name="正方形/長方形 30">
            <a:extLst>
              <a:ext uri="{FF2B5EF4-FFF2-40B4-BE49-F238E27FC236}">
                <a16:creationId xmlns:a16="http://schemas.microsoft.com/office/drawing/2014/main" id="{CFFF6E98-751D-4FE1-89AE-9F2345CA978F}"/>
              </a:ext>
            </a:extLst>
          </p:cNvPr>
          <p:cNvSpPr/>
          <p:nvPr/>
        </p:nvSpPr>
        <p:spPr>
          <a:xfrm>
            <a:off x="8210193" y="1399858"/>
            <a:ext cx="1281650" cy="2391803"/>
          </a:xfrm>
          <a:prstGeom prst="rect">
            <a:avLst/>
          </a:prstGeom>
          <a:solidFill>
            <a:srgbClr val="CCE0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ja-JP" altLang="en-US" sz="1200" dirty="0">
                <a:solidFill>
                  <a:schemeClr val="tx1"/>
                </a:solidFill>
                <a:latin typeface="游ゴシック" panose="020B0400000000000000" pitchFamily="50" charset="-128"/>
                <a:ea typeface="游ゴシック" panose="020B0400000000000000" pitchFamily="50" charset="-128"/>
              </a:rPr>
              <a:t>受電所</a:t>
            </a:r>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lang="en-US" altLang="ja-JP" sz="1200" dirty="0">
              <a:solidFill>
                <a:schemeClr val="tx1"/>
              </a:solidFill>
              <a:latin typeface="游ゴシック" panose="020B0400000000000000" pitchFamily="50" charset="-128"/>
              <a:ea typeface="游ゴシック" panose="020B0400000000000000" pitchFamily="50" charset="-128"/>
            </a:endParaRPr>
          </a:p>
          <a:p>
            <a:r>
              <a:rPr kumimoji="1" lang="ja-JP" altLang="en-US" sz="1200" dirty="0">
                <a:solidFill>
                  <a:schemeClr val="tx1"/>
                </a:solidFill>
                <a:latin typeface="+mn-ea"/>
                <a:ea typeface="+mn-ea"/>
              </a:rPr>
              <a:t>電力会社からの電力を受電する受電所は床高が</a:t>
            </a:r>
            <a:r>
              <a:rPr kumimoji="1" lang="en-US" altLang="ja-JP" sz="1200" dirty="0">
                <a:solidFill>
                  <a:schemeClr val="tx1"/>
                </a:solidFill>
                <a:latin typeface="+mn-ea"/>
                <a:ea typeface="+mn-ea"/>
              </a:rPr>
              <a:t>G.L.+1.5m</a:t>
            </a:r>
            <a:r>
              <a:rPr kumimoji="1" lang="ja-JP" altLang="en-US" sz="1200" dirty="0">
                <a:solidFill>
                  <a:schemeClr val="tx1"/>
                </a:solidFill>
                <a:latin typeface="+mn-ea"/>
                <a:ea typeface="+mn-ea"/>
              </a:rPr>
              <a:t>程度嵩上げされています</a:t>
            </a:r>
            <a:endParaRPr lang="en-US" altLang="ja-JP" sz="1200" dirty="0">
              <a:solidFill>
                <a:schemeClr val="tx1"/>
              </a:solidFill>
              <a:latin typeface="游ゴシック" panose="020B0400000000000000" pitchFamily="50" charset="-128"/>
              <a:ea typeface="游ゴシック" panose="020B0400000000000000" pitchFamily="50" charset="-128"/>
            </a:endParaRPr>
          </a:p>
        </p:txBody>
      </p:sp>
      <p:sp>
        <p:nvSpPr>
          <p:cNvPr id="33" name="正方形/長方形 32">
            <a:extLst>
              <a:ext uri="{FF2B5EF4-FFF2-40B4-BE49-F238E27FC236}">
                <a16:creationId xmlns:a16="http://schemas.microsoft.com/office/drawing/2014/main" id="{28DAD147-189C-4B30-89BF-3DEFE41DE7AC}"/>
              </a:ext>
            </a:extLst>
          </p:cNvPr>
          <p:cNvSpPr/>
          <p:nvPr/>
        </p:nvSpPr>
        <p:spPr>
          <a:xfrm>
            <a:off x="3577473" y="3939978"/>
            <a:ext cx="1281650" cy="2391803"/>
          </a:xfrm>
          <a:prstGeom prst="rect">
            <a:avLst/>
          </a:prstGeom>
          <a:solidFill>
            <a:srgbClr val="CCE0D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kumimoji="1" lang="en-US" altLang="ja-JP" sz="1200" dirty="0">
                <a:solidFill>
                  <a:schemeClr val="tx1"/>
                </a:solidFill>
                <a:latin typeface="+mn-ea"/>
                <a:ea typeface="+mn-ea"/>
              </a:rPr>
              <a:t>7</a:t>
            </a:r>
            <a:r>
              <a:rPr kumimoji="1" lang="ja-JP" altLang="en-US" sz="1200" dirty="0">
                <a:solidFill>
                  <a:schemeClr val="tx1"/>
                </a:solidFill>
                <a:latin typeface="+mn-ea"/>
                <a:ea typeface="+mn-ea"/>
              </a:rPr>
              <a:t>線材・</a:t>
            </a:r>
            <a:r>
              <a:rPr kumimoji="1" lang="en-US" altLang="ja-JP" sz="1200" dirty="0">
                <a:solidFill>
                  <a:schemeClr val="tx1"/>
                </a:solidFill>
                <a:latin typeface="+mn-ea"/>
                <a:ea typeface="+mn-ea"/>
              </a:rPr>
              <a:t>3</a:t>
            </a:r>
            <a:r>
              <a:rPr kumimoji="1" lang="ja-JP" altLang="en-US" sz="1200" dirty="0">
                <a:solidFill>
                  <a:schemeClr val="tx1"/>
                </a:solidFill>
                <a:latin typeface="+mn-ea"/>
                <a:ea typeface="+mn-ea"/>
              </a:rPr>
              <a:t>加工工場</a:t>
            </a:r>
            <a:endParaRPr kumimoji="1" lang="en-US" altLang="ja-JP" sz="1200" dirty="0">
              <a:solidFill>
                <a:schemeClr val="tx1"/>
              </a:solidFill>
              <a:latin typeface="+mn-ea"/>
              <a:ea typeface="+mn-ea"/>
            </a:endParaRPr>
          </a:p>
          <a:p>
            <a:endParaRPr lang="en-US" altLang="ja-JP" sz="1200" dirty="0">
              <a:solidFill>
                <a:schemeClr val="tx1"/>
              </a:solidFill>
              <a:latin typeface="+mn-ea"/>
            </a:endParaRPr>
          </a:p>
          <a:p>
            <a:r>
              <a:rPr lang="ja-JP" altLang="en-US" sz="1200" dirty="0">
                <a:solidFill>
                  <a:schemeClr val="tx1"/>
                </a:solidFill>
                <a:latin typeface="+mn-ea"/>
                <a:ea typeface="游ゴシック" panose="020B0400000000000000" pitchFamily="50" charset="-128"/>
              </a:rPr>
              <a:t>設備区画に嵩上げ及び止水板の設置を実施しており、</a:t>
            </a:r>
            <a:r>
              <a:rPr kumimoji="1" lang="en-US" altLang="ja-JP" sz="1200" dirty="0">
                <a:solidFill>
                  <a:schemeClr val="tx1"/>
                </a:solidFill>
                <a:latin typeface="+mn-ea"/>
                <a:ea typeface="+mn-ea"/>
              </a:rPr>
              <a:t>G.L.+0.9m</a:t>
            </a:r>
            <a:r>
              <a:rPr kumimoji="1" lang="ja-JP" altLang="en-US" sz="1200" dirty="0">
                <a:solidFill>
                  <a:schemeClr val="tx1"/>
                </a:solidFill>
                <a:latin typeface="+mn-ea"/>
                <a:ea typeface="+mn-ea"/>
              </a:rPr>
              <a:t>程度までの浸水を防ぐことが可能です。</a:t>
            </a:r>
            <a:endParaRPr lang="en-US" altLang="ja-JP" sz="1200" dirty="0">
              <a:solidFill>
                <a:schemeClr val="tx1"/>
              </a:solidFill>
              <a:latin typeface="游ゴシック" panose="020B0400000000000000" pitchFamily="50" charset="-128"/>
              <a:ea typeface="游ゴシック" panose="020B0400000000000000" pitchFamily="50" charset="-128"/>
            </a:endParaRPr>
          </a:p>
        </p:txBody>
      </p:sp>
      <p:sp>
        <p:nvSpPr>
          <p:cNvPr id="15" name="正方形/長方形 14">
            <a:extLst>
              <a:ext uri="{FF2B5EF4-FFF2-40B4-BE49-F238E27FC236}">
                <a16:creationId xmlns:a16="http://schemas.microsoft.com/office/drawing/2014/main" id="{1D5AF997-A1EF-4271-B952-1E8D4127F59A}"/>
              </a:ext>
            </a:extLst>
          </p:cNvPr>
          <p:cNvSpPr/>
          <p:nvPr/>
        </p:nvSpPr>
        <p:spPr>
          <a:xfrm>
            <a:off x="359865" y="1399757"/>
            <a:ext cx="3189206" cy="239190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rgbClr val="000000"/>
                </a:solidFill>
              </a:rPr>
              <a:t>写真</a:t>
            </a:r>
          </a:p>
        </p:txBody>
      </p:sp>
      <p:sp>
        <p:nvSpPr>
          <p:cNvPr id="16" name="正方形/長方形 15">
            <a:extLst>
              <a:ext uri="{FF2B5EF4-FFF2-40B4-BE49-F238E27FC236}">
                <a16:creationId xmlns:a16="http://schemas.microsoft.com/office/drawing/2014/main" id="{AFE06FE4-5F9A-48DF-B6BA-C1EB770729CB}"/>
              </a:ext>
            </a:extLst>
          </p:cNvPr>
          <p:cNvSpPr/>
          <p:nvPr/>
        </p:nvSpPr>
        <p:spPr>
          <a:xfrm>
            <a:off x="4983098" y="1399757"/>
            <a:ext cx="3189206" cy="239190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rgbClr val="000000"/>
                </a:solidFill>
              </a:rPr>
              <a:t>写真</a:t>
            </a:r>
          </a:p>
        </p:txBody>
      </p:sp>
      <p:pic>
        <p:nvPicPr>
          <p:cNvPr id="3" name="図 2">
            <a:extLst>
              <a:ext uri="{FF2B5EF4-FFF2-40B4-BE49-F238E27FC236}">
                <a16:creationId xmlns:a16="http://schemas.microsoft.com/office/drawing/2014/main" id="{03626D99-8411-436B-B8BC-615E691963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31463" y="1422393"/>
            <a:ext cx="3189071" cy="2391803"/>
          </a:xfrm>
          <a:prstGeom prst="rect">
            <a:avLst/>
          </a:prstGeom>
        </p:spPr>
      </p:pic>
      <p:pic>
        <p:nvPicPr>
          <p:cNvPr id="7" name="図 6">
            <a:extLst>
              <a:ext uri="{FF2B5EF4-FFF2-40B4-BE49-F238E27FC236}">
                <a16:creationId xmlns:a16="http://schemas.microsoft.com/office/drawing/2014/main" id="{2738FB9A-7B80-4C0C-92D7-925D52720F1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14563" y="1419125"/>
            <a:ext cx="1263112" cy="947334"/>
          </a:xfrm>
          <a:prstGeom prst="rect">
            <a:avLst/>
          </a:prstGeom>
        </p:spPr>
      </p:pic>
      <p:pic>
        <p:nvPicPr>
          <p:cNvPr id="13" name="図 12">
            <a:extLst>
              <a:ext uri="{FF2B5EF4-FFF2-40B4-BE49-F238E27FC236}">
                <a16:creationId xmlns:a16="http://schemas.microsoft.com/office/drawing/2014/main" id="{4F089197-EEE7-4922-B752-5B06C51C75E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45644" y="1384702"/>
            <a:ext cx="3189071" cy="2391803"/>
          </a:xfrm>
          <a:prstGeom prst="rect">
            <a:avLst/>
          </a:prstGeom>
        </p:spPr>
      </p:pic>
      <p:cxnSp>
        <p:nvCxnSpPr>
          <p:cNvPr id="27" name="直線矢印コネクタ 26">
            <a:extLst>
              <a:ext uri="{FF2B5EF4-FFF2-40B4-BE49-F238E27FC236}">
                <a16:creationId xmlns:a16="http://schemas.microsoft.com/office/drawing/2014/main" id="{308FE192-CACE-454F-9EDF-1D8163753868}"/>
              </a:ext>
            </a:extLst>
          </p:cNvPr>
          <p:cNvCxnSpPr>
            <a:cxnSpLocks/>
          </p:cNvCxnSpPr>
          <p:nvPr/>
        </p:nvCxnSpPr>
        <p:spPr>
          <a:xfrm>
            <a:off x="6100004" y="2992582"/>
            <a:ext cx="0" cy="637309"/>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BC5672D4-04BF-4F6C-A99B-62FE31A01206}"/>
              </a:ext>
            </a:extLst>
          </p:cNvPr>
          <p:cNvSpPr txBox="1"/>
          <p:nvPr/>
        </p:nvSpPr>
        <p:spPr>
          <a:xfrm>
            <a:off x="5345553" y="3325091"/>
            <a:ext cx="650687" cy="193964"/>
          </a:xfrm>
          <a:prstGeom prst="rect">
            <a:avLst/>
          </a:prstGeom>
          <a:solidFill>
            <a:schemeClr val="bg1"/>
          </a:solidFill>
          <a:ln>
            <a:solidFill>
              <a:schemeClr val="tx1"/>
            </a:solidFill>
          </a:ln>
        </p:spPr>
        <p:txBody>
          <a:bodyPr wrap="none" rtlCol="0">
            <a:noAutofit/>
          </a:bodyPr>
          <a:lstStyle/>
          <a:p>
            <a:r>
              <a:rPr kumimoji="1" lang="en-US" altLang="ja-JP" sz="900" dirty="0">
                <a:latin typeface="+mn-ea"/>
                <a:ea typeface="+mn-ea"/>
              </a:rPr>
              <a:t>G.L</a:t>
            </a:r>
            <a:r>
              <a:rPr kumimoji="1" lang="ja-JP" altLang="en-US" sz="900" dirty="0">
                <a:latin typeface="+mn-ea"/>
                <a:ea typeface="+mn-ea"/>
              </a:rPr>
              <a:t>＋</a:t>
            </a:r>
            <a:r>
              <a:rPr kumimoji="1" lang="en-US" altLang="ja-JP" sz="900" dirty="0">
                <a:latin typeface="+mn-ea"/>
                <a:ea typeface="+mn-ea"/>
              </a:rPr>
              <a:t>1.5m</a:t>
            </a:r>
            <a:endParaRPr kumimoji="1" lang="ja-JP" altLang="en-US" sz="900" dirty="0">
              <a:latin typeface="+mn-ea"/>
              <a:ea typeface="+mn-ea"/>
            </a:endParaRPr>
          </a:p>
        </p:txBody>
      </p:sp>
      <p:pic>
        <p:nvPicPr>
          <p:cNvPr id="34" name="Picture 3">
            <a:extLst>
              <a:ext uri="{FF2B5EF4-FFF2-40B4-BE49-F238E27FC236}">
                <a16:creationId xmlns:a16="http://schemas.microsoft.com/office/drawing/2014/main" id="{A9E15C84-41E7-476F-BD02-9A1AD5BBF310}"/>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331463" y="3939978"/>
            <a:ext cx="3189071" cy="2240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64372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lang="ja-JP" altLang="en-US" dirty="0">
                <a:effectLst>
                  <a:glow rad="190500">
                    <a:schemeClr val="bg1">
                      <a:alpha val="60000"/>
                    </a:schemeClr>
                  </a:glow>
                </a:effectLst>
              </a:rPr>
              <a:t>被害想定</a:t>
            </a:r>
            <a:endParaRPr kumimoji="1" lang="ja-JP" altLang="en-US" dirty="0">
              <a:effectLst>
                <a:glow rad="190500">
                  <a:schemeClr val="bg1">
                    <a:alpha val="60000"/>
                  </a:schemeClr>
                </a:glow>
              </a:effectLst>
            </a:endParaRPr>
          </a:p>
        </p:txBody>
      </p:sp>
      <p:sp>
        <p:nvSpPr>
          <p:cNvPr id="5" name="テキスト プレースホルダー 4"/>
          <p:cNvSpPr>
            <a:spLocks noGrp="1"/>
          </p:cNvSpPr>
          <p:nvPr>
            <p:ph type="body" sz="quarter" idx="11"/>
          </p:nvPr>
        </p:nvSpPr>
        <p:spPr/>
        <p:txBody>
          <a:bodyPr>
            <a:normAutofit/>
          </a:bodyPr>
          <a:lstStyle/>
          <a:p>
            <a:r>
              <a:rPr kumimoji="1" lang="en-US" altLang="ja-JP" dirty="0"/>
              <a:t>6</a:t>
            </a:r>
            <a:endParaRPr kumimoji="1" lang="ja-JP" altLang="en-US" dirty="0"/>
          </a:p>
        </p:txBody>
      </p:sp>
      <p:sp>
        <p:nvSpPr>
          <p:cNvPr id="7"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33</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296705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評価対象</a:t>
            </a:r>
            <a:endParaRPr lang="ja-JP" altLang="en-US" sz="3200" dirty="0">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34</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16" name="グループ化 15">
            <a:extLst>
              <a:ext uri="{FF2B5EF4-FFF2-40B4-BE49-F238E27FC236}">
                <a16:creationId xmlns:a16="http://schemas.microsoft.com/office/drawing/2014/main" id="{F082B121-1C2F-49EB-B95A-DE4802BC942B}"/>
              </a:ext>
            </a:extLst>
          </p:cNvPr>
          <p:cNvGrpSpPr/>
          <p:nvPr/>
        </p:nvGrpSpPr>
        <p:grpSpPr>
          <a:xfrm>
            <a:off x="360000" y="370800"/>
            <a:ext cx="720000" cy="672000"/>
            <a:chOff x="360000" y="370800"/>
            <a:chExt cx="720000" cy="672000"/>
          </a:xfrm>
        </p:grpSpPr>
        <p:sp>
          <p:nvSpPr>
            <p:cNvPr id="18" name="正方形/長方形 17">
              <a:extLst>
                <a:ext uri="{FF2B5EF4-FFF2-40B4-BE49-F238E27FC236}">
                  <a16:creationId xmlns:a16="http://schemas.microsoft.com/office/drawing/2014/main" id="{510F4760-AEA9-43F2-A3BB-028443090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AF7CDDDC-A95E-4CB7-BEFE-383C7A91F0F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6</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
        <p:nvSpPr>
          <p:cNvPr id="33" name="正方形/長方形 32">
            <a:extLst>
              <a:ext uri="{FF2B5EF4-FFF2-40B4-BE49-F238E27FC236}">
                <a16:creationId xmlns:a16="http://schemas.microsoft.com/office/drawing/2014/main" id="{B70CCD9F-39A6-4654-A13E-0A79C2A02955}"/>
              </a:ext>
            </a:extLst>
          </p:cNvPr>
          <p:cNvSpPr/>
          <p:nvPr/>
        </p:nvSpPr>
        <p:spPr>
          <a:xfrm>
            <a:off x="360000" y="6203059"/>
            <a:ext cx="9351463" cy="261610"/>
          </a:xfrm>
          <a:prstGeom prst="rect">
            <a:avLst/>
          </a:prstGeom>
        </p:spPr>
        <p:txBody>
          <a:bodyPr wrap="square">
            <a:spAutoFit/>
          </a:bodyPr>
          <a:lstStyle/>
          <a:p>
            <a:pPr algn="r"/>
            <a:r>
              <a:rPr lang="ja-JP" altLang="en-US" sz="1100" dirty="0">
                <a:latin typeface="游ゴシック" panose="020B0400000000000000" pitchFamily="50" charset="-128"/>
                <a:ea typeface="游ゴシック" panose="020B0400000000000000" pitchFamily="50" charset="-128"/>
              </a:rPr>
              <a:t>（出典：あいおいニッセイ同和損害保険株式会社ご提供資料「</a:t>
            </a:r>
            <a:r>
              <a:rPr lang="en-US" altLang="ja-JP" sz="1100" dirty="0">
                <a:latin typeface="游ゴシック" panose="020B0400000000000000" pitchFamily="50" charset="-128"/>
                <a:ea typeface="游ゴシック" panose="020B0400000000000000" pitchFamily="50" charset="-128"/>
              </a:rPr>
              <a:t>【2025</a:t>
            </a:r>
            <a:r>
              <a:rPr lang="ja-JP" altLang="en-US" sz="1100" dirty="0">
                <a:latin typeface="游ゴシック" panose="020B0400000000000000" pitchFamily="50" charset="-128"/>
                <a:ea typeface="游ゴシック" panose="020B0400000000000000" pitchFamily="50" charset="-128"/>
              </a:rPr>
              <a:t>明記物件確認用</a:t>
            </a:r>
            <a:r>
              <a:rPr lang="en-US" altLang="ja-JP" sz="1100" dirty="0">
                <a:latin typeface="游ゴシック" panose="020B0400000000000000" pitchFamily="50" charset="-128"/>
                <a:ea typeface="游ゴシック" panose="020B0400000000000000" pitchFamily="50" charset="-128"/>
              </a:rPr>
              <a:t>】</a:t>
            </a:r>
            <a:r>
              <a:rPr lang="ja-JP" altLang="en-US" sz="1100" dirty="0">
                <a:latin typeface="游ゴシック" panose="020B0400000000000000" pitchFamily="50" charset="-128"/>
                <a:ea typeface="游ゴシック" panose="020B0400000000000000" pitchFamily="50" charset="-128"/>
              </a:rPr>
              <a:t>神戸線条工場　評価データ」）</a:t>
            </a:r>
          </a:p>
        </p:txBody>
      </p:sp>
      <p:sp>
        <p:nvSpPr>
          <p:cNvPr id="11" name="テキスト ボックス 10">
            <a:extLst>
              <a:ext uri="{FF2B5EF4-FFF2-40B4-BE49-F238E27FC236}">
                <a16:creationId xmlns:a16="http://schemas.microsoft.com/office/drawing/2014/main" id="{B90762EE-2871-45B5-A4D7-96740012B040}"/>
              </a:ext>
            </a:extLst>
          </p:cNvPr>
          <p:cNvSpPr txBox="1"/>
          <p:nvPr/>
        </p:nvSpPr>
        <p:spPr>
          <a:xfrm>
            <a:off x="1291336" y="1009463"/>
            <a:ext cx="9180000" cy="246271"/>
          </a:xfrm>
          <a:prstGeom prst="rect">
            <a:avLst/>
          </a:prstGeom>
          <a:noFill/>
          <a:ln w="22225">
            <a:noFill/>
          </a:ln>
        </p:spPr>
        <p:txBody>
          <a:bodyPr wrap="square" lIns="90000" tIns="46800" rIns="90000" bIns="46800" rtlCol="0" anchor="t" anchorCtr="0">
            <a:noAutofit/>
          </a:bodyPr>
          <a:lstStyle/>
          <a:p>
            <a:pPr marL="87312" lvl="0" defTabSz="457200" fontAlgn="auto">
              <a:spcBef>
                <a:spcPts val="300"/>
              </a:spcBef>
              <a:spcAft>
                <a:spcPts val="0"/>
              </a:spcAft>
              <a:defRPr/>
            </a:pPr>
            <a:r>
              <a:rPr lang="ja-JP" altLang="en-US" sz="1400" dirty="0">
                <a:latin typeface="游ゴシック" panose="020B0400000000000000" pitchFamily="50" charset="-128"/>
                <a:ea typeface="游ゴシック" panose="020B0400000000000000" pitchFamily="50" charset="-128"/>
              </a:rPr>
              <a:t>評価対象</a:t>
            </a:r>
            <a:r>
              <a:rPr lang="en-US" altLang="ja-JP" sz="1400" baseline="30000" dirty="0">
                <a:latin typeface="游ゴシック" panose="020B0400000000000000" pitchFamily="50" charset="-128"/>
                <a:ea typeface="游ゴシック" panose="020B0400000000000000" pitchFamily="50" charset="-128"/>
              </a:rPr>
              <a:t>※1</a:t>
            </a:r>
            <a:r>
              <a:rPr lang="ja-JP" altLang="en-US" sz="1400" dirty="0">
                <a:latin typeface="游ゴシック" panose="020B0400000000000000" pitchFamily="50" charset="-128"/>
                <a:ea typeface="游ゴシック" panose="020B0400000000000000" pitchFamily="50" charset="-128"/>
              </a:rPr>
              <a:t>は下表のとおりです</a:t>
            </a:r>
            <a:endParaRPr kumimoji="0" lang="ja-JP" altLang="en-US" sz="1400" b="0" dirty="0">
              <a:latin typeface="游ゴシック" panose="020B0400000000000000" pitchFamily="50" charset="-128"/>
              <a:ea typeface="游ゴシック" panose="020B0400000000000000" pitchFamily="50" charset="-128"/>
            </a:endParaRPr>
          </a:p>
        </p:txBody>
      </p:sp>
      <p:graphicFrame>
        <p:nvGraphicFramePr>
          <p:cNvPr id="7" name="表 6">
            <a:extLst>
              <a:ext uri="{FF2B5EF4-FFF2-40B4-BE49-F238E27FC236}">
                <a16:creationId xmlns:a16="http://schemas.microsoft.com/office/drawing/2014/main" id="{B38E6777-2584-4B8D-9BF5-35CE4DD09D03}"/>
              </a:ext>
            </a:extLst>
          </p:cNvPr>
          <p:cNvGraphicFramePr>
            <a:graphicFrameLocks noGrp="1"/>
          </p:cNvGraphicFramePr>
          <p:nvPr>
            <p:extLst>
              <p:ext uri="{D42A27DB-BD31-4B8C-83A1-F6EECF244321}">
                <p14:modId xmlns:p14="http://schemas.microsoft.com/office/powerpoint/2010/main" val="3367972004"/>
              </p:ext>
            </p:extLst>
          </p:nvPr>
        </p:nvGraphicFramePr>
        <p:xfrm>
          <a:off x="859533" y="1894397"/>
          <a:ext cx="8545724" cy="2215199"/>
        </p:xfrm>
        <a:graphic>
          <a:graphicData uri="http://schemas.openxmlformats.org/drawingml/2006/table">
            <a:tbl>
              <a:tblPr/>
              <a:tblGrid>
                <a:gridCol w="1444063">
                  <a:extLst>
                    <a:ext uri="{9D8B030D-6E8A-4147-A177-3AD203B41FA5}">
                      <a16:colId xmlns:a16="http://schemas.microsoft.com/office/drawing/2014/main" val="3105319800"/>
                    </a:ext>
                  </a:extLst>
                </a:gridCol>
                <a:gridCol w="2790918">
                  <a:extLst>
                    <a:ext uri="{9D8B030D-6E8A-4147-A177-3AD203B41FA5}">
                      <a16:colId xmlns:a16="http://schemas.microsoft.com/office/drawing/2014/main" val="3336766290"/>
                    </a:ext>
                  </a:extLst>
                </a:gridCol>
                <a:gridCol w="809897">
                  <a:extLst>
                    <a:ext uri="{9D8B030D-6E8A-4147-A177-3AD203B41FA5}">
                      <a16:colId xmlns:a16="http://schemas.microsoft.com/office/drawing/2014/main" val="521504418"/>
                    </a:ext>
                  </a:extLst>
                </a:gridCol>
                <a:gridCol w="1789612">
                  <a:extLst>
                    <a:ext uri="{9D8B030D-6E8A-4147-A177-3AD203B41FA5}">
                      <a16:colId xmlns:a16="http://schemas.microsoft.com/office/drawing/2014/main" val="896963052"/>
                    </a:ext>
                  </a:extLst>
                </a:gridCol>
                <a:gridCol w="1711234">
                  <a:extLst>
                    <a:ext uri="{9D8B030D-6E8A-4147-A177-3AD203B41FA5}">
                      <a16:colId xmlns:a16="http://schemas.microsoft.com/office/drawing/2014/main" val="989612954"/>
                    </a:ext>
                  </a:extLst>
                </a:gridCol>
              </a:tblGrid>
              <a:tr h="522347">
                <a:tc>
                  <a:txBody>
                    <a:bodyPr/>
                    <a:lstStyle/>
                    <a:p>
                      <a:pPr algn="ctr" rtl="0" fontAlgn="ctr"/>
                      <a:r>
                        <a:rPr lang="ja-JP" altLang="en-US" sz="1400" b="0" i="0" u="none" strike="noStrike" dirty="0">
                          <a:solidFill>
                            <a:srgbClr val="000000"/>
                          </a:solidFill>
                          <a:effectLst/>
                          <a:latin typeface="+mn-ea"/>
                          <a:ea typeface="+mn-ea"/>
                        </a:rPr>
                        <a:t>符号</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CE0DE"/>
                    </a:solidFill>
                  </a:tcPr>
                </a:tc>
                <a:tc>
                  <a:txBody>
                    <a:bodyPr/>
                    <a:lstStyle/>
                    <a:p>
                      <a:pPr algn="ctr" rtl="0" fontAlgn="ctr"/>
                      <a:r>
                        <a:rPr lang="ja-JP" altLang="en-US" sz="1400" b="0" i="0" u="none" strike="noStrike" dirty="0">
                          <a:solidFill>
                            <a:srgbClr val="000000"/>
                          </a:solidFill>
                          <a:effectLst/>
                          <a:latin typeface="+mn-ea"/>
                          <a:ea typeface="+mn-ea"/>
                        </a:rPr>
                        <a:t>建物名称</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CE0DE"/>
                    </a:solidFill>
                  </a:tcPr>
                </a:tc>
                <a:tc>
                  <a:txBody>
                    <a:bodyPr/>
                    <a:lstStyle/>
                    <a:p>
                      <a:pPr algn="ctr" rtl="0" fontAlgn="ctr"/>
                      <a:r>
                        <a:rPr lang="ja-JP" altLang="en-US" sz="1400" b="0" i="0" u="none" strike="noStrike" dirty="0">
                          <a:solidFill>
                            <a:srgbClr val="000000"/>
                          </a:solidFill>
                          <a:effectLst/>
                          <a:latin typeface="+mn-ea"/>
                          <a:ea typeface="+mn-ea"/>
                        </a:rPr>
                        <a:t>建物構造</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CE0DE"/>
                    </a:solidFill>
                  </a:tcPr>
                </a:tc>
                <a:tc>
                  <a:txBody>
                    <a:bodyPr/>
                    <a:lstStyle/>
                    <a:p>
                      <a:pPr algn="ctr" rtl="0" fontAlgn="ctr"/>
                      <a:r>
                        <a:rPr lang="ja-JP" altLang="en-US" sz="1400" b="0" i="0" u="none" strike="noStrike" dirty="0">
                          <a:solidFill>
                            <a:srgbClr val="000000"/>
                          </a:solidFill>
                          <a:effectLst/>
                          <a:latin typeface="+mn-ea"/>
                          <a:ea typeface="+mn-ea"/>
                        </a:rPr>
                        <a:t>階数</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CE0DE"/>
                    </a:solidFill>
                  </a:tcPr>
                </a:tc>
                <a:tc>
                  <a:txBody>
                    <a:bodyPr/>
                    <a:lstStyle/>
                    <a:p>
                      <a:pPr algn="ctr" rtl="0" fontAlgn="ctr"/>
                      <a:r>
                        <a:rPr lang="zh-TW" altLang="en-US" sz="1400" b="0" i="0" u="none" strike="noStrike" dirty="0">
                          <a:solidFill>
                            <a:srgbClr val="000000"/>
                          </a:solidFill>
                          <a:effectLst/>
                          <a:latin typeface="+mn-ea"/>
                          <a:ea typeface="+mn-ea"/>
                        </a:rPr>
                        <a:t>再調達価額</a:t>
                      </a:r>
                      <a:r>
                        <a:rPr lang="en-US" altLang="zh-TW" sz="1400" b="0" i="0" u="none" strike="noStrike" dirty="0">
                          <a:solidFill>
                            <a:srgbClr val="000000"/>
                          </a:solidFill>
                          <a:effectLst/>
                          <a:latin typeface="+mn-ea"/>
                          <a:ea typeface="+mn-ea"/>
                        </a:rPr>
                        <a:t>(</a:t>
                      </a:r>
                      <a:r>
                        <a:rPr lang="zh-TW" altLang="en-US" sz="1400" b="0" i="0" u="none" strike="noStrike" dirty="0">
                          <a:solidFill>
                            <a:srgbClr val="000000"/>
                          </a:solidFill>
                          <a:effectLst/>
                          <a:latin typeface="+mn-ea"/>
                          <a:ea typeface="+mn-ea"/>
                        </a:rPr>
                        <a:t>千円</a:t>
                      </a:r>
                      <a:r>
                        <a:rPr lang="en-US" altLang="zh-TW" sz="1400" b="0" i="0" u="none" strike="noStrike" dirty="0">
                          <a:solidFill>
                            <a:srgbClr val="000000"/>
                          </a:solidFill>
                          <a:effectLst/>
                          <a:latin typeface="+mn-ea"/>
                          <a:ea typeface="+mn-ea"/>
                        </a:rPr>
                        <a:t>)</a:t>
                      </a:r>
                      <a:r>
                        <a:rPr lang="en-US" altLang="ja-JP" sz="1400" b="0" i="0" u="none" strike="noStrike" baseline="30000" dirty="0">
                          <a:solidFill>
                            <a:srgbClr val="000000"/>
                          </a:solidFill>
                          <a:effectLst/>
                          <a:latin typeface="+mn-ea"/>
                          <a:ea typeface="+mn-ea"/>
                        </a:rPr>
                        <a:t>※2</a:t>
                      </a:r>
                      <a:endParaRPr lang="en-US" altLang="zh-TW" sz="1400" b="0" i="0" u="none" strike="noStrike" dirty="0">
                        <a:solidFill>
                          <a:srgbClr val="000000"/>
                        </a:solidFill>
                        <a:effectLst/>
                        <a:latin typeface="+mn-ea"/>
                        <a:ea typeface="+mn-ea"/>
                      </a:endParaRP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CE0DE"/>
                    </a:solidFill>
                  </a:tcPr>
                </a:tc>
                <a:extLst>
                  <a:ext uri="{0D108BD9-81ED-4DB2-BD59-A6C34878D82A}">
                    <a16:rowId xmlns:a16="http://schemas.microsoft.com/office/drawing/2014/main" val="1834323989"/>
                  </a:ext>
                </a:extLst>
              </a:tr>
              <a:tr h="423213">
                <a:tc>
                  <a:txBody>
                    <a:bodyPr/>
                    <a:lstStyle/>
                    <a:p>
                      <a:pPr algn="ctr" rtl="0" fontAlgn="ctr"/>
                      <a:r>
                        <a:rPr lang="en-US" altLang="ja-JP" sz="1400" b="0" i="0" u="none" strike="noStrike" dirty="0">
                          <a:solidFill>
                            <a:srgbClr val="000000"/>
                          </a:solidFill>
                          <a:effectLst/>
                          <a:latin typeface="+mn-ea"/>
                          <a:ea typeface="+mn-ea"/>
                        </a:rPr>
                        <a:t>1</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fontAlgn="ctr"/>
                      <a:r>
                        <a:rPr lang="en-US" altLang="ja-JP" sz="1400" b="0" i="0" u="none" strike="noStrike" dirty="0">
                          <a:solidFill>
                            <a:srgbClr val="000000"/>
                          </a:solidFill>
                          <a:effectLst/>
                          <a:latin typeface="+mn-ea"/>
                          <a:ea typeface="+mn-ea"/>
                        </a:rPr>
                        <a:t>3</a:t>
                      </a:r>
                      <a:r>
                        <a:rPr lang="ja-JP" altLang="en-US" sz="1400" b="0" i="0" u="none" strike="noStrike" dirty="0">
                          <a:solidFill>
                            <a:srgbClr val="000000"/>
                          </a:solidFill>
                          <a:effectLst/>
                          <a:latin typeface="+mn-ea"/>
                          <a:ea typeface="+mn-ea"/>
                        </a:rPr>
                        <a:t>分塊・第</a:t>
                      </a:r>
                      <a:r>
                        <a:rPr lang="en-US" altLang="ja-JP" sz="1400" b="0" i="0" u="none" strike="noStrike" dirty="0">
                          <a:solidFill>
                            <a:srgbClr val="000000"/>
                          </a:solidFill>
                          <a:effectLst/>
                          <a:latin typeface="+mn-ea"/>
                          <a:ea typeface="+mn-ea"/>
                        </a:rPr>
                        <a:t>1</a:t>
                      </a:r>
                      <a:r>
                        <a:rPr lang="ja-JP" altLang="en-US" sz="1400" b="0" i="0" u="none" strike="noStrike" dirty="0">
                          <a:solidFill>
                            <a:srgbClr val="000000"/>
                          </a:solidFill>
                          <a:effectLst/>
                          <a:latin typeface="+mn-ea"/>
                          <a:ea typeface="+mn-ea"/>
                        </a:rPr>
                        <a:t>加工工場</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ja-JP" altLang="en-US" sz="1400" b="0" i="0" u="none" strike="noStrike" dirty="0">
                          <a:solidFill>
                            <a:srgbClr val="000000"/>
                          </a:solidFill>
                          <a:effectLst/>
                          <a:latin typeface="+mn-ea"/>
                          <a:ea typeface="+mn-ea"/>
                        </a:rPr>
                        <a:t>非木造</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ja-JP" altLang="en-US" sz="1400" b="0" i="0" u="none" strike="noStrike" dirty="0">
                          <a:solidFill>
                            <a:srgbClr val="000000"/>
                          </a:solidFill>
                          <a:effectLst/>
                          <a:latin typeface="+mn-ea"/>
                          <a:ea typeface="+mn-ea"/>
                        </a:rPr>
                        <a:t>地上</a:t>
                      </a:r>
                      <a:r>
                        <a:rPr lang="en-US" altLang="ja-JP" sz="1400" b="0" i="0" u="none" strike="noStrike" dirty="0">
                          <a:solidFill>
                            <a:srgbClr val="000000"/>
                          </a:solidFill>
                          <a:effectLst/>
                          <a:latin typeface="+mn-ea"/>
                          <a:ea typeface="+mn-ea"/>
                        </a:rPr>
                        <a:t>3</a:t>
                      </a:r>
                      <a:r>
                        <a:rPr lang="ja-JP" altLang="en-US" sz="1400" b="0" i="0" u="none" strike="noStrike" dirty="0">
                          <a:solidFill>
                            <a:srgbClr val="000000"/>
                          </a:solidFill>
                          <a:effectLst/>
                          <a:latin typeface="+mn-ea"/>
                          <a:ea typeface="+mn-ea"/>
                        </a:rPr>
                        <a:t>階</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1400" b="0" i="0" u="none" strike="noStrike" dirty="0">
                          <a:solidFill>
                            <a:srgbClr val="000000"/>
                          </a:solidFill>
                          <a:effectLst/>
                          <a:latin typeface="+mn-ea"/>
                          <a:ea typeface="+mn-ea"/>
                        </a:rPr>
                        <a:t>59,829,163</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812471005"/>
                  </a:ext>
                </a:extLst>
              </a:tr>
              <a:tr h="423213">
                <a:tc>
                  <a:txBody>
                    <a:bodyPr/>
                    <a:lstStyle/>
                    <a:p>
                      <a:pPr algn="ctr" rtl="0" fontAlgn="ctr"/>
                      <a:r>
                        <a:rPr lang="en-US" altLang="ja-JP" sz="1400" b="0" i="0" u="none" strike="noStrike" dirty="0">
                          <a:solidFill>
                            <a:srgbClr val="000000"/>
                          </a:solidFill>
                          <a:effectLst/>
                          <a:latin typeface="+mn-ea"/>
                          <a:ea typeface="+mn-ea"/>
                        </a:rPr>
                        <a:t>2</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fontAlgn="ctr"/>
                      <a:r>
                        <a:rPr lang="ja-JP" altLang="en-US" sz="1400" b="0" i="0" u="none" strike="noStrike" dirty="0">
                          <a:solidFill>
                            <a:srgbClr val="000000"/>
                          </a:solidFill>
                          <a:effectLst/>
                          <a:latin typeface="+mn-ea"/>
                          <a:ea typeface="+mn-ea"/>
                        </a:rPr>
                        <a:t>棒鋼・棒加工工場</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ja-JP" altLang="en-US" sz="1400" b="0" i="0" u="none" strike="noStrike" dirty="0">
                          <a:solidFill>
                            <a:srgbClr val="000000"/>
                          </a:solidFill>
                          <a:effectLst/>
                          <a:latin typeface="+mn-ea"/>
                          <a:ea typeface="+mn-ea"/>
                        </a:rPr>
                        <a:t>非木造</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ja-JP" altLang="en-US" sz="1400" b="0" i="0" u="none" strike="noStrike" dirty="0">
                          <a:solidFill>
                            <a:srgbClr val="000000"/>
                          </a:solidFill>
                          <a:effectLst/>
                          <a:latin typeface="+mn-ea"/>
                          <a:ea typeface="+mn-ea"/>
                        </a:rPr>
                        <a:t>地上</a:t>
                      </a:r>
                      <a:r>
                        <a:rPr lang="en-US" altLang="ja-JP" sz="1400" b="0" i="0" u="none" strike="noStrike" dirty="0">
                          <a:solidFill>
                            <a:srgbClr val="000000"/>
                          </a:solidFill>
                          <a:effectLst/>
                          <a:latin typeface="+mn-ea"/>
                          <a:ea typeface="+mn-ea"/>
                        </a:rPr>
                        <a:t>2</a:t>
                      </a:r>
                      <a:r>
                        <a:rPr lang="ja-JP" altLang="en-US" sz="1400" b="0" i="0" u="none" strike="noStrike" dirty="0">
                          <a:solidFill>
                            <a:srgbClr val="000000"/>
                          </a:solidFill>
                          <a:effectLst/>
                          <a:latin typeface="+mn-ea"/>
                          <a:ea typeface="+mn-ea"/>
                        </a:rPr>
                        <a:t>階、地下</a:t>
                      </a:r>
                      <a:r>
                        <a:rPr lang="en-US" altLang="ja-JP" sz="1400" b="0" i="0" u="none" strike="noStrike" dirty="0">
                          <a:solidFill>
                            <a:srgbClr val="000000"/>
                          </a:solidFill>
                          <a:effectLst/>
                          <a:latin typeface="+mn-ea"/>
                          <a:ea typeface="+mn-ea"/>
                        </a:rPr>
                        <a:t>1</a:t>
                      </a:r>
                      <a:r>
                        <a:rPr lang="ja-JP" altLang="en-US" sz="1400" b="0" i="0" u="none" strike="noStrike" dirty="0">
                          <a:solidFill>
                            <a:srgbClr val="000000"/>
                          </a:solidFill>
                          <a:effectLst/>
                          <a:latin typeface="+mn-ea"/>
                          <a:ea typeface="+mn-ea"/>
                        </a:rPr>
                        <a:t>階</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1400" b="0" i="0" u="none" strike="noStrike" dirty="0">
                          <a:solidFill>
                            <a:srgbClr val="000000"/>
                          </a:solidFill>
                          <a:effectLst/>
                          <a:latin typeface="+mn-ea"/>
                          <a:ea typeface="+mn-ea"/>
                        </a:rPr>
                        <a:t>42,268,657</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272442834"/>
                  </a:ext>
                </a:extLst>
              </a:tr>
              <a:tr h="423213">
                <a:tc>
                  <a:txBody>
                    <a:bodyPr/>
                    <a:lstStyle/>
                    <a:p>
                      <a:pPr algn="ctr" rtl="0" fontAlgn="ctr"/>
                      <a:r>
                        <a:rPr lang="en-US" altLang="ja-JP" sz="1400" b="0" i="0" u="none" strike="noStrike" dirty="0">
                          <a:solidFill>
                            <a:srgbClr val="000000"/>
                          </a:solidFill>
                          <a:effectLst/>
                          <a:latin typeface="+mn-ea"/>
                          <a:ea typeface="+mn-ea"/>
                        </a:rPr>
                        <a:t>3</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l" fontAlgn="ctr"/>
                      <a:r>
                        <a:rPr lang="en-US" altLang="ja-JP" sz="1400" b="0" i="0" u="none" strike="noStrike" dirty="0">
                          <a:solidFill>
                            <a:srgbClr val="000000"/>
                          </a:solidFill>
                          <a:effectLst/>
                          <a:latin typeface="+mn-ea"/>
                          <a:ea typeface="+mn-ea"/>
                        </a:rPr>
                        <a:t>7</a:t>
                      </a:r>
                      <a:r>
                        <a:rPr lang="ja-JP" altLang="en-US" sz="1400" b="0" i="0" u="none" strike="noStrike" dirty="0">
                          <a:solidFill>
                            <a:srgbClr val="000000"/>
                          </a:solidFill>
                          <a:effectLst/>
                          <a:latin typeface="+mn-ea"/>
                          <a:ea typeface="+mn-ea"/>
                        </a:rPr>
                        <a:t>線材・第</a:t>
                      </a:r>
                      <a:r>
                        <a:rPr lang="en-US" altLang="ja-JP" sz="1400" b="0" i="0" u="none" strike="noStrike" dirty="0">
                          <a:solidFill>
                            <a:srgbClr val="000000"/>
                          </a:solidFill>
                          <a:effectLst/>
                          <a:latin typeface="+mn-ea"/>
                          <a:ea typeface="+mn-ea"/>
                        </a:rPr>
                        <a:t>3</a:t>
                      </a:r>
                      <a:r>
                        <a:rPr lang="ja-JP" altLang="en-US" sz="1400" b="0" i="0" u="none" strike="noStrike" dirty="0">
                          <a:solidFill>
                            <a:srgbClr val="000000"/>
                          </a:solidFill>
                          <a:effectLst/>
                          <a:latin typeface="+mn-ea"/>
                          <a:ea typeface="+mn-ea"/>
                        </a:rPr>
                        <a:t>加工工場</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ja-JP" altLang="en-US" sz="1400" b="0" i="0" u="none" strike="noStrike" dirty="0">
                          <a:solidFill>
                            <a:srgbClr val="000000"/>
                          </a:solidFill>
                          <a:effectLst/>
                          <a:latin typeface="+mn-ea"/>
                          <a:ea typeface="+mn-ea"/>
                        </a:rPr>
                        <a:t>非木造</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ja-JP" altLang="en-US" sz="1400" b="0" i="0" u="none" strike="noStrike" dirty="0">
                          <a:solidFill>
                            <a:srgbClr val="000000"/>
                          </a:solidFill>
                          <a:effectLst/>
                          <a:latin typeface="+mn-ea"/>
                          <a:ea typeface="+mn-ea"/>
                        </a:rPr>
                        <a:t>地上</a:t>
                      </a:r>
                      <a:r>
                        <a:rPr lang="en-US" altLang="ja-JP" sz="1400" b="0" i="0" u="none" strike="noStrike" dirty="0">
                          <a:solidFill>
                            <a:srgbClr val="000000"/>
                          </a:solidFill>
                          <a:effectLst/>
                          <a:latin typeface="+mn-ea"/>
                          <a:ea typeface="+mn-ea"/>
                        </a:rPr>
                        <a:t>2</a:t>
                      </a:r>
                      <a:r>
                        <a:rPr lang="ja-JP" altLang="en-US" sz="1400" b="0" i="0" u="none" strike="noStrike" dirty="0">
                          <a:solidFill>
                            <a:srgbClr val="000000"/>
                          </a:solidFill>
                          <a:effectLst/>
                          <a:latin typeface="+mn-ea"/>
                          <a:ea typeface="+mn-ea"/>
                        </a:rPr>
                        <a:t>階、地下</a:t>
                      </a:r>
                      <a:r>
                        <a:rPr lang="en-US" altLang="ja-JP" sz="1400" b="0" i="0" u="none" strike="noStrike" dirty="0">
                          <a:solidFill>
                            <a:srgbClr val="000000"/>
                          </a:solidFill>
                          <a:effectLst/>
                          <a:latin typeface="+mn-ea"/>
                          <a:ea typeface="+mn-ea"/>
                        </a:rPr>
                        <a:t>1</a:t>
                      </a:r>
                      <a:r>
                        <a:rPr lang="ja-JP" altLang="en-US" sz="1400" b="0" i="0" u="none" strike="noStrike" dirty="0">
                          <a:solidFill>
                            <a:srgbClr val="000000"/>
                          </a:solidFill>
                          <a:effectLst/>
                          <a:latin typeface="+mn-ea"/>
                          <a:ea typeface="+mn-ea"/>
                        </a:rPr>
                        <a:t>階</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1400" b="0" i="0" u="none" strike="noStrike" dirty="0">
                          <a:solidFill>
                            <a:srgbClr val="000000"/>
                          </a:solidFill>
                          <a:effectLst/>
                          <a:latin typeface="+mn-ea"/>
                          <a:ea typeface="+mn-ea"/>
                        </a:rPr>
                        <a:t>24,385,804</a:t>
                      </a:r>
                    </a:p>
                  </a:txBody>
                  <a:tcPr marL="9525" marR="9525" marT="9525"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262337350"/>
                  </a:ext>
                </a:extLst>
              </a:tr>
              <a:tr h="423213">
                <a:tc gridSpan="4">
                  <a:txBody>
                    <a:bodyPr/>
                    <a:lstStyle/>
                    <a:p>
                      <a:pPr algn="ctr" rtl="0" fontAlgn="ctr"/>
                      <a:r>
                        <a:rPr lang="ja-JP" altLang="en-US" sz="1400" b="1" i="0" u="none" strike="noStrike" dirty="0">
                          <a:solidFill>
                            <a:srgbClr val="000000"/>
                          </a:solidFill>
                          <a:effectLst/>
                          <a:latin typeface="+mn-ea"/>
                          <a:ea typeface="+mn-ea"/>
                        </a:rPr>
                        <a:t>計</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r" rtl="0" fontAlgn="ctr"/>
                      <a:r>
                        <a:rPr lang="en-US" altLang="ja-JP" sz="1400" b="1" i="0" u="none" strike="noStrike" dirty="0">
                          <a:solidFill>
                            <a:srgbClr val="000000"/>
                          </a:solidFill>
                          <a:effectLst/>
                          <a:latin typeface="+mn-ea"/>
                          <a:ea typeface="+mn-ea"/>
                        </a:rPr>
                        <a:t>126,483,625</a:t>
                      </a:r>
                    </a:p>
                  </a:txBody>
                  <a:tcPr marL="6398" marR="6398" marT="6398"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340994894"/>
                  </a:ext>
                </a:extLst>
              </a:tr>
            </a:tbl>
          </a:graphicData>
        </a:graphic>
      </p:graphicFrame>
      <p:sp>
        <p:nvSpPr>
          <p:cNvPr id="10" name="テキスト ボックス 9">
            <a:extLst>
              <a:ext uri="{FF2B5EF4-FFF2-40B4-BE49-F238E27FC236}">
                <a16:creationId xmlns:a16="http://schemas.microsoft.com/office/drawing/2014/main" id="{32B2FD94-A7AE-4206-9B02-C0C342E58C03}"/>
              </a:ext>
            </a:extLst>
          </p:cNvPr>
          <p:cNvSpPr txBox="1"/>
          <p:nvPr/>
        </p:nvSpPr>
        <p:spPr>
          <a:xfrm>
            <a:off x="4891336" y="4597515"/>
            <a:ext cx="9180000" cy="246271"/>
          </a:xfrm>
          <a:prstGeom prst="rect">
            <a:avLst/>
          </a:prstGeom>
          <a:noFill/>
          <a:ln w="22225">
            <a:noFill/>
          </a:ln>
        </p:spPr>
        <p:txBody>
          <a:bodyPr wrap="square" lIns="90000" tIns="46800" rIns="90000" bIns="46800" rtlCol="0" anchor="t" anchorCtr="0">
            <a:noAutofit/>
          </a:bodyPr>
          <a:lstStyle/>
          <a:p>
            <a:pPr marL="87312" lvl="0" defTabSz="457200" fontAlgn="auto">
              <a:spcBef>
                <a:spcPts val="300"/>
              </a:spcBef>
              <a:spcAft>
                <a:spcPts val="0"/>
              </a:spcAft>
              <a:defRPr/>
            </a:pPr>
            <a:r>
              <a:rPr kumimoji="0" lang="en-US" altLang="ja-JP" sz="1000" dirty="0">
                <a:solidFill>
                  <a:prstClr val="black"/>
                </a:solidFill>
                <a:latin typeface="游ゴシック" panose="020B0400000000000000" pitchFamily="50" charset="-128"/>
                <a:ea typeface="游ゴシック" panose="020B0400000000000000" pitchFamily="50" charset="-128"/>
              </a:rPr>
              <a:t>※1 </a:t>
            </a:r>
            <a:r>
              <a:rPr kumimoji="0" lang="ja-JP" altLang="en-US" sz="1000" dirty="0">
                <a:solidFill>
                  <a:prstClr val="black"/>
                </a:solidFill>
                <a:latin typeface="游ゴシック" panose="020B0400000000000000" pitchFamily="50" charset="-128"/>
                <a:ea typeface="游ゴシック" panose="020B0400000000000000" pitchFamily="50" charset="-128"/>
              </a:rPr>
              <a:t>評価対象は</a:t>
            </a:r>
            <a:r>
              <a:rPr kumimoji="0" lang="ja-JP" altLang="en-US" sz="1000" dirty="0">
                <a:solidFill>
                  <a:schemeClr val="tx1"/>
                </a:solidFill>
                <a:latin typeface="游ゴシック" panose="020B0400000000000000" pitchFamily="50" charset="-128"/>
                <a:ea typeface="游ゴシック" panose="020B0400000000000000" pitchFamily="50" charset="-128"/>
              </a:rPr>
              <a:t>建物、構築物、設備・什器とし、製品・材料は含みません。</a:t>
            </a:r>
            <a:endParaRPr kumimoji="0" lang="en-US" altLang="ja-JP" sz="1000" dirty="0">
              <a:solidFill>
                <a:schemeClr val="tx1"/>
              </a:solidFill>
              <a:latin typeface="游ゴシック" panose="020B0400000000000000" pitchFamily="50" charset="-128"/>
              <a:ea typeface="游ゴシック" panose="020B0400000000000000" pitchFamily="50" charset="-128"/>
            </a:endParaRPr>
          </a:p>
          <a:p>
            <a:pPr marL="87312" lvl="0" defTabSz="457200" fontAlgn="auto">
              <a:spcBef>
                <a:spcPts val="300"/>
              </a:spcBef>
              <a:spcAft>
                <a:spcPts val="0"/>
              </a:spcAft>
              <a:defRPr/>
            </a:pPr>
            <a:r>
              <a:rPr kumimoji="0" lang="en-US" altLang="ja-JP" sz="1000" b="0" dirty="0">
                <a:solidFill>
                  <a:prstClr val="black"/>
                </a:solidFill>
                <a:latin typeface="游ゴシック" panose="020B0400000000000000" pitchFamily="50" charset="-128"/>
                <a:ea typeface="游ゴシック" panose="020B0400000000000000" pitchFamily="50" charset="-128"/>
              </a:rPr>
              <a:t>※2 </a:t>
            </a:r>
            <a:r>
              <a:rPr kumimoji="0" lang="ja-JP" altLang="en-US" sz="1000" b="0" dirty="0">
                <a:solidFill>
                  <a:prstClr val="black"/>
                </a:solidFill>
                <a:latin typeface="游ゴシック" panose="020B0400000000000000" pitchFamily="50" charset="-128"/>
                <a:ea typeface="游ゴシック" panose="020B0400000000000000" pitchFamily="50" charset="-128"/>
              </a:rPr>
              <a:t>再調達価格は建物および設備・什器を合算した金額を表記しています。</a:t>
            </a:r>
            <a:endParaRPr kumimoji="0" lang="en-US" altLang="ja-JP" sz="1000" b="0" dirty="0">
              <a:solidFill>
                <a:prstClr val="black"/>
              </a:solidFill>
              <a:latin typeface="游ゴシック" panose="020B0400000000000000" pitchFamily="50" charset="-128"/>
              <a:ea typeface="游ゴシック" panose="020B0400000000000000" pitchFamily="50" charset="-128"/>
            </a:endParaRPr>
          </a:p>
          <a:p>
            <a:pPr marL="87312" lvl="0" defTabSz="457200" fontAlgn="auto">
              <a:spcBef>
                <a:spcPts val="300"/>
              </a:spcBef>
              <a:spcAft>
                <a:spcPts val="0"/>
              </a:spcAft>
              <a:defRPr/>
            </a:pPr>
            <a:r>
              <a:rPr kumimoji="0" lang="ja-JP" altLang="en-US" sz="1000" dirty="0">
                <a:solidFill>
                  <a:prstClr val="black"/>
                </a:solidFill>
                <a:latin typeface="游ゴシック" panose="020B0400000000000000" pitchFamily="50" charset="-128"/>
                <a:ea typeface="游ゴシック" panose="020B0400000000000000" pitchFamily="50" charset="-128"/>
              </a:rPr>
              <a:t>　   なお、</a:t>
            </a:r>
            <a:r>
              <a:rPr kumimoji="0" lang="ja-JP" altLang="en-US" sz="1000" b="0" dirty="0">
                <a:solidFill>
                  <a:prstClr val="black"/>
                </a:solidFill>
                <a:latin typeface="游ゴシック" panose="020B0400000000000000" pitchFamily="50" charset="-128"/>
                <a:ea typeface="游ゴシック" panose="020B0400000000000000" pitchFamily="50" charset="-128"/>
              </a:rPr>
              <a:t>構築物は設備・什器とし、建物面積で按分しました。</a:t>
            </a:r>
          </a:p>
        </p:txBody>
      </p:sp>
    </p:spTree>
    <p:extLst>
      <p:ext uri="{BB962C8B-B14F-4D97-AF65-F5344CB8AC3E}">
        <p14:creationId xmlns:p14="http://schemas.microsoft.com/office/powerpoint/2010/main" val="29713147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水災被害想定｜</a:t>
            </a:r>
            <a:r>
              <a:rPr lang="ja-JP" altLang="en-US" sz="2000" dirty="0">
                <a:latin typeface="游ゴシック" panose="020B0400000000000000" pitchFamily="50" charset="-128"/>
                <a:ea typeface="游ゴシック" panose="020B0400000000000000" pitchFamily="50" charset="-128"/>
              </a:rPr>
              <a:t>①算出方法</a:t>
            </a:r>
            <a:endParaRPr lang="ja-JP" altLang="en-US" sz="3600" dirty="0">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35</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16" name="グループ化 15">
            <a:extLst>
              <a:ext uri="{FF2B5EF4-FFF2-40B4-BE49-F238E27FC236}">
                <a16:creationId xmlns:a16="http://schemas.microsoft.com/office/drawing/2014/main" id="{F082B121-1C2F-49EB-B95A-DE4802BC942B}"/>
              </a:ext>
            </a:extLst>
          </p:cNvPr>
          <p:cNvGrpSpPr/>
          <p:nvPr/>
        </p:nvGrpSpPr>
        <p:grpSpPr>
          <a:xfrm>
            <a:off x="360000" y="370800"/>
            <a:ext cx="720000" cy="672000"/>
            <a:chOff x="360000" y="370800"/>
            <a:chExt cx="720000" cy="672000"/>
          </a:xfrm>
        </p:grpSpPr>
        <p:sp>
          <p:nvSpPr>
            <p:cNvPr id="18" name="正方形/長方形 17">
              <a:extLst>
                <a:ext uri="{FF2B5EF4-FFF2-40B4-BE49-F238E27FC236}">
                  <a16:creationId xmlns:a16="http://schemas.microsoft.com/office/drawing/2014/main" id="{510F4760-AEA9-43F2-A3BB-028443090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AF7CDDDC-A95E-4CB7-BEFE-383C7A91F0F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6</a:t>
              </a:r>
            </a:p>
          </p:txBody>
        </p:sp>
      </p:grpSp>
      <p:sp>
        <p:nvSpPr>
          <p:cNvPr id="24" name="テキスト ボックス 23">
            <a:extLst>
              <a:ext uri="{FF2B5EF4-FFF2-40B4-BE49-F238E27FC236}">
                <a16:creationId xmlns:a16="http://schemas.microsoft.com/office/drawing/2014/main" id="{05E95801-33D2-44CC-99C4-47F16AD126A8}"/>
              </a:ext>
            </a:extLst>
          </p:cNvPr>
          <p:cNvSpPr txBox="1"/>
          <p:nvPr/>
        </p:nvSpPr>
        <p:spPr>
          <a:xfrm>
            <a:off x="356075" y="1292460"/>
            <a:ext cx="8787920" cy="215444"/>
          </a:xfrm>
          <a:prstGeom prst="rect">
            <a:avLst/>
          </a:prstGeom>
          <a:solidFill>
            <a:schemeClr val="bg1"/>
          </a:solidFill>
          <a:ln>
            <a:noFill/>
          </a:ln>
        </p:spPr>
        <p:txBody>
          <a:bodyPr wrap="square" lIns="0" tIns="0" rIns="0" bIns="0" rtlCol="0" anchor="ctr" anchorCtr="0">
            <a:spAutoFit/>
          </a:bodyPr>
          <a:lstStyle/>
          <a:p>
            <a:r>
              <a:rPr lang="ja-JP" altLang="en-US" sz="1400" dirty="0">
                <a:latin typeface="游ゴシック" panose="020B0400000000000000" pitchFamily="50" charset="-128"/>
                <a:ea typeface="游ゴシック" panose="020B0400000000000000" pitchFamily="50" charset="-128"/>
              </a:rPr>
              <a:t>■</a:t>
            </a:r>
            <a:r>
              <a:rPr lang="ja-JP" altLang="en-US" sz="1400" b="1" dirty="0">
                <a:latin typeface="游ゴシック" panose="020B0400000000000000" pitchFamily="50" charset="-128"/>
                <a:ea typeface="游ゴシック" panose="020B0400000000000000" pitchFamily="50" charset="-128"/>
              </a:rPr>
              <a:t>算出方法</a:t>
            </a:r>
          </a:p>
        </p:txBody>
      </p:sp>
      <p:sp>
        <p:nvSpPr>
          <p:cNvPr id="25" name="テキスト ボックス 24">
            <a:extLst>
              <a:ext uri="{FF2B5EF4-FFF2-40B4-BE49-F238E27FC236}">
                <a16:creationId xmlns:a16="http://schemas.microsoft.com/office/drawing/2014/main" id="{DBF9DA3E-02CB-4465-9275-56C21E315198}"/>
              </a:ext>
            </a:extLst>
          </p:cNvPr>
          <p:cNvSpPr txBox="1"/>
          <p:nvPr/>
        </p:nvSpPr>
        <p:spPr>
          <a:xfrm>
            <a:off x="359825" y="1474093"/>
            <a:ext cx="9180000" cy="735708"/>
          </a:xfrm>
          <a:prstGeom prst="rect">
            <a:avLst/>
          </a:prstGeom>
          <a:noFill/>
          <a:ln w="22225">
            <a:noFill/>
          </a:ln>
        </p:spPr>
        <p:txBody>
          <a:bodyPr wrap="square" lIns="90000" tIns="46800" rIns="90000" bIns="46800" rtlCol="0" anchor="t" anchorCtr="0">
            <a:noAutofit/>
          </a:bodyPr>
          <a:lstStyle/>
          <a:p>
            <a:pPr marL="87312" lvl="0" defTabSz="457200" fontAlgn="auto">
              <a:spcBef>
                <a:spcPts val="300"/>
              </a:spcBef>
              <a:spcAft>
                <a:spcPts val="0"/>
              </a:spcAft>
              <a:defRPr/>
            </a:pPr>
            <a:r>
              <a:rPr kumimoji="0" lang="ja-JP" altLang="en-US" sz="1400" b="0" dirty="0">
                <a:solidFill>
                  <a:prstClr val="black"/>
                </a:solidFill>
                <a:latin typeface="游ゴシック" panose="020B0400000000000000" pitchFamily="50" charset="-128"/>
                <a:ea typeface="游ゴシック" panose="020B0400000000000000" pitchFamily="50" charset="-128"/>
              </a:rPr>
              <a:t>浸水想定区域図・ハザードマップ等</a:t>
            </a:r>
            <a:r>
              <a:rPr kumimoji="0" lang="ja-JP" altLang="en-US" sz="1400" b="0" dirty="0">
                <a:latin typeface="游ゴシック" panose="020B0400000000000000" pitchFamily="50" charset="-128"/>
                <a:ea typeface="游ゴシック" panose="020B0400000000000000" pitchFamily="50" charset="-128"/>
              </a:rPr>
              <a:t>で想定される浸水深が実際に発生した場合を前提とし、受領資料および現場調査結果から得られた物件情報（地盤からの床高、建物の階高等）を考慮して、想定される浸水被害範囲を推定し、水災被害想定額を計算します。</a:t>
            </a:r>
          </a:p>
        </p:txBody>
      </p:sp>
      <p:graphicFrame>
        <p:nvGraphicFramePr>
          <p:cNvPr id="26" name="表 25">
            <a:extLst>
              <a:ext uri="{FF2B5EF4-FFF2-40B4-BE49-F238E27FC236}">
                <a16:creationId xmlns:a16="http://schemas.microsoft.com/office/drawing/2014/main" id="{26E7EB65-C92A-44E3-900D-6C6057E5A951}"/>
              </a:ext>
            </a:extLst>
          </p:cNvPr>
          <p:cNvGraphicFramePr>
            <a:graphicFrameLocks noGrp="1"/>
          </p:cNvGraphicFramePr>
          <p:nvPr>
            <p:extLst>
              <p:ext uri="{D42A27DB-BD31-4B8C-83A1-F6EECF244321}">
                <p14:modId xmlns:p14="http://schemas.microsoft.com/office/powerpoint/2010/main" val="2900961502"/>
              </p:ext>
            </p:extLst>
          </p:nvPr>
        </p:nvGraphicFramePr>
        <p:xfrm>
          <a:off x="552115" y="3162807"/>
          <a:ext cx="8991460" cy="1285730"/>
        </p:xfrm>
        <a:graphic>
          <a:graphicData uri="http://schemas.openxmlformats.org/drawingml/2006/table">
            <a:tbl>
              <a:tblPr>
                <a:tableStyleId>{ED083AE6-46FA-4A59-8FB0-9F97EB10719F}</a:tableStyleId>
              </a:tblPr>
              <a:tblGrid>
                <a:gridCol w="1646551">
                  <a:extLst>
                    <a:ext uri="{9D8B030D-6E8A-4147-A177-3AD203B41FA5}">
                      <a16:colId xmlns:a16="http://schemas.microsoft.com/office/drawing/2014/main" val="2855516452"/>
                    </a:ext>
                  </a:extLst>
                </a:gridCol>
                <a:gridCol w="7344909">
                  <a:extLst>
                    <a:ext uri="{9D8B030D-6E8A-4147-A177-3AD203B41FA5}">
                      <a16:colId xmlns:a16="http://schemas.microsoft.com/office/drawing/2014/main" val="951640486"/>
                    </a:ext>
                  </a:extLst>
                </a:gridCol>
              </a:tblGrid>
              <a:tr h="288290">
                <a:tc>
                  <a:txBody>
                    <a:bodyPr/>
                    <a:lstStyle/>
                    <a:p>
                      <a:pPr algn="ctr">
                        <a:spcAft>
                          <a:spcPts val="0"/>
                        </a:spcAft>
                      </a:pPr>
                      <a:r>
                        <a:rPr lang="ja-JP" altLang="en-US" sz="1400" b="1" dirty="0">
                          <a:solidFill>
                            <a:schemeClr val="tx1"/>
                          </a:solidFill>
                          <a:effectLst/>
                          <a:latin typeface="游ゴシック" panose="020B0400000000000000" pitchFamily="50" charset="-128"/>
                          <a:ea typeface="游ゴシック" panose="020B0400000000000000" pitchFamily="50" charset="-128"/>
                        </a:rPr>
                        <a:t>河川氾濫</a:t>
                      </a:r>
                      <a:endParaRPr lang="ja-JP" sz="1400" b="1" dirty="0">
                        <a:solidFill>
                          <a:schemeClr val="tx1"/>
                        </a:solidFill>
                        <a:effectLst/>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CCE0DE"/>
                    </a:solidFill>
                  </a:tcPr>
                </a:tc>
                <a:tc>
                  <a:txBody>
                    <a:bodyPr/>
                    <a:lstStyle/>
                    <a:p>
                      <a:pPr marL="127000" marR="0" lvl="0" indent="0" algn="just" defTabSz="913851" rtl="0" eaLnBrk="1" fontAlgn="auto" latinLnBrk="0" hangingPunct="1">
                        <a:lnSpc>
                          <a:spcPct val="100000"/>
                        </a:lnSpc>
                        <a:spcBef>
                          <a:spcPts val="0"/>
                        </a:spcBef>
                        <a:spcAft>
                          <a:spcPts val="0"/>
                        </a:spcAft>
                        <a:buClrTx/>
                        <a:buSzTx/>
                        <a:buFontTx/>
                        <a:buNone/>
                        <a:tabLst/>
                        <a:defRPr/>
                      </a:pPr>
                      <a:r>
                        <a:rPr lang="ja-JP" altLang="en-US" sz="1400" dirty="0">
                          <a:solidFill>
                            <a:schemeClr val="tx1"/>
                          </a:solidFill>
                          <a:effectLst/>
                          <a:latin typeface="游ゴシック" panose="020B0400000000000000" pitchFamily="50" charset="-128"/>
                          <a:ea typeface="游ゴシック" panose="020B0400000000000000" pitchFamily="50" charset="-128"/>
                        </a:rPr>
                        <a:t>浸水想定区域図によると、対象拠点において浸水は想定されていません。</a:t>
                      </a:r>
                      <a:endParaRPr lang="en-US" altLang="ja-JP" sz="1400" dirty="0">
                        <a:solidFill>
                          <a:schemeClr val="tx1"/>
                        </a:solidFill>
                        <a:effectLst/>
                        <a:latin typeface="游ゴシック" panose="020B0400000000000000" pitchFamily="50" charset="-128"/>
                        <a:ea typeface="游ゴシック" panose="020B0400000000000000" pitchFamily="50" charset="-128"/>
                      </a:endParaRPr>
                    </a:p>
                    <a:p>
                      <a:pPr marL="127000" marR="0" lvl="0" indent="0" algn="just" defTabSz="913851" rtl="0" eaLnBrk="1" fontAlgn="auto" latinLnBrk="0" hangingPunct="1">
                        <a:lnSpc>
                          <a:spcPct val="100000"/>
                        </a:lnSpc>
                        <a:spcBef>
                          <a:spcPts val="0"/>
                        </a:spcBef>
                        <a:spcAft>
                          <a:spcPts val="0"/>
                        </a:spcAft>
                        <a:buClrTx/>
                        <a:buSzTx/>
                        <a:buFontTx/>
                        <a:buNone/>
                        <a:tabLst/>
                        <a:defRPr/>
                      </a:pPr>
                      <a:r>
                        <a:rPr lang="ja-JP" altLang="en-US" sz="1400" spc="-25" dirty="0">
                          <a:solidFill>
                            <a:schemeClr val="tx1"/>
                          </a:solidFill>
                          <a:effectLst/>
                          <a:latin typeface="游ゴシック" panose="020B0400000000000000" pitchFamily="50" charset="-128"/>
                          <a:ea typeface="游ゴシック" panose="020B0400000000000000" pitchFamily="50" charset="-128"/>
                        </a:rPr>
                        <a:t>（参照：</a:t>
                      </a:r>
                      <a:r>
                        <a:rPr lang="ja-JP" altLang="en-US" sz="1400" dirty="0">
                          <a:latin typeface="游ゴシック" panose="020B0400000000000000" pitchFamily="50" charset="-128"/>
                          <a:ea typeface="游ゴシック" panose="020B0400000000000000" pitchFamily="50" charset="-128"/>
                        </a:rPr>
                        <a:t>員弁川水系洪水浸水想定区域図</a:t>
                      </a:r>
                      <a:r>
                        <a:rPr lang="ja-JP" altLang="en-US" sz="1400" spc="-25" dirty="0">
                          <a:solidFill>
                            <a:schemeClr val="tx1"/>
                          </a:solidFill>
                          <a:effectLst/>
                          <a:latin typeface="游ゴシック" panose="020B0400000000000000" pitchFamily="50" charset="-128"/>
                          <a:ea typeface="游ゴシック" panose="020B0400000000000000" pitchFamily="50" charset="-128"/>
                        </a:rPr>
                        <a:t>／三重県）</a:t>
                      </a:r>
                      <a:endParaRPr lang="ja-JP" altLang="ja-JP" sz="1400" dirty="0">
                        <a:solidFill>
                          <a:schemeClr val="tx1"/>
                        </a:solidFill>
                        <a:effectLst/>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734971836"/>
                  </a:ext>
                </a:extLst>
              </a:tr>
              <a:tr h="288290">
                <a:tc>
                  <a:txBody>
                    <a:bodyPr/>
                    <a:lstStyle/>
                    <a:p>
                      <a:pPr algn="ctr">
                        <a:spcAft>
                          <a:spcPts val="0"/>
                        </a:spcAft>
                      </a:pPr>
                      <a:r>
                        <a:rPr lang="ja-JP" altLang="en-US" sz="1400" b="1" dirty="0">
                          <a:solidFill>
                            <a:schemeClr val="tx1"/>
                          </a:solidFill>
                          <a:effectLst/>
                          <a:latin typeface="游ゴシック" panose="020B0400000000000000" pitchFamily="50" charset="-128"/>
                          <a:ea typeface="游ゴシック" panose="020B0400000000000000" pitchFamily="50" charset="-128"/>
                        </a:rPr>
                        <a:t>内水氾濫</a:t>
                      </a:r>
                      <a:endParaRPr lang="ja-JP" sz="1400" b="1" dirty="0">
                        <a:solidFill>
                          <a:schemeClr val="tx1"/>
                        </a:solidFill>
                        <a:effectLst/>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CCE0DE"/>
                    </a:solidFill>
                  </a:tcPr>
                </a:tc>
                <a:tc>
                  <a:txBody>
                    <a:bodyPr/>
                    <a:lstStyle/>
                    <a:p>
                      <a:pPr marL="127000" marR="0" lvl="0" indent="0" algn="just" defTabSz="913851" rtl="0" eaLnBrk="1" fontAlgn="auto" latinLnBrk="0" hangingPunct="1">
                        <a:lnSpc>
                          <a:spcPct val="100000"/>
                        </a:lnSpc>
                        <a:spcBef>
                          <a:spcPts val="0"/>
                        </a:spcBef>
                        <a:spcAft>
                          <a:spcPts val="0"/>
                        </a:spcAft>
                        <a:buClrTx/>
                        <a:buSzTx/>
                        <a:buFontTx/>
                        <a:buNone/>
                        <a:tabLst/>
                        <a:defRPr/>
                      </a:pPr>
                      <a:r>
                        <a:rPr lang="ja-JP" altLang="en-US" sz="1400" spc="-25" dirty="0">
                          <a:solidFill>
                            <a:schemeClr val="tx1"/>
                          </a:solidFill>
                          <a:effectLst/>
                          <a:latin typeface="游ゴシック" panose="020B0400000000000000" pitchFamily="50" charset="-128"/>
                          <a:ea typeface="游ゴシック" panose="020B0400000000000000" pitchFamily="50" charset="-128"/>
                        </a:rPr>
                        <a:t>浸水想定区域図は公表されていません。</a:t>
                      </a:r>
                      <a:endParaRPr lang="en-US" altLang="ja-JP" sz="1400" spc="-25" dirty="0">
                        <a:solidFill>
                          <a:schemeClr val="tx1"/>
                        </a:solidFill>
                        <a:effectLst/>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17013065"/>
                  </a:ext>
                </a:extLst>
              </a:tr>
              <a:tr h="288290">
                <a:tc>
                  <a:txBody>
                    <a:bodyPr/>
                    <a:lstStyle/>
                    <a:p>
                      <a:pPr algn="ctr">
                        <a:spcAft>
                          <a:spcPts val="0"/>
                        </a:spcAft>
                      </a:pPr>
                      <a:r>
                        <a:rPr lang="ja-JP" altLang="en-US" sz="1400" b="1" dirty="0">
                          <a:solidFill>
                            <a:schemeClr val="tx1"/>
                          </a:solidFill>
                          <a:effectLst/>
                          <a:latin typeface="游ゴシック" panose="020B0400000000000000" pitchFamily="50" charset="-128"/>
                          <a:ea typeface="游ゴシック" panose="020B0400000000000000" pitchFamily="50" charset="-128"/>
                        </a:rPr>
                        <a:t>高潮</a:t>
                      </a:r>
                      <a:endParaRPr lang="ja-JP" sz="1400" b="1" dirty="0">
                        <a:solidFill>
                          <a:schemeClr val="tx1"/>
                        </a:solidFill>
                        <a:effectLst/>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CCE0DE"/>
                    </a:solidFill>
                  </a:tcPr>
                </a:tc>
                <a:tc>
                  <a:txBody>
                    <a:bodyPr/>
                    <a:lstStyle/>
                    <a:p>
                      <a:pPr marL="127000" marR="0" lvl="0" indent="0" algn="just" defTabSz="913851" rtl="0" eaLnBrk="1" fontAlgn="auto" latinLnBrk="0" hangingPunct="1">
                        <a:lnSpc>
                          <a:spcPct val="100000"/>
                        </a:lnSpc>
                        <a:spcBef>
                          <a:spcPts val="0"/>
                        </a:spcBef>
                        <a:spcAft>
                          <a:spcPts val="0"/>
                        </a:spcAft>
                        <a:buClrTx/>
                        <a:buSzTx/>
                        <a:buFontTx/>
                        <a:buNone/>
                        <a:tabLst/>
                        <a:defRPr/>
                      </a:pPr>
                      <a:r>
                        <a:rPr lang="ja-JP" altLang="en-US" sz="1400" dirty="0">
                          <a:solidFill>
                            <a:schemeClr val="tx1"/>
                          </a:solidFill>
                          <a:effectLst/>
                          <a:latin typeface="游ゴシック" panose="020B0400000000000000" pitchFamily="50" charset="-128"/>
                          <a:ea typeface="游ゴシック" panose="020B0400000000000000" pitchFamily="50" charset="-128"/>
                        </a:rPr>
                        <a:t>浸水想定区域図によると、対象拠点において浸水は想定されていません。</a:t>
                      </a:r>
                      <a:endParaRPr lang="en-US" altLang="ja-JP" sz="1400" dirty="0">
                        <a:solidFill>
                          <a:schemeClr val="tx1"/>
                        </a:solidFill>
                        <a:effectLst/>
                        <a:latin typeface="游ゴシック" panose="020B0400000000000000" pitchFamily="50" charset="-128"/>
                        <a:ea typeface="游ゴシック" panose="020B0400000000000000" pitchFamily="50" charset="-128"/>
                      </a:endParaRPr>
                    </a:p>
                    <a:p>
                      <a:pPr marL="127000" marR="0" lvl="0" indent="0" algn="just" defTabSz="913851" rtl="0" eaLnBrk="1" fontAlgn="auto" latinLnBrk="0" hangingPunct="1">
                        <a:lnSpc>
                          <a:spcPct val="100000"/>
                        </a:lnSpc>
                        <a:spcBef>
                          <a:spcPts val="0"/>
                        </a:spcBef>
                        <a:spcAft>
                          <a:spcPts val="0"/>
                        </a:spcAft>
                        <a:buClrTx/>
                        <a:buSzTx/>
                        <a:buFontTx/>
                        <a:buNone/>
                        <a:tabLst/>
                        <a:defRPr/>
                      </a:pPr>
                      <a:r>
                        <a:rPr lang="ja-JP" altLang="en-US" sz="1400" spc="-25" dirty="0">
                          <a:solidFill>
                            <a:schemeClr val="tx1"/>
                          </a:solidFill>
                          <a:effectLst/>
                          <a:latin typeface="游ゴシック" panose="020B0400000000000000" pitchFamily="50" charset="-128"/>
                          <a:ea typeface="游ゴシック" panose="020B0400000000000000" pitchFamily="50" charset="-128"/>
                        </a:rPr>
                        <a:t>（参照：</a:t>
                      </a:r>
                      <a:r>
                        <a:rPr lang="zh-CN" altLang="en-US" sz="1400" dirty="0">
                          <a:latin typeface="游ゴシック" panose="020B0400000000000000" pitchFamily="50" charset="-128"/>
                          <a:ea typeface="游ゴシック" panose="020B0400000000000000" pitchFamily="50" charset="-128"/>
                        </a:rPr>
                        <a:t>伊勢湾沿岸［三重県区間］高潮浸水想定区域図</a:t>
                      </a:r>
                      <a:r>
                        <a:rPr kumimoji="1" lang="ja-JP" altLang="en-US" sz="1400" dirty="0">
                          <a:solidFill>
                            <a:schemeClr val="tx1"/>
                          </a:solidFill>
                          <a:latin typeface="游ゴシック" panose="020B0400000000000000" pitchFamily="50" charset="-128"/>
                          <a:ea typeface="游ゴシック" panose="020B0400000000000000" pitchFamily="50" charset="-128"/>
                        </a:rPr>
                        <a:t>／三重県</a:t>
                      </a:r>
                      <a:r>
                        <a:rPr lang="ja-JP" altLang="en-US" sz="1400" spc="-25" dirty="0">
                          <a:solidFill>
                            <a:schemeClr val="tx1"/>
                          </a:solidFill>
                          <a:effectLst/>
                          <a:latin typeface="游ゴシック" panose="020B0400000000000000" pitchFamily="50" charset="-128"/>
                          <a:ea typeface="游ゴシック" panose="020B0400000000000000" pitchFamily="50" charset="-128"/>
                        </a:rPr>
                        <a:t>）</a:t>
                      </a:r>
                      <a:endParaRPr lang="zh-TW" altLang="en-US" sz="1400" spc="-25" dirty="0">
                        <a:solidFill>
                          <a:schemeClr val="tx1"/>
                        </a:solidFill>
                        <a:effectLst/>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644882113"/>
                  </a:ext>
                </a:extLst>
              </a:tr>
            </a:tbl>
          </a:graphicData>
        </a:graphic>
      </p:graphicFrame>
      <p:sp>
        <p:nvSpPr>
          <p:cNvPr id="27" name="テキスト ボックス 26">
            <a:extLst>
              <a:ext uri="{FF2B5EF4-FFF2-40B4-BE49-F238E27FC236}">
                <a16:creationId xmlns:a16="http://schemas.microsoft.com/office/drawing/2014/main" id="{1304E84A-EA55-4098-9D1F-62C01010D9F1}"/>
              </a:ext>
            </a:extLst>
          </p:cNvPr>
          <p:cNvSpPr txBox="1"/>
          <p:nvPr/>
        </p:nvSpPr>
        <p:spPr>
          <a:xfrm>
            <a:off x="356075" y="2547353"/>
            <a:ext cx="9180000" cy="548271"/>
          </a:xfrm>
          <a:prstGeom prst="rect">
            <a:avLst/>
          </a:prstGeom>
          <a:noFill/>
          <a:ln w="22225">
            <a:noFill/>
          </a:ln>
        </p:spPr>
        <p:txBody>
          <a:bodyPr wrap="square" lIns="90000" tIns="46800" rIns="90000" bIns="46800" rtlCol="0" anchor="t" anchorCtr="0">
            <a:noAutofit/>
          </a:bodyPr>
          <a:lstStyle/>
          <a:p>
            <a:pPr marL="87312">
              <a:spcBef>
                <a:spcPts val="300"/>
              </a:spcBef>
              <a:defRPr/>
            </a:pPr>
            <a:r>
              <a:rPr kumimoji="0" lang="ja-JP" altLang="en-US" sz="1400" b="0" dirty="0">
                <a:solidFill>
                  <a:prstClr val="black"/>
                </a:solidFill>
                <a:latin typeface="游ゴシック" panose="020B0400000000000000" pitchFamily="50" charset="-128"/>
                <a:ea typeface="游ゴシック" panose="020B0400000000000000" pitchFamily="50" charset="-128"/>
              </a:rPr>
              <a:t>対象拠点で想定される浸水</a:t>
            </a:r>
            <a:r>
              <a:rPr kumimoji="0" lang="ja-JP" altLang="en-US" sz="1400" b="0" dirty="0">
                <a:latin typeface="游ゴシック" panose="020B0400000000000000" pitchFamily="50" charset="-128"/>
                <a:ea typeface="游ゴシック" panose="020B0400000000000000" pitchFamily="50" charset="-128"/>
              </a:rPr>
              <a:t>ハザード情報は下表のとおりです。</a:t>
            </a:r>
            <a:r>
              <a:rPr lang="ja-JP" altLang="en-US" sz="1400" dirty="0">
                <a:latin typeface="游ゴシック" panose="020B0400000000000000" pitchFamily="50" charset="-128"/>
                <a:ea typeface="游ゴシック" panose="020B0400000000000000" pitchFamily="50" charset="-128"/>
              </a:rPr>
              <a:t>本報告書では、想定シナリオとして</a:t>
            </a:r>
            <a:r>
              <a:rPr lang="ja-JP" altLang="en-US" sz="1400" u="sng" dirty="0">
                <a:latin typeface="游ゴシック" panose="020B0400000000000000" pitchFamily="50" charset="-128"/>
                <a:ea typeface="游ゴシック" panose="020B0400000000000000" pitchFamily="50" charset="-128"/>
              </a:rPr>
              <a:t>内水氾濫によって敷地全域が</a:t>
            </a:r>
            <a:r>
              <a:rPr lang="en-US" altLang="ja-JP" sz="1400" u="sng" dirty="0">
                <a:latin typeface="游ゴシック" panose="020B0400000000000000" pitchFamily="50" charset="-128"/>
                <a:ea typeface="游ゴシック" panose="020B0400000000000000" pitchFamily="50" charset="-128"/>
              </a:rPr>
              <a:t>0.5m</a:t>
            </a:r>
            <a:r>
              <a:rPr lang="ja-JP" altLang="en-US" sz="1400" u="sng" dirty="0">
                <a:latin typeface="游ゴシック" panose="020B0400000000000000" pitchFamily="50" charset="-128"/>
                <a:ea typeface="游ゴシック" panose="020B0400000000000000" pitchFamily="50" charset="-128"/>
              </a:rPr>
              <a:t>浸水した場合設定しました</a:t>
            </a:r>
            <a:r>
              <a:rPr lang="ja-JP" altLang="en-US" sz="1400" dirty="0">
                <a:latin typeface="游ゴシック" panose="020B0400000000000000" pitchFamily="50" charset="-128"/>
                <a:ea typeface="游ゴシック" panose="020B0400000000000000" pitchFamily="50" charset="-128"/>
              </a:rPr>
              <a:t>。</a:t>
            </a:r>
            <a:endParaRPr kumimoji="0" lang="ja-JP" altLang="en-US" sz="1400" b="0" dirty="0">
              <a:latin typeface="游ゴシック" panose="020B0400000000000000" pitchFamily="50" charset="-128"/>
              <a:ea typeface="游ゴシック" panose="020B0400000000000000" pitchFamily="50" charset="-128"/>
            </a:endParaRPr>
          </a:p>
        </p:txBody>
      </p:sp>
      <p:sp>
        <p:nvSpPr>
          <p:cNvPr id="28" name="テキスト ボックス 27">
            <a:extLst>
              <a:ext uri="{FF2B5EF4-FFF2-40B4-BE49-F238E27FC236}">
                <a16:creationId xmlns:a16="http://schemas.microsoft.com/office/drawing/2014/main" id="{1683B7AE-D674-46B5-BBAC-82F54AA049D7}"/>
              </a:ext>
            </a:extLst>
          </p:cNvPr>
          <p:cNvSpPr txBox="1"/>
          <p:nvPr/>
        </p:nvSpPr>
        <p:spPr>
          <a:xfrm>
            <a:off x="356075" y="2298234"/>
            <a:ext cx="8787920" cy="215444"/>
          </a:xfrm>
          <a:prstGeom prst="rect">
            <a:avLst/>
          </a:prstGeom>
          <a:solidFill>
            <a:schemeClr val="bg1"/>
          </a:solidFill>
          <a:ln>
            <a:noFill/>
          </a:ln>
        </p:spPr>
        <p:txBody>
          <a:bodyPr wrap="square" lIns="0" tIns="0" rIns="0" bIns="0" rtlCol="0" anchor="ctr" anchorCtr="0">
            <a:spAutoFit/>
          </a:bodyPr>
          <a:lstStyle/>
          <a:p>
            <a:r>
              <a:rPr lang="ja-JP" altLang="en-US" sz="1400" dirty="0">
                <a:latin typeface="游ゴシック" panose="020B0400000000000000" pitchFamily="50" charset="-128"/>
                <a:ea typeface="游ゴシック" panose="020B0400000000000000" pitchFamily="50" charset="-128"/>
              </a:rPr>
              <a:t>■</a:t>
            </a:r>
            <a:r>
              <a:rPr lang="ja-JP" altLang="en-US" sz="1400" b="1" dirty="0">
                <a:latin typeface="游ゴシック" panose="020B0400000000000000" pitchFamily="50" charset="-128"/>
                <a:ea typeface="游ゴシック" panose="020B0400000000000000" pitchFamily="50" charset="-128"/>
              </a:rPr>
              <a:t>対象ハザード</a:t>
            </a:r>
          </a:p>
        </p:txBody>
      </p:sp>
      <p:sp>
        <p:nvSpPr>
          <p:cNvPr id="29" name="テキスト ボックス 28">
            <a:extLst>
              <a:ext uri="{FF2B5EF4-FFF2-40B4-BE49-F238E27FC236}">
                <a16:creationId xmlns:a16="http://schemas.microsoft.com/office/drawing/2014/main" id="{98F05C39-7AC9-42AC-8924-057337D8C0FD}"/>
              </a:ext>
            </a:extLst>
          </p:cNvPr>
          <p:cNvSpPr txBox="1"/>
          <p:nvPr/>
        </p:nvSpPr>
        <p:spPr>
          <a:xfrm>
            <a:off x="356075" y="4642947"/>
            <a:ext cx="8787920" cy="215444"/>
          </a:xfrm>
          <a:prstGeom prst="rect">
            <a:avLst/>
          </a:prstGeom>
          <a:solidFill>
            <a:schemeClr val="bg1"/>
          </a:solidFill>
          <a:ln>
            <a:noFill/>
          </a:ln>
        </p:spPr>
        <p:txBody>
          <a:bodyPr wrap="square" lIns="0" tIns="0" rIns="0" bIns="0" rtlCol="0" anchor="ctr" anchorCtr="0">
            <a:spAutoFit/>
          </a:bodyPr>
          <a:lstStyle/>
          <a:p>
            <a:r>
              <a:rPr lang="ja-JP" altLang="en-US" sz="1400" dirty="0">
                <a:latin typeface="游ゴシック" panose="020B0400000000000000" pitchFamily="50" charset="-128"/>
                <a:ea typeface="游ゴシック" panose="020B0400000000000000" pitchFamily="50" charset="-128"/>
              </a:rPr>
              <a:t>■</a:t>
            </a:r>
            <a:r>
              <a:rPr lang="ja-JP" altLang="en-US" sz="1400" b="1" dirty="0">
                <a:latin typeface="游ゴシック" panose="020B0400000000000000" pitchFamily="50" charset="-128"/>
                <a:ea typeface="游ゴシック" panose="020B0400000000000000" pitchFamily="50" charset="-128"/>
              </a:rPr>
              <a:t>物件情報</a:t>
            </a:r>
          </a:p>
        </p:txBody>
      </p:sp>
      <p:graphicFrame>
        <p:nvGraphicFramePr>
          <p:cNvPr id="30" name="表 29">
            <a:extLst>
              <a:ext uri="{FF2B5EF4-FFF2-40B4-BE49-F238E27FC236}">
                <a16:creationId xmlns:a16="http://schemas.microsoft.com/office/drawing/2014/main" id="{6E46F023-D4FD-4A20-8B1A-86C5A9488E6D}"/>
              </a:ext>
            </a:extLst>
          </p:cNvPr>
          <p:cNvGraphicFramePr>
            <a:graphicFrameLocks noGrp="1"/>
          </p:cNvGraphicFramePr>
          <p:nvPr>
            <p:extLst>
              <p:ext uri="{D42A27DB-BD31-4B8C-83A1-F6EECF244321}">
                <p14:modId xmlns:p14="http://schemas.microsoft.com/office/powerpoint/2010/main" val="4093618059"/>
              </p:ext>
            </p:extLst>
          </p:nvPr>
        </p:nvGraphicFramePr>
        <p:xfrm>
          <a:off x="552114" y="5129247"/>
          <a:ext cx="8787920" cy="872586"/>
        </p:xfrm>
        <a:graphic>
          <a:graphicData uri="http://schemas.openxmlformats.org/drawingml/2006/table">
            <a:tbl>
              <a:tblPr>
                <a:tableStyleId>{ED083AE6-46FA-4A59-8FB0-9F97EB10719F}</a:tableStyleId>
              </a:tblPr>
              <a:tblGrid>
                <a:gridCol w="1799200">
                  <a:extLst>
                    <a:ext uri="{9D8B030D-6E8A-4147-A177-3AD203B41FA5}">
                      <a16:colId xmlns:a16="http://schemas.microsoft.com/office/drawing/2014/main" val="2855516452"/>
                    </a:ext>
                  </a:extLst>
                </a:gridCol>
                <a:gridCol w="6988720">
                  <a:extLst>
                    <a:ext uri="{9D8B030D-6E8A-4147-A177-3AD203B41FA5}">
                      <a16:colId xmlns:a16="http://schemas.microsoft.com/office/drawing/2014/main" val="951640486"/>
                    </a:ext>
                  </a:extLst>
                </a:gridCol>
              </a:tblGrid>
              <a:tr h="288290">
                <a:tc>
                  <a:txBody>
                    <a:bodyPr/>
                    <a:lstStyle/>
                    <a:p>
                      <a:pPr algn="ctr">
                        <a:spcAft>
                          <a:spcPts val="0"/>
                        </a:spcAft>
                      </a:pPr>
                      <a:r>
                        <a:rPr lang="ja-JP" altLang="en-US" sz="1400" b="1" dirty="0">
                          <a:solidFill>
                            <a:schemeClr val="tx1"/>
                          </a:solidFill>
                          <a:effectLst/>
                          <a:latin typeface="游ゴシック" panose="020B0400000000000000" pitchFamily="50" charset="-128"/>
                          <a:ea typeface="游ゴシック" panose="020B0400000000000000" pitchFamily="50" charset="-128"/>
                        </a:rPr>
                        <a:t>建物階数、</a:t>
                      </a:r>
                      <a:r>
                        <a:rPr lang="en-US" altLang="ja-JP" sz="1400" b="1" dirty="0">
                          <a:solidFill>
                            <a:schemeClr val="tx1"/>
                          </a:solidFill>
                          <a:effectLst/>
                          <a:latin typeface="游ゴシック" panose="020B0400000000000000" pitchFamily="50" charset="-128"/>
                          <a:ea typeface="游ゴシック" panose="020B0400000000000000" pitchFamily="50" charset="-128"/>
                        </a:rPr>
                        <a:t>1</a:t>
                      </a:r>
                      <a:r>
                        <a:rPr lang="ja-JP" altLang="en-US" sz="1400" b="1" dirty="0">
                          <a:solidFill>
                            <a:schemeClr val="tx1"/>
                          </a:solidFill>
                          <a:effectLst/>
                          <a:latin typeface="游ゴシック" panose="020B0400000000000000" pitchFamily="50" charset="-128"/>
                          <a:ea typeface="游ゴシック" panose="020B0400000000000000" pitchFamily="50" charset="-128"/>
                        </a:rPr>
                        <a:t>階床高</a:t>
                      </a:r>
                      <a:endParaRPr lang="ja-JP" sz="1400" b="1" dirty="0">
                        <a:solidFill>
                          <a:schemeClr val="tx1"/>
                        </a:solidFill>
                        <a:effectLst/>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CCE0DE"/>
                    </a:solidFill>
                  </a:tcPr>
                </a:tc>
                <a:tc>
                  <a:txBody>
                    <a:bodyPr/>
                    <a:lstStyle/>
                    <a:p>
                      <a:pPr marL="127000" marR="0" lvl="0" indent="0" algn="just" defTabSz="913851" rtl="0" eaLnBrk="1" fontAlgn="auto" latinLnBrk="0" hangingPunct="1">
                        <a:lnSpc>
                          <a:spcPct val="100000"/>
                        </a:lnSpc>
                        <a:spcBef>
                          <a:spcPts val="0"/>
                        </a:spcBef>
                        <a:spcAft>
                          <a:spcPts val="0"/>
                        </a:spcAft>
                        <a:buClrTx/>
                        <a:buSzTx/>
                        <a:buFontTx/>
                        <a:buNone/>
                        <a:tabLst/>
                        <a:defRPr/>
                      </a:pPr>
                      <a:r>
                        <a:rPr lang="ja-JP" altLang="en-US" sz="1400" dirty="0">
                          <a:solidFill>
                            <a:schemeClr val="tx1"/>
                          </a:solidFill>
                          <a:effectLst/>
                          <a:latin typeface="游ゴシック" panose="020B0400000000000000" pitchFamily="50" charset="-128"/>
                          <a:ea typeface="游ゴシック" panose="020B0400000000000000" pitchFamily="50" charset="-128"/>
                        </a:rPr>
                        <a:t>事前入力データに基づき、設定しました。</a:t>
                      </a:r>
                      <a:endParaRPr lang="ja-JP" altLang="ja-JP" sz="1400" dirty="0">
                        <a:solidFill>
                          <a:schemeClr val="tx1"/>
                        </a:solidFill>
                        <a:effectLst/>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75760374"/>
                  </a:ext>
                </a:extLst>
              </a:tr>
              <a:tr h="288290">
                <a:tc>
                  <a:txBody>
                    <a:bodyPr/>
                    <a:lstStyle/>
                    <a:p>
                      <a:pPr algn="ctr">
                        <a:spcAft>
                          <a:spcPts val="0"/>
                        </a:spcAft>
                      </a:pPr>
                      <a:r>
                        <a:rPr lang="ja-JP" altLang="en-US" sz="1400" b="1" dirty="0">
                          <a:solidFill>
                            <a:schemeClr val="tx1"/>
                          </a:solidFill>
                          <a:effectLst/>
                          <a:latin typeface="游ゴシック" panose="020B0400000000000000" pitchFamily="50" charset="-128"/>
                          <a:ea typeface="游ゴシック" panose="020B0400000000000000" pitchFamily="50" charset="-128"/>
                        </a:rPr>
                        <a:t>階高</a:t>
                      </a:r>
                      <a:endParaRPr lang="ja-JP" sz="1400" b="1" dirty="0">
                        <a:solidFill>
                          <a:schemeClr val="tx1"/>
                        </a:solidFill>
                        <a:effectLst/>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CCE0DE"/>
                    </a:solidFill>
                  </a:tcPr>
                </a:tc>
                <a:tc>
                  <a:txBody>
                    <a:bodyPr/>
                    <a:lstStyle/>
                    <a:p>
                      <a:pPr marL="127000" marR="0" lvl="0" indent="0" algn="just" defTabSz="913851" rtl="0" eaLnBrk="1" fontAlgn="auto" latinLnBrk="0" hangingPunct="1">
                        <a:lnSpc>
                          <a:spcPct val="100000"/>
                        </a:lnSpc>
                        <a:spcBef>
                          <a:spcPts val="0"/>
                        </a:spcBef>
                        <a:spcAft>
                          <a:spcPts val="0"/>
                        </a:spcAft>
                        <a:buClrTx/>
                        <a:buSzTx/>
                        <a:buFontTx/>
                        <a:buNone/>
                        <a:tabLst/>
                        <a:defRPr/>
                      </a:pPr>
                      <a:r>
                        <a:rPr lang="ja-JP" altLang="en-US" sz="1400" dirty="0">
                          <a:solidFill>
                            <a:schemeClr val="tx1"/>
                          </a:solidFill>
                          <a:effectLst/>
                          <a:latin typeface="游ゴシック" panose="020B0400000000000000" pitchFamily="50" charset="-128"/>
                          <a:ea typeface="游ゴシック" panose="020B0400000000000000" pitchFamily="50" charset="-128"/>
                        </a:rPr>
                        <a:t>事前入力データに基づき、設定しました。</a:t>
                      </a:r>
                      <a:endParaRPr lang="ja-JP" altLang="ja-JP" sz="1400" dirty="0">
                        <a:solidFill>
                          <a:schemeClr val="tx1"/>
                        </a:solidFill>
                        <a:effectLst/>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734971836"/>
                  </a:ext>
                </a:extLst>
              </a:tr>
              <a:tr h="296006">
                <a:tc>
                  <a:txBody>
                    <a:bodyPr/>
                    <a:lstStyle/>
                    <a:p>
                      <a:pPr algn="ctr">
                        <a:spcAft>
                          <a:spcPts val="0"/>
                        </a:spcAft>
                      </a:pPr>
                      <a:r>
                        <a:rPr lang="ja-JP" altLang="en-US" sz="1400" b="1" dirty="0">
                          <a:solidFill>
                            <a:schemeClr val="tx1"/>
                          </a:solidFill>
                          <a:effectLst/>
                          <a:latin typeface="游ゴシック" panose="020B0400000000000000" pitchFamily="50" charset="-128"/>
                          <a:ea typeface="游ゴシック" panose="020B0400000000000000" pitchFamily="50" charset="-128"/>
                        </a:rPr>
                        <a:t>資産の配分</a:t>
                      </a:r>
                      <a:endParaRPr lang="ja-JP" sz="1400" b="1" dirty="0">
                        <a:solidFill>
                          <a:schemeClr val="tx1"/>
                        </a:solidFill>
                        <a:effectLst/>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CCE0DE"/>
                    </a:solidFill>
                  </a:tcPr>
                </a:tc>
                <a:tc>
                  <a:txBody>
                    <a:bodyPr/>
                    <a:lstStyle/>
                    <a:p>
                      <a:pPr marL="127000" marR="0" lvl="0" indent="0" algn="just" defTabSz="913851" rtl="0" eaLnBrk="1" fontAlgn="auto" latinLnBrk="0" hangingPunct="1">
                        <a:lnSpc>
                          <a:spcPct val="100000"/>
                        </a:lnSpc>
                        <a:spcBef>
                          <a:spcPts val="0"/>
                        </a:spcBef>
                        <a:spcAft>
                          <a:spcPts val="0"/>
                        </a:spcAft>
                        <a:buClrTx/>
                        <a:buSzTx/>
                        <a:buFontTx/>
                        <a:buNone/>
                        <a:tabLst/>
                        <a:defRPr/>
                      </a:pPr>
                      <a:r>
                        <a:rPr kumimoji="0" lang="ja-JP" altLang="en-US" sz="1400" dirty="0">
                          <a:solidFill>
                            <a:schemeClr val="tx1"/>
                          </a:solidFill>
                          <a:latin typeface="游ゴシック" panose="020B0400000000000000" pitchFamily="50" charset="-128"/>
                          <a:ea typeface="游ゴシック" panose="020B0400000000000000" pitchFamily="50" charset="-128"/>
                        </a:rPr>
                        <a:t>評価対象は建物、構築物、機械設備とし、製品・材料は含みません。</a:t>
                      </a:r>
                      <a:endParaRPr lang="en-US" altLang="ja-JP" sz="1400" dirty="0">
                        <a:solidFill>
                          <a:schemeClr val="tx1"/>
                        </a:solidFill>
                        <a:effectLst/>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644882113"/>
                  </a:ext>
                </a:extLst>
              </a:tr>
            </a:tbl>
          </a:graphicData>
        </a:graphic>
      </p:graphicFrame>
      <p:sp>
        <p:nvSpPr>
          <p:cNvPr id="31" name="テキスト ボックス 30">
            <a:extLst>
              <a:ext uri="{FF2B5EF4-FFF2-40B4-BE49-F238E27FC236}">
                <a16:creationId xmlns:a16="http://schemas.microsoft.com/office/drawing/2014/main" id="{B9D98066-3674-46EF-98A5-7553E21FE387}"/>
              </a:ext>
            </a:extLst>
          </p:cNvPr>
          <p:cNvSpPr txBox="1"/>
          <p:nvPr/>
        </p:nvSpPr>
        <p:spPr>
          <a:xfrm>
            <a:off x="356075" y="4842045"/>
            <a:ext cx="9180000" cy="351705"/>
          </a:xfrm>
          <a:prstGeom prst="rect">
            <a:avLst/>
          </a:prstGeom>
          <a:noFill/>
          <a:ln w="22225">
            <a:noFill/>
          </a:ln>
        </p:spPr>
        <p:txBody>
          <a:bodyPr wrap="square" lIns="90000" tIns="46800" rIns="90000" bIns="46800" rtlCol="0" anchor="t" anchorCtr="0">
            <a:noAutofit/>
          </a:bodyPr>
          <a:lstStyle/>
          <a:p>
            <a:pPr marL="87312">
              <a:spcBef>
                <a:spcPts val="300"/>
              </a:spcBef>
              <a:defRPr/>
            </a:pPr>
            <a:r>
              <a:rPr lang="ja-JP" altLang="en-US" sz="1400" dirty="0">
                <a:solidFill>
                  <a:prstClr val="black"/>
                </a:solidFill>
                <a:latin typeface="游ゴシック" panose="020B0400000000000000" pitchFamily="50" charset="-128"/>
                <a:ea typeface="游ゴシック" panose="020B0400000000000000" pitchFamily="50" charset="-128"/>
              </a:rPr>
              <a:t>下表の物件情報を考慮しました。</a:t>
            </a:r>
            <a:endParaRPr kumimoji="0" lang="ja-JP" altLang="en-US" sz="1400" b="0" dirty="0">
              <a:solidFill>
                <a:prstClr val="black"/>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0792723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図 26">
            <a:extLst>
              <a:ext uri="{FF2B5EF4-FFF2-40B4-BE49-F238E27FC236}">
                <a16:creationId xmlns:a16="http://schemas.microsoft.com/office/drawing/2014/main" id="{150EB65A-FDD6-4757-9165-76A893DC040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219004" y="1953829"/>
            <a:ext cx="7344664" cy="3859371"/>
          </a:xfrm>
          <a:prstGeom prst="rect">
            <a:avLst/>
          </a:prstGeom>
        </p:spPr>
      </p:pic>
      <p:sp>
        <p:nvSpPr>
          <p:cNvPr id="4" name="テキスト ボックス 3"/>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水災被害想定｜</a:t>
            </a:r>
            <a:r>
              <a:rPr lang="ja-JP" altLang="en-US" sz="2000" dirty="0">
                <a:latin typeface="游ゴシック" panose="020B0400000000000000" pitchFamily="50" charset="-128"/>
                <a:ea typeface="游ゴシック" panose="020B0400000000000000" pitchFamily="50" charset="-128"/>
              </a:rPr>
              <a:t>②建物別浸水深</a:t>
            </a:r>
            <a:endParaRPr lang="ja-JP" altLang="en-US" sz="3600" dirty="0">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36</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grpSp>
        <p:nvGrpSpPr>
          <p:cNvPr id="16" name="グループ化 15">
            <a:extLst>
              <a:ext uri="{FF2B5EF4-FFF2-40B4-BE49-F238E27FC236}">
                <a16:creationId xmlns:a16="http://schemas.microsoft.com/office/drawing/2014/main" id="{F082B121-1C2F-49EB-B95A-DE4802BC942B}"/>
              </a:ext>
            </a:extLst>
          </p:cNvPr>
          <p:cNvGrpSpPr/>
          <p:nvPr/>
        </p:nvGrpSpPr>
        <p:grpSpPr>
          <a:xfrm>
            <a:off x="360000" y="370800"/>
            <a:ext cx="720000" cy="672000"/>
            <a:chOff x="360000" y="370800"/>
            <a:chExt cx="720000" cy="672000"/>
          </a:xfrm>
        </p:grpSpPr>
        <p:sp>
          <p:nvSpPr>
            <p:cNvPr id="18" name="正方形/長方形 17">
              <a:extLst>
                <a:ext uri="{FF2B5EF4-FFF2-40B4-BE49-F238E27FC236}">
                  <a16:creationId xmlns:a16="http://schemas.microsoft.com/office/drawing/2014/main" id="{510F4760-AEA9-43F2-A3BB-028443090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AF7CDDDC-A95E-4CB7-BEFE-383C7A91F0F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6</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
        <p:nvSpPr>
          <p:cNvPr id="17" name="テキスト ボックス 16">
            <a:extLst>
              <a:ext uri="{FF2B5EF4-FFF2-40B4-BE49-F238E27FC236}">
                <a16:creationId xmlns:a16="http://schemas.microsoft.com/office/drawing/2014/main" id="{A605C60E-6727-4920-8A49-0B90FD904C57}"/>
              </a:ext>
            </a:extLst>
          </p:cNvPr>
          <p:cNvSpPr txBox="1"/>
          <p:nvPr/>
        </p:nvSpPr>
        <p:spPr>
          <a:xfrm>
            <a:off x="356075" y="1292460"/>
            <a:ext cx="8787920" cy="215444"/>
          </a:xfrm>
          <a:prstGeom prst="rect">
            <a:avLst/>
          </a:prstGeom>
          <a:solidFill>
            <a:schemeClr val="bg1"/>
          </a:solidFill>
          <a:ln>
            <a:noFill/>
          </a:ln>
        </p:spPr>
        <p:txBody>
          <a:bodyPr wrap="square" lIns="0" tIns="0" rIns="0" bIns="0" rtlCol="0" anchor="ctr" anchorCtr="0">
            <a:spAutoFit/>
          </a:bodyPr>
          <a:lstStyle/>
          <a:p>
            <a:r>
              <a:rPr lang="ja-JP" altLang="en-US" sz="1400" dirty="0">
                <a:latin typeface="游ゴシック" panose="020B0400000000000000" pitchFamily="50" charset="-128"/>
                <a:ea typeface="游ゴシック" panose="020B0400000000000000" pitchFamily="50" charset="-128"/>
              </a:rPr>
              <a:t>■</a:t>
            </a:r>
            <a:r>
              <a:rPr lang="ja-JP" altLang="en-US" sz="1400" b="1" dirty="0">
                <a:latin typeface="游ゴシック" panose="020B0400000000000000" pitchFamily="50" charset="-128"/>
                <a:ea typeface="游ゴシック" panose="020B0400000000000000" pitchFamily="50" charset="-128"/>
              </a:rPr>
              <a:t>対象ハザード（浸水マップ）</a:t>
            </a:r>
          </a:p>
        </p:txBody>
      </p:sp>
      <p:sp>
        <p:nvSpPr>
          <p:cNvPr id="32" name="テキスト ボックス 31">
            <a:extLst>
              <a:ext uri="{FF2B5EF4-FFF2-40B4-BE49-F238E27FC236}">
                <a16:creationId xmlns:a16="http://schemas.microsoft.com/office/drawing/2014/main" id="{6B292BD0-4863-4786-A926-0726184684CB}"/>
              </a:ext>
            </a:extLst>
          </p:cNvPr>
          <p:cNvSpPr txBox="1"/>
          <p:nvPr/>
        </p:nvSpPr>
        <p:spPr>
          <a:xfrm>
            <a:off x="1641914" y="6257632"/>
            <a:ext cx="7387786" cy="169277"/>
          </a:xfrm>
          <a:prstGeom prst="rect">
            <a:avLst/>
          </a:prstGeom>
          <a:noFill/>
        </p:spPr>
        <p:txBody>
          <a:bodyPr wrap="square" lIns="0" tIns="0" rIns="0" bIns="0" rtlCol="0" anchor="ctr" anchorCtr="0">
            <a:spAutoFit/>
          </a:bodyPr>
          <a:lstStyle/>
          <a:p>
            <a:pPr algn="ctr"/>
            <a:r>
              <a:rPr kumimoji="1" lang="ja-JP" altLang="en-US" sz="1100" dirty="0">
                <a:latin typeface="游ゴシック" panose="020B0400000000000000" pitchFamily="50" charset="-128"/>
                <a:ea typeface="游ゴシック" panose="020B0400000000000000" pitchFamily="50" charset="-128"/>
              </a:rPr>
              <a:t>図：対象拠点の浸水状況（出典：</a:t>
            </a:r>
            <a:r>
              <a:rPr lang="zh-CN" altLang="en-US" sz="1100" dirty="0">
                <a:latin typeface="游ゴシック" panose="020B0400000000000000" pitchFamily="50" charset="-128"/>
                <a:ea typeface="游ゴシック" panose="020B0400000000000000" pitchFamily="50" charset="-128"/>
              </a:rPr>
              <a:t>兵庫県大阪湾沿岸（神戸市沿岸）高潮浸水想定区域図</a:t>
            </a:r>
            <a:r>
              <a:rPr kumimoji="1" lang="ja-JP" altLang="en-US" sz="1100" dirty="0">
                <a:solidFill>
                  <a:schemeClr val="tx1"/>
                </a:solidFill>
                <a:latin typeface="游ゴシック" panose="020B0400000000000000" pitchFamily="50" charset="-128"/>
                <a:ea typeface="游ゴシック" panose="020B0400000000000000" pitchFamily="50" charset="-128"/>
              </a:rPr>
              <a:t>／</a:t>
            </a:r>
            <a:r>
              <a:rPr lang="ja-JP" altLang="en-US" sz="1100" dirty="0">
                <a:latin typeface="游ゴシック" panose="020B0400000000000000" pitchFamily="50" charset="-128"/>
                <a:ea typeface="游ゴシック" panose="020B0400000000000000" pitchFamily="50" charset="-128"/>
              </a:rPr>
              <a:t>兵庫県</a:t>
            </a:r>
            <a:r>
              <a:rPr lang="ja-JP" altLang="en-US" sz="1100" dirty="0">
                <a:latin typeface="游ゴシック" panose="020B0400000000000000" pitchFamily="50" charset="-128"/>
                <a:ea typeface="游ゴシック" panose="020B0400000000000000" pitchFamily="50" charset="-128"/>
                <a:cs typeface="メイリオ" pitchFamily="50" charset="-128"/>
              </a:rPr>
              <a:t>に一部加筆</a:t>
            </a:r>
            <a:r>
              <a:rPr kumimoji="1" lang="ja-JP" altLang="en-US" sz="1100" dirty="0">
                <a:latin typeface="游ゴシック" panose="020B0400000000000000" pitchFamily="50" charset="-128"/>
                <a:ea typeface="游ゴシック" panose="020B0400000000000000" pitchFamily="50" charset="-128"/>
              </a:rPr>
              <a:t>）</a:t>
            </a:r>
          </a:p>
        </p:txBody>
      </p:sp>
      <p:sp>
        <p:nvSpPr>
          <p:cNvPr id="33" name="楕円 32">
            <a:extLst>
              <a:ext uri="{FF2B5EF4-FFF2-40B4-BE49-F238E27FC236}">
                <a16:creationId xmlns:a16="http://schemas.microsoft.com/office/drawing/2014/main" id="{4D9FFB0D-8DB6-4295-AB82-7F0838DE17CF}"/>
              </a:ext>
            </a:extLst>
          </p:cNvPr>
          <p:cNvSpPr/>
          <p:nvPr/>
        </p:nvSpPr>
        <p:spPr>
          <a:xfrm rot="21233584">
            <a:off x="5025525" y="3135938"/>
            <a:ext cx="937911" cy="386839"/>
          </a:xfrm>
          <a:prstGeom prst="ellipse">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ED938397-444B-41AD-ADDB-2268A172E4DB}"/>
              </a:ext>
            </a:extLst>
          </p:cNvPr>
          <p:cNvSpPr/>
          <p:nvPr/>
        </p:nvSpPr>
        <p:spPr>
          <a:xfrm rot="20979454">
            <a:off x="4995110" y="3770792"/>
            <a:ext cx="1088862" cy="432299"/>
          </a:xfrm>
          <a:prstGeom prst="ellipse">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AF4D850D-322A-46C3-B328-2475F4B8F49E}"/>
              </a:ext>
            </a:extLst>
          </p:cNvPr>
          <p:cNvSpPr txBox="1"/>
          <p:nvPr/>
        </p:nvSpPr>
        <p:spPr>
          <a:xfrm>
            <a:off x="5335806" y="2465195"/>
            <a:ext cx="1522193" cy="285895"/>
          </a:xfrm>
          <a:prstGeom prst="rect">
            <a:avLst/>
          </a:prstGeom>
          <a:solidFill>
            <a:schemeClr val="bg1"/>
          </a:solidFill>
          <a:ln>
            <a:solidFill>
              <a:schemeClr val="tx1"/>
            </a:solidFill>
          </a:ln>
        </p:spPr>
        <p:txBody>
          <a:bodyPr wrap="square" lIns="36000" tIns="36000" rIns="36000" bIns="36000" rtlCol="0" anchor="ctr" anchorCtr="0">
            <a:noAutofit/>
          </a:bodyPr>
          <a:lstStyle/>
          <a:p>
            <a:pPr algn="ctr"/>
            <a:r>
              <a:rPr kumimoji="1" lang="en-US" altLang="ja-JP" sz="1200" dirty="0">
                <a:solidFill>
                  <a:srgbClr val="0070C0"/>
                </a:solidFill>
                <a:latin typeface="游ゴシック" panose="020B0400000000000000" pitchFamily="50" charset="-128"/>
                <a:ea typeface="游ゴシック" panose="020B0400000000000000" pitchFamily="50" charset="-128"/>
              </a:rPr>
              <a:t>3</a:t>
            </a:r>
            <a:r>
              <a:rPr kumimoji="1" lang="ja-JP" altLang="en-US" sz="1200" dirty="0">
                <a:solidFill>
                  <a:srgbClr val="0070C0"/>
                </a:solidFill>
                <a:latin typeface="游ゴシック" panose="020B0400000000000000" pitchFamily="50" charset="-128"/>
                <a:ea typeface="游ゴシック" panose="020B0400000000000000" pitchFamily="50" charset="-128"/>
              </a:rPr>
              <a:t>分塊・第</a:t>
            </a:r>
            <a:r>
              <a:rPr kumimoji="1" lang="en-US" altLang="ja-JP" sz="1200" dirty="0">
                <a:solidFill>
                  <a:srgbClr val="0070C0"/>
                </a:solidFill>
                <a:latin typeface="游ゴシック" panose="020B0400000000000000" pitchFamily="50" charset="-128"/>
                <a:ea typeface="游ゴシック" panose="020B0400000000000000" pitchFamily="50" charset="-128"/>
              </a:rPr>
              <a:t>1</a:t>
            </a:r>
            <a:r>
              <a:rPr kumimoji="1" lang="ja-JP" altLang="en-US" sz="1200" dirty="0">
                <a:solidFill>
                  <a:srgbClr val="0070C0"/>
                </a:solidFill>
                <a:latin typeface="游ゴシック" panose="020B0400000000000000" pitchFamily="50" charset="-128"/>
                <a:ea typeface="游ゴシック" panose="020B0400000000000000" pitchFamily="50" charset="-128"/>
              </a:rPr>
              <a:t>加工工場</a:t>
            </a:r>
          </a:p>
        </p:txBody>
      </p:sp>
      <p:sp>
        <p:nvSpPr>
          <p:cNvPr id="40" name="テキスト ボックス 39">
            <a:extLst>
              <a:ext uri="{FF2B5EF4-FFF2-40B4-BE49-F238E27FC236}">
                <a16:creationId xmlns:a16="http://schemas.microsoft.com/office/drawing/2014/main" id="{0E5B198B-02ED-46BE-9563-1E5FFE60954A}"/>
              </a:ext>
            </a:extLst>
          </p:cNvPr>
          <p:cNvSpPr txBox="1"/>
          <p:nvPr/>
        </p:nvSpPr>
        <p:spPr>
          <a:xfrm>
            <a:off x="6510498" y="3823245"/>
            <a:ext cx="1358556" cy="312234"/>
          </a:xfrm>
          <a:prstGeom prst="rect">
            <a:avLst/>
          </a:prstGeom>
          <a:solidFill>
            <a:schemeClr val="bg1"/>
          </a:solidFill>
          <a:ln>
            <a:solidFill>
              <a:schemeClr val="tx1"/>
            </a:solidFill>
          </a:ln>
        </p:spPr>
        <p:txBody>
          <a:bodyPr wrap="square" lIns="36000" tIns="36000" rIns="36000" bIns="36000" rtlCol="0" anchor="ctr" anchorCtr="0">
            <a:noAutofit/>
          </a:bodyPr>
          <a:lstStyle/>
          <a:p>
            <a:pPr algn="ctr"/>
            <a:r>
              <a:rPr lang="ja-JP" altLang="en-US" sz="1200" dirty="0">
                <a:solidFill>
                  <a:srgbClr val="0070C0"/>
                </a:solidFill>
                <a:latin typeface="游ゴシック" panose="020B0400000000000000" pitchFamily="50" charset="-128"/>
                <a:ea typeface="游ゴシック" panose="020B0400000000000000" pitchFamily="50" charset="-128"/>
              </a:rPr>
              <a:t>棒鋼・棒加工工場</a:t>
            </a:r>
          </a:p>
        </p:txBody>
      </p:sp>
      <p:cxnSp>
        <p:nvCxnSpPr>
          <p:cNvPr id="45" name="直線矢印コネクタ 44">
            <a:extLst>
              <a:ext uri="{FF2B5EF4-FFF2-40B4-BE49-F238E27FC236}">
                <a16:creationId xmlns:a16="http://schemas.microsoft.com/office/drawing/2014/main" id="{AD758CBC-6AF9-4695-830E-80A6F71F5FDA}"/>
              </a:ext>
            </a:extLst>
          </p:cNvPr>
          <p:cNvCxnSpPr>
            <a:cxnSpLocks/>
            <a:stCxn id="39" idx="2"/>
            <a:endCxn id="33" idx="0"/>
          </p:cNvCxnSpPr>
          <p:nvPr/>
        </p:nvCxnSpPr>
        <p:spPr>
          <a:xfrm flipH="1">
            <a:off x="5473904" y="2751090"/>
            <a:ext cx="622999" cy="3859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5103BC45-F38B-4E02-8231-AEAA425EF921}"/>
              </a:ext>
            </a:extLst>
          </p:cNvPr>
          <p:cNvCxnSpPr>
            <a:cxnSpLocks/>
            <a:stCxn id="40" idx="1"/>
            <a:endCxn id="37" idx="6"/>
          </p:cNvCxnSpPr>
          <p:nvPr/>
        </p:nvCxnSpPr>
        <p:spPr>
          <a:xfrm flipH="1" flipV="1">
            <a:off x="6075126" y="3889200"/>
            <a:ext cx="435372" cy="901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9A3AB622-97D7-4EED-86A7-333E41478A0D}"/>
              </a:ext>
            </a:extLst>
          </p:cNvPr>
          <p:cNvSpPr txBox="1"/>
          <p:nvPr/>
        </p:nvSpPr>
        <p:spPr>
          <a:xfrm>
            <a:off x="359825" y="1474093"/>
            <a:ext cx="9180000" cy="735708"/>
          </a:xfrm>
          <a:prstGeom prst="rect">
            <a:avLst/>
          </a:prstGeom>
          <a:noFill/>
          <a:ln w="22225">
            <a:noFill/>
          </a:ln>
        </p:spPr>
        <p:txBody>
          <a:bodyPr wrap="square" lIns="90000" tIns="46800" rIns="90000" bIns="46800" rtlCol="0" anchor="t" anchorCtr="0">
            <a:noAutofit/>
          </a:bodyPr>
          <a:lstStyle/>
          <a:p>
            <a:pPr marL="87312" lvl="0" defTabSz="457200" fontAlgn="auto">
              <a:spcBef>
                <a:spcPts val="300"/>
              </a:spcBef>
              <a:spcAft>
                <a:spcPts val="0"/>
              </a:spcAft>
              <a:defRPr/>
            </a:pPr>
            <a:r>
              <a:rPr kumimoji="0" lang="ja-JP" altLang="en-US" sz="1400" b="0" dirty="0">
                <a:solidFill>
                  <a:prstClr val="black"/>
                </a:solidFill>
                <a:latin typeface="游ゴシック" panose="020B0400000000000000" pitchFamily="50" charset="-128"/>
                <a:ea typeface="游ゴシック" panose="020B0400000000000000" pitchFamily="50" charset="-128"/>
              </a:rPr>
              <a:t>主要な</a:t>
            </a:r>
            <a:r>
              <a:rPr kumimoji="0" lang="ja-JP" altLang="en-US" sz="1400" b="0" dirty="0">
                <a:latin typeface="游ゴシック" panose="020B0400000000000000" pitchFamily="50" charset="-128"/>
                <a:ea typeface="游ゴシック" panose="020B0400000000000000" pitchFamily="50" charset="-128"/>
              </a:rPr>
              <a:t>建物はいずれも</a:t>
            </a:r>
            <a:r>
              <a:rPr kumimoji="0" lang="en-US" altLang="ja-JP" sz="1400" dirty="0">
                <a:latin typeface="游ゴシック" panose="020B0400000000000000" pitchFamily="50" charset="-128"/>
                <a:ea typeface="游ゴシック" panose="020B0400000000000000" pitchFamily="50" charset="-128"/>
              </a:rPr>
              <a:t>1.0</a:t>
            </a:r>
            <a:r>
              <a:rPr kumimoji="0" lang="en-US" altLang="ja-JP" sz="1400" b="0" dirty="0">
                <a:latin typeface="游ゴシック" panose="020B0400000000000000" pitchFamily="50" charset="-128"/>
                <a:ea typeface="游ゴシック" panose="020B0400000000000000" pitchFamily="50" charset="-128"/>
              </a:rPr>
              <a:t>m</a:t>
            </a:r>
            <a:r>
              <a:rPr kumimoji="0" lang="ja-JP" altLang="en-US" sz="1400" b="0" dirty="0">
                <a:latin typeface="游ゴシック" panose="020B0400000000000000" pitchFamily="50" charset="-128"/>
                <a:ea typeface="游ゴシック" panose="020B0400000000000000" pitchFamily="50" charset="-128"/>
              </a:rPr>
              <a:t>以上</a:t>
            </a:r>
            <a:r>
              <a:rPr kumimoji="0" lang="en-US" altLang="ja-JP" sz="1400" b="0" dirty="0">
                <a:latin typeface="游ゴシック" panose="020B0400000000000000" pitchFamily="50" charset="-128"/>
                <a:ea typeface="游ゴシック" panose="020B0400000000000000" pitchFamily="50" charset="-128"/>
              </a:rPr>
              <a:t>3.0m</a:t>
            </a:r>
            <a:r>
              <a:rPr kumimoji="0" lang="ja-JP" altLang="en-US" sz="1400" b="0" dirty="0">
                <a:latin typeface="游ゴシック" panose="020B0400000000000000" pitchFamily="50" charset="-128"/>
                <a:ea typeface="游ゴシック" panose="020B0400000000000000" pitchFamily="50" charset="-128"/>
              </a:rPr>
              <a:t>未満の浸水深に</a:t>
            </a:r>
            <a:r>
              <a:rPr kumimoji="0" lang="ja-JP" altLang="en-US" sz="1400" b="0" dirty="0">
                <a:solidFill>
                  <a:prstClr val="black"/>
                </a:solidFill>
                <a:latin typeface="游ゴシック" panose="020B0400000000000000" pitchFamily="50" charset="-128"/>
                <a:ea typeface="游ゴシック" panose="020B0400000000000000" pitchFamily="50" charset="-128"/>
              </a:rPr>
              <a:t>該当しています。</a:t>
            </a:r>
          </a:p>
        </p:txBody>
      </p:sp>
      <p:sp>
        <p:nvSpPr>
          <p:cNvPr id="50" name="楕円 49">
            <a:extLst>
              <a:ext uri="{FF2B5EF4-FFF2-40B4-BE49-F238E27FC236}">
                <a16:creationId xmlns:a16="http://schemas.microsoft.com/office/drawing/2014/main" id="{19C553B5-28F3-4A3F-B082-E1467550DFE2}"/>
              </a:ext>
            </a:extLst>
          </p:cNvPr>
          <p:cNvSpPr/>
          <p:nvPr/>
        </p:nvSpPr>
        <p:spPr>
          <a:xfrm rot="21124458">
            <a:off x="4928645" y="4220889"/>
            <a:ext cx="1256646" cy="257331"/>
          </a:xfrm>
          <a:prstGeom prst="ellipse">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矢印コネクタ 50">
            <a:extLst>
              <a:ext uri="{FF2B5EF4-FFF2-40B4-BE49-F238E27FC236}">
                <a16:creationId xmlns:a16="http://schemas.microsoft.com/office/drawing/2014/main" id="{D83B81D3-C43D-470C-8E34-8C728D570CF9}"/>
              </a:ext>
            </a:extLst>
          </p:cNvPr>
          <p:cNvCxnSpPr>
            <a:cxnSpLocks/>
            <a:stCxn id="31" idx="1"/>
            <a:endCxn id="50" idx="4"/>
          </p:cNvCxnSpPr>
          <p:nvPr/>
        </p:nvCxnSpPr>
        <p:spPr>
          <a:xfrm flipH="1" flipV="1">
            <a:off x="5574710" y="4476991"/>
            <a:ext cx="1000054" cy="8318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5F1B1110-DE71-4826-AF54-212AC801ECD1}"/>
              </a:ext>
            </a:extLst>
          </p:cNvPr>
          <p:cNvSpPr txBox="1"/>
          <p:nvPr/>
        </p:nvSpPr>
        <p:spPr>
          <a:xfrm>
            <a:off x="6574764" y="5152769"/>
            <a:ext cx="1477036" cy="312234"/>
          </a:xfrm>
          <a:prstGeom prst="rect">
            <a:avLst/>
          </a:prstGeom>
          <a:solidFill>
            <a:schemeClr val="bg1"/>
          </a:solidFill>
          <a:ln>
            <a:solidFill>
              <a:schemeClr val="tx1"/>
            </a:solidFill>
          </a:ln>
        </p:spPr>
        <p:txBody>
          <a:bodyPr wrap="square" lIns="36000" tIns="36000" rIns="36000" bIns="36000" rtlCol="0" anchor="ctr" anchorCtr="0">
            <a:noAutofit/>
          </a:bodyPr>
          <a:lstStyle/>
          <a:p>
            <a:pPr algn="ctr"/>
            <a:r>
              <a:rPr lang="en-US" altLang="ja-JP" sz="1200" dirty="0">
                <a:solidFill>
                  <a:srgbClr val="0070C0"/>
                </a:solidFill>
                <a:latin typeface="游ゴシック" panose="020B0400000000000000" pitchFamily="50" charset="-128"/>
                <a:ea typeface="游ゴシック" panose="020B0400000000000000" pitchFamily="50" charset="-128"/>
              </a:rPr>
              <a:t>7</a:t>
            </a:r>
            <a:r>
              <a:rPr lang="ja-JP" altLang="en-US" sz="1200" dirty="0">
                <a:solidFill>
                  <a:srgbClr val="0070C0"/>
                </a:solidFill>
                <a:latin typeface="游ゴシック" panose="020B0400000000000000" pitchFamily="50" charset="-128"/>
                <a:ea typeface="游ゴシック" panose="020B0400000000000000" pitchFamily="50" charset="-128"/>
              </a:rPr>
              <a:t>線材・第</a:t>
            </a:r>
            <a:r>
              <a:rPr lang="en-US" altLang="ja-JP" sz="1200" dirty="0">
                <a:solidFill>
                  <a:srgbClr val="0070C0"/>
                </a:solidFill>
                <a:latin typeface="游ゴシック" panose="020B0400000000000000" pitchFamily="50" charset="-128"/>
                <a:ea typeface="游ゴシック" panose="020B0400000000000000" pitchFamily="50" charset="-128"/>
              </a:rPr>
              <a:t>3</a:t>
            </a:r>
            <a:r>
              <a:rPr lang="ja-JP" altLang="en-US" sz="1200" dirty="0">
                <a:solidFill>
                  <a:srgbClr val="0070C0"/>
                </a:solidFill>
                <a:latin typeface="游ゴシック" panose="020B0400000000000000" pitchFamily="50" charset="-128"/>
                <a:ea typeface="游ゴシック" panose="020B0400000000000000" pitchFamily="50" charset="-128"/>
              </a:rPr>
              <a:t>加工工場</a:t>
            </a:r>
            <a:endParaRPr kumimoji="1" lang="ja-JP" altLang="en-US" sz="1200" dirty="0">
              <a:solidFill>
                <a:srgbClr val="0070C0"/>
              </a:solidFill>
              <a:latin typeface="游ゴシック" panose="020B0400000000000000" pitchFamily="50" charset="-128"/>
              <a:ea typeface="游ゴシック" panose="020B0400000000000000" pitchFamily="50" charset="-128"/>
            </a:endParaRPr>
          </a:p>
        </p:txBody>
      </p:sp>
      <p:pic>
        <p:nvPicPr>
          <p:cNvPr id="28" name="図 27">
            <a:extLst>
              <a:ext uri="{FF2B5EF4-FFF2-40B4-BE49-F238E27FC236}">
                <a16:creationId xmlns:a16="http://schemas.microsoft.com/office/drawing/2014/main" id="{70DF8C41-6498-44DB-B4A4-CC1F0804429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198066" y="3714524"/>
            <a:ext cx="1263650" cy="2098676"/>
          </a:xfrm>
          <a:prstGeom prst="rect">
            <a:avLst/>
          </a:prstGeom>
          <a:ln>
            <a:solidFill>
              <a:schemeClr val="tx1"/>
            </a:solidFill>
          </a:ln>
        </p:spPr>
      </p:pic>
      <p:pic>
        <p:nvPicPr>
          <p:cNvPr id="5" name="図 4">
            <a:extLst>
              <a:ext uri="{FF2B5EF4-FFF2-40B4-BE49-F238E27FC236}">
                <a16:creationId xmlns:a16="http://schemas.microsoft.com/office/drawing/2014/main" id="{1991C90C-6F58-4EE5-BACC-EDACA1081010}"/>
              </a:ext>
            </a:extLst>
          </p:cNvPr>
          <p:cNvPicPr>
            <a:picLocks noChangeAspect="1"/>
          </p:cNvPicPr>
          <p:nvPr/>
        </p:nvPicPr>
        <p:blipFill>
          <a:blip r:embed="rId4"/>
          <a:stretch>
            <a:fillRect/>
          </a:stretch>
        </p:blipFill>
        <p:spPr>
          <a:xfrm>
            <a:off x="9976193" y="541054"/>
            <a:ext cx="8736950" cy="6048658"/>
          </a:xfrm>
          <a:prstGeom prst="rect">
            <a:avLst/>
          </a:prstGeom>
        </p:spPr>
      </p:pic>
    </p:spTree>
    <p:extLst>
      <p:ext uri="{BB962C8B-B14F-4D97-AF65-F5344CB8AC3E}">
        <p14:creationId xmlns:p14="http://schemas.microsoft.com/office/powerpoint/2010/main" val="42158013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a:extLst>
              <a:ext uri="{FF2B5EF4-FFF2-40B4-BE49-F238E27FC236}">
                <a16:creationId xmlns:a16="http://schemas.microsoft.com/office/drawing/2014/main" id="{64A4A2E1-618C-4B9B-A62A-0A634C285844}"/>
              </a:ext>
            </a:extLst>
          </p:cNvPr>
          <p:cNvGrpSpPr/>
          <p:nvPr/>
        </p:nvGrpSpPr>
        <p:grpSpPr>
          <a:xfrm>
            <a:off x="360000" y="370800"/>
            <a:ext cx="720000" cy="672000"/>
            <a:chOff x="360000" y="370800"/>
            <a:chExt cx="720000" cy="672000"/>
          </a:xfrm>
        </p:grpSpPr>
        <p:sp>
          <p:nvSpPr>
            <p:cNvPr id="4" name="正方形/長方形 3">
              <a:extLst>
                <a:ext uri="{FF2B5EF4-FFF2-40B4-BE49-F238E27FC236}">
                  <a16:creationId xmlns:a16="http://schemas.microsoft.com/office/drawing/2014/main" id="{6E0F503F-C620-46A8-A628-BCE1CF027907}"/>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5" name="テキスト ボックス 4">
              <a:extLst>
                <a:ext uri="{FF2B5EF4-FFF2-40B4-BE49-F238E27FC236}">
                  <a16:creationId xmlns:a16="http://schemas.microsoft.com/office/drawing/2014/main" id="{568070EA-6547-4B6A-95A6-20038ACAF34C}"/>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6</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
        <p:nvSpPr>
          <p:cNvPr id="6" name="テキスト ボックス 5">
            <a:extLst>
              <a:ext uri="{FF2B5EF4-FFF2-40B4-BE49-F238E27FC236}">
                <a16:creationId xmlns:a16="http://schemas.microsoft.com/office/drawing/2014/main" id="{C2EA83A9-6673-40E1-9F58-B18B8AA5378F}"/>
              </a:ext>
            </a:extLst>
          </p:cNvPr>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水災被害想定｜</a:t>
            </a:r>
            <a:r>
              <a:rPr lang="ja-JP" altLang="en-US" sz="2000" dirty="0">
                <a:latin typeface="游ゴシック" panose="020B0400000000000000" pitchFamily="50" charset="-128"/>
                <a:ea typeface="游ゴシック" panose="020B0400000000000000" pitchFamily="50" charset="-128"/>
              </a:rPr>
              <a:t>③算出結果</a:t>
            </a:r>
            <a:endParaRPr lang="ja-JP" altLang="en-US" sz="3600" dirty="0">
              <a:latin typeface="游ゴシック" panose="020B0400000000000000" pitchFamily="50" charset="-128"/>
              <a:ea typeface="游ゴシック" panose="020B0400000000000000" pitchFamily="50" charset="-128"/>
            </a:endParaRPr>
          </a:p>
        </p:txBody>
      </p:sp>
      <p:sp>
        <p:nvSpPr>
          <p:cNvPr id="12" name="スライド番号プレースホルダー 5">
            <a:extLst>
              <a:ext uri="{FF2B5EF4-FFF2-40B4-BE49-F238E27FC236}">
                <a16:creationId xmlns:a16="http://schemas.microsoft.com/office/drawing/2014/main" id="{6B66800C-97CE-4C29-B2F5-2A6F7F8B8064}"/>
              </a:ext>
            </a:extLst>
          </p:cNvPr>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37</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14" name="テキスト ボックス 13">
            <a:extLst>
              <a:ext uri="{FF2B5EF4-FFF2-40B4-BE49-F238E27FC236}">
                <a16:creationId xmlns:a16="http://schemas.microsoft.com/office/drawing/2014/main" id="{B79A272E-71D2-4B0C-9DE9-E913B549BED1}"/>
              </a:ext>
            </a:extLst>
          </p:cNvPr>
          <p:cNvSpPr txBox="1"/>
          <p:nvPr/>
        </p:nvSpPr>
        <p:spPr>
          <a:xfrm>
            <a:off x="359825" y="1164817"/>
            <a:ext cx="8787920" cy="215444"/>
          </a:xfrm>
          <a:prstGeom prst="rect">
            <a:avLst/>
          </a:prstGeom>
          <a:solidFill>
            <a:schemeClr val="bg1"/>
          </a:solidFill>
          <a:ln>
            <a:noFill/>
          </a:ln>
        </p:spPr>
        <p:txBody>
          <a:bodyPr wrap="square" lIns="0" tIns="0" rIns="0" bIns="0" rtlCol="0" anchor="ctr" anchorCtr="0">
            <a:spAutoFit/>
          </a:bodyPr>
          <a:lstStyle/>
          <a:p>
            <a:r>
              <a:rPr lang="ja-JP" altLang="en-US" sz="1400" dirty="0">
                <a:latin typeface="游ゴシック" panose="020B0400000000000000" pitchFamily="50" charset="-128"/>
                <a:ea typeface="游ゴシック" panose="020B0400000000000000" pitchFamily="50" charset="-128"/>
              </a:rPr>
              <a:t>■</a:t>
            </a:r>
            <a:r>
              <a:rPr lang="ja-JP" altLang="en-US" sz="1400" b="1" dirty="0">
                <a:latin typeface="游ゴシック" panose="020B0400000000000000" pitchFamily="50" charset="-128"/>
                <a:ea typeface="游ゴシック" panose="020B0400000000000000" pitchFamily="50" charset="-128"/>
              </a:rPr>
              <a:t>算出結果</a:t>
            </a:r>
            <a:endParaRPr lang="en-US" altLang="ja-JP" sz="1400" b="1" dirty="0">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40EDB39A-B973-490B-B346-D166CAA84E96}"/>
              </a:ext>
            </a:extLst>
          </p:cNvPr>
          <p:cNvSpPr txBox="1"/>
          <p:nvPr/>
        </p:nvSpPr>
        <p:spPr>
          <a:xfrm>
            <a:off x="359825" y="1350209"/>
            <a:ext cx="9180000" cy="246271"/>
          </a:xfrm>
          <a:prstGeom prst="rect">
            <a:avLst/>
          </a:prstGeom>
          <a:noFill/>
          <a:ln w="22225">
            <a:noFill/>
          </a:ln>
        </p:spPr>
        <p:txBody>
          <a:bodyPr wrap="square" lIns="90000" tIns="46800" rIns="90000" bIns="46800" rtlCol="0" anchor="t" anchorCtr="0">
            <a:noAutofit/>
          </a:bodyPr>
          <a:lstStyle/>
          <a:p>
            <a:pPr marL="87312" lvl="0" defTabSz="457200" fontAlgn="auto">
              <a:spcBef>
                <a:spcPts val="300"/>
              </a:spcBef>
              <a:spcAft>
                <a:spcPts val="0"/>
              </a:spcAft>
              <a:defRPr/>
            </a:pPr>
            <a:r>
              <a:rPr lang="ja-JP" altLang="en-US" sz="1400" dirty="0">
                <a:solidFill>
                  <a:prstClr val="black"/>
                </a:solidFill>
                <a:latin typeface="游ゴシック" panose="020B0400000000000000" pitchFamily="50" charset="-128"/>
                <a:ea typeface="游ゴシック" panose="020B0400000000000000" pitchFamily="50" charset="-128"/>
              </a:rPr>
              <a:t>水災被害想定額の算出結果は下表のとおりです。</a:t>
            </a:r>
            <a:endParaRPr kumimoji="0" lang="ja-JP" altLang="en-US" sz="1400" b="0" dirty="0">
              <a:solidFill>
                <a:prstClr val="black"/>
              </a:solidFill>
              <a:latin typeface="游ゴシック" panose="020B0400000000000000" pitchFamily="50" charset="-128"/>
              <a:ea typeface="游ゴシック" panose="020B0400000000000000" pitchFamily="50" charset="-128"/>
            </a:endParaRPr>
          </a:p>
        </p:txBody>
      </p:sp>
      <p:sp>
        <p:nvSpPr>
          <p:cNvPr id="16" name="コンテンツ プレースホルダ 2">
            <a:extLst>
              <a:ext uri="{FF2B5EF4-FFF2-40B4-BE49-F238E27FC236}">
                <a16:creationId xmlns:a16="http://schemas.microsoft.com/office/drawing/2014/main" id="{3378EE29-87C9-481B-9246-E27F9D470EA0}"/>
              </a:ext>
            </a:extLst>
          </p:cNvPr>
          <p:cNvSpPr txBox="1">
            <a:spLocks/>
          </p:cNvSpPr>
          <p:nvPr/>
        </p:nvSpPr>
        <p:spPr bwMode="auto">
          <a:xfrm>
            <a:off x="260021" y="5955564"/>
            <a:ext cx="9379607" cy="438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EA0A1"/>
              </a:buClr>
              <a:buSzPct val="110000"/>
              <a:buFont typeface="Wingdings" pitchFamily="2" charset="2"/>
              <a:buChar char="n"/>
              <a:defRPr kumimoji="1" sz="1200">
                <a:solidFill>
                  <a:schemeClr val="tx1"/>
                </a:solidFill>
                <a:latin typeface="Arial" charset="0"/>
                <a:ea typeface="ＭＳ Ｐゴシック" pitchFamily="50" charset="-128"/>
              </a:defRPr>
            </a:lvl1pPr>
            <a:lvl2pPr marL="742950" indent="-285750" eaLnBrk="0" hangingPunct="0">
              <a:spcBef>
                <a:spcPct val="20000"/>
              </a:spcBef>
              <a:buClr>
                <a:srgbClr val="9EA0A1"/>
              </a:buClr>
              <a:buSzPct val="120000"/>
              <a:buFont typeface="Arial" charset="0"/>
              <a:buChar char="»"/>
              <a:defRPr kumimoji="1" sz="1200">
                <a:solidFill>
                  <a:schemeClr val="tx1"/>
                </a:solidFill>
                <a:latin typeface="Arial" charset="0"/>
                <a:ea typeface="ＭＳ Ｐゴシック" pitchFamily="50" charset="-128"/>
              </a:defRPr>
            </a:lvl2pPr>
            <a:lvl3pPr marL="1143000" indent="-228600" eaLnBrk="0" hangingPunct="0">
              <a:spcBef>
                <a:spcPct val="20000"/>
              </a:spcBef>
              <a:buClr>
                <a:srgbClr val="9EA0A1"/>
              </a:buClr>
              <a:buFont typeface="Arial" charset="0"/>
              <a:buChar char="-"/>
              <a:defRPr kumimoji="1" sz="1200">
                <a:solidFill>
                  <a:schemeClr val="tx1"/>
                </a:solidFill>
                <a:latin typeface="Arial" charset="0"/>
                <a:ea typeface="ＭＳ Ｐゴシック" pitchFamily="50" charset="-128"/>
              </a:defRPr>
            </a:lvl3pPr>
            <a:lvl4pPr marL="1600200" indent="-228600" eaLnBrk="0" hangingPunct="0">
              <a:spcBef>
                <a:spcPct val="20000"/>
              </a:spcBef>
              <a:buClr>
                <a:srgbClr val="9EA0A1"/>
              </a:buClr>
              <a:buFont typeface="Arial" charset="0"/>
              <a:buChar char="-"/>
              <a:defRPr kumimoji="1" sz="1200">
                <a:solidFill>
                  <a:schemeClr val="tx1"/>
                </a:solidFill>
                <a:latin typeface="Arial" charset="0"/>
                <a:ea typeface="ＭＳ Ｐゴシック" pitchFamily="50" charset="-128"/>
              </a:defRPr>
            </a:lvl4pPr>
            <a:lvl5pPr marL="2057400" indent="-228600" eaLnBrk="0" hangingPunct="0">
              <a:spcBef>
                <a:spcPct val="20000"/>
              </a:spcBef>
              <a:buClr>
                <a:srgbClr val="9EA0A1"/>
              </a:buClr>
              <a:buFont typeface="Arial" charset="0"/>
              <a:buChar char="-"/>
              <a:defRPr kumimoji="1" sz="1200">
                <a:solidFill>
                  <a:schemeClr val="tx1"/>
                </a:solidFill>
                <a:latin typeface="Arial" charset="0"/>
                <a:ea typeface="ＭＳ Ｐゴシック" pitchFamily="50" charset="-128"/>
              </a:defRPr>
            </a:lvl5pPr>
            <a:lvl6pPr marL="25146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pitchFamily="50" charset="-128"/>
              </a:defRPr>
            </a:lvl6pPr>
            <a:lvl7pPr marL="29718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pitchFamily="50" charset="-128"/>
              </a:defRPr>
            </a:lvl7pPr>
            <a:lvl8pPr marL="34290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pitchFamily="50" charset="-128"/>
              </a:defRPr>
            </a:lvl8pPr>
            <a:lvl9pPr marL="3886200" indent="-228600" eaLnBrk="0" fontAlgn="base" hangingPunct="0">
              <a:spcBef>
                <a:spcPct val="20000"/>
              </a:spcBef>
              <a:spcAft>
                <a:spcPct val="0"/>
              </a:spcAft>
              <a:buClr>
                <a:srgbClr val="9EA0A1"/>
              </a:buClr>
              <a:buFont typeface="Arial" charset="0"/>
              <a:buChar char="-"/>
              <a:defRPr kumimoji="1" sz="1200">
                <a:solidFill>
                  <a:schemeClr val="tx1"/>
                </a:solidFill>
                <a:latin typeface="Arial" charset="0"/>
                <a:ea typeface="ＭＳ Ｐゴシック" pitchFamily="50" charset="-128"/>
              </a:defRPr>
            </a:lvl9pPr>
          </a:lstStyle>
          <a:p>
            <a:pPr marL="171450" indent="-171450">
              <a:buClrTx/>
              <a:buSzPct val="90000"/>
              <a:buFont typeface="ＭＳ 明朝" panose="02020609040205080304" pitchFamily="17" charset="-128"/>
              <a:buChar char="※"/>
            </a:pPr>
            <a:r>
              <a:rPr lang="ja-JP" altLang="en-US" sz="900" dirty="0">
                <a:latin typeface="游ゴシック" panose="020B0400000000000000" pitchFamily="50" charset="-128"/>
                <a:ea typeface="游ゴシック" panose="020B0400000000000000" pitchFamily="50" charset="-128"/>
              </a:rPr>
              <a:t>「浸水深１」を想定した被害額を「被害想定額１」、 「浸水深２」を想定した被害額を「被害想定額２」として示します。</a:t>
            </a:r>
            <a:endParaRPr lang="en-US" altLang="ja-JP" sz="900" dirty="0">
              <a:latin typeface="游ゴシック" panose="020B0400000000000000" pitchFamily="50" charset="-128"/>
              <a:ea typeface="游ゴシック" panose="020B0400000000000000" pitchFamily="50" charset="-128"/>
            </a:endParaRPr>
          </a:p>
          <a:p>
            <a:pPr marL="171450" indent="-171450">
              <a:buClrTx/>
              <a:buSzPct val="90000"/>
              <a:buFont typeface="ＭＳ 明朝" panose="02020609040205080304" pitchFamily="17" charset="-128"/>
              <a:buChar char="※"/>
            </a:pPr>
            <a:r>
              <a:rPr lang="ja-JP" altLang="en-US" sz="900" dirty="0">
                <a:latin typeface="游ゴシック" panose="020B0400000000000000" pitchFamily="50" charset="-128"/>
                <a:ea typeface="游ゴシック" panose="020B0400000000000000" pitchFamily="50" charset="-128"/>
              </a:rPr>
              <a:t>被害想定額は十万円の位を四捨五入して表示しています。合計の被害想定額と内訳の被害想定額の和が一致しないことがあります。</a:t>
            </a:r>
            <a:endParaRPr lang="en-US" altLang="ja-JP" sz="900" dirty="0">
              <a:latin typeface="游ゴシック" panose="020B0400000000000000" pitchFamily="50" charset="-128"/>
              <a:ea typeface="游ゴシック" panose="020B0400000000000000" pitchFamily="50" charset="-128"/>
            </a:endParaRPr>
          </a:p>
          <a:p>
            <a:pPr marL="171450" indent="-171450">
              <a:buClrTx/>
              <a:buSzPct val="90000"/>
              <a:buFont typeface="ＭＳ 明朝" panose="02020609040205080304" pitchFamily="17" charset="-128"/>
              <a:buChar char="※"/>
            </a:pPr>
            <a:r>
              <a:rPr lang="ja-JP" altLang="en-US" sz="900" dirty="0">
                <a:latin typeface="游ゴシック" panose="020B0400000000000000" pitchFamily="50" charset="-128"/>
                <a:ea typeface="游ゴシック" panose="020B0400000000000000" pitchFamily="50" charset="-128"/>
              </a:rPr>
              <a:t>被害率は、再調達価額に対する被害想定額の割合です。</a:t>
            </a:r>
          </a:p>
        </p:txBody>
      </p:sp>
      <p:graphicFrame>
        <p:nvGraphicFramePr>
          <p:cNvPr id="2" name="表 1">
            <a:extLst>
              <a:ext uri="{FF2B5EF4-FFF2-40B4-BE49-F238E27FC236}">
                <a16:creationId xmlns:a16="http://schemas.microsoft.com/office/drawing/2014/main" id="{D20822D5-891C-4528-A332-1F3E3A264CAC}"/>
              </a:ext>
            </a:extLst>
          </p:cNvPr>
          <p:cNvGraphicFramePr>
            <a:graphicFrameLocks noGrp="1"/>
          </p:cNvGraphicFramePr>
          <p:nvPr>
            <p:extLst>
              <p:ext uri="{D42A27DB-BD31-4B8C-83A1-F6EECF244321}">
                <p14:modId xmlns:p14="http://schemas.microsoft.com/office/powerpoint/2010/main" val="562003914"/>
              </p:ext>
            </p:extLst>
          </p:nvPr>
        </p:nvGraphicFramePr>
        <p:xfrm>
          <a:off x="1291336" y="1781872"/>
          <a:ext cx="7637406" cy="2243974"/>
        </p:xfrm>
        <a:graphic>
          <a:graphicData uri="http://schemas.openxmlformats.org/drawingml/2006/table">
            <a:tbl>
              <a:tblPr/>
              <a:tblGrid>
                <a:gridCol w="3210520">
                  <a:extLst>
                    <a:ext uri="{9D8B030D-6E8A-4147-A177-3AD203B41FA5}">
                      <a16:colId xmlns:a16="http://schemas.microsoft.com/office/drawing/2014/main" val="1426455674"/>
                    </a:ext>
                  </a:extLst>
                </a:gridCol>
                <a:gridCol w="691539">
                  <a:extLst>
                    <a:ext uri="{9D8B030D-6E8A-4147-A177-3AD203B41FA5}">
                      <a16:colId xmlns:a16="http://schemas.microsoft.com/office/drawing/2014/main" val="1046554636"/>
                    </a:ext>
                  </a:extLst>
                </a:gridCol>
                <a:gridCol w="691539">
                  <a:extLst>
                    <a:ext uri="{9D8B030D-6E8A-4147-A177-3AD203B41FA5}">
                      <a16:colId xmlns:a16="http://schemas.microsoft.com/office/drawing/2014/main" val="2401224683"/>
                    </a:ext>
                  </a:extLst>
                </a:gridCol>
                <a:gridCol w="906277">
                  <a:extLst>
                    <a:ext uri="{9D8B030D-6E8A-4147-A177-3AD203B41FA5}">
                      <a16:colId xmlns:a16="http://schemas.microsoft.com/office/drawing/2014/main" val="214709393"/>
                    </a:ext>
                  </a:extLst>
                </a:gridCol>
                <a:gridCol w="615627">
                  <a:extLst>
                    <a:ext uri="{9D8B030D-6E8A-4147-A177-3AD203B41FA5}">
                      <a16:colId xmlns:a16="http://schemas.microsoft.com/office/drawing/2014/main" val="2110922500"/>
                    </a:ext>
                  </a:extLst>
                </a:gridCol>
                <a:gridCol w="906277">
                  <a:extLst>
                    <a:ext uri="{9D8B030D-6E8A-4147-A177-3AD203B41FA5}">
                      <a16:colId xmlns:a16="http://schemas.microsoft.com/office/drawing/2014/main" val="2611488638"/>
                    </a:ext>
                  </a:extLst>
                </a:gridCol>
                <a:gridCol w="615627">
                  <a:extLst>
                    <a:ext uri="{9D8B030D-6E8A-4147-A177-3AD203B41FA5}">
                      <a16:colId xmlns:a16="http://schemas.microsoft.com/office/drawing/2014/main" val="308410533"/>
                    </a:ext>
                  </a:extLst>
                </a:gridCol>
              </a:tblGrid>
              <a:tr h="439702">
                <a:tc>
                  <a:txBody>
                    <a:bodyPr/>
                    <a:lstStyle/>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建物名</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ctr" rtl="0" fontAlgn="ctr"/>
                      <a:r>
                        <a:rPr lang="ja-JP" altLang="en-US" sz="1050" b="0" i="0" u="none" strike="noStrike">
                          <a:solidFill>
                            <a:srgbClr val="000000"/>
                          </a:solidFill>
                          <a:effectLst/>
                          <a:latin typeface="游ゴシック" panose="020B0400000000000000" pitchFamily="50" charset="-128"/>
                          <a:ea typeface="游ゴシック" panose="020B0400000000000000" pitchFamily="50" charset="-128"/>
                        </a:rPr>
                        <a:t>浸水深１</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ctr" rtl="0" fontAlgn="ctr"/>
                      <a:r>
                        <a:rPr lang="ja-JP" altLang="en-US" sz="1050" b="0" i="0" u="none" strike="noStrike">
                          <a:solidFill>
                            <a:srgbClr val="000000"/>
                          </a:solidFill>
                          <a:effectLst/>
                          <a:latin typeface="游ゴシック" panose="020B0400000000000000" pitchFamily="50" charset="-128"/>
                          <a:ea typeface="游ゴシック" panose="020B0400000000000000" pitchFamily="50" charset="-128"/>
                        </a:rPr>
                        <a:t>浸水深２</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ctr" rtl="0" fontAlgn="ctr"/>
                      <a:r>
                        <a:rPr lang="zh-TW" altLang="en-US" sz="1050" b="0" i="0" u="none" strike="noStrike" dirty="0">
                          <a:solidFill>
                            <a:srgbClr val="000000"/>
                          </a:solidFill>
                          <a:effectLst/>
                          <a:latin typeface="游ゴシック" panose="020B0400000000000000" pitchFamily="50" charset="-128"/>
                          <a:ea typeface="游ゴシック" panose="020B0400000000000000" pitchFamily="50" charset="-128"/>
                        </a:rPr>
                        <a:t>被害想定額</a:t>
                      </a:r>
                      <a:endParaRPr lang="en-US" altLang="zh-TW" sz="105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浸水深</a:t>
                      </a:r>
                      <a:r>
                        <a:rPr lang="zh-TW" altLang="en-US" sz="1050" b="0" i="0" u="none" strike="noStrike" dirty="0">
                          <a:solidFill>
                            <a:srgbClr val="000000"/>
                          </a:solidFill>
                          <a:effectLst/>
                          <a:latin typeface="游ゴシック" panose="020B0400000000000000" pitchFamily="50" charset="-128"/>
                          <a:ea typeface="游ゴシック" panose="020B0400000000000000" pitchFamily="50" charset="-128"/>
                        </a:rPr>
                        <a:t>１</a:t>
                      </a:r>
                      <a:endParaRPr lang="en-US" altLang="zh-TW" sz="105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en-US" altLang="zh-TW" sz="105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千円</a:t>
                      </a:r>
                      <a:r>
                        <a:rPr lang="en-US" altLang="ja-JP" sz="105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zh-TW" altLang="en-US" sz="105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被害率</a:t>
                      </a:r>
                      <a:endParaRPr lang="en-US" altLang="ja-JP" sz="105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浸水深１</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ctr" rtl="0" fontAlgn="ctr"/>
                      <a:r>
                        <a:rPr lang="zh-TW" altLang="en-US" sz="1050" b="0" i="0" u="none" strike="noStrike" dirty="0">
                          <a:solidFill>
                            <a:srgbClr val="000000"/>
                          </a:solidFill>
                          <a:effectLst/>
                          <a:latin typeface="游ゴシック" panose="020B0400000000000000" pitchFamily="50" charset="-128"/>
                          <a:ea typeface="游ゴシック" panose="020B0400000000000000" pitchFamily="50" charset="-128"/>
                        </a:rPr>
                        <a:t>被害想定額</a:t>
                      </a:r>
                      <a:endParaRPr lang="en-US" altLang="zh-TW" sz="105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浸水深</a:t>
                      </a:r>
                      <a:r>
                        <a:rPr lang="zh-TW" altLang="en-US" sz="1050" b="0" i="0" u="none" strike="noStrike" dirty="0">
                          <a:solidFill>
                            <a:srgbClr val="000000"/>
                          </a:solidFill>
                          <a:effectLst/>
                          <a:latin typeface="游ゴシック" panose="020B0400000000000000" pitchFamily="50" charset="-128"/>
                          <a:ea typeface="游ゴシック" panose="020B0400000000000000" pitchFamily="50" charset="-128"/>
                        </a:rPr>
                        <a:t>２</a:t>
                      </a:r>
                      <a:endParaRPr lang="en-US" altLang="zh-TW" sz="1050" b="0" i="0" u="none" strike="noStrike" dirty="0">
                        <a:solidFill>
                          <a:srgbClr val="000000"/>
                        </a:solidFill>
                        <a:effectLst/>
                        <a:latin typeface="游ゴシック" panose="020B0400000000000000" pitchFamily="50" charset="-128"/>
                        <a:ea typeface="游ゴシック" panose="020B0400000000000000" pitchFamily="50" charset="-128"/>
                      </a:endParaRPr>
                    </a:p>
                    <a:p>
                      <a:pPr marL="0" marR="0" lvl="0" indent="0" algn="ctr" defTabSz="913851" rtl="0" eaLnBrk="1" fontAlgn="ctr" latinLnBrk="0" hangingPunct="1">
                        <a:lnSpc>
                          <a:spcPct val="100000"/>
                        </a:lnSpc>
                        <a:spcBef>
                          <a:spcPts val="0"/>
                        </a:spcBef>
                        <a:spcAft>
                          <a:spcPts val="0"/>
                        </a:spcAft>
                        <a:buClrTx/>
                        <a:buSzTx/>
                        <a:buFontTx/>
                        <a:buNone/>
                        <a:tabLst/>
                        <a:defRPr/>
                      </a:pPr>
                      <a:r>
                        <a:rPr lang="en-US" altLang="zh-TW" sz="105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千円</a:t>
                      </a:r>
                      <a:r>
                        <a:rPr lang="en-US" altLang="ja-JP" sz="105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zh-TW" altLang="en-US" sz="105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被害率</a:t>
                      </a:r>
                      <a:endParaRPr lang="en-US" altLang="ja-JP" sz="105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浸水深２</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extLst>
                  <a:ext uri="{0D108BD9-81ED-4DB2-BD59-A6C34878D82A}">
                    <a16:rowId xmlns:a16="http://schemas.microsoft.com/office/drawing/2014/main" val="108226593"/>
                  </a:ext>
                </a:extLst>
              </a:tr>
              <a:tr h="439702">
                <a:tc>
                  <a:txBody>
                    <a:bodyPr/>
                    <a:lstStyle/>
                    <a:p>
                      <a:pPr algn="l" fontAlgn="ctr"/>
                      <a:r>
                        <a:rPr lang="en-US" altLang="ja-JP" sz="1400" b="0" i="0" u="none" strike="noStrike" dirty="0">
                          <a:solidFill>
                            <a:srgbClr val="000000"/>
                          </a:solidFill>
                          <a:effectLst/>
                          <a:latin typeface="+mn-ea"/>
                          <a:ea typeface="+mn-ea"/>
                        </a:rPr>
                        <a:t>3</a:t>
                      </a:r>
                      <a:r>
                        <a:rPr lang="ja-JP" altLang="en-US" sz="1400" b="0" i="0" u="none" strike="noStrike" dirty="0">
                          <a:solidFill>
                            <a:srgbClr val="000000"/>
                          </a:solidFill>
                          <a:effectLst/>
                          <a:latin typeface="+mn-ea"/>
                          <a:ea typeface="+mn-ea"/>
                        </a:rPr>
                        <a:t>分塊・第</a:t>
                      </a:r>
                      <a:r>
                        <a:rPr lang="en-US" altLang="ja-JP" sz="1400" b="0" i="0" u="none" strike="noStrike" dirty="0">
                          <a:solidFill>
                            <a:srgbClr val="000000"/>
                          </a:solidFill>
                          <a:effectLst/>
                          <a:latin typeface="+mn-ea"/>
                          <a:ea typeface="+mn-ea"/>
                        </a:rPr>
                        <a:t>1</a:t>
                      </a:r>
                      <a:r>
                        <a:rPr lang="ja-JP" altLang="en-US" sz="1400" b="0" i="0" u="none" strike="noStrike" dirty="0">
                          <a:solidFill>
                            <a:srgbClr val="000000"/>
                          </a:solidFill>
                          <a:effectLst/>
                          <a:latin typeface="+mn-ea"/>
                          <a:ea typeface="+mn-ea"/>
                        </a:rPr>
                        <a:t>加工工場</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r" rtl="0" fontAlgn="ctr"/>
                      <a:r>
                        <a:rPr lang="en-US" sz="1050" b="0" i="0" u="none" strike="noStrike" dirty="0">
                          <a:solidFill>
                            <a:srgbClr val="000000"/>
                          </a:solidFill>
                          <a:effectLst/>
                          <a:latin typeface="+mn-ea"/>
                          <a:ea typeface="+mn-ea"/>
                        </a:rPr>
                        <a:t>100cm</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sz="1050" b="0" i="0" u="none" strike="noStrike" dirty="0">
                          <a:solidFill>
                            <a:srgbClr val="000000"/>
                          </a:solidFill>
                          <a:effectLst/>
                          <a:latin typeface="+mn-ea"/>
                          <a:ea typeface="+mn-ea"/>
                        </a:rPr>
                        <a:t>300cm</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10,100,523</a:t>
                      </a:r>
                    </a:p>
                    <a:p>
                      <a:pPr algn="r" fontAlgn="b"/>
                      <a:endParaRPr lang="en-US" altLang="ja-JP" sz="1100" b="0" i="0" u="none" strike="noStrike" dirty="0">
                        <a:effectLst/>
                        <a:latin typeface="+mn-ea"/>
                        <a:ea typeface="+mn-ea"/>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16.9%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ja-JP" sz="1100" b="0" i="0" u="none" strike="noStrike" dirty="0">
                          <a:solidFill>
                            <a:srgbClr val="000000"/>
                          </a:solidFill>
                          <a:effectLst/>
                          <a:latin typeface="+mn-ea"/>
                          <a:ea typeface="+mn-ea"/>
                        </a:rPr>
                        <a:t>15,732,096</a:t>
                      </a:r>
                    </a:p>
                    <a:p>
                      <a:pPr algn="r" rtl="0" fontAlgn="ctr"/>
                      <a:endParaRPr lang="ja-JP" altLang="en-US" sz="1100" b="0" i="0" u="none" strike="noStrike" dirty="0">
                        <a:solidFill>
                          <a:srgbClr val="000000"/>
                        </a:solidFill>
                        <a:effectLst/>
                        <a:latin typeface="+mn-ea"/>
                        <a:ea typeface="+mn-ea"/>
                      </a:endParaRPr>
                    </a:p>
                  </a:txBody>
                  <a:tcPr marL="5106" marR="5106" marT="51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26.3%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6398614"/>
                  </a:ext>
                </a:extLst>
              </a:tr>
              <a:tr h="439702">
                <a:tc>
                  <a:txBody>
                    <a:bodyPr/>
                    <a:lstStyle/>
                    <a:p>
                      <a:pPr algn="l" fontAlgn="ctr"/>
                      <a:r>
                        <a:rPr lang="ja-JP" altLang="en-US" sz="1400" b="0" i="0" u="none" strike="noStrike" dirty="0">
                          <a:solidFill>
                            <a:srgbClr val="000000"/>
                          </a:solidFill>
                          <a:effectLst/>
                          <a:latin typeface="+mn-ea"/>
                          <a:ea typeface="+mn-ea"/>
                        </a:rPr>
                        <a:t>棒鋼・棒加工工場</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r" rtl="0" fontAlgn="ctr"/>
                      <a:r>
                        <a:rPr lang="en-US" sz="1050" b="0" i="0" u="none" strike="noStrike" dirty="0">
                          <a:solidFill>
                            <a:srgbClr val="000000"/>
                          </a:solidFill>
                          <a:effectLst/>
                          <a:latin typeface="+mn-ea"/>
                          <a:ea typeface="+mn-ea"/>
                        </a:rPr>
                        <a:t>100cm</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sz="1050" b="0" i="0" u="none" strike="noStrike" dirty="0">
                          <a:solidFill>
                            <a:srgbClr val="000000"/>
                          </a:solidFill>
                          <a:effectLst/>
                          <a:latin typeface="+mn-ea"/>
                          <a:ea typeface="+mn-ea"/>
                        </a:rPr>
                        <a:t>300cm</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18,934,714</a:t>
                      </a:r>
                    </a:p>
                    <a:p>
                      <a:pPr algn="r" fontAlgn="b"/>
                      <a:endParaRPr lang="en-US" altLang="ja-JP" sz="1100" b="0" i="0" u="none" strike="noStrike" dirty="0">
                        <a:effectLst/>
                        <a:latin typeface="+mn-ea"/>
                        <a:ea typeface="+mn-ea"/>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44.8%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ja-JP" sz="1100" b="0" i="0" u="none" strike="noStrike" dirty="0">
                          <a:solidFill>
                            <a:srgbClr val="000000"/>
                          </a:solidFill>
                          <a:effectLst/>
                          <a:latin typeface="+mn-ea"/>
                          <a:ea typeface="+mn-ea"/>
                        </a:rPr>
                        <a:t>23,129,255</a:t>
                      </a:r>
                    </a:p>
                    <a:p>
                      <a:pPr algn="r" rtl="0" fontAlgn="ctr"/>
                      <a:endParaRPr lang="ja-JP" altLang="en-US" sz="1100" b="0" i="0" u="none" strike="noStrike" dirty="0">
                        <a:solidFill>
                          <a:srgbClr val="000000"/>
                        </a:solidFill>
                        <a:effectLst/>
                        <a:latin typeface="+mn-ea"/>
                        <a:ea typeface="+mn-ea"/>
                      </a:endParaRPr>
                    </a:p>
                  </a:txBody>
                  <a:tcPr marL="5106" marR="5106" marT="51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54.7%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3893055"/>
                  </a:ext>
                </a:extLst>
              </a:tr>
              <a:tr h="439702">
                <a:tc>
                  <a:txBody>
                    <a:bodyPr/>
                    <a:lstStyle/>
                    <a:p>
                      <a:pPr algn="l" fontAlgn="ctr"/>
                      <a:r>
                        <a:rPr lang="en-US" altLang="ja-JP" sz="1400" b="0" i="0" u="none" strike="noStrike" dirty="0">
                          <a:solidFill>
                            <a:srgbClr val="000000"/>
                          </a:solidFill>
                          <a:effectLst/>
                          <a:latin typeface="+mn-ea"/>
                          <a:ea typeface="+mn-ea"/>
                        </a:rPr>
                        <a:t>7</a:t>
                      </a:r>
                      <a:r>
                        <a:rPr lang="ja-JP" altLang="en-US" sz="1400" b="0" i="0" u="none" strike="noStrike" dirty="0">
                          <a:solidFill>
                            <a:srgbClr val="000000"/>
                          </a:solidFill>
                          <a:effectLst/>
                          <a:latin typeface="+mn-ea"/>
                          <a:ea typeface="+mn-ea"/>
                        </a:rPr>
                        <a:t>線材・第</a:t>
                      </a:r>
                      <a:r>
                        <a:rPr lang="en-US" altLang="ja-JP" sz="1400" b="0" i="0" u="none" strike="noStrike" dirty="0">
                          <a:solidFill>
                            <a:srgbClr val="000000"/>
                          </a:solidFill>
                          <a:effectLst/>
                          <a:latin typeface="+mn-ea"/>
                          <a:ea typeface="+mn-ea"/>
                        </a:rPr>
                        <a:t>3</a:t>
                      </a:r>
                      <a:r>
                        <a:rPr lang="ja-JP" altLang="en-US" sz="1400" b="0" i="0" u="none" strike="noStrike" dirty="0">
                          <a:solidFill>
                            <a:srgbClr val="000000"/>
                          </a:solidFill>
                          <a:effectLst/>
                          <a:latin typeface="+mn-ea"/>
                          <a:ea typeface="+mn-ea"/>
                        </a:rPr>
                        <a:t>加工工場</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a:txBody>
                    <a:bodyPr/>
                    <a:lstStyle/>
                    <a:p>
                      <a:pPr algn="r" rtl="0" fontAlgn="ctr"/>
                      <a:r>
                        <a:rPr lang="en-US" sz="1050" b="0" i="0" u="none" strike="noStrike" dirty="0">
                          <a:solidFill>
                            <a:srgbClr val="000000"/>
                          </a:solidFill>
                          <a:effectLst/>
                          <a:latin typeface="+mn-ea"/>
                          <a:ea typeface="+mn-ea"/>
                        </a:rPr>
                        <a:t>100cm</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sz="1050" b="0" i="0" u="none" strike="noStrike" dirty="0">
                          <a:solidFill>
                            <a:srgbClr val="000000"/>
                          </a:solidFill>
                          <a:effectLst/>
                          <a:latin typeface="+mn-ea"/>
                          <a:ea typeface="+mn-ea"/>
                        </a:rPr>
                        <a:t>300cm</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10,860,052</a:t>
                      </a:r>
                    </a:p>
                    <a:p>
                      <a:pPr algn="r" fontAlgn="b"/>
                      <a:endParaRPr lang="en-US" altLang="ja-JP" sz="1100" b="0" i="0" u="none" strike="noStrike" dirty="0">
                        <a:effectLst/>
                        <a:latin typeface="+mn-ea"/>
                        <a:ea typeface="+mn-ea"/>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44.5%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ja-JP" sz="1100" b="0" i="0" u="none" strike="noStrike" dirty="0">
                          <a:solidFill>
                            <a:srgbClr val="000000"/>
                          </a:solidFill>
                          <a:effectLst/>
                          <a:latin typeface="+mn-ea"/>
                          <a:ea typeface="+mn-ea"/>
                        </a:rPr>
                        <a:t>13,218,069</a:t>
                      </a:r>
                    </a:p>
                    <a:p>
                      <a:pPr algn="r" rtl="0" fontAlgn="ctr"/>
                      <a:endParaRPr lang="ja-JP" altLang="en-US" sz="1100" b="0" i="0" u="none" strike="noStrike" dirty="0">
                        <a:solidFill>
                          <a:srgbClr val="000000"/>
                        </a:solidFill>
                        <a:effectLst/>
                        <a:latin typeface="+mn-ea"/>
                        <a:ea typeface="+mn-ea"/>
                      </a:endParaRPr>
                    </a:p>
                  </a:txBody>
                  <a:tcPr marL="5106" marR="5106" marT="51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altLang="ja-JP" sz="1100" b="0" i="0" u="none" strike="noStrike" dirty="0">
                          <a:effectLst/>
                          <a:latin typeface="+mn-ea"/>
                          <a:ea typeface="+mn-ea"/>
                        </a:rPr>
                        <a:t>54.2%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3301841"/>
                  </a:ext>
                </a:extLst>
              </a:tr>
              <a:tr h="439702">
                <a:tc gridSpan="3">
                  <a:txBody>
                    <a:bodyPr/>
                    <a:lstStyle/>
                    <a:p>
                      <a:pPr algn="ctr" rtl="0" fontAlgn="ctr"/>
                      <a:r>
                        <a:rPr lang="ja-JP" altLang="en-US" sz="1050" b="1"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5106" marR="5106" marT="51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0DE"/>
                    </a:solidFill>
                  </a:tcPr>
                </a:tc>
                <a:tc hMerge="1">
                  <a:txBody>
                    <a:bodyPr/>
                    <a:lstStyle/>
                    <a:p>
                      <a:endParaRPr kumimoji="1" lang="ja-JP" altLang="en-US"/>
                    </a:p>
                  </a:txBody>
                  <a:tcPr/>
                </a:tc>
                <a:tc hMerge="1">
                  <a:txBody>
                    <a:bodyPr/>
                    <a:lstStyle/>
                    <a:p>
                      <a:endParaRPr kumimoji="1" lang="ja-JP" altLang="en-US"/>
                    </a:p>
                  </a:txBody>
                  <a:tcPr/>
                </a:tc>
                <a:tc>
                  <a:txBody>
                    <a:bodyPr/>
                    <a:lstStyle/>
                    <a:p>
                      <a:pPr algn="ctr" fontAlgn="ctr"/>
                      <a:r>
                        <a:rPr lang="en-US" altLang="ja-JP" sz="1100" b="1" i="0" u="none" strike="noStrike" dirty="0">
                          <a:effectLst/>
                          <a:latin typeface="+mn-ea"/>
                          <a:ea typeface="+mn-ea"/>
                        </a:rPr>
                        <a:t>39,895,289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1100" b="1" i="0" u="none" strike="noStrike" dirty="0">
                          <a:effectLst/>
                          <a:latin typeface="+mn-ea"/>
                          <a:ea typeface="+mn-ea"/>
                        </a:rPr>
                        <a:t>31.5%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1100" b="1" i="0" u="none" strike="noStrike" dirty="0">
                          <a:effectLst/>
                          <a:latin typeface="+mn-ea"/>
                          <a:ea typeface="+mn-ea"/>
                        </a:rPr>
                        <a:t>52,079,420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1100" b="1" i="0" u="none" strike="noStrike" dirty="0">
                          <a:effectLst/>
                          <a:latin typeface="+mn-ea"/>
                          <a:ea typeface="+mn-ea"/>
                        </a:rPr>
                        <a:t>41.2%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8830904"/>
                  </a:ext>
                </a:extLst>
              </a:tr>
            </a:tbl>
          </a:graphicData>
        </a:graphic>
      </p:graphicFrame>
    </p:spTree>
    <p:extLst>
      <p:ext uri="{BB962C8B-B14F-4D97-AF65-F5344CB8AC3E}">
        <p14:creationId xmlns:p14="http://schemas.microsoft.com/office/powerpoint/2010/main" val="15319826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lang="ja-JP" altLang="en-US" dirty="0">
                <a:effectLst>
                  <a:glow rad="190500">
                    <a:schemeClr val="bg1">
                      <a:alpha val="60000"/>
                    </a:schemeClr>
                  </a:glow>
                </a:effectLst>
              </a:rPr>
              <a:t>過去の保険金支払事故</a:t>
            </a:r>
            <a:endParaRPr kumimoji="1" lang="ja-JP" altLang="en-US" dirty="0">
              <a:effectLst>
                <a:glow rad="190500">
                  <a:schemeClr val="bg1">
                    <a:alpha val="60000"/>
                  </a:schemeClr>
                </a:glow>
              </a:effectLst>
            </a:endParaRPr>
          </a:p>
        </p:txBody>
      </p:sp>
      <p:sp>
        <p:nvSpPr>
          <p:cNvPr id="5" name="テキスト プレースホルダー 4"/>
          <p:cNvSpPr>
            <a:spLocks noGrp="1"/>
          </p:cNvSpPr>
          <p:nvPr>
            <p:ph type="body" sz="quarter" idx="11"/>
          </p:nvPr>
        </p:nvSpPr>
        <p:spPr/>
        <p:txBody>
          <a:bodyPr>
            <a:normAutofit/>
          </a:bodyPr>
          <a:lstStyle/>
          <a:p>
            <a:r>
              <a:rPr lang="en-US" altLang="ja-JP" dirty="0"/>
              <a:t>7</a:t>
            </a:r>
            <a:endParaRPr kumimoji="1" lang="ja-JP" altLang="en-US" dirty="0"/>
          </a:p>
        </p:txBody>
      </p:sp>
      <p:sp>
        <p:nvSpPr>
          <p:cNvPr id="7"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38</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7531028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過去の保険金支払事故｜</a:t>
            </a:r>
            <a:r>
              <a:rPr lang="ja-JP" altLang="en-US" sz="2000" dirty="0">
                <a:latin typeface="游ゴシック" panose="020B0400000000000000" pitchFamily="50" charset="-128"/>
                <a:ea typeface="游ゴシック" panose="020B0400000000000000" pitchFamily="50" charset="-128"/>
              </a:rPr>
              <a:t>①事故概要</a:t>
            </a:r>
            <a:endParaRPr lang="ja-JP" altLang="en-US" sz="3600" dirty="0">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39</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7" name="テキスト ボックス 7"/>
          <p:cNvSpPr txBox="1">
            <a:spLocks noChangeArrowheads="1"/>
          </p:cNvSpPr>
          <p:nvPr/>
        </p:nvSpPr>
        <p:spPr bwMode="auto">
          <a:xfrm>
            <a:off x="360000" y="1202661"/>
            <a:ext cx="9139464" cy="530880"/>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defRPr/>
            </a:pPr>
            <a:r>
              <a:rPr lang="ja-JP" altLang="en-US" sz="1400" dirty="0">
                <a:latin typeface="+mn-ea"/>
                <a:ea typeface="+mn-ea"/>
              </a:rPr>
              <a:t>貴社ご提供資料によると、過去の水災事故の損害額は下表のとおりです。</a:t>
            </a:r>
            <a:r>
              <a:rPr lang="en-US" altLang="ja-JP" sz="1400" dirty="0">
                <a:latin typeface="+mn-ea"/>
                <a:ea typeface="+mn-ea"/>
              </a:rPr>
              <a:t>2018</a:t>
            </a:r>
            <a:r>
              <a:rPr lang="ja-JP" altLang="en-US" sz="1400" dirty="0">
                <a:latin typeface="+mn-ea"/>
                <a:ea typeface="+mn-ea"/>
              </a:rPr>
              <a:t>年</a:t>
            </a:r>
            <a:r>
              <a:rPr lang="en-US" altLang="ja-JP" sz="1400" dirty="0">
                <a:latin typeface="+mn-ea"/>
                <a:ea typeface="+mn-ea"/>
              </a:rPr>
              <a:t>7</a:t>
            </a:r>
            <a:r>
              <a:rPr lang="ja-JP" altLang="en-US" sz="1400" dirty="0">
                <a:latin typeface="+mn-ea"/>
                <a:ea typeface="+mn-ea"/>
              </a:rPr>
              <a:t>月西日本豪雨ならび同年の台風</a:t>
            </a:r>
            <a:r>
              <a:rPr lang="en-US" altLang="ja-JP" sz="1400" dirty="0">
                <a:latin typeface="+mn-ea"/>
                <a:ea typeface="+mn-ea"/>
              </a:rPr>
              <a:t>20</a:t>
            </a:r>
            <a:r>
              <a:rPr lang="ja-JP" altLang="en-US" sz="1400" dirty="0">
                <a:latin typeface="+mn-ea"/>
                <a:ea typeface="+mn-ea"/>
              </a:rPr>
              <a:t>号</a:t>
            </a:r>
            <a:r>
              <a:rPr lang="en-US" altLang="ja-JP" sz="1400" dirty="0">
                <a:latin typeface="+mn-ea"/>
                <a:ea typeface="+mn-ea"/>
              </a:rPr>
              <a:t>21</a:t>
            </a:r>
            <a:r>
              <a:rPr lang="ja-JP" altLang="en-US" sz="1400" dirty="0">
                <a:latin typeface="+mn-ea"/>
                <a:ea typeface="+mn-ea"/>
              </a:rPr>
              <a:t>号によって</a:t>
            </a:r>
            <a:r>
              <a:rPr lang="en-US" altLang="ja-JP" sz="1400" dirty="0">
                <a:latin typeface="+mn-ea"/>
                <a:ea typeface="+mn-ea"/>
              </a:rPr>
              <a:t>7</a:t>
            </a:r>
            <a:r>
              <a:rPr lang="ja-JP" altLang="en-US" sz="1400" dirty="0">
                <a:latin typeface="+mn-ea"/>
                <a:ea typeface="+mn-ea"/>
              </a:rPr>
              <a:t>線材・第</a:t>
            </a:r>
            <a:r>
              <a:rPr lang="en-US" altLang="ja-JP" sz="1400" dirty="0">
                <a:latin typeface="+mn-ea"/>
                <a:ea typeface="+mn-ea"/>
              </a:rPr>
              <a:t>3</a:t>
            </a:r>
            <a:r>
              <a:rPr lang="ja-JP" altLang="en-US" sz="1400" dirty="0">
                <a:latin typeface="+mn-ea"/>
                <a:ea typeface="+mn-ea"/>
              </a:rPr>
              <a:t>加工工場に被害が発生しています。</a:t>
            </a:r>
            <a:endParaRPr kumimoji="1" lang="en-US" altLang="ja-JP" sz="1400" b="0" i="0" u="none" strike="noStrike" kern="1200" cap="none" spc="0" normalizeH="0" baseline="0" noProof="0" dirty="0">
              <a:ln>
                <a:noFill/>
              </a:ln>
              <a:solidFill>
                <a:srgbClr val="FF0000"/>
              </a:solidFill>
              <a:effectLst/>
              <a:uLnTx/>
              <a:uFillTx/>
              <a:latin typeface="+mn-ea"/>
              <a:ea typeface="+mn-ea"/>
            </a:endParaRPr>
          </a:p>
        </p:txBody>
      </p:sp>
      <p:grpSp>
        <p:nvGrpSpPr>
          <p:cNvPr id="16" name="グループ化 15">
            <a:extLst>
              <a:ext uri="{FF2B5EF4-FFF2-40B4-BE49-F238E27FC236}">
                <a16:creationId xmlns:a16="http://schemas.microsoft.com/office/drawing/2014/main" id="{F082B121-1C2F-49EB-B95A-DE4802BC942B}"/>
              </a:ext>
            </a:extLst>
          </p:cNvPr>
          <p:cNvGrpSpPr/>
          <p:nvPr/>
        </p:nvGrpSpPr>
        <p:grpSpPr>
          <a:xfrm>
            <a:off x="360000" y="370800"/>
            <a:ext cx="720000" cy="672000"/>
            <a:chOff x="360000" y="370800"/>
            <a:chExt cx="720000" cy="672000"/>
          </a:xfrm>
        </p:grpSpPr>
        <p:sp>
          <p:nvSpPr>
            <p:cNvPr id="18" name="正方形/長方形 17">
              <a:extLst>
                <a:ext uri="{FF2B5EF4-FFF2-40B4-BE49-F238E27FC236}">
                  <a16:creationId xmlns:a16="http://schemas.microsoft.com/office/drawing/2014/main" id="{510F4760-AEA9-43F2-A3BB-028443090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AF7CDDDC-A95E-4CB7-BEFE-383C7A91F0F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7</a:t>
              </a:r>
            </a:p>
          </p:txBody>
        </p:sp>
      </p:grpSp>
      <p:pic>
        <p:nvPicPr>
          <p:cNvPr id="5" name="図 4">
            <a:extLst>
              <a:ext uri="{FF2B5EF4-FFF2-40B4-BE49-F238E27FC236}">
                <a16:creationId xmlns:a16="http://schemas.microsoft.com/office/drawing/2014/main" id="{3255F4CC-23EB-4576-944C-31117C7F26B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29989" y="2112624"/>
            <a:ext cx="8999485" cy="3718494"/>
          </a:xfrm>
          <a:prstGeom prst="rect">
            <a:avLst/>
          </a:prstGeom>
        </p:spPr>
      </p:pic>
      <p:sp>
        <p:nvSpPr>
          <p:cNvPr id="17" name="テキスト ボックス 16">
            <a:extLst>
              <a:ext uri="{FF2B5EF4-FFF2-40B4-BE49-F238E27FC236}">
                <a16:creationId xmlns:a16="http://schemas.microsoft.com/office/drawing/2014/main" id="{8D606E20-E9A2-454C-A240-D4DDF7B3A9F4}"/>
              </a:ext>
            </a:extLst>
          </p:cNvPr>
          <p:cNvSpPr txBox="1"/>
          <p:nvPr/>
        </p:nvSpPr>
        <p:spPr>
          <a:xfrm>
            <a:off x="5765800" y="6210201"/>
            <a:ext cx="5918200" cy="276999"/>
          </a:xfrm>
          <a:prstGeom prst="rect">
            <a:avLst/>
          </a:prstGeom>
          <a:noFill/>
        </p:spPr>
        <p:txBody>
          <a:bodyPr wrap="square">
            <a:spAutoFit/>
          </a:bodyPr>
          <a:lstStyle/>
          <a:p>
            <a:r>
              <a:rPr lang="ja-JP" altLang="en-US" sz="1200" dirty="0">
                <a:latin typeface="+mn-ea"/>
                <a:ea typeface="+mn-ea"/>
              </a:rPr>
              <a:t>（出典：貴社ご提供資料「</a:t>
            </a:r>
            <a:r>
              <a:rPr lang="zh-TW" altLang="en-US" sz="1200" dirty="0">
                <a:latin typeface="+mn-ea"/>
                <a:ea typeface="+mn-ea"/>
              </a:rPr>
              <a:t>神鉄冠水対策申請書</a:t>
            </a:r>
            <a:r>
              <a:rPr lang="ja-JP" altLang="en-US" sz="1200" dirty="0">
                <a:latin typeface="+mn-ea"/>
                <a:ea typeface="+mn-ea"/>
              </a:rPr>
              <a:t>」より</a:t>
            </a:r>
          </a:p>
        </p:txBody>
      </p:sp>
    </p:spTree>
    <p:extLst>
      <p:ext uri="{BB962C8B-B14F-4D97-AF65-F5344CB8AC3E}">
        <p14:creationId xmlns:p14="http://schemas.microsoft.com/office/powerpoint/2010/main" val="987630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過去の保険金支払事故｜</a:t>
            </a:r>
            <a:r>
              <a:rPr lang="ja-JP" altLang="en-US" sz="2000" dirty="0">
                <a:latin typeface="游ゴシック" panose="020B0400000000000000" pitchFamily="50" charset="-128"/>
                <a:ea typeface="游ゴシック" panose="020B0400000000000000" pitchFamily="50" charset="-128"/>
              </a:rPr>
              <a:t>①事故概要</a:t>
            </a:r>
            <a:r>
              <a:rPr lang="en-US" altLang="ja-JP" sz="2000" dirty="0">
                <a:latin typeface="游ゴシック" panose="020B0400000000000000" pitchFamily="50" charset="-128"/>
                <a:ea typeface="游ゴシック" panose="020B0400000000000000" pitchFamily="50" charset="-128"/>
              </a:rPr>
              <a:t>(2018</a:t>
            </a:r>
            <a:r>
              <a:rPr lang="ja-JP" altLang="en-US" sz="2000" dirty="0">
                <a:latin typeface="游ゴシック" panose="020B0400000000000000" pitchFamily="50" charset="-128"/>
                <a:ea typeface="游ゴシック" panose="020B0400000000000000" pitchFamily="50" charset="-128"/>
              </a:rPr>
              <a:t>年西日本豪雨</a:t>
            </a:r>
            <a:r>
              <a:rPr lang="en-US" altLang="ja-JP" sz="2000" dirty="0">
                <a:latin typeface="游ゴシック" panose="020B0400000000000000" pitchFamily="50" charset="-128"/>
                <a:ea typeface="游ゴシック" panose="020B0400000000000000" pitchFamily="50" charset="-128"/>
              </a:rPr>
              <a:t>)</a:t>
            </a:r>
            <a:endParaRPr lang="ja-JP" altLang="en-US" sz="3600" dirty="0">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40</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7" name="テキスト ボックス 7"/>
          <p:cNvSpPr txBox="1">
            <a:spLocks noChangeArrowheads="1"/>
          </p:cNvSpPr>
          <p:nvPr/>
        </p:nvSpPr>
        <p:spPr bwMode="auto">
          <a:xfrm>
            <a:off x="360000" y="1202660"/>
            <a:ext cx="9139464" cy="901589"/>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defRPr/>
            </a:pPr>
            <a:r>
              <a:rPr lang="ja-JP" altLang="en-US" sz="1400" dirty="0">
                <a:latin typeface="+mn-ea"/>
                <a:ea typeface="+mn-ea"/>
              </a:rPr>
              <a:t>貴社ご提供資料によると、</a:t>
            </a:r>
            <a:r>
              <a:rPr lang="en-US" altLang="ja-JP" sz="1400" dirty="0">
                <a:latin typeface="+mn-ea"/>
                <a:ea typeface="+mn-ea"/>
              </a:rPr>
              <a:t>2018</a:t>
            </a:r>
            <a:r>
              <a:rPr lang="ja-JP" altLang="en-US" sz="1400" dirty="0">
                <a:latin typeface="+mn-ea"/>
                <a:ea typeface="+mn-ea"/>
              </a:rPr>
              <a:t>年</a:t>
            </a:r>
            <a:r>
              <a:rPr lang="en-US" altLang="ja-JP" sz="1400" dirty="0">
                <a:latin typeface="+mn-ea"/>
                <a:ea typeface="+mn-ea"/>
              </a:rPr>
              <a:t>7</a:t>
            </a:r>
            <a:r>
              <a:rPr lang="ja-JP" altLang="en-US" sz="1400" dirty="0">
                <a:latin typeface="+mn-ea"/>
                <a:ea typeface="+mn-ea"/>
              </a:rPr>
              <a:t>月西日本豪雨では</a:t>
            </a:r>
            <a:r>
              <a:rPr lang="ja-JP" altLang="en-US" sz="1400" b="0" i="0" dirty="0">
                <a:effectLst/>
                <a:latin typeface="+mn-ea"/>
                <a:ea typeface="+mn-ea"/>
              </a:rPr>
              <a:t>、酸洗水処理周辺および</a:t>
            </a:r>
            <a:r>
              <a:rPr lang="en-US" altLang="ja-JP" sz="1400" b="0" i="0" dirty="0">
                <a:effectLst/>
                <a:latin typeface="+mn-ea"/>
                <a:ea typeface="+mn-ea"/>
              </a:rPr>
              <a:t>7</a:t>
            </a:r>
            <a:r>
              <a:rPr lang="ja-JP" altLang="en-US" sz="1400" b="0" i="0" dirty="0">
                <a:effectLst/>
                <a:latin typeface="+mn-ea"/>
                <a:ea typeface="+mn-ea"/>
              </a:rPr>
              <a:t>線材工場周辺で</a:t>
            </a:r>
            <a:r>
              <a:rPr lang="en-US" altLang="ja-JP" sz="1400" b="0" i="0" dirty="0">
                <a:effectLst/>
                <a:latin typeface="+mn-ea"/>
                <a:ea typeface="+mn-ea"/>
              </a:rPr>
              <a:t>30</a:t>
            </a:r>
            <a:r>
              <a:rPr lang="ja-JP" altLang="en-US" sz="1400" b="0" i="0" dirty="0">
                <a:effectLst/>
                <a:latin typeface="+mn-ea"/>
                <a:ea typeface="+mn-ea"/>
              </a:rPr>
              <a:t>～</a:t>
            </a:r>
            <a:r>
              <a:rPr lang="en-US" altLang="ja-JP" sz="1400" b="0" i="0" dirty="0">
                <a:effectLst/>
                <a:latin typeface="+mn-ea"/>
                <a:ea typeface="+mn-ea"/>
              </a:rPr>
              <a:t>40cm</a:t>
            </a:r>
            <a:r>
              <a:rPr lang="ja-JP" altLang="en-US" sz="1400" b="0" i="0" dirty="0">
                <a:effectLst/>
                <a:latin typeface="+mn-ea"/>
                <a:ea typeface="+mn-ea"/>
              </a:rPr>
              <a:t>の冠水、中央水処理周辺および</a:t>
            </a:r>
            <a:r>
              <a:rPr lang="en-US" altLang="ja-JP" sz="1400" b="0" i="0" dirty="0">
                <a:effectLst/>
                <a:latin typeface="+mn-ea"/>
                <a:ea typeface="+mn-ea"/>
              </a:rPr>
              <a:t>4</a:t>
            </a:r>
            <a:r>
              <a:rPr lang="ja-JP" altLang="en-US" sz="1400" b="0" i="0" dirty="0">
                <a:effectLst/>
                <a:latin typeface="+mn-ea"/>
                <a:ea typeface="+mn-ea"/>
              </a:rPr>
              <a:t>・</a:t>
            </a:r>
            <a:r>
              <a:rPr lang="en-US" altLang="ja-JP" sz="1400" b="0" i="0" dirty="0">
                <a:effectLst/>
                <a:latin typeface="+mn-ea"/>
                <a:ea typeface="+mn-ea"/>
              </a:rPr>
              <a:t>5</a:t>
            </a:r>
            <a:r>
              <a:rPr lang="ja-JP" altLang="en-US" sz="1400" b="0" i="0" dirty="0">
                <a:effectLst/>
                <a:latin typeface="+mn-ea"/>
                <a:ea typeface="+mn-ea"/>
              </a:rPr>
              <a:t>岸壁周辺では</a:t>
            </a:r>
            <a:r>
              <a:rPr lang="en-US" altLang="ja-JP" sz="1400" b="0" i="0" dirty="0">
                <a:effectLst/>
                <a:latin typeface="+mn-ea"/>
                <a:ea typeface="+mn-ea"/>
              </a:rPr>
              <a:t>50cm</a:t>
            </a:r>
            <a:r>
              <a:rPr lang="ja-JP" altLang="en-US" sz="1400" b="0" i="0" dirty="0">
                <a:effectLst/>
                <a:latin typeface="+mn-ea"/>
                <a:ea typeface="+mn-ea"/>
              </a:rPr>
              <a:t>以上の冠水箇所が確認され、一部で普通車の通行が困難と</a:t>
            </a:r>
            <a:r>
              <a:rPr lang="ja-JP" altLang="en-US" sz="1400" dirty="0">
                <a:latin typeface="+mn-ea"/>
                <a:ea typeface="+mn-ea"/>
              </a:rPr>
              <a:t>なりました</a:t>
            </a:r>
            <a:r>
              <a:rPr lang="ja-JP" altLang="en-US" sz="1400" b="0" i="0" dirty="0">
                <a:effectLst/>
                <a:latin typeface="+mn-ea"/>
                <a:ea typeface="+mn-ea"/>
              </a:rPr>
              <a:t>。また、排水ピットの水位上昇により、油混じりの雨水排水ピットは使用停止となり、排水機能にも制約が発生しました。</a:t>
            </a:r>
            <a:endParaRPr kumimoji="1" lang="en-US" altLang="ja-JP" sz="1400" b="0" i="0" u="none" strike="noStrike" kern="1200" cap="none" spc="0" normalizeH="0" baseline="0" noProof="0" dirty="0">
              <a:ln>
                <a:noFill/>
              </a:ln>
              <a:effectLst/>
              <a:uLnTx/>
              <a:uFillTx/>
              <a:latin typeface="+mn-ea"/>
              <a:ea typeface="+mn-ea"/>
            </a:endParaRPr>
          </a:p>
        </p:txBody>
      </p:sp>
      <p:grpSp>
        <p:nvGrpSpPr>
          <p:cNvPr id="16" name="グループ化 15">
            <a:extLst>
              <a:ext uri="{FF2B5EF4-FFF2-40B4-BE49-F238E27FC236}">
                <a16:creationId xmlns:a16="http://schemas.microsoft.com/office/drawing/2014/main" id="{F082B121-1C2F-49EB-B95A-DE4802BC942B}"/>
              </a:ext>
            </a:extLst>
          </p:cNvPr>
          <p:cNvGrpSpPr/>
          <p:nvPr/>
        </p:nvGrpSpPr>
        <p:grpSpPr>
          <a:xfrm>
            <a:off x="360000" y="370800"/>
            <a:ext cx="720000" cy="672000"/>
            <a:chOff x="360000" y="370800"/>
            <a:chExt cx="720000" cy="672000"/>
          </a:xfrm>
        </p:grpSpPr>
        <p:sp>
          <p:nvSpPr>
            <p:cNvPr id="18" name="正方形/長方形 17">
              <a:extLst>
                <a:ext uri="{FF2B5EF4-FFF2-40B4-BE49-F238E27FC236}">
                  <a16:creationId xmlns:a16="http://schemas.microsoft.com/office/drawing/2014/main" id="{510F4760-AEA9-43F2-A3BB-028443090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AF7CDDDC-A95E-4CB7-BEFE-383C7A91F0F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7</a:t>
              </a:r>
            </a:p>
          </p:txBody>
        </p:sp>
      </p:grpSp>
      <p:sp>
        <p:nvSpPr>
          <p:cNvPr id="17" name="テキスト ボックス 16">
            <a:extLst>
              <a:ext uri="{FF2B5EF4-FFF2-40B4-BE49-F238E27FC236}">
                <a16:creationId xmlns:a16="http://schemas.microsoft.com/office/drawing/2014/main" id="{8D606E20-E9A2-454C-A240-D4DDF7B3A9F4}"/>
              </a:ext>
            </a:extLst>
          </p:cNvPr>
          <p:cNvSpPr txBox="1"/>
          <p:nvPr/>
        </p:nvSpPr>
        <p:spPr>
          <a:xfrm>
            <a:off x="5099594" y="6218801"/>
            <a:ext cx="5918200" cy="276999"/>
          </a:xfrm>
          <a:prstGeom prst="rect">
            <a:avLst/>
          </a:prstGeom>
          <a:noFill/>
        </p:spPr>
        <p:txBody>
          <a:bodyPr wrap="square">
            <a:spAutoFit/>
          </a:bodyPr>
          <a:lstStyle/>
          <a:p>
            <a:r>
              <a:rPr lang="ja-JP" altLang="en-US" sz="1200" dirty="0">
                <a:latin typeface="+mn-ea"/>
                <a:ea typeface="+mn-ea"/>
              </a:rPr>
              <a:t>（出典：貴社ご提供資料「</a:t>
            </a:r>
            <a:r>
              <a:rPr lang="zh-CN" altLang="en-US" sz="1200" dirty="0">
                <a:latin typeface="+mn-ea"/>
                <a:ea typeface="+mn-ea"/>
              </a:rPr>
              <a:t>所内冠水状況（</a:t>
            </a:r>
            <a:r>
              <a:rPr lang="en-US" altLang="zh-CN" sz="1200" dirty="0">
                <a:latin typeface="+mn-ea"/>
                <a:ea typeface="+mn-ea"/>
              </a:rPr>
              <a:t>7</a:t>
            </a:r>
            <a:r>
              <a:rPr lang="zh-CN" altLang="en-US" sz="1200" dirty="0">
                <a:latin typeface="+mn-ea"/>
                <a:ea typeface="+mn-ea"/>
              </a:rPr>
              <a:t>日夕刻</a:t>
            </a:r>
            <a:r>
              <a:rPr lang="en-US" altLang="zh-CN" sz="1200" dirty="0">
                <a:latin typeface="+mn-ea"/>
                <a:ea typeface="+mn-ea"/>
              </a:rPr>
              <a:t>8</a:t>
            </a:r>
            <a:r>
              <a:rPr lang="zh-CN" altLang="en-US" sz="1200" dirty="0">
                <a:latin typeface="+mn-ea"/>
                <a:ea typeface="+mn-ea"/>
              </a:rPr>
              <a:t>日朝</a:t>
            </a:r>
            <a:r>
              <a:rPr lang="en-US" altLang="zh-CN" sz="1200" dirty="0">
                <a:latin typeface="+mn-ea"/>
                <a:ea typeface="+mn-ea"/>
              </a:rPr>
              <a:t>)</a:t>
            </a:r>
            <a:r>
              <a:rPr lang="ja-JP" altLang="en-US" sz="1200" dirty="0">
                <a:latin typeface="+mn-ea"/>
                <a:ea typeface="+mn-ea"/>
              </a:rPr>
              <a:t>」より</a:t>
            </a:r>
            <a:r>
              <a:rPr lang="en-US" altLang="ja-JP" sz="1200" dirty="0">
                <a:latin typeface="+mn-ea"/>
                <a:ea typeface="+mn-ea"/>
              </a:rPr>
              <a:t>)</a:t>
            </a:r>
            <a:endParaRPr lang="ja-JP" altLang="en-US" sz="1200" dirty="0">
              <a:latin typeface="+mn-ea"/>
              <a:ea typeface="+mn-ea"/>
            </a:endParaRPr>
          </a:p>
        </p:txBody>
      </p:sp>
      <p:pic>
        <p:nvPicPr>
          <p:cNvPr id="3" name="図 2">
            <a:extLst>
              <a:ext uri="{FF2B5EF4-FFF2-40B4-BE49-F238E27FC236}">
                <a16:creationId xmlns:a16="http://schemas.microsoft.com/office/drawing/2014/main" id="{780ABAE8-1CBA-4FFC-BA2C-FB52B2EC60C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740017" y="2196568"/>
            <a:ext cx="5693112" cy="3800887"/>
          </a:xfrm>
          <a:prstGeom prst="rect">
            <a:avLst/>
          </a:prstGeom>
          <a:ln>
            <a:solidFill>
              <a:schemeClr val="tx1"/>
            </a:solidFill>
          </a:ln>
        </p:spPr>
      </p:pic>
      <p:sp>
        <p:nvSpPr>
          <p:cNvPr id="10" name="正方形/長方形 9">
            <a:extLst>
              <a:ext uri="{FF2B5EF4-FFF2-40B4-BE49-F238E27FC236}">
                <a16:creationId xmlns:a16="http://schemas.microsoft.com/office/drawing/2014/main" id="{C3A25A06-0465-482E-86A0-449615FC2FBB}"/>
              </a:ext>
            </a:extLst>
          </p:cNvPr>
          <p:cNvSpPr/>
          <p:nvPr/>
        </p:nvSpPr>
        <p:spPr>
          <a:xfrm>
            <a:off x="2938062" y="5997455"/>
            <a:ext cx="4169320" cy="276999"/>
          </a:xfrm>
          <a:prstGeom prst="rect">
            <a:avLst/>
          </a:prstGeom>
        </p:spPr>
        <p:txBody>
          <a:bodyPr wrap="square">
            <a:spAutoFit/>
          </a:bodyPr>
          <a:lstStyle/>
          <a:p>
            <a:pPr algn="ctr"/>
            <a:r>
              <a:rPr lang="ja-JP" altLang="en-US" sz="1200" dirty="0">
                <a:latin typeface="游ゴシック" panose="020B0400000000000000" pitchFamily="50" charset="-128"/>
                <a:ea typeface="游ゴシック" panose="020B0400000000000000" pitchFamily="50" charset="-128"/>
              </a:rPr>
              <a:t>図：</a:t>
            </a:r>
            <a:r>
              <a:rPr lang="en-US" altLang="ja-JP" sz="1200" dirty="0">
                <a:latin typeface="+mn-ea"/>
                <a:ea typeface="+mn-ea"/>
              </a:rPr>
              <a:t> 2018</a:t>
            </a:r>
            <a:r>
              <a:rPr lang="ja-JP" altLang="en-US" sz="1200" dirty="0">
                <a:latin typeface="+mn-ea"/>
                <a:ea typeface="+mn-ea"/>
              </a:rPr>
              <a:t>年</a:t>
            </a:r>
            <a:r>
              <a:rPr lang="en-US" altLang="ja-JP" sz="1200" dirty="0">
                <a:latin typeface="+mn-ea"/>
                <a:ea typeface="+mn-ea"/>
              </a:rPr>
              <a:t>7</a:t>
            </a:r>
            <a:r>
              <a:rPr lang="ja-JP" altLang="en-US" sz="1200" dirty="0">
                <a:latin typeface="+mn-ea"/>
                <a:ea typeface="+mn-ea"/>
              </a:rPr>
              <a:t>月西日本豪雨による対象拠点での</a:t>
            </a:r>
            <a:r>
              <a:rPr lang="ja-JP" altLang="en-US" sz="1200" dirty="0">
                <a:latin typeface="游ゴシック" panose="020B0400000000000000" pitchFamily="50" charset="-128"/>
                <a:ea typeface="游ゴシック" panose="020B0400000000000000" pitchFamily="50" charset="-128"/>
              </a:rPr>
              <a:t>浸水状況</a:t>
            </a:r>
            <a:endParaRPr lang="en-US" altLang="ja-JP" sz="1200" dirty="0">
              <a:effectLst/>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2048250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過去の保険金支払事故｜</a:t>
            </a:r>
            <a:r>
              <a:rPr lang="ja-JP" altLang="en-US" sz="2000" dirty="0">
                <a:latin typeface="游ゴシック" panose="020B0400000000000000" pitchFamily="50" charset="-128"/>
                <a:ea typeface="游ゴシック" panose="020B0400000000000000" pitchFamily="50" charset="-128"/>
              </a:rPr>
              <a:t>②気象状況</a:t>
            </a:r>
            <a:r>
              <a:rPr lang="en-US" altLang="ja-JP" sz="2000" dirty="0">
                <a:latin typeface="游ゴシック" panose="020B0400000000000000" pitchFamily="50" charset="-128"/>
                <a:ea typeface="游ゴシック" panose="020B0400000000000000" pitchFamily="50" charset="-128"/>
              </a:rPr>
              <a:t>(2018</a:t>
            </a:r>
            <a:r>
              <a:rPr lang="ja-JP" altLang="en-US" sz="2000" dirty="0">
                <a:latin typeface="游ゴシック" panose="020B0400000000000000" pitchFamily="50" charset="-128"/>
                <a:ea typeface="游ゴシック" panose="020B0400000000000000" pitchFamily="50" charset="-128"/>
              </a:rPr>
              <a:t>年西日本豪雨</a:t>
            </a:r>
            <a:r>
              <a:rPr lang="en-US" altLang="ja-JP" sz="2000" dirty="0">
                <a:latin typeface="游ゴシック" panose="020B0400000000000000" pitchFamily="50" charset="-128"/>
                <a:ea typeface="游ゴシック" panose="020B0400000000000000" pitchFamily="50" charset="-128"/>
              </a:rPr>
              <a:t>)</a:t>
            </a:r>
            <a:endParaRPr lang="ja-JP" altLang="en-US" sz="3600" dirty="0">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41</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7" name="テキスト ボックス 7"/>
          <p:cNvSpPr txBox="1">
            <a:spLocks noChangeArrowheads="1"/>
          </p:cNvSpPr>
          <p:nvPr/>
        </p:nvSpPr>
        <p:spPr bwMode="auto">
          <a:xfrm>
            <a:off x="360000" y="1202660"/>
            <a:ext cx="9139464" cy="878586"/>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defRPr/>
            </a:pP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2018</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年</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6</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月末に発生した台風第</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7</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号および、</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7</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月</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5</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日以降に西日本に停滞した前線の影響により、暖かく非常に湿った空気が継続的に流入し、西日本を中心に記録的な大雨となりました。近畿地方でも、総降水量が平年の</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2</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4</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倍に達した地点や、</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24</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72</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時間降水量が観測史上</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1</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位を記録した地点が多く、河川の氾濫、浸水害、土砂災害、ライフライン被害、交通障害など、甚大な被害が発生しました。。</a:t>
            </a:r>
            <a:endPar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endParaRPr>
          </a:p>
        </p:txBody>
      </p:sp>
      <p:grpSp>
        <p:nvGrpSpPr>
          <p:cNvPr id="16" name="グループ化 15">
            <a:extLst>
              <a:ext uri="{FF2B5EF4-FFF2-40B4-BE49-F238E27FC236}">
                <a16:creationId xmlns:a16="http://schemas.microsoft.com/office/drawing/2014/main" id="{F082B121-1C2F-49EB-B95A-DE4802BC942B}"/>
              </a:ext>
            </a:extLst>
          </p:cNvPr>
          <p:cNvGrpSpPr/>
          <p:nvPr/>
        </p:nvGrpSpPr>
        <p:grpSpPr>
          <a:xfrm>
            <a:off x="360000" y="370800"/>
            <a:ext cx="720000" cy="672000"/>
            <a:chOff x="360000" y="370800"/>
            <a:chExt cx="720000" cy="672000"/>
          </a:xfrm>
        </p:grpSpPr>
        <p:sp>
          <p:nvSpPr>
            <p:cNvPr id="18" name="正方形/長方形 17">
              <a:extLst>
                <a:ext uri="{FF2B5EF4-FFF2-40B4-BE49-F238E27FC236}">
                  <a16:creationId xmlns:a16="http://schemas.microsoft.com/office/drawing/2014/main" id="{510F4760-AEA9-43F2-A3BB-028443090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AF7CDDDC-A95E-4CB7-BEFE-383C7A91F0F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7</a:t>
              </a:r>
            </a:p>
          </p:txBody>
        </p:sp>
      </p:grpSp>
      <p:pic>
        <p:nvPicPr>
          <p:cNvPr id="3" name="図 2">
            <a:extLst>
              <a:ext uri="{FF2B5EF4-FFF2-40B4-BE49-F238E27FC236}">
                <a16:creationId xmlns:a16="http://schemas.microsoft.com/office/drawing/2014/main" id="{F703EE22-8387-4A2F-8B72-177B4139F85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04974" y="2173393"/>
            <a:ext cx="2863572" cy="3882019"/>
          </a:xfrm>
          <a:prstGeom prst="rect">
            <a:avLst/>
          </a:prstGeom>
        </p:spPr>
      </p:pic>
      <p:pic>
        <p:nvPicPr>
          <p:cNvPr id="6" name="図 5">
            <a:extLst>
              <a:ext uri="{FF2B5EF4-FFF2-40B4-BE49-F238E27FC236}">
                <a16:creationId xmlns:a16="http://schemas.microsoft.com/office/drawing/2014/main" id="{8EFA0580-A301-4BA1-8FFF-976EE849676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740012" y="2394581"/>
            <a:ext cx="1648912" cy="1261873"/>
          </a:xfrm>
          <a:prstGeom prst="rect">
            <a:avLst/>
          </a:prstGeom>
        </p:spPr>
      </p:pic>
      <p:pic>
        <p:nvPicPr>
          <p:cNvPr id="8" name="図 7">
            <a:extLst>
              <a:ext uri="{FF2B5EF4-FFF2-40B4-BE49-F238E27FC236}">
                <a16:creationId xmlns:a16="http://schemas.microsoft.com/office/drawing/2014/main" id="{3C8100EF-D90A-4073-AD83-FA1DA02C87E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50839" y="3284509"/>
            <a:ext cx="4521338" cy="2586205"/>
          </a:xfrm>
          <a:prstGeom prst="rect">
            <a:avLst/>
          </a:prstGeom>
        </p:spPr>
      </p:pic>
      <p:sp>
        <p:nvSpPr>
          <p:cNvPr id="12" name="正方形/長方形 11">
            <a:extLst>
              <a:ext uri="{FF2B5EF4-FFF2-40B4-BE49-F238E27FC236}">
                <a16:creationId xmlns:a16="http://schemas.microsoft.com/office/drawing/2014/main" id="{B249099B-2B00-47FC-97D0-D16FCE4A5032}"/>
              </a:ext>
            </a:extLst>
          </p:cNvPr>
          <p:cNvSpPr/>
          <p:nvPr/>
        </p:nvSpPr>
        <p:spPr>
          <a:xfrm>
            <a:off x="175846" y="6026067"/>
            <a:ext cx="3983339" cy="261610"/>
          </a:xfrm>
          <a:prstGeom prst="rect">
            <a:avLst/>
          </a:prstGeom>
        </p:spPr>
        <p:txBody>
          <a:bodyPr wrap="square">
            <a:spAutoFit/>
          </a:bodyPr>
          <a:lstStyle/>
          <a:p>
            <a:pPr algn="ctr"/>
            <a:r>
              <a:rPr lang="ja-JP" altLang="en-US" sz="1100" dirty="0">
                <a:latin typeface="游ゴシック" panose="020B0400000000000000" pitchFamily="50" charset="-128"/>
                <a:ea typeface="游ゴシック" panose="020B0400000000000000" pitchFamily="50" charset="-128"/>
              </a:rPr>
              <a:t>図：地点別期間降水量</a:t>
            </a:r>
            <a:r>
              <a:rPr lang="en-US" altLang="ja-JP" sz="1100" dirty="0">
                <a:latin typeface="游ゴシック" panose="020B0400000000000000" pitchFamily="50" charset="-128"/>
                <a:ea typeface="游ゴシック" panose="020B0400000000000000" pitchFamily="50" charset="-128"/>
              </a:rPr>
              <a:t>(2018</a:t>
            </a:r>
            <a:r>
              <a:rPr lang="ja-JP" altLang="en-US" sz="1100" dirty="0">
                <a:latin typeface="游ゴシック" panose="020B0400000000000000" pitchFamily="50" charset="-128"/>
                <a:ea typeface="游ゴシック" panose="020B0400000000000000" pitchFamily="50" charset="-128"/>
              </a:rPr>
              <a:t>年</a:t>
            </a:r>
            <a:r>
              <a:rPr lang="en-US" altLang="ja-JP" sz="1100" dirty="0">
                <a:latin typeface="游ゴシック" panose="020B0400000000000000" pitchFamily="50" charset="-128"/>
                <a:ea typeface="游ゴシック" panose="020B0400000000000000" pitchFamily="50" charset="-128"/>
              </a:rPr>
              <a:t>7</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5</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7</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8</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a:t>
            </a:r>
            <a:endParaRPr lang="en-US" altLang="ja-JP" sz="1100" dirty="0">
              <a:effectLst/>
              <a:latin typeface="游ゴシック" panose="020B0400000000000000" pitchFamily="50" charset="-128"/>
              <a:ea typeface="游ゴシック" panose="020B0400000000000000" pitchFamily="50" charset="-128"/>
            </a:endParaRPr>
          </a:p>
        </p:txBody>
      </p:sp>
      <p:sp>
        <p:nvSpPr>
          <p:cNvPr id="13" name="テキスト ボックス 12">
            <a:extLst>
              <a:ext uri="{FF2B5EF4-FFF2-40B4-BE49-F238E27FC236}">
                <a16:creationId xmlns:a16="http://schemas.microsoft.com/office/drawing/2014/main" id="{1F3C48C5-CDCD-4F49-B88C-78462ABB1BCF}"/>
              </a:ext>
            </a:extLst>
          </p:cNvPr>
          <p:cNvSpPr txBox="1"/>
          <p:nvPr/>
        </p:nvSpPr>
        <p:spPr>
          <a:xfrm>
            <a:off x="2420098" y="6258332"/>
            <a:ext cx="8235056" cy="246221"/>
          </a:xfrm>
          <a:prstGeom prst="rect">
            <a:avLst/>
          </a:prstGeom>
          <a:noFill/>
        </p:spPr>
        <p:txBody>
          <a:bodyPr wrap="square">
            <a:spAutoFit/>
          </a:bodyPr>
          <a:lstStyle/>
          <a:p>
            <a:r>
              <a:rPr lang="ja-JP" altLang="en-US" sz="1000" dirty="0">
                <a:latin typeface="+mn-ea"/>
                <a:ea typeface="+mn-ea"/>
              </a:rPr>
              <a:t>（出典：～気象情報等で用いる過去事例～平成</a:t>
            </a:r>
            <a:r>
              <a:rPr lang="en-US" altLang="ja-JP" sz="1000" dirty="0">
                <a:latin typeface="+mn-ea"/>
                <a:ea typeface="+mn-ea"/>
              </a:rPr>
              <a:t>30</a:t>
            </a:r>
            <a:r>
              <a:rPr lang="ja-JP" altLang="en-US" sz="1000" dirty="0">
                <a:latin typeface="+mn-ea"/>
                <a:ea typeface="+mn-ea"/>
              </a:rPr>
              <a:t>年（</a:t>
            </a:r>
            <a:r>
              <a:rPr lang="en-US" altLang="ja-JP" sz="1000" dirty="0">
                <a:latin typeface="+mn-ea"/>
                <a:ea typeface="+mn-ea"/>
              </a:rPr>
              <a:t>2018</a:t>
            </a:r>
            <a:r>
              <a:rPr lang="ja-JP" altLang="en-US" sz="1000" dirty="0">
                <a:latin typeface="+mn-ea"/>
                <a:ea typeface="+mn-ea"/>
              </a:rPr>
              <a:t>年）７月豪雨 </a:t>
            </a:r>
            <a:r>
              <a:rPr lang="en-US" altLang="ja-JP" sz="1000" dirty="0">
                <a:latin typeface="+mn-ea"/>
                <a:ea typeface="+mn-ea"/>
              </a:rPr>
              <a:t>2018</a:t>
            </a:r>
            <a:r>
              <a:rPr lang="ja-JP" altLang="en-US" sz="1000" dirty="0">
                <a:latin typeface="+mn-ea"/>
                <a:ea typeface="+mn-ea"/>
              </a:rPr>
              <a:t>年</a:t>
            </a:r>
            <a:r>
              <a:rPr lang="en-US" altLang="ja-JP" sz="1000" dirty="0">
                <a:latin typeface="+mn-ea"/>
                <a:ea typeface="+mn-ea"/>
              </a:rPr>
              <a:t>7</a:t>
            </a:r>
            <a:r>
              <a:rPr lang="ja-JP" altLang="en-US" sz="1000" dirty="0">
                <a:latin typeface="+mn-ea"/>
                <a:ea typeface="+mn-ea"/>
              </a:rPr>
              <a:t>月</a:t>
            </a:r>
            <a:r>
              <a:rPr lang="en-US" altLang="ja-JP" sz="1000" dirty="0">
                <a:latin typeface="+mn-ea"/>
                <a:ea typeface="+mn-ea"/>
              </a:rPr>
              <a:t>5</a:t>
            </a:r>
            <a:r>
              <a:rPr lang="ja-JP" altLang="en-US" sz="1000" dirty="0">
                <a:latin typeface="+mn-ea"/>
                <a:ea typeface="+mn-ea"/>
              </a:rPr>
              <a:t>日～</a:t>
            </a:r>
            <a:r>
              <a:rPr lang="en-US" altLang="ja-JP" sz="1000" dirty="0">
                <a:latin typeface="+mn-ea"/>
                <a:ea typeface="+mn-ea"/>
              </a:rPr>
              <a:t>8</a:t>
            </a:r>
            <a:r>
              <a:rPr lang="ja-JP" altLang="en-US" sz="1000" dirty="0">
                <a:latin typeface="+mn-ea"/>
                <a:ea typeface="+mn-ea"/>
              </a:rPr>
              <a:t>日 （概要）</a:t>
            </a:r>
            <a:r>
              <a:rPr lang="en-US" altLang="ja-JP" sz="1000" dirty="0">
                <a:latin typeface="+mn-ea"/>
                <a:ea typeface="+mn-ea"/>
              </a:rPr>
              <a:t>/</a:t>
            </a:r>
            <a:r>
              <a:rPr lang="ja-JP" altLang="en-US" sz="1000" dirty="0">
                <a:latin typeface="+mn-ea"/>
                <a:ea typeface="+mn-ea"/>
              </a:rPr>
              <a:t>神戸地方気象台より</a:t>
            </a:r>
            <a:r>
              <a:rPr lang="en-US" altLang="ja-JP" sz="1000" dirty="0">
                <a:latin typeface="+mn-ea"/>
                <a:ea typeface="+mn-ea"/>
              </a:rPr>
              <a:t>)</a:t>
            </a:r>
            <a:endParaRPr lang="ja-JP" altLang="en-US" sz="1000" dirty="0">
              <a:latin typeface="+mn-ea"/>
              <a:ea typeface="+mn-ea"/>
            </a:endParaRPr>
          </a:p>
        </p:txBody>
      </p:sp>
      <p:sp>
        <p:nvSpPr>
          <p:cNvPr id="14" name="正方形/長方形 13">
            <a:extLst>
              <a:ext uri="{FF2B5EF4-FFF2-40B4-BE49-F238E27FC236}">
                <a16:creationId xmlns:a16="http://schemas.microsoft.com/office/drawing/2014/main" id="{35F94B35-5B1F-404D-8D27-F27DD64225C7}"/>
              </a:ext>
            </a:extLst>
          </p:cNvPr>
          <p:cNvSpPr/>
          <p:nvPr/>
        </p:nvSpPr>
        <p:spPr>
          <a:xfrm>
            <a:off x="4949825" y="5793802"/>
            <a:ext cx="3983339" cy="261610"/>
          </a:xfrm>
          <a:prstGeom prst="rect">
            <a:avLst/>
          </a:prstGeom>
        </p:spPr>
        <p:txBody>
          <a:bodyPr wrap="square">
            <a:spAutoFit/>
          </a:bodyPr>
          <a:lstStyle/>
          <a:p>
            <a:pPr algn="ctr"/>
            <a:r>
              <a:rPr lang="ja-JP" altLang="en-US" sz="1100" dirty="0">
                <a:latin typeface="游ゴシック" panose="020B0400000000000000" pitchFamily="50" charset="-128"/>
                <a:ea typeface="游ゴシック" panose="020B0400000000000000" pitchFamily="50" charset="-128"/>
              </a:rPr>
              <a:t>図：神戸観測所降水量</a:t>
            </a:r>
            <a:r>
              <a:rPr lang="en-US" altLang="ja-JP" sz="1100" dirty="0">
                <a:latin typeface="游ゴシック" panose="020B0400000000000000" pitchFamily="50" charset="-128"/>
                <a:ea typeface="游ゴシック" panose="020B0400000000000000" pitchFamily="50" charset="-128"/>
              </a:rPr>
              <a:t>(2018</a:t>
            </a:r>
            <a:r>
              <a:rPr lang="ja-JP" altLang="en-US" sz="1100" dirty="0">
                <a:latin typeface="游ゴシック" panose="020B0400000000000000" pitchFamily="50" charset="-128"/>
                <a:ea typeface="游ゴシック" panose="020B0400000000000000" pitchFamily="50" charset="-128"/>
              </a:rPr>
              <a:t>年</a:t>
            </a:r>
            <a:r>
              <a:rPr lang="en-US" altLang="ja-JP" sz="1100" dirty="0">
                <a:latin typeface="游ゴシック" panose="020B0400000000000000" pitchFamily="50" charset="-128"/>
                <a:ea typeface="游ゴシック" panose="020B0400000000000000" pitchFamily="50" charset="-128"/>
              </a:rPr>
              <a:t>7</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5</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7</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8</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a:t>
            </a:r>
            <a:endParaRPr lang="en-US" altLang="ja-JP" sz="1100" dirty="0">
              <a:effectLst/>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641434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過去の保険金支払事故｜</a:t>
            </a:r>
            <a:r>
              <a:rPr lang="ja-JP" altLang="en-US" sz="2000" dirty="0">
                <a:latin typeface="游ゴシック" panose="020B0400000000000000" pitchFamily="50" charset="-128"/>
                <a:ea typeface="游ゴシック" panose="020B0400000000000000" pitchFamily="50" charset="-128"/>
              </a:rPr>
              <a:t>②気象状況</a:t>
            </a:r>
            <a:r>
              <a:rPr lang="en-US" altLang="ja-JP" sz="2000" dirty="0">
                <a:latin typeface="游ゴシック" panose="020B0400000000000000" pitchFamily="50" charset="-128"/>
                <a:ea typeface="游ゴシック" panose="020B0400000000000000" pitchFamily="50" charset="-128"/>
              </a:rPr>
              <a:t>(2018</a:t>
            </a:r>
            <a:r>
              <a:rPr lang="ja-JP" altLang="en-US" sz="2000" dirty="0">
                <a:latin typeface="游ゴシック" panose="020B0400000000000000" pitchFamily="50" charset="-128"/>
                <a:ea typeface="游ゴシック" panose="020B0400000000000000" pitchFamily="50" charset="-128"/>
              </a:rPr>
              <a:t>年台風</a:t>
            </a:r>
            <a:r>
              <a:rPr lang="en-US" altLang="ja-JP" sz="2000" dirty="0">
                <a:latin typeface="游ゴシック" panose="020B0400000000000000" pitchFamily="50" charset="-128"/>
                <a:ea typeface="游ゴシック" panose="020B0400000000000000" pitchFamily="50" charset="-128"/>
              </a:rPr>
              <a:t>20</a:t>
            </a:r>
            <a:r>
              <a:rPr lang="ja-JP" altLang="en-US" sz="2000" dirty="0">
                <a:latin typeface="游ゴシック" panose="020B0400000000000000" pitchFamily="50" charset="-128"/>
                <a:ea typeface="游ゴシック" panose="020B0400000000000000" pitchFamily="50" charset="-128"/>
              </a:rPr>
              <a:t>号</a:t>
            </a:r>
            <a:r>
              <a:rPr lang="en-US" altLang="ja-JP" sz="2000" dirty="0">
                <a:latin typeface="游ゴシック" panose="020B0400000000000000" pitchFamily="50" charset="-128"/>
                <a:ea typeface="游ゴシック" panose="020B0400000000000000" pitchFamily="50" charset="-128"/>
              </a:rPr>
              <a:t>)</a:t>
            </a:r>
            <a:endParaRPr lang="ja-JP" altLang="en-US" sz="3600" dirty="0">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42</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7" name="テキスト ボックス 7"/>
          <p:cNvSpPr txBox="1">
            <a:spLocks noChangeArrowheads="1"/>
          </p:cNvSpPr>
          <p:nvPr/>
        </p:nvSpPr>
        <p:spPr bwMode="auto">
          <a:xfrm>
            <a:off x="360000" y="1202661"/>
            <a:ext cx="9139464" cy="901910"/>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defRPr/>
            </a:pP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台風第</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20</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号は強い勢力を保ったまま北上し、</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2018</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年</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8</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月</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23</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日夜に徳島県南部、</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24</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日未明に兵庫県姫路市付近へ上陸した後、日本海へ進みました。兵庫県では南部を中心に、暴風を伴う大雨となり、総降水量は神戸市中央区で</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120.5mm</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を記録するなど、各地で</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100mm</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を超えました。加えて、台風の通過が大潮の満潮時間と重なったため、瀬戸内海沿岸では高潮が発生し、南部海上を中心に暴風、高波、高潮の影響が拡大しました。</a:t>
            </a:r>
            <a:endPar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endParaRPr>
          </a:p>
        </p:txBody>
      </p:sp>
      <p:grpSp>
        <p:nvGrpSpPr>
          <p:cNvPr id="16" name="グループ化 15">
            <a:extLst>
              <a:ext uri="{FF2B5EF4-FFF2-40B4-BE49-F238E27FC236}">
                <a16:creationId xmlns:a16="http://schemas.microsoft.com/office/drawing/2014/main" id="{F082B121-1C2F-49EB-B95A-DE4802BC942B}"/>
              </a:ext>
            </a:extLst>
          </p:cNvPr>
          <p:cNvGrpSpPr/>
          <p:nvPr/>
        </p:nvGrpSpPr>
        <p:grpSpPr>
          <a:xfrm>
            <a:off x="360000" y="370800"/>
            <a:ext cx="720000" cy="672000"/>
            <a:chOff x="360000" y="370800"/>
            <a:chExt cx="720000" cy="672000"/>
          </a:xfrm>
        </p:grpSpPr>
        <p:sp>
          <p:nvSpPr>
            <p:cNvPr id="18" name="正方形/長方形 17">
              <a:extLst>
                <a:ext uri="{FF2B5EF4-FFF2-40B4-BE49-F238E27FC236}">
                  <a16:creationId xmlns:a16="http://schemas.microsoft.com/office/drawing/2014/main" id="{510F4760-AEA9-43F2-A3BB-028443090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AF7CDDDC-A95E-4CB7-BEFE-383C7A91F0F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7</a:t>
              </a:r>
            </a:p>
          </p:txBody>
        </p:sp>
      </p:grpSp>
      <p:pic>
        <p:nvPicPr>
          <p:cNvPr id="6" name="図 5">
            <a:extLst>
              <a:ext uri="{FF2B5EF4-FFF2-40B4-BE49-F238E27FC236}">
                <a16:creationId xmlns:a16="http://schemas.microsoft.com/office/drawing/2014/main" id="{13DA9A8E-C67A-4310-B302-829CA2F5A99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6000" y="2917605"/>
            <a:ext cx="4290188" cy="2893915"/>
          </a:xfrm>
          <a:prstGeom prst="rect">
            <a:avLst/>
          </a:prstGeom>
        </p:spPr>
      </p:pic>
      <p:pic>
        <p:nvPicPr>
          <p:cNvPr id="10" name="図 9">
            <a:extLst>
              <a:ext uri="{FF2B5EF4-FFF2-40B4-BE49-F238E27FC236}">
                <a16:creationId xmlns:a16="http://schemas.microsoft.com/office/drawing/2014/main" id="{43C708F1-3EEF-417F-B72C-72E7B123D43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290509" y="2209302"/>
            <a:ext cx="5208955" cy="1610649"/>
          </a:xfrm>
          <a:prstGeom prst="rect">
            <a:avLst/>
          </a:prstGeom>
        </p:spPr>
      </p:pic>
      <p:pic>
        <p:nvPicPr>
          <p:cNvPr id="3" name="図 2">
            <a:extLst>
              <a:ext uri="{FF2B5EF4-FFF2-40B4-BE49-F238E27FC236}">
                <a16:creationId xmlns:a16="http://schemas.microsoft.com/office/drawing/2014/main" id="{BA04ED3F-2C1E-4519-BB31-109E7EBF715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592966" y="3979186"/>
            <a:ext cx="4604039" cy="1730658"/>
          </a:xfrm>
          <a:prstGeom prst="rect">
            <a:avLst/>
          </a:prstGeom>
        </p:spPr>
      </p:pic>
      <p:sp>
        <p:nvSpPr>
          <p:cNvPr id="12" name="テキスト ボックス 11">
            <a:extLst>
              <a:ext uri="{FF2B5EF4-FFF2-40B4-BE49-F238E27FC236}">
                <a16:creationId xmlns:a16="http://schemas.microsoft.com/office/drawing/2014/main" id="{50D7CFF1-BEDD-4CDE-8B2F-E5B2C411FCFB}"/>
              </a:ext>
            </a:extLst>
          </p:cNvPr>
          <p:cNvSpPr txBox="1"/>
          <p:nvPr/>
        </p:nvSpPr>
        <p:spPr>
          <a:xfrm>
            <a:off x="2959994" y="6240979"/>
            <a:ext cx="8235056" cy="246221"/>
          </a:xfrm>
          <a:prstGeom prst="rect">
            <a:avLst/>
          </a:prstGeom>
          <a:noFill/>
        </p:spPr>
        <p:txBody>
          <a:bodyPr wrap="square">
            <a:spAutoFit/>
          </a:bodyPr>
          <a:lstStyle/>
          <a:p>
            <a:r>
              <a:rPr lang="ja-JP" altLang="en-US" sz="1000" dirty="0">
                <a:latin typeface="+mn-ea"/>
                <a:ea typeface="+mn-ea"/>
              </a:rPr>
              <a:t>（出典：平成</a:t>
            </a:r>
            <a:r>
              <a:rPr lang="en-US" altLang="ja-JP" sz="1000" dirty="0">
                <a:latin typeface="+mn-ea"/>
                <a:ea typeface="+mn-ea"/>
              </a:rPr>
              <a:t>30</a:t>
            </a:r>
            <a:r>
              <a:rPr lang="ja-JP" altLang="en-US" sz="1000" dirty="0">
                <a:latin typeface="+mn-ea"/>
                <a:ea typeface="+mn-ea"/>
              </a:rPr>
              <a:t>年</a:t>
            </a:r>
            <a:r>
              <a:rPr lang="en-US" altLang="ja-JP" sz="1000" dirty="0">
                <a:latin typeface="+mn-ea"/>
                <a:ea typeface="+mn-ea"/>
              </a:rPr>
              <a:t>8</a:t>
            </a:r>
            <a:r>
              <a:rPr lang="ja-JP" altLang="en-US" sz="1000" dirty="0">
                <a:latin typeface="+mn-ea"/>
                <a:ea typeface="+mn-ea"/>
              </a:rPr>
              <a:t>月</a:t>
            </a:r>
            <a:r>
              <a:rPr lang="en-US" altLang="ja-JP" sz="1000" dirty="0">
                <a:latin typeface="+mn-ea"/>
                <a:ea typeface="+mn-ea"/>
              </a:rPr>
              <a:t>23</a:t>
            </a:r>
            <a:r>
              <a:rPr lang="ja-JP" altLang="en-US" sz="1000" dirty="0">
                <a:latin typeface="+mn-ea"/>
                <a:ea typeface="+mn-ea"/>
              </a:rPr>
              <a:t>日から</a:t>
            </a:r>
            <a:r>
              <a:rPr lang="en-US" altLang="ja-JP" sz="1000" dirty="0">
                <a:latin typeface="+mn-ea"/>
                <a:ea typeface="+mn-ea"/>
              </a:rPr>
              <a:t>24</a:t>
            </a:r>
            <a:r>
              <a:rPr lang="ja-JP" altLang="en-US" sz="1000" dirty="0">
                <a:latin typeface="+mn-ea"/>
                <a:ea typeface="+mn-ea"/>
              </a:rPr>
              <a:t>日にかけての台風第</a:t>
            </a:r>
            <a:r>
              <a:rPr lang="en-US" altLang="ja-JP" sz="1000" dirty="0">
                <a:latin typeface="+mn-ea"/>
                <a:ea typeface="+mn-ea"/>
              </a:rPr>
              <a:t>20</a:t>
            </a:r>
            <a:r>
              <a:rPr lang="ja-JP" altLang="en-US" sz="1000" dirty="0">
                <a:latin typeface="+mn-ea"/>
                <a:ea typeface="+mn-ea"/>
              </a:rPr>
              <a:t>号による大雨と暴風、高潮について</a:t>
            </a:r>
            <a:r>
              <a:rPr lang="en-US" altLang="ja-JP" sz="1000" dirty="0">
                <a:latin typeface="+mn-ea"/>
                <a:ea typeface="+mn-ea"/>
              </a:rPr>
              <a:t>/</a:t>
            </a:r>
            <a:r>
              <a:rPr lang="ja-JP" altLang="en-US" sz="1000" dirty="0">
                <a:latin typeface="+mn-ea"/>
                <a:ea typeface="+mn-ea"/>
              </a:rPr>
              <a:t>神戸地方気象台より</a:t>
            </a:r>
            <a:r>
              <a:rPr lang="en-US" altLang="ja-JP" sz="1000" dirty="0">
                <a:latin typeface="+mn-ea"/>
                <a:ea typeface="+mn-ea"/>
              </a:rPr>
              <a:t>)</a:t>
            </a:r>
            <a:endParaRPr lang="ja-JP" altLang="en-US" sz="1000" dirty="0">
              <a:latin typeface="+mn-ea"/>
              <a:ea typeface="+mn-ea"/>
            </a:endParaRPr>
          </a:p>
        </p:txBody>
      </p:sp>
      <p:sp>
        <p:nvSpPr>
          <p:cNvPr id="13" name="正方形/長方形 12">
            <a:extLst>
              <a:ext uri="{FF2B5EF4-FFF2-40B4-BE49-F238E27FC236}">
                <a16:creationId xmlns:a16="http://schemas.microsoft.com/office/drawing/2014/main" id="{10903BE8-5BDA-4613-A317-71C66EE70470}"/>
              </a:ext>
            </a:extLst>
          </p:cNvPr>
          <p:cNvSpPr/>
          <p:nvPr/>
        </p:nvSpPr>
        <p:spPr>
          <a:xfrm>
            <a:off x="360000" y="5820134"/>
            <a:ext cx="3983339" cy="261610"/>
          </a:xfrm>
          <a:prstGeom prst="rect">
            <a:avLst/>
          </a:prstGeom>
        </p:spPr>
        <p:txBody>
          <a:bodyPr wrap="square">
            <a:spAutoFit/>
          </a:bodyPr>
          <a:lstStyle/>
          <a:p>
            <a:pPr algn="ctr"/>
            <a:r>
              <a:rPr lang="ja-JP" altLang="en-US" sz="1100" dirty="0">
                <a:latin typeface="游ゴシック" panose="020B0400000000000000" pitchFamily="50" charset="-128"/>
                <a:ea typeface="游ゴシック" panose="020B0400000000000000" pitchFamily="50" charset="-128"/>
              </a:rPr>
              <a:t>図：地点別期間降水量</a:t>
            </a:r>
            <a:r>
              <a:rPr lang="en-US" altLang="ja-JP" sz="1100" dirty="0">
                <a:latin typeface="游ゴシック" panose="020B0400000000000000" pitchFamily="50" charset="-128"/>
                <a:ea typeface="游ゴシック" panose="020B0400000000000000" pitchFamily="50" charset="-128"/>
              </a:rPr>
              <a:t>(2018</a:t>
            </a:r>
            <a:r>
              <a:rPr lang="ja-JP" altLang="en-US" sz="1100" dirty="0">
                <a:latin typeface="游ゴシック" panose="020B0400000000000000" pitchFamily="50" charset="-128"/>
                <a:ea typeface="游ゴシック" panose="020B0400000000000000" pitchFamily="50" charset="-128"/>
              </a:rPr>
              <a:t>年</a:t>
            </a:r>
            <a:r>
              <a:rPr lang="en-US" altLang="ja-JP" sz="1100" dirty="0">
                <a:latin typeface="游ゴシック" panose="020B0400000000000000" pitchFamily="50" charset="-128"/>
                <a:ea typeface="游ゴシック" panose="020B0400000000000000" pitchFamily="50" charset="-128"/>
              </a:rPr>
              <a:t>8</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23</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8</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24</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a:t>
            </a:r>
            <a:endParaRPr lang="en-US" altLang="ja-JP" sz="1100" dirty="0">
              <a:effectLst/>
              <a:latin typeface="游ゴシック" panose="020B0400000000000000" pitchFamily="50" charset="-128"/>
              <a:ea typeface="游ゴシック" panose="020B0400000000000000" pitchFamily="50" charset="-128"/>
            </a:endParaRPr>
          </a:p>
        </p:txBody>
      </p:sp>
      <p:sp>
        <p:nvSpPr>
          <p:cNvPr id="14" name="正方形/長方形 13">
            <a:extLst>
              <a:ext uri="{FF2B5EF4-FFF2-40B4-BE49-F238E27FC236}">
                <a16:creationId xmlns:a16="http://schemas.microsoft.com/office/drawing/2014/main" id="{D0FE8200-00F6-4DCD-B81D-DAA6701BCA12}"/>
              </a:ext>
            </a:extLst>
          </p:cNvPr>
          <p:cNvSpPr/>
          <p:nvPr/>
        </p:nvSpPr>
        <p:spPr>
          <a:xfrm>
            <a:off x="4891336" y="5768947"/>
            <a:ext cx="3983339" cy="600164"/>
          </a:xfrm>
          <a:prstGeom prst="rect">
            <a:avLst/>
          </a:prstGeom>
        </p:spPr>
        <p:txBody>
          <a:bodyPr wrap="square">
            <a:spAutoFit/>
          </a:bodyPr>
          <a:lstStyle/>
          <a:p>
            <a:pPr algn="ctr"/>
            <a:r>
              <a:rPr lang="ja-JP" altLang="en-US" sz="1100" dirty="0">
                <a:latin typeface="游ゴシック" panose="020B0400000000000000" pitchFamily="50" charset="-128"/>
                <a:ea typeface="游ゴシック" panose="020B0400000000000000" pitchFamily="50" charset="-128"/>
              </a:rPr>
              <a:t>上図：神戸観測所期間降水量</a:t>
            </a:r>
            <a:r>
              <a:rPr lang="en-US" altLang="ja-JP" sz="1100" dirty="0">
                <a:latin typeface="游ゴシック" panose="020B0400000000000000" pitchFamily="50" charset="-128"/>
                <a:ea typeface="游ゴシック" panose="020B0400000000000000" pitchFamily="50" charset="-128"/>
              </a:rPr>
              <a:t>(2018</a:t>
            </a:r>
            <a:r>
              <a:rPr lang="ja-JP" altLang="en-US" sz="1100" dirty="0">
                <a:latin typeface="游ゴシック" panose="020B0400000000000000" pitchFamily="50" charset="-128"/>
                <a:ea typeface="游ゴシック" panose="020B0400000000000000" pitchFamily="50" charset="-128"/>
              </a:rPr>
              <a:t>年</a:t>
            </a:r>
            <a:r>
              <a:rPr lang="en-US" altLang="ja-JP" sz="1100" dirty="0">
                <a:latin typeface="游ゴシック" panose="020B0400000000000000" pitchFamily="50" charset="-128"/>
                <a:ea typeface="游ゴシック" panose="020B0400000000000000" pitchFamily="50" charset="-128"/>
              </a:rPr>
              <a:t>8</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23</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8</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24</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a:t>
            </a:r>
          </a:p>
          <a:p>
            <a:pPr algn="ctr"/>
            <a:r>
              <a:rPr lang="ja-JP" altLang="en-US" sz="1100" dirty="0">
                <a:latin typeface="游ゴシック" panose="020B0400000000000000" pitchFamily="50" charset="-128"/>
                <a:ea typeface="游ゴシック" panose="020B0400000000000000" pitchFamily="50" charset="-128"/>
              </a:rPr>
              <a:t>下図：潮位データ</a:t>
            </a:r>
            <a:r>
              <a:rPr lang="en-US" altLang="ja-JP" sz="1100" dirty="0">
                <a:latin typeface="游ゴシック" panose="020B0400000000000000" pitchFamily="50" charset="-128"/>
                <a:ea typeface="游ゴシック" panose="020B0400000000000000" pitchFamily="50" charset="-128"/>
              </a:rPr>
              <a:t>(2018</a:t>
            </a:r>
            <a:r>
              <a:rPr lang="ja-JP" altLang="en-US" sz="1100" dirty="0">
                <a:latin typeface="游ゴシック" panose="020B0400000000000000" pitchFamily="50" charset="-128"/>
                <a:ea typeface="游ゴシック" panose="020B0400000000000000" pitchFamily="50" charset="-128"/>
              </a:rPr>
              <a:t>年</a:t>
            </a:r>
            <a:r>
              <a:rPr lang="en-US" altLang="ja-JP" sz="1100" dirty="0">
                <a:latin typeface="游ゴシック" panose="020B0400000000000000" pitchFamily="50" charset="-128"/>
                <a:ea typeface="游ゴシック" panose="020B0400000000000000" pitchFamily="50" charset="-128"/>
              </a:rPr>
              <a:t>8</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23</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8</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24</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a:t>
            </a:r>
            <a:endParaRPr lang="en-US" altLang="ja-JP" sz="1100" dirty="0">
              <a:effectLst/>
              <a:latin typeface="游ゴシック" panose="020B0400000000000000" pitchFamily="50" charset="-128"/>
              <a:ea typeface="游ゴシック" panose="020B0400000000000000" pitchFamily="50" charset="-128"/>
            </a:endParaRPr>
          </a:p>
          <a:p>
            <a:pPr algn="ctr"/>
            <a:endParaRPr lang="en-US" altLang="ja-JP" sz="1100" dirty="0">
              <a:effectLst/>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0792330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291336" y="370800"/>
            <a:ext cx="7200000"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過去の保険金支払事故｜</a:t>
            </a:r>
            <a:r>
              <a:rPr lang="ja-JP" altLang="en-US" sz="2000" dirty="0">
                <a:latin typeface="游ゴシック" panose="020B0400000000000000" pitchFamily="50" charset="-128"/>
                <a:ea typeface="游ゴシック" panose="020B0400000000000000" pitchFamily="50" charset="-128"/>
              </a:rPr>
              <a:t>②気象状況</a:t>
            </a:r>
            <a:r>
              <a:rPr lang="en-US" altLang="ja-JP" sz="2000" dirty="0">
                <a:latin typeface="游ゴシック" panose="020B0400000000000000" pitchFamily="50" charset="-128"/>
                <a:ea typeface="游ゴシック" panose="020B0400000000000000" pitchFamily="50" charset="-128"/>
              </a:rPr>
              <a:t>(2018</a:t>
            </a:r>
            <a:r>
              <a:rPr lang="ja-JP" altLang="en-US" sz="2000" dirty="0">
                <a:latin typeface="游ゴシック" panose="020B0400000000000000" pitchFamily="50" charset="-128"/>
                <a:ea typeface="游ゴシック" panose="020B0400000000000000" pitchFamily="50" charset="-128"/>
              </a:rPr>
              <a:t>年台風</a:t>
            </a:r>
            <a:r>
              <a:rPr lang="en-US" altLang="ja-JP" sz="2000" dirty="0">
                <a:latin typeface="游ゴシック" panose="020B0400000000000000" pitchFamily="50" charset="-128"/>
                <a:ea typeface="游ゴシック" panose="020B0400000000000000" pitchFamily="50" charset="-128"/>
              </a:rPr>
              <a:t>21</a:t>
            </a:r>
            <a:r>
              <a:rPr lang="ja-JP" altLang="en-US" sz="2000" dirty="0">
                <a:latin typeface="游ゴシック" panose="020B0400000000000000" pitchFamily="50" charset="-128"/>
                <a:ea typeface="游ゴシック" panose="020B0400000000000000" pitchFamily="50" charset="-128"/>
              </a:rPr>
              <a:t>号</a:t>
            </a:r>
            <a:r>
              <a:rPr lang="en-US" altLang="ja-JP" sz="2000" dirty="0">
                <a:latin typeface="游ゴシック" panose="020B0400000000000000" pitchFamily="50" charset="-128"/>
                <a:ea typeface="游ゴシック" panose="020B0400000000000000" pitchFamily="50" charset="-128"/>
              </a:rPr>
              <a:t>)</a:t>
            </a:r>
            <a:endParaRPr lang="ja-JP" altLang="en-US" sz="3600" dirty="0">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43</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7" name="テキスト ボックス 7"/>
          <p:cNvSpPr txBox="1">
            <a:spLocks noChangeArrowheads="1"/>
          </p:cNvSpPr>
          <p:nvPr/>
        </p:nvSpPr>
        <p:spPr bwMode="auto">
          <a:xfrm>
            <a:off x="360000" y="1202660"/>
            <a:ext cx="9139464" cy="934861"/>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defRPr/>
            </a:pP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台風第</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21</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号は非常に強い勢力を維持したまま北上し、</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2018</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年</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9</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月</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4</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日昼頃に徳島県南部、同日午後に兵庫県神戸市付近へ上陸した後、日本海へ進みました。兵庫県では南部を中心に、暴風を伴う大雨となり、神戸市中央区で</a:t>
            </a:r>
            <a:r>
              <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84.5mm</a:t>
            </a:r>
            <a:r>
              <a:rPr kumimoji="1" lang="ja-JP" altLang="en-US"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rPr>
              <a:t>の降雨を記録しました。加えて、大阪湾沿岸では顕著な高潮が発生し、神戸港では過去最高潮位を超えるなど、暴風や高潮の影響が拡大しました。</a:t>
            </a:r>
            <a:endPar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endParaRPr>
          </a:p>
        </p:txBody>
      </p:sp>
      <p:grpSp>
        <p:nvGrpSpPr>
          <p:cNvPr id="16" name="グループ化 15">
            <a:extLst>
              <a:ext uri="{FF2B5EF4-FFF2-40B4-BE49-F238E27FC236}">
                <a16:creationId xmlns:a16="http://schemas.microsoft.com/office/drawing/2014/main" id="{F082B121-1C2F-49EB-B95A-DE4802BC942B}"/>
              </a:ext>
            </a:extLst>
          </p:cNvPr>
          <p:cNvGrpSpPr/>
          <p:nvPr/>
        </p:nvGrpSpPr>
        <p:grpSpPr>
          <a:xfrm>
            <a:off x="360000" y="370800"/>
            <a:ext cx="720000" cy="672000"/>
            <a:chOff x="360000" y="370800"/>
            <a:chExt cx="720000" cy="672000"/>
          </a:xfrm>
        </p:grpSpPr>
        <p:sp>
          <p:nvSpPr>
            <p:cNvPr id="18" name="正方形/長方形 17">
              <a:extLst>
                <a:ext uri="{FF2B5EF4-FFF2-40B4-BE49-F238E27FC236}">
                  <a16:creationId xmlns:a16="http://schemas.microsoft.com/office/drawing/2014/main" id="{510F4760-AEA9-43F2-A3BB-028443090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AF7CDDDC-A95E-4CB7-BEFE-383C7A91F0F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7</a:t>
              </a:r>
            </a:p>
          </p:txBody>
        </p:sp>
      </p:grpSp>
      <p:pic>
        <p:nvPicPr>
          <p:cNvPr id="6" name="図 5">
            <a:extLst>
              <a:ext uri="{FF2B5EF4-FFF2-40B4-BE49-F238E27FC236}">
                <a16:creationId xmlns:a16="http://schemas.microsoft.com/office/drawing/2014/main" id="{9504E76E-3DCB-4678-B325-7A4CA3EA537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081767" y="2497809"/>
            <a:ext cx="4321243" cy="1617857"/>
          </a:xfrm>
          <a:prstGeom prst="rect">
            <a:avLst/>
          </a:prstGeom>
        </p:spPr>
      </p:pic>
      <p:pic>
        <p:nvPicPr>
          <p:cNvPr id="9" name="図 8">
            <a:extLst>
              <a:ext uri="{FF2B5EF4-FFF2-40B4-BE49-F238E27FC236}">
                <a16:creationId xmlns:a16="http://schemas.microsoft.com/office/drawing/2014/main" id="{48876C16-AFCB-4BD6-89D4-5A6BF817AC2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210202" y="4208689"/>
            <a:ext cx="3621823" cy="1093041"/>
          </a:xfrm>
          <a:prstGeom prst="rect">
            <a:avLst/>
          </a:prstGeom>
        </p:spPr>
      </p:pic>
      <p:sp>
        <p:nvSpPr>
          <p:cNvPr id="11" name="テキスト ボックス 10">
            <a:extLst>
              <a:ext uri="{FF2B5EF4-FFF2-40B4-BE49-F238E27FC236}">
                <a16:creationId xmlns:a16="http://schemas.microsoft.com/office/drawing/2014/main" id="{C2E0D55F-E35C-4530-A3A3-4CBC0B16DDE2}"/>
              </a:ext>
            </a:extLst>
          </p:cNvPr>
          <p:cNvSpPr txBox="1"/>
          <p:nvPr/>
        </p:nvSpPr>
        <p:spPr>
          <a:xfrm>
            <a:off x="4064894" y="6229105"/>
            <a:ext cx="8235056" cy="246221"/>
          </a:xfrm>
          <a:prstGeom prst="rect">
            <a:avLst/>
          </a:prstGeom>
          <a:noFill/>
        </p:spPr>
        <p:txBody>
          <a:bodyPr wrap="square">
            <a:spAutoFit/>
          </a:bodyPr>
          <a:lstStyle/>
          <a:p>
            <a:r>
              <a:rPr lang="ja-JP" altLang="en-US" sz="1000" dirty="0">
                <a:latin typeface="+mn-ea"/>
                <a:ea typeface="+mn-ea"/>
              </a:rPr>
              <a:t>（出典：平成</a:t>
            </a:r>
            <a:r>
              <a:rPr lang="en-US" altLang="ja-JP" sz="1000" dirty="0">
                <a:latin typeface="+mn-ea"/>
                <a:ea typeface="+mn-ea"/>
              </a:rPr>
              <a:t>30</a:t>
            </a:r>
            <a:r>
              <a:rPr lang="ja-JP" altLang="en-US" sz="1000" dirty="0">
                <a:latin typeface="+mn-ea"/>
                <a:ea typeface="+mn-ea"/>
              </a:rPr>
              <a:t>年</a:t>
            </a:r>
            <a:r>
              <a:rPr lang="en-US" altLang="ja-JP" sz="1000" dirty="0">
                <a:latin typeface="+mn-ea"/>
                <a:ea typeface="+mn-ea"/>
              </a:rPr>
              <a:t>9</a:t>
            </a:r>
            <a:r>
              <a:rPr lang="ja-JP" altLang="en-US" sz="1000" dirty="0">
                <a:latin typeface="+mn-ea"/>
                <a:ea typeface="+mn-ea"/>
              </a:rPr>
              <a:t>月</a:t>
            </a:r>
            <a:r>
              <a:rPr lang="en-US" altLang="ja-JP" sz="1000" dirty="0">
                <a:latin typeface="+mn-ea"/>
                <a:ea typeface="+mn-ea"/>
              </a:rPr>
              <a:t>4</a:t>
            </a:r>
            <a:r>
              <a:rPr lang="ja-JP" altLang="en-US" sz="1000" dirty="0">
                <a:latin typeface="+mn-ea"/>
                <a:ea typeface="+mn-ea"/>
              </a:rPr>
              <a:t>日の台風第</a:t>
            </a:r>
            <a:r>
              <a:rPr lang="en-US" altLang="ja-JP" sz="1000" dirty="0">
                <a:latin typeface="+mn-ea"/>
                <a:ea typeface="+mn-ea"/>
              </a:rPr>
              <a:t>21</a:t>
            </a:r>
            <a:r>
              <a:rPr lang="ja-JP" altLang="en-US" sz="1000" dirty="0">
                <a:latin typeface="+mn-ea"/>
                <a:ea typeface="+mn-ea"/>
              </a:rPr>
              <a:t>号による大雨と暴風、高潮について</a:t>
            </a:r>
            <a:r>
              <a:rPr lang="en-US" altLang="ja-JP" sz="1000" dirty="0">
                <a:latin typeface="+mn-ea"/>
                <a:ea typeface="+mn-ea"/>
              </a:rPr>
              <a:t>/</a:t>
            </a:r>
            <a:r>
              <a:rPr lang="ja-JP" altLang="en-US" sz="1000" dirty="0">
                <a:latin typeface="+mn-ea"/>
                <a:ea typeface="+mn-ea"/>
              </a:rPr>
              <a:t>神戸地方気象台より</a:t>
            </a:r>
            <a:r>
              <a:rPr lang="en-US" altLang="ja-JP" sz="1000" dirty="0">
                <a:latin typeface="+mn-ea"/>
                <a:ea typeface="+mn-ea"/>
              </a:rPr>
              <a:t>)</a:t>
            </a:r>
            <a:endParaRPr lang="ja-JP" altLang="en-US" sz="1000" dirty="0">
              <a:latin typeface="+mn-ea"/>
              <a:ea typeface="+mn-ea"/>
            </a:endParaRPr>
          </a:p>
        </p:txBody>
      </p:sp>
      <p:sp>
        <p:nvSpPr>
          <p:cNvPr id="12" name="正方形/長方形 11">
            <a:extLst>
              <a:ext uri="{FF2B5EF4-FFF2-40B4-BE49-F238E27FC236}">
                <a16:creationId xmlns:a16="http://schemas.microsoft.com/office/drawing/2014/main" id="{309F1579-C5FF-46CB-A470-7D05784BDE44}"/>
              </a:ext>
            </a:extLst>
          </p:cNvPr>
          <p:cNvSpPr/>
          <p:nvPr/>
        </p:nvSpPr>
        <p:spPr>
          <a:xfrm>
            <a:off x="360000" y="5820134"/>
            <a:ext cx="3983339" cy="261610"/>
          </a:xfrm>
          <a:prstGeom prst="rect">
            <a:avLst/>
          </a:prstGeom>
        </p:spPr>
        <p:txBody>
          <a:bodyPr wrap="square">
            <a:spAutoFit/>
          </a:bodyPr>
          <a:lstStyle/>
          <a:p>
            <a:pPr algn="ctr"/>
            <a:r>
              <a:rPr lang="ja-JP" altLang="en-US" sz="1100" dirty="0">
                <a:latin typeface="游ゴシック" panose="020B0400000000000000" pitchFamily="50" charset="-128"/>
                <a:ea typeface="游ゴシック" panose="020B0400000000000000" pitchFamily="50" charset="-128"/>
              </a:rPr>
              <a:t>図：地点別期間降水量</a:t>
            </a:r>
            <a:r>
              <a:rPr lang="en-US" altLang="ja-JP" sz="1100" dirty="0">
                <a:latin typeface="游ゴシック" panose="020B0400000000000000" pitchFamily="50" charset="-128"/>
                <a:ea typeface="游ゴシック" panose="020B0400000000000000" pitchFamily="50" charset="-128"/>
              </a:rPr>
              <a:t>(2018</a:t>
            </a:r>
            <a:r>
              <a:rPr lang="ja-JP" altLang="en-US" sz="1100" dirty="0">
                <a:latin typeface="游ゴシック" panose="020B0400000000000000" pitchFamily="50" charset="-128"/>
                <a:ea typeface="游ゴシック" panose="020B0400000000000000" pitchFamily="50" charset="-128"/>
              </a:rPr>
              <a:t>年</a:t>
            </a:r>
            <a:r>
              <a:rPr lang="en-US" altLang="ja-JP" sz="1100" dirty="0">
                <a:latin typeface="游ゴシック" panose="020B0400000000000000" pitchFamily="50" charset="-128"/>
                <a:ea typeface="游ゴシック" panose="020B0400000000000000" pitchFamily="50" charset="-128"/>
              </a:rPr>
              <a:t>9</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4</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a:t>
            </a:r>
            <a:endParaRPr lang="en-US" altLang="ja-JP" sz="1100" dirty="0">
              <a:effectLst/>
              <a:latin typeface="游ゴシック" panose="020B0400000000000000" pitchFamily="50" charset="-128"/>
              <a:ea typeface="游ゴシック" panose="020B0400000000000000" pitchFamily="50" charset="-128"/>
            </a:endParaRPr>
          </a:p>
        </p:txBody>
      </p:sp>
      <p:sp>
        <p:nvSpPr>
          <p:cNvPr id="13" name="正方形/長方形 12">
            <a:extLst>
              <a:ext uri="{FF2B5EF4-FFF2-40B4-BE49-F238E27FC236}">
                <a16:creationId xmlns:a16="http://schemas.microsoft.com/office/drawing/2014/main" id="{7EDEFF99-71F7-492D-8826-3F81846F4C7C}"/>
              </a:ext>
            </a:extLst>
          </p:cNvPr>
          <p:cNvSpPr/>
          <p:nvPr/>
        </p:nvSpPr>
        <p:spPr>
          <a:xfrm>
            <a:off x="4891336" y="5768947"/>
            <a:ext cx="3983339" cy="600164"/>
          </a:xfrm>
          <a:prstGeom prst="rect">
            <a:avLst/>
          </a:prstGeom>
        </p:spPr>
        <p:txBody>
          <a:bodyPr wrap="square">
            <a:spAutoFit/>
          </a:bodyPr>
          <a:lstStyle/>
          <a:p>
            <a:pPr algn="ctr"/>
            <a:r>
              <a:rPr lang="ja-JP" altLang="en-US" sz="1100" dirty="0">
                <a:latin typeface="游ゴシック" panose="020B0400000000000000" pitchFamily="50" charset="-128"/>
                <a:ea typeface="游ゴシック" panose="020B0400000000000000" pitchFamily="50" charset="-128"/>
              </a:rPr>
              <a:t>上図：神戸観測所期間降水量</a:t>
            </a:r>
            <a:r>
              <a:rPr lang="en-US" altLang="ja-JP" sz="1100" dirty="0">
                <a:latin typeface="游ゴシック" panose="020B0400000000000000" pitchFamily="50" charset="-128"/>
                <a:ea typeface="游ゴシック" panose="020B0400000000000000" pitchFamily="50" charset="-128"/>
              </a:rPr>
              <a:t>(2018</a:t>
            </a:r>
            <a:r>
              <a:rPr lang="ja-JP" altLang="en-US" sz="1100" dirty="0">
                <a:latin typeface="游ゴシック" panose="020B0400000000000000" pitchFamily="50" charset="-128"/>
                <a:ea typeface="游ゴシック" panose="020B0400000000000000" pitchFamily="50" charset="-128"/>
              </a:rPr>
              <a:t>年</a:t>
            </a:r>
            <a:r>
              <a:rPr lang="en-US" altLang="ja-JP" sz="1100" dirty="0">
                <a:latin typeface="游ゴシック" panose="020B0400000000000000" pitchFamily="50" charset="-128"/>
                <a:ea typeface="游ゴシック" panose="020B0400000000000000" pitchFamily="50" charset="-128"/>
              </a:rPr>
              <a:t>9</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4</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a:t>
            </a:r>
          </a:p>
          <a:p>
            <a:pPr algn="ctr"/>
            <a:r>
              <a:rPr lang="ja-JP" altLang="en-US" sz="1100" dirty="0">
                <a:latin typeface="游ゴシック" panose="020B0400000000000000" pitchFamily="50" charset="-128"/>
                <a:ea typeface="游ゴシック" panose="020B0400000000000000" pitchFamily="50" charset="-128"/>
              </a:rPr>
              <a:t>下図：潮位データ</a:t>
            </a:r>
            <a:r>
              <a:rPr lang="en-US" altLang="ja-JP" sz="1100" dirty="0">
                <a:latin typeface="游ゴシック" panose="020B0400000000000000" pitchFamily="50" charset="-128"/>
                <a:ea typeface="游ゴシック" panose="020B0400000000000000" pitchFamily="50" charset="-128"/>
              </a:rPr>
              <a:t>(2018</a:t>
            </a:r>
            <a:r>
              <a:rPr lang="ja-JP" altLang="en-US" sz="1100" dirty="0">
                <a:latin typeface="游ゴシック" panose="020B0400000000000000" pitchFamily="50" charset="-128"/>
                <a:ea typeface="游ゴシック" panose="020B0400000000000000" pitchFamily="50" charset="-128"/>
              </a:rPr>
              <a:t>年</a:t>
            </a:r>
            <a:r>
              <a:rPr lang="en-US" altLang="ja-JP" sz="1100" dirty="0">
                <a:latin typeface="游ゴシック" panose="020B0400000000000000" pitchFamily="50" charset="-128"/>
                <a:ea typeface="游ゴシック" panose="020B0400000000000000" pitchFamily="50" charset="-128"/>
              </a:rPr>
              <a:t>9</a:t>
            </a:r>
            <a:r>
              <a:rPr lang="ja-JP" altLang="en-US" sz="1100" dirty="0">
                <a:latin typeface="游ゴシック" panose="020B0400000000000000" pitchFamily="50" charset="-128"/>
                <a:ea typeface="游ゴシック" panose="020B0400000000000000" pitchFamily="50" charset="-128"/>
              </a:rPr>
              <a:t>月</a:t>
            </a:r>
            <a:r>
              <a:rPr lang="en-US" altLang="ja-JP" sz="1100" dirty="0">
                <a:latin typeface="游ゴシック" panose="020B0400000000000000" pitchFamily="50" charset="-128"/>
                <a:ea typeface="游ゴシック" panose="020B0400000000000000" pitchFamily="50" charset="-128"/>
              </a:rPr>
              <a:t>4</a:t>
            </a:r>
            <a:r>
              <a:rPr lang="ja-JP" altLang="en-US" sz="1100" dirty="0">
                <a:latin typeface="游ゴシック" panose="020B0400000000000000" pitchFamily="50" charset="-128"/>
                <a:ea typeface="游ゴシック" panose="020B0400000000000000" pitchFamily="50" charset="-128"/>
              </a:rPr>
              <a:t>日</a:t>
            </a:r>
            <a:r>
              <a:rPr lang="en-US" altLang="ja-JP" sz="1100" dirty="0">
                <a:latin typeface="游ゴシック" panose="020B0400000000000000" pitchFamily="50" charset="-128"/>
                <a:ea typeface="游ゴシック" panose="020B0400000000000000" pitchFamily="50" charset="-128"/>
              </a:rPr>
              <a:t>)</a:t>
            </a:r>
            <a:endParaRPr lang="en-US" altLang="ja-JP" sz="1100" dirty="0">
              <a:effectLst/>
              <a:latin typeface="游ゴシック" panose="020B0400000000000000" pitchFamily="50" charset="-128"/>
              <a:ea typeface="游ゴシック" panose="020B0400000000000000" pitchFamily="50" charset="-128"/>
            </a:endParaRPr>
          </a:p>
          <a:p>
            <a:pPr algn="ctr"/>
            <a:endParaRPr lang="en-US" altLang="ja-JP" sz="1100" dirty="0">
              <a:effectLst/>
              <a:latin typeface="游ゴシック" panose="020B0400000000000000" pitchFamily="50" charset="-128"/>
              <a:ea typeface="游ゴシック" panose="020B0400000000000000" pitchFamily="50" charset="-128"/>
            </a:endParaRPr>
          </a:p>
        </p:txBody>
      </p:sp>
      <p:pic>
        <p:nvPicPr>
          <p:cNvPr id="5" name="図 4">
            <a:extLst>
              <a:ext uri="{FF2B5EF4-FFF2-40B4-BE49-F238E27FC236}">
                <a16:creationId xmlns:a16="http://schemas.microsoft.com/office/drawing/2014/main" id="{C687B79D-858B-45EB-B419-996E20EDA5A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60000" y="2385508"/>
            <a:ext cx="4445000" cy="3291290"/>
          </a:xfrm>
          <a:prstGeom prst="rect">
            <a:avLst/>
          </a:prstGeom>
        </p:spPr>
      </p:pic>
    </p:spTree>
    <p:extLst>
      <p:ext uri="{BB962C8B-B14F-4D97-AF65-F5344CB8AC3E}">
        <p14:creationId xmlns:p14="http://schemas.microsoft.com/office/powerpoint/2010/main" val="38208870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291336" y="370800"/>
            <a:ext cx="7200000" cy="720000"/>
          </a:xfrm>
          <a:prstGeom prst="rect">
            <a:avLst/>
          </a:prstGeom>
          <a:noFill/>
        </p:spPr>
        <p:txBody>
          <a:bodyPr wrap="square" lIns="0" tIns="0" rIns="0" bIns="0" numCol="1" rtlCol="0" anchor="ctr" anchorCtr="0">
            <a:noAutofit/>
          </a:bodyPr>
          <a:lstStyle/>
          <a:p>
            <a:r>
              <a:rPr sz="2400" dirty="0" err="1">
                <a:latin typeface="+mn-ea"/>
                <a:ea typeface="+mn-ea"/>
              </a:rPr>
              <a:t>過去の保険金支払事故</a:t>
            </a:r>
            <a:r>
              <a:rPr sz="2400" dirty="0">
                <a:latin typeface="+mn-ea"/>
                <a:ea typeface="+mn-ea"/>
              </a:rPr>
              <a:t>｜</a:t>
            </a:r>
            <a:r>
              <a:rPr sz="2000" dirty="0">
                <a:latin typeface="+mn-ea"/>
                <a:ea typeface="+mn-ea"/>
              </a:rPr>
              <a:t>③</a:t>
            </a:r>
            <a:r>
              <a:rPr sz="2000" dirty="0" err="1">
                <a:latin typeface="+mn-ea"/>
                <a:ea typeface="+mn-ea"/>
              </a:rPr>
              <a:t>被害の原因</a:t>
            </a:r>
            <a:r>
              <a:rPr lang="en-US" sz="2000" dirty="0">
                <a:latin typeface="+mn-ea"/>
                <a:ea typeface="+mn-ea"/>
              </a:rPr>
              <a:t>  </a:t>
            </a:r>
            <a:r>
              <a:rPr sz="2000" dirty="0" err="1">
                <a:latin typeface="+mn-ea"/>
                <a:ea typeface="+mn-ea"/>
              </a:rPr>
              <a:t>全体像</a:t>
            </a:r>
            <a:endParaRPr lang="ja-JP" altLang="en-US" sz="2000" dirty="0">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44</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7" name="テキスト ボックス 7"/>
          <p:cNvSpPr txBox="1">
            <a:spLocks noChangeArrowheads="1"/>
          </p:cNvSpPr>
          <p:nvPr/>
        </p:nvSpPr>
        <p:spPr bwMode="auto">
          <a:xfrm>
            <a:off x="360000" y="1202661"/>
            <a:ext cx="9273844" cy="660175"/>
          </a:xfrm>
          <a:prstGeom prst="rect">
            <a:avLst/>
          </a:prstGeom>
          <a:solidFill>
            <a:srgbClr val="CCE0DE"/>
          </a:solidFill>
          <a:ln>
            <a:noFill/>
          </a:ln>
        </p:spPr>
        <p:txBody>
          <a:bodyPr wrap="square" anchor="ct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algn="l" eaLnBrk="1" hangingPunct="1">
              <a:lnSpc>
                <a:spcPct val="125000"/>
              </a:lnSpc>
              <a:defRPr/>
            </a:pPr>
            <a:r>
              <a:rPr sz="1400" b="0" dirty="0">
                <a:latin typeface="+mn-ea"/>
                <a:ea typeface="+mn-ea"/>
              </a:rPr>
              <a:t>2018年の3事象は、いずれも「敷地内に流入した雨水・海水を排出しきれなかったこと」により発生しています。外力（豪雨・高潮・高波）と排水系統の能力・構造の不整合が被害に至る</a:t>
            </a:r>
            <a:r>
              <a:rPr lang="ja-JP" altLang="en-US" sz="1400" b="0" dirty="0">
                <a:latin typeface="+mn-ea"/>
                <a:ea typeface="+mn-ea"/>
              </a:rPr>
              <a:t>要因</a:t>
            </a:r>
            <a:r>
              <a:rPr sz="1400" b="0" dirty="0" err="1">
                <a:latin typeface="+mn-ea"/>
                <a:ea typeface="+mn-ea"/>
              </a:rPr>
              <a:t>を下図に整理しました</a:t>
            </a:r>
            <a:r>
              <a:rPr sz="1400" b="0" dirty="0">
                <a:latin typeface="+mn-ea"/>
                <a:ea typeface="+mn-ea"/>
              </a:rPr>
              <a:t>。</a:t>
            </a:r>
            <a:endParaRPr kumimoji="1" lang="en-US" altLang="ja-JP" sz="1400" b="0" i="0" u="none" strike="noStrike" kern="1200" cap="none" spc="0" normalizeH="0" baseline="0" noProof="0" dirty="0">
              <a:ln>
                <a:noFill/>
              </a:ln>
              <a:effectLst/>
              <a:uLnTx/>
              <a:uFillTx/>
              <a:latin typeface="+mn-ea"/>
              <a:ea typeface="+mn-ea"/>
            </a:endParaRPr>
          </a:p>
        </p:txBody>
      </p:sp>
      <p:grpSp>
        <p:nvGrpSpPr>
          <p:cNvPr id="16" name="グループ化 15">
            <a:extLst>
              <a:ext uri="{FF2B5EF4-FFF2-40B4-BE49-F238E27FC236}">
                <a16:creationId xmlns:a16="http://schemas.microsoft.com/office/drawing/2014/main" id="{F082B121-1C2F-49EB-B95A-DE4802BC942B}"/>
              </a:ext>
            </a:extLst>
          </p:cNvPr>
          <p:cNvGrpSpPr/>
          <p:nvPr/>
        </p:nvGrpSpPr>
        <p:grpSpPr>
          <a:xfrm>
            <a:off x="360000" y="370800"/>
            <a:ext cx="720000" cy="672000"/>
            <a:chOff x="360000" y="370800"/>
            <a:chExt cx="720000" cy="672000"/>
          </a:xfrm>
        </p:grpSpPr>
        <p:sp>
          <p:nvSpPr>
            <p:cNvPr id="18" name="正方形/長方形 17">
              <a:extLst>
                <a:ext uri="{FF2B5EF4-FFF2-40B4-BE49-F238E27FC236}">
                  <a16:creationId xmlns:a16="http://schemas.microsoft.com/office/drawing/2014/main" id="{510F4760-AEA9-43F2-A3BB-028443090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AF7CDDDC-A95E-4CB7-BEFE-383C7A91F0F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7</a:t>
              </a:r>
            </a:p>
          </p:txBody>
        </p:sp>
      </p:grpSp>
      <p:sp>
        <p:nvSpPr>
          <p:cNvPr id="22" name="TextBox 21"/>
          <p:cNvSpPr txBox="1"/>
          <p:nvPr/>
        </p:nvSpPr>
        <p:spPr>
          <a:xfrm>
            <a:off x="411480" y="2121408"/>
            <a:ext cx="1600200" cy="256032"/>
          </a:xfrm>
          <a:prstGeom prst="rect">
            <a:avLst/>
          </a:prstGeom>
          <a:noFill/>
        </p:spPr>
        <p:txBody>
          <a:bodyPr wrap="none">
            <a:spAutoFit/>
          </a:bodyPr>
          <a:lstStyle/>
          <a:p>
            <a:pPr algn="ctr"/>
            <a:r>
              <a:rPr sz="1100" b="1">
                <a:solidFill>
                  <a:srgbClr val="004C40"/>
                </a:solidFill>
                <a:latin typeface="+mn-ea"/>
                <a:ea typeface="+mn-ea"/>
              </a:rPr>
              <a:t>外力（自然現象）</a:t>
            </a:r>
          </a:p>
        </p:txBody>
      </p:sp>
      <p:sp>
        <p:nvSpPr>
          <p:cNvPr id="23" name="TextBox 22"/>
          <p:cNvSpPr txBox="1"/>
          <p:nvPr/>
        </p:nvSpPr>
        <p:spPr>
          <a:xfrm>
            <a:off x="3069592" y="2121408"/>
            <a:ext cx="1313180" cy="261610"/>
          </a:xfrm>
          <a:prstGeom prst="rect">
            <a:avLst/>
          </a:prstGeom>
          <a:noFill/>
        </p:spPr>
        <p:txBody>
          <a:bodyPr wrap="none">
            <a:spAutoFit/>
          </a:bodyPr>
          <a:lstStyle/>
          <a:p>
            <a:pPr algn="ctr"/>
            <a:r>
              <a:rPr sz="1100" b="1" dirty="0" err="1">
                <a:solidFill>
                  <a:srgbClr val="004C40"/>
                </a:solidFill>
                <a:latin typeface="+mn-ea"/>
                <a:ea typeface="+mn-ea"/>
              </a:rPr>
              <a:t>排水系統の</a:t>
            </a:r>
            <a:r>
              <a:rPr lang="ja-JP" altLang="en-US" sz="1100" b="1" dirty="0">
                <a:solidFill>
                  <a:srgbClr val="004C40"/>
                </a:solidFill>
                <a:latin typeface="+mn-ea"/>
                <a:ea typeface="+mn-ea"/>
              </a:rPr>
              <a:t>問題点</a:t>
            </a:r>
            <a:endParaRPr sz="1100" b="1" dirty="0">
              <a:solidFill>
                <a:srgbClr val="004C40"/>
              </a:solidFill>
              <a:latin typeface="+mn-ea"/>
              <a:ea typeface="+mn-ea"/>
            </a:endParaRPr>
          </a:p>
        </p:txBody>
      </p:sp>
      <p:sp>
        <p:nvSpPr>
          <p:cNvPr id="24" name="TextBox 23"/>
          <p:cNvSpPr txBox="1"/>
          <p:nvPr/>
        </p:nvSpPr>
        <p:spPr>
          <a:xfrm>
            <a:off x="6094920" y="2121408"/>
            <a:ext cx="748923" cy="261610"/>
          </a:xfrm>
          <a:prstGeom prst="rect">
            <a:avLst/>
          </a:prstGeom>
          <a:noFill/>
        </p:spPr>
        <p:txBody>
          <a:bodyPr wrap="none">
            <a:spAutoFit/>
          </a:bodyPr>
          <a:lstStyle/>
          <a:p>
            <a:pPr algn="ctr"/>
            <a:r>
              <a:rPr lang="ja-JP" altLang="en-US" sz="1100" b="1" dirty="0">
                <a:solidFill>
                  <a:srgbClr val="004C40"/>
                </a:solidFill>
                <a:latin typeface="+mn-ea"/>
                <a:ea typeface="+mn-ea"/>
              </a:rPr>
              <a:t>発生現象</a:t>
            </a:r>
            <a:endParaRPr sz="1100" b="1" dirty="0">
              <a:solidFill>
                <a:srgbClr val="004C40"/>
              </a:solidFill>
              <a:latin typeface="+mn-ea"/>
              <a:ea typeface="+mn-ea"/>
            </a:endParaRPr>
          </a:p>
        </p:txBody>
      </p:sp>
      <p:sp>
        <p:nvSpPr>
          <p:cNvPr id="25" name="TextBox 24"/>
          <p:cNvSpPr txBox="1"/>
          <p:nvPr/>
        </p:nvSpPr>
        <p:spPr>
          <a:xfrm>
            <a:off x="7818120" y="2121408"/>
            <a:ext cx="1645920" cy="256032"/>
          </a:xfrm>
          <a:prstGeom prst="rect">
            <a:avLst/>
          </a:prstGeom>
          <a:noFill/>
        </p:spPr>
        <p:txBody>
          <a:bodyPr wrap="none">
            <a:spAutoFit/>
          </a:bodyPr>
          <a:lstStyle/>
          <a:p>
            <a:pPr algn="ctr"/>
            <a:r>
              <a:rPr sz="1100" b="1" dirty="0" err="1">
                <a:solidFill>
                  <a:srgbClr val="004C40"/>
                </a:solidFill>
                <a:latin typeface="+mn-ea"/>
                <a:ea typeface="+mn-ea"/>
              </a:rPr>
              <a:t>被害</a:t>
            </a:r>
            <a:endParaRPr sz="1100" b="1" dirty="0">
              <a:solidFill>
                <a:srgbClr val="004C40"/>
              </a:solidFill>
              <a:latin typeface="+mn-ea"/>
              <a:ea typeface="+mn-ea"/>
            </a:endParaRPr>
          </a:p>
        </p:txBody>
      </p:sp>
      <p:sp>
        <p:nvSpPr>
          <p:cNvPr id="26" name="Rounded Rectangle 25"/>
          <p:cNvSpPr/>
          <p:nvPr/>
        </p:nvSpPr>
        <p:spPr>
          <a:xfrm>
            <a:off x="411480" y="2432304"/>
            <a:ext cx="1600200" cy="1298448"/>
          </a:xfrm>
          <a:prstGeom prst="roundRect">
            <a:avLst>
              <a:gd name="adj" fmla="val 6000"/>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r>
              <a:rPr sz="1100" b="1" dirty="0" err="1">
                <a:solidFill>
                  <a:srgbClr val="FFFFFF"/>
                </a:solidFill>
                <a:latin typeface="+mn-ea"/>
                <a:ea typeface="+mn-ea"/>
              </a:rPr>
              <a:t>豪雨</a:t>
            </a:r>
            <a:endParaRPr sz="1100" b="1" dirty="0">
              <a:solidFill>
                <a:srgbClr val="FFFFFF"/>
              </a:solidFill>
              <a:latin typeface="+mn-ea"/>
              <a:ea typeface="+mn-ea"/>
            </a:endParaRPr>
          </a:p>
          <a:p>
            <a:pPr algn="ctr"/>
            <a:r>
              <a:rPr sz="950" b="0" dirty="0">
                <a:solidFill>
                  <a:srgbClr val="FFFFFF"/>
                </a:solidFill>
                <a:latin typeface="+mn-ea"/>
                <a:ea typeface="+mn-ea"/>
              </a:rPr>
              <a:t>2018年7月</a:t>
            </a:r>
          </a:p>
          <a:p>
            <a:pPr algn="ctr"/>
            <a:r>
              <a:rPr sz="950" b="0" dirty="0" err="1">
                <a:solidFill>
                  <a:srgbClr val="FFFFFF"/>
                </a:solidFill>
                <a:latin typeface="+mn-ea"/>
                <a:ea typeface="+mn-ea"/>
              </a:rPr>
              <a:t>累積</a:t>
            </a:r>
            <a:r>
              <a:rPr lang="ja-JP" altLang="en-US" sz="950" dirty="0">
                <a:solidFill>
                  <a:srgbClr val="FFFFFF"/>
                </a:solidFill>
                <a:latin typeface="+mn-ea"/>
              </a:rPr>
              <a:t>雨量</a:t>
            </a:r>
            <a:r>
              <a:rPr sz="950" b="0" dirty="0">
                <a:solidFill>
                  <a:srgbClr val="FFFFFF"/>
                </a:solidFill>
                <a:latin typeface="+mn-ea"/>
                <a:ea typeface="+mn-ea"/>
              </a:rPr>
              <a:t>379mm</a:t>
            </a:r>
          </a:p>
        </p:txBody>
      </p:sp>
      <p:sp>
        <p:nvSpPr>
          <p:cNvPr id="27" name="Right Arrow 26"/>
          <p:cNvSpPr/>
          <p:nvPr/>
        </p:nvSpPr>
        <p:spPr>
          <a:xfrm>
            <a:off x="2066543" y="2999232"/>
            <a:ext cx="201168" cy="164592"/>
          </a:xfrm>
          <a:prstGeom prst="rightArrow">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2331720" y="2432304"/>
            <a:ext cx="2788920" cy="603504"/>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050" b="0" dirty="0">
                <a:solidFill>
                  <a:schemeClr val="tx1"/>
                </a:solidFill>
                <a:latin typeface="+mn-ea"/>
                <a:ea typeface="+mn-ea"/>
              </a:rPr>
              <a:t>① No.16水処理施設の</a:t>
            </a:r>
          </a:p>
          <a:p>
            <a:pPr algn="l">
              <a:lnSpc>
                <a:spcPct val="115000"/>
              </a:lnSpc>
            </a:pPr>
            <a:r>
              <a:rPr sz="1050" b="0" dirty="0">
                <a:solidFill>
                  <a:schemeClr val="tx1"/>
                </a:solidFill>
                <a:latin typeface="+mn-ea"/>
                <a:ea typeface="+mn-ea"/>
              </a:rPr>
              <a:t>処理能力不足（400t/h）</a:t>
            </a:r>
          </a:p>
        </p:txBody>
      </p:sp>
      <p:sp>
        <p:nvSpPr>
          <p:cNvPr id="29" name="Rounded Rectangle 28"/>
          <p:cNvSpPr/>
          <p:nvPr/>
        </p:nvSpPr>
        <p:spPr>
          <a:xfrm>
            <a:off x="2331720" y="3127248"/>
            <a:ext cx="2788920" cy="603504"/>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050" b="0" dirty="0">
                <a:solidFill>
                  <a:schemeClr val="tx1"/>
                </a:solidFill>
                <a:latin typeface="+mn-ea"/>
                <a:ea typeface="+mn-ea"/>
              </a:rPr>
              <a:t>② 工場からNo.16への</a:t>
            </a:r>
          </a:p>
          <a:p>
            <a:pPr algn="l">
              <a:lnSpc>
                <a:spcPct val="115000"/>
              </a:lnSpc>
            </a:pPr>
            <a:r>
              <a:rPr sz="1050" b="0" dirty="0">
                <a:solidFill>
                  <a:schemeClr val="tx1"/>
                </a:solidFill>
                <a:latin typeface="+mn-ea"/>
                <a:ea typeface="+mn-ea"/>
              </a:rPr>
              <a:t>送水能力不足（400t/h）</a:t>
            </a:r>
          </a:p>
        </p:txBody>
      </p:sp>
      <p:sp>
        <p:nvSpPr>
          <p:cNvPr id="30" name="Right Arrow 29"/>
          <p:cNvSpPr/>
          <p:nvPr/>
        </p:nvSpPr>
        <p:spPr>
          <a:xfrm>
            <a:off x="5175504" y="2999232"/>
            <a:ext cx="201168" cy="164592"/>
          </a:xfrm>
          <a:prstGeom prst="rightArrow">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5440680" y="2432304"/>
            <a:ext cx="2057400" cy="1298448"/>
          </a:xfrm>
          <a:prstGeom prst="roundRect">
            <a:avLst>
              <a:gd name="adj" fmla="val 6000"/>
            </a:avLst>
          </a:prstGeom>
          <a:solidFill>
            <a:srgbClr val="CCE0DE"/>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050" b="0" dirty="0" err="1">
                <a:solidFill>
                  <a:schemeClr val="tx1"/>
                </a:solidFill>
                <a:latin typeface="+mn-ea"/>
                <a:ea typeface="+mn-ea"/>
              </a:rPr>
              <a:t>敷地内に雨水が滞留</a:t>
            </a:r>
            <a:endParaRPr sz="1050" b="0" dirty="0">
              <a:solidFill>
                <a:schemeClr val="tx1"/>
              </a:solidFill>
              <a:latin typeface="+mn-ea"/>
              <a:ea typeface="+mn-ea"/>
            </a:endParaRPr>
          </a:p>
          <a:p>
            <a:pPr algn="l">
              <a:lnSpc>
                <a:spcPct val="115000"/>
              </a:lnSpc>
            </a:pPr>
            <a:r>
              <a:rPr sz="1050" b="0" dirty="0" err="1">
                <a:solidFill>
                  <a:schemeClr val="tx1"/>
                </a:solidFill>
                <a:latin typeface="+mn-ea"/>
                <a:ea typeface="+mn-ea"/>
              </a:rPr>
              <a:t>推定冠水深さ</a:t>
            </a:r>
            <a:r>
              <a:rPr sz="1050" b="0" dirty="0">
                <a:solidFill>
                  <a:schemeClr val="tx1"/>
                </a:solidFill>
                <a:latin typeface="+mn-ea"/>
                <a:ea typeface="+mn-ea"/>
              </a:rPr>
              <a:t> 約383mm</a:t>
            </a:r>
          </a:p>
        </p:txBody>
      </p:sp>
      <p:sp>
        <p:nvSpPr>
          <p:cNvPr id="32" name="Right Arrow 31"/>
          <p:cNvSpPr/>
          <p:nvPr/>
        </p:nvSpPr>
        <p:spPr>
          <a:xfrm>
            <a:off x="7552944" y="2999232"/>
            <a:ext cx="201168" cy="164592"/>
          </a:xfrm>
          <a:prstGeom prst="rightArrow">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32"/>
          <p:cNvSpPr/>
          <p:nvPr/>
        </p:nvSpPr>
        <p:spPr>
          <a:xfrm>
            <a:off x="411480" y="3877056"/>
            <a:ext cx="1600200" cy="896112"/>
          </a:xfrm>
          <a:prstGeom prst="roundRect">
            <a:avLst>
              <a:gd name="adj" fmla="val 6000"/>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r>
              <a:rPr sz="1100" b="1" dirty="0" err="1">
                <a:solidFill>
                  <a:srgbClr val="FFFFFF"/>
                </a:solidFill>
                <a:latin typeface="+mn-ea"/>
                <a:ea typeface="+mn-ea"/>
              </a:rPr>
              <a:t>高潮</a:t>
            </a:r>
            <a:endParaRPr sz="1100" b="1" dirty="0">
              <a:solidFill>
                <a:srgbClr val="FFFFFF"/>
              </a:solidFill>
              <a:latin typeface="+mn-ea"/>
              <a:ea typeface="+mn-ea"/>
            </a:endParaRPr>
          </a:p>
          <a:p>
            <a:pPr algn="ctr"/>
            <a:r>
              <a:rPr sz="950" b="0" dirty="0">
                <a:solidFill>
                  <a:srgbClr val="FFFFFF"/>
                </a:solidFill>
                <a:latin typeface="+mn-ea"/>
                <a:ea typeface="+mn-ea"/>
              </a:rPr>
              <a:t>台風21号</a:t>
            </a:r>
          </a:p>
          <a:p>
            <a:pPr algn="ctr"/>
            <a:r>
              <a:rPr sz="950" b="0" dirty="0">
                <a:solidFill>
                  <a:srgbClr val="FFFFFF"/>
                </a:solidFill>
                <a:latin typeface="+mn-ea"/>
                <a:ea typeface="+mn-ea"/>
              </a:rPr>
              <a:t>潮位KP+3.7m</a:t>
            </a:r>
          </a:p>
        </p:txBody>
      </p:sp>
      <p:sp>
        <p:nvSpPr>
          <p:cNvPr id="34" name="Right Arrow 33"/>
          <p:cNvSpPr/>
          <p:nvPr/>
        </p:nvSpPr>
        <p:spPr>
          <a:xfrm>
            <a:off x="2066543" y="4242816"/>
            <a:ext cx="201168" cy="164592"/>
          </a:xfrm>
          <a:prstGeom prst="rightArrow">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ounded Rectangle 34"/>
          <p:cNvSpPr/>
          <p:nvPr/>
        </p:nvSpPr>
        <p:spPr>
          <a:xfrm>
            <a:off x="2331720" y="3877056"/>
            <a:ext cx="2788920" cy="896112"/>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050" b="0" dirty="0">
                <a:solidFill>
                  <a:schemeClr val="tx1"/>
                </a:solidFill>
                <a:latin typeface="+mn-ea"/>
                <a:ea typeface="+mn-ea"/>
              </a:rPr>
              <a:t>③ No.16排水口が自然放流方式</a:t>
            </a:r>
          </a:p>
          <a:p>
            <a:pPr algn="l">
              <a:lnSpc>
                <a:spcPct val="115000"/>
              </a:lnSpc>
            </a:pPr>
            <a:r>
              <a:rPr sz="1050" b="0" dirty="0">
                <a:solidFill>
                  <a:schemeClr val="tx1"/>
                </a:solidFill>
                <a:latin typeface="+mn-ea"/>
                <a:ea typeface="+mn-ea"/>
              </a:rPr>
              <a:t>（</a:t>
            </a:r>
            <a:r>
              <a:rPr sz="1050" b="0" dirty="0" err="1">
                <a:solidFill>
                  <a:schemeClr val="tx1"/>
                </a:solidFill>
                <a:latin typeface="+mn-ea"/>
                <a:ea typeface="+mn-ea"/>
              </a:rPr>
              <a:t>重力式）で逆流を防げない</a:t>
            </a:r>
            <a:endParaRPr sz="1050" b="0" dirty="0">
              <a:solidFill>
                <a:schemeClr val="tx1"/>
              </a:solidFill>
              <a:latin typeface="+mn-ea"/>
              <a:ea typeface="+mn-ea"/>
            </a:endParaRPr>
          </a:p>
        </p:txBody>
      </p:sp>
      <p:sp>
        <p:nvSpPr>
          <p:cNvPr id="36" name="Right Arrow 35"/>
          <p:cNvSpPr/>
          <p:nvPr/>
        </p:nvSpPr>
        <p:spPr>
          <a:xfrm>
            <a:off x="5175504" y="4242816"/>
            <a:ext cx="201168" cy="164592"/>
          </a:xfrm>
          <a:prstGeom prst="rightArrow">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ounded Rectangle 36"/>
          <p:cNvSpPr/>
          <p:nvPr/>
        </p:nvSpPr>
        <p:spPr>
          <a:xfrm>
            <a:off x="5440680" y="3877056"/>
            <a:ext cx="2057400" cy="896112"/>
          </a:xfrm>
          <a:prstGeom prst="roundRect">
            <a:avLst>
              <a:gd name="adj" fmla="val 6000"/>
            </a:avLst>
          </a:prstGeom>
          <a:solidFill>
            <a:srgbClr val="CCE0DE"/>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050" b="0" dirty="0" err="1">
                <a:solidFill>
                  <a:schemeClr val="tx1"/>
                </a:solidFill>
                <a:latin typeface="+mn-ea"/>
                <a:ea typeface="+mn-ea"/>
              </a:rPr>
              <a:t>海への放流が不能</a:t>
            </a:r>
            <a:endParaRPr sz="1050" b="0" dirty="0">
              <a:solidFill>
                <a:schemeClr val="tx1"/>
              </a:solidFill>
              <a:latin typeface="+mn-ea"/>
              <a:ea typeface="+mn-ea"/>
            </a:endParaRPr>
          </a:p>
          <a:p>
            <a:pPr algn="l">
              <a:lnSpc>
                <a:spcPct val="115000"/>
              </a:lnSpc>
            </a:pPr>
            <a:r>
              <a:rPr lang="ja-JP" altLang="en-US" sz="1050" dirty="0">
                <a:solidFill>
                  <a:schemeClr val="tx1"/>
                </a:solidFill>
                <a:latin typeface="+mn-ea"/>
              </a:rPr>
              <a:t>敷地内</a:t>
            </a:r>
            <a:r>
              <a:rPr sz="1050" b="0" dirty="0" err="1">
                <a:solidFill>
                  <a:schemeClr val="tx1"/>
                </a:solidFill>
                <a:latin typeface="+mn-ea"/>
                <a:ea typeface="+mn-ea"/>
              </a:rPr>
              <a:t>に雨水が滞留</a:t>
            </a:r>
            <a:endParaRPr sz="1050" b="0" dirty="0">
              <a:solidFill>
                <a:schemeClr val="tx1"/>
              </a:solidFill>
              <a:latin typeface="+mn-ea"/>
              <a:ea typeface="+mn-ea"/>
            </a:endParaRPr>
          </a:p>
        </p:txBody>
      </p:sp>
      <p:sp>
        <p:nvSpPr>
          <p:cNvPr id="38" name="Right Arrow 37"/>
          <p:cNvSpPr/>
          <p:nvPr/>
        </p:nvSpPr>
        <p:spPr>
          <a:xfrm>
            <a:off x="7552944" y="4242816"/>
            <a:ext cx="201168" cy="164592"/>
          </a:xfrm>
          <a:prstGeom prst="rightArrow">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ounded Rectangle 38"/>
          <p:cNvSpPr/>
          <p:nvPr/>
        </p:nvSpPr>
        <p:spPr>
          <a:xfrm>
            <a:off x="411480" y="4882896"/>
            <a:ext cx="1600200" cy="896112"/>
          </a:xfrm>
          <a:prstGeom prst="roundRect">
            <a:avLst>
              <a:gd name="adj" fmla="val 6000"/>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r>
              <a:rPr sz="1100" b="1" dirty="0" err="1">
                <a:solidFill>
                  <a:srgbClr val="FFFFFF"/>
                </a:solidFill>
                <a:latin typeface="+mn-ea"/>
                <a:ea typeface="+mn-ea"/>
              </a:rPr>
              <a:t>高波</a:t>
            </a:r>
            <a:endParaRPr sz="1100" b="1" dirty="0">
              <a:solidFill>
                <a:srgbClr val="FFFFFF"/>
              </a:solidFill>
              <a:latin typeface="+mn-ea"/>
              <a:ea typeface="+mn-ea"/>
            </a:endParaRPr>
          </a:p>
          <a:p>
            <a:pPr algn="ctr"/>
            <a:r>
              <a:rPr sz="950" b="0" dirty="0">
                <a:solidFill>
                  <a:srgbClr val="FFFFFF"/>
                </a:solidFill>
                <a:latin typeface="+mn-ea"/>
                <a:ea typeface="+mn-ea"/>
              </a:rPr>
              <a:t>台風20号</a:t>
            </a:r>
          </a:p>
        </p:txBody>
      </p:sp>
      <p:sp>
        <p:nvSpPr>
          <p:cNvPr id="40" name="Right Arrow 39"/>
          <p:cNvSpPr/>
          <p:nvPr/>
        </p:nvSpPr>
        <p:spPr>
          <a:xfrm>
            <a:off x="2066543" y="5248656"/>
            <a:ext cx="201168" cy="164592"/>
          </a:xfrm>
          <a:prstGeom prst="rightArrow">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ounded Rectangle 40"/>
          <p:cNvSpPr/>
          <p:nvPr/>
        </p:nvSpPr>
        <p:spPr>
          <a:xfrm>
            <a:off x="2331720" y="4882896"/>
            <a:ext cx="2788920" cy="896112"/>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050" b="0" dirty="0">
                <a:solidFill>
                  <a:schemeClr val="tx1"/>
                </a:solidFill>
                <a:latin typeface="+mn-ea"/>
                <a:ea typeface="+mn-ea"/>
              </a:rPr>
              <a:t>④ 岸壁高さKP+5.70mに対し</a:t>
            </a:r>
          </a:p>
          <a:p>
            <a:pPr algn="l">
              <a:lnSpc>
                <a:spcPct val="115000"/>
              </a:lnSpc>
            </a:pPr>
            <a:r>
              <a:rPr sz="1050" b="0" dirty="0">
                <a:solidFill>
                  <a:schemeClr val="tx1"/>
                </a:solidFill>
                <a:latin typeface="+mn-ea"/>
                <a:ea typeface="+mn-ea"/>
              </a:rPr>
              <a:t>波高さKP+7.70m</a:t>
            </a:r>
          </a:p>
        </p:txBody>
      </p:sp>
      <p:sp>
        <p:nvSpPr>
          <p:cNvPr id="42" name="Right Arrow 41"/>
          <p:cNvSpPr/>
          <p:nvPr/>
        </p:nvSpPr>
        <p:spPr>
          <a:xfrm>
            <a:off x="5175504" y="5248656"/>
            <a:ext cx="201168" cy="164592"/>
          </a:xfrm>
          <a:prstGeom prst="rightArrow">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ounded Rectangle 42"/>
          <p:cNvSpPr/>
          <p:nvPr/>
        </p:nvSpPr>
        <p:spPr>
          <a:xfrm>
            <a:off x="5440680" y="4882896"/>
            <a:ext cx="2057400" cy="896112"/>
          </a:xfrm>
          <a:prstGeom prst="roundRect">
            <a:avLst>
              <a:gd name="adj" fmla="val 6000"/>
            </a:avLst>
          </a:prstGeom>
          <a:solidFill>
            <a:srgbClr val="CCE0DE"/>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050" b="0" dirty="0">
                <a:solidFill>
                  <a:schemeClr val="tx1"/>
                </a:solidFill>
                <a:latin typeface="+mn-ea"/>
                <a:ea typeface="+mn-ea"/>
              </a:rPr>
              <a:t>東岸壁から約2m越流</a:t>
            </a:r>
          </a:p>
          <a:p>
            <a:pPr algn="l">
              <a:lnSpc>
                <a:spcPct val="115000"/>
              </a:lnSpc>
            </a:pPr>
            <a:r>
              <a:rPr lang="ja-JP" altLang="en-US" sz="1050" b="0" dirty="0">
                <a:solidFill>
                  <a:schemeClr val="tx1"/>
                </a:solidFill>
                <a:latin typeface="+mn-ea"/>
                <a:ea typeface="+mn-ea"/>
              </a:rPr>
              <a:t>第</a:t>
            </a:r>
            <a:r>
              <a:rPr lang="en-US" altLang="ja-JP" sz="1050" b="0" dirty="0">
                <a:solidFill>
                  <a:schemeClr val="tx1"/>
                </a:solidFill>
                <a:latin typeface="+mn-ea"/>
                <a:ea typeface="+mn-ea"/>
              </a:rPr>
              <a:t>7</a:t>
            </a:r>
            <a:r>
              <a:rPr lang="ja-JP" altLang="en-US" sz="1050" b="0" dirty="0">
                <a:solidFill>
                  <a:schemeClr val="tx1"/>
                </a:solidFill>
                <a:latin typeface="+mn-ea"/>
                <a:ea typeface="+mn-ea"/>
              </a:rPr>
              <a:t>線材</a:t>
            </a:r>
            <a:r>
              <a:rPr sz="1050" b="0" dirty="0" err="1">
                <a:solidFill>
                  <a:schemeClr val="tx1"/>
                </a:solidFill>
                <a:latin typeface="+mn-ea"/>
                <a:ea typeface="+mn-ea"/>
              </a:rPr>
              <a:t>地下ピットへ海水浸入</a:t>
            </a:r>
            <a:endParaRPr sz="1050" b="0" dirty="0">
              <a:solidFill>
                <a:schemeClr val="tx1"/>
              </a:solidFill>
              <a:latin typeface="+mn-ea"/>
              <a:ea typeface="+mn-ea"/>
            </a:endParaRPr>
          </a:p>
        </p:txBody>
      </p:sp>
      <p:sp>
        <p:nvSpPr>
          <p:cNvPr id="44" name="Right Arrow 43"/>
          <p:cNvSpPr/>
          <p:nvPr/>
        </p:nvSpPr>
        <p:spPr>
          <a:xfrm>
            <a:off x="7552944" y="5248656"/>
            <a:ext cx="201168" cy="164592"/>
          </a:xfrm>
          <a:prstGeom prst="rightArrow">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7818120" y="2432304"/>
            <a:ext cx="1645920" cy="3346704"/>
          </a:xfrm>
          <a:prstGeom prst="roundRect">
            <a:avLst>
              <a:gd name="adj" fmla="val 6000"/>
            </a:avLst>
          </a:prstGeom>
          <a:solidFill>
            <a:srgbClr val="006659"/>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lnSpc>
                <a:spcPct val="120000"/>
              </a:lnSpc>
            </a:pPr>
            <a:r>
              <a:rPr sz="1000" b="1" dirty="0">
                <a:solidFill>
                  <a:srgbClr val="FFFFFF"/>
                </a:solidFill>
                <a:latin typeface="+mn-ea"/>
                <a:ea typeface="+mn-ea"/>
              </a:rPr>
              <a:t>7線材・</a:t>
            </a:r>
            <a:r>
              <a:rPr lang="ja-JP" altLang="en-US" sz="1000" b="1" dirty="0">
                <a:solidFill>
                  <a:srgbClr val="FFFFFF"/>
                </a:solidFill>
                <a:latin typeface="+mn-ea"/>
                <a:ea typeface="+mn-ea"/>
              </a:rPr>
              <a:t>第</a:t>
            </a:r>
            <a:r>
              <a:rPr sz="1000" b="1" dirty="0">
                <a:solidFill>
                  <a:srgbClr val="FFFFFF"/>
                </a:solidFill>
                <a:latin typeface="+mn-ea"/>
                <a:ea typeface="+mn-ea"/>
              </a:rPr>
              <a:t>3加工工場</a:t>
            </a:r>
          </a:p>
          <a:p>
            <a:pPr algn="ctr">
              <a:lnSpc>
                <a:spcPct val="120000"/>
              </a:lnSpc>
            </a:pPr>
            <a:r>
              <a:rPr sz="1000" b="1" dirty="0" err="1">
                <a:solidFill>
                  <a:srgbClr val="FFFFFF"/>
                </a:solidFill>
                <a:latin typeface="+mn-ea"/>
                <a:ea typeface="+mn-ea"/>
              </a:rPr>
              <a:t>の浸水</a:t>
            </a:r>
            <a:endParaRPr sz="1000" b="1" dirty="0">
              <a:solidFill>
                <a:srgbClr val="FFFFFF"/>
              </a:solidFill>
              <a:latin typeface="+mn-ea"/>
              <a:ea typeface="+mn-ea"/>
            </a:endParaRPr>
          </a:p>
          <a:p>
            <a:pPr algn="l"/>
            <a:endParaRPr sz="1000" b="1" dirty="0">
              <a:solidFill>
                <a:srgbClr val="FFFFFF"/>
              </a:solidFill>
              <a:latin typeface="+mn-ea"/>
              <a:ea typeface="+mn-ea"/>
            </a:endParaRPr>
          </a:p>
          <a:p>
            <a:pPr algn="l"/>
            <a:endParaRPr sz="1200" b="1" dirty="0">
              <a:solidFill>
                <a:srgbClr val="FFFFFF"/>
              </a:solidFill>
              <a:latin typeface="+mn-ea"/>
              <a:ea typeface="+mn-ea"/>
            </a:endParaRPr>
          </a:p>
          <a:p>
            <a:pPr algn="ctr">
              <a:lnSpc>
                <a:spcPct val="120000"/>
              </a:lnSpc>
            </a:pPr>
            <a:r>
              <a:rPr sz="1000" b="0" dirty="0" err="1">
                <a:solidFill>
                  <a:srgbClr val="FFFFFF"/>
                </a:solidFill>
                <a:latin typeface="+mn-ea"/>
                <a:ea typeface="+mn-ea"/>
              </a:rPr>
              <a:t>被害額</a:t>
            </a:r>
            <a:endParaRPr sz="1000" b="0" dirty="0">
              <a:solidFill>
                <a:srgbClr val="FFFFFF"/>
              </a:solidFill>
              <a:latin typeface="+mn-ea"/>
              <a:ea typeface="+mn-ea"/>
            </a:endParaRPr>
          </a:p>
          <a:p>
            <a:pPr algn="ctr">
              <a:lnSpc>
                <a:spcPct val="120000"/>
              </a:lnSpc>
            </a:pPr>
            <a:r>
              <a:rPr sz="1200" b="1" dirty="0" err="1">
                <a:solidFill>
                  <a:srgbClr val="FFFFFF"/>
                </a:solidFill>
                <a:latin typeface="+mn-ea"/>
                <a:ea typeface="+mn-ea"/>
              </a:rPr>
              <a:t>合計</a:t>
            </a:r>
            <a:r>
              <a:rPr sz="1200" b="1" dirty="0">
                <a:solidFill>
                  <a:srgbClr val="FFFFFF"/>
                </a:solidFill>
                <a:latin typeface="+mn-ea"/>
                <a:ea typeface="+mn-ea"/>
              </a:rPr>
              <a:t> 約25.3億円</a:t>
            </a:r>
          </a:p>
          <a:p>
            <a:pPr algn="ctr">
              <a:lnSpc>
                <a:spcPct val="110000"/>
              </a:lnSpc>
            </a:pPr>
            <a:r>
              <a:rPr sz="800" b="0" dirty="0">
                <a:solidFill>
                  <a:srgbClr val="FFFFFF"/>
                </a:solidFill>
                <a:latin typeface="+mn-ea"/>
                <a:ea typeface="+mn-ea"/>
              </a:rPr>
              <a:t>（経費2.6／製品廃却損3.3／
物流費10.1／機会損失9.3）</a:t>
            </a:r>
          </a:p>
        </p:txBody>
      </p:sp>
    </p:spTree>
    <p:extLst>
      <p:ext uri="{BB962C8B-B14F-4D97-AF65-F5344CB8AC3E}">
        <p14:creationId xmlns:p14="http://schemas.microsoft.com/office/powerpoint/2010/main" val="20079335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291336" y="370800"/>
            <a:ext cx="7200000" cy="720000"/>
          </a:xfrm>
          <a:prstGeom prst="rect">
            <a:avLst/>
          </a:prstGeom>
          <a:noFill/>
        </p:spPr>
        <p:txBody>
          <a:bodyPr wrap="square" lIns="0" tIns="0" rIns="0" bIns="0" numCol="1" rtlCol="0" anchor="ctr" anchorCtr="0">
            <a:noAutofit/>
          </a:bodyPr>
          <a:lstStyle/>
          <a:p>
            <a:r>
              <a:rPr sz="2400" dirty="0" err="1">
                <a:latin typeface="+mn-ea"/>
                <a:ea typeface="+mn-ea"/>
              </a:rPr>
              <a:t>過去の保険金支払事故</a:t>
            </a:r>
            <a:r>
              <a:rPr sz="2400" dirty="0">
                <a:latin typeface="+mn-ea"/>
                <a:ea typeface="+mn-ea"/>
              </a:rPr>
              <a:t>｜</a:t>
            </a:r>
            <a:r>
              <a:rPr sz="2000" dirty="0">
                <a:latin typeface="+mn-ea"/>
                <a:ea typeface="+mn-ea"/>
              </a:rPr>
              <a:t>③</a:t>
            </a:r>
            <a:r>
              <a:rPr sz="2000" dirty="0" err="1">
                <a:latin typeface="+mn-ea"/>
                <a:ea typeface="+mn-ea"/>
              </a:rPr>
              <a:t>被害の原因</a:t>
            </a:r>
            <a:r>
              <a:rPr lang="ja-JP" altLang="en-US" sz="2000" dirty="0">
                <a:latin typeface="+mn-ea"/>
                <a:ea typeface="+mn-ea"/>
              </a:rPr>
              <a:t>　</a:t>
            </a:r>
            <a:r>
              <a:rPr sz="2000" dirty="0" err="1">
                <a:latin typeface="+mn-ea"/>
                <a:ea typeface="+mn-ea"/>
              </a:rPr>
              <a:t>原因分析</a:t>
            </a:r>
            <a:r>
              <a:rPr sz="2000" dirty="0">
                <a:latin typeface="+mn-ea"/>
                <a:ea typeface="+mn-ea"/>
              </a:rPr>
              <a:t>①</a:t>
            </a:r>
            <a:endParaRPr lang="ja-JP" altLang="en-US" sz="2000" dirty="0">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45</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7" name="テキスト ボックス 7"/>
          <p:cNvSpPr txBox="1">
            <a:spLocks noChangeArrowheads="1"/>
          </p:cNvSpPr>
          <p:nvPr/>
        </p:nvSpPr>
        <p:spPr bwMode="auto">
          <a:xfrm>
            <a:off x="360000" y="1202661"/>
            <a:ext cx="9139464" cy="713232"/>
          </a:xfrm>
          <a:prstGeom prst="rect">
            <a:avLst/>
          </a:prstGeom>
          <a:solidFill>
            <a:srgbClr val="CCE0DE"/>
          </a:solidFill>
          <a:ln>
            <a:noFill/>
          </a:ln>
        </p:spPr>
        <p:txBody>
          <a:bodyPr wrap="square" anchor="ct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algn="l" eaLnBrk="1" hangingPunct="1">
              <a:lnSpc>
                <a:spcPct val="125000"/>
              </a:lnSpc>
              <a:defRPr/>
            </a:pPr>
            <a:r>
              <a:rPr sz="1400" b="0" dirty="0">
                <a:latin typeface="+mn-ea"/>
                <a:ea typeface="+mn-ea"/>
              </a:rPr>
              <a:t>豪雨による冠水の直接原因は、降雨量が設備設計時の前提を大きく超過したことにあります。設計前提の約3.4倍の降雨に対し処理能力400t/hでは排水が追いつかず、冠水深さは許容値の約2.6倍に達しました。</a:t>
            </a:r>
            <a:endPar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endParaRPr>
          </a:p>
        </p:txBody>
      </p:sp>
      <p:grpSp>
        <p:nvGrpSpPr>
          <p:cNvPr id="16" name="グループ化 15">
            <a:extLst>
              <a:ext uri="{FF2B5EF4-FFF2-40B4-BE49-F238E27FC236}">
                <a16:creationId xmlns:a16="http://schemas.microsoft.com/office/drawing/2014/main" id="{F082B121-1C2F-49EB-B95A-DE4802BC942B}"/>
              </a:ext>
            </a:extLst>
          </p:cNvPr>
          <p:cNvGrpSpPr/>
          <p:nvPr/>
        </p:nvGrpSpPr>
        <p:grpSpPr>
          <a:xfrm>
            <a:off x="360000" y="370800"/>
            <a:ext cx="720000" cy="672000"/>
            <a:chOff x="360000" y="370800"/>
            <a:chExt cx="720000" cy="672000"/>
          </a:xfrm>
        </p:grpSpPr>
        <p:sp>
          <p:nvSpPr>
            <p:cNvPr id="18" name="正方形/長方形 17">
              <a:extLst>
                <a:ext uri="{FF2B5EF4-FFF2-40B4-BE49-F238E27FC236}">
                  <a16:creationId xmlns:a16="http://schemas.microsoft.com/office/drawing/2014/main" id="{510F4760-AEA9-43F2-A3BB-028443090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AF7CDDDC-A95E-4CB7-BEFE-383C7A91F0F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7</a:t>
              </a:r>
            </a:p>
          </p:txBody>
        </p:sp>
      </p:grpSp>
      <p:sp>
        <p:nvSpPr>
          <p:cNvPr id="22" name="Rounded Rectangle 21"/>
          <p:cNvSpPr/>
          <p:nvPr/>
        </p:nvSpPr>
        <p:spPr>
          <a:xfrm>
            <a:off x="233975" y="2131786"/>
            <a:ext cx="9431700" cy="751624"/>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lstStyle/>
          <a:p>
            <a:pPr algn="l">
              <a:lnSpc>
                <a:spcPct val="115000"/>
              </a:lnSpc>
            </a:pPr>
            <a:r>
              <a:rPr sz="1100" b="0" dirty="0" err="1">
                <a:solidFill>
                  <a:schemeClr val="tx1"/>
                </a:solidFill>
                <a:latin typeface="+mn-ea"/>
                <a:ea typeface="+mn-ea"/>
              </a:rPr>
              <a:t>設計前提</a:t>
            </a:r>
            <a:r>
              <a:rPr sz="1100" b="0" dirty="0">
                <a:solidFill>
                  <a:schemeClr val="tx1"/>
                </a:solidFill>
                <a:latin typeface="+mn-ea"/>
                <a:ea typeface="+mn-ea"/>
              </a:rPr>
              <a:t>　： 2014年 台風第11号相当（累積降水量112mm）に対し、冠水深さ150mm以下（歩行・軌道輸送の限界）となる処理能力400t/</a:t>
            </a:r>
            <a:r>
              <a:rPr sz="1100" b="0" dirty="0" err="1">
                <a:solidFill>
                  <a:schemeClr val="tx1"/>
                </a:solidFill>
                <a:latin typeface="+mn-ea"/>
                <a:ea typeface="+mn-ea"/>
              </a:rPr>
              <a:t>hで設計</a:t>
            </a:r>
            <a:endParaRPr sz="1100" b="0" dirty="0">
              <a:solidFill>
                <a:schemeClr val="tx1"/>
              </a:solidFill>
              <a:latin typeface="+mn-ea"/>
              <a:ea typeface="+mn-ea"/>
            </a:endParaRPr>
          </a:p>
          <a:p>
            <a:pPr algn="l">
              <a:lnSpc>
                <a:spcPct val="115000"/>
              </a:lnSpc>
              <a:spcBef>
                <a:spcPts val="200"/>
              </a:spcBef>
            </a:pPr>
            <a:r>
              <a:rPr sz="1100" b="0" dirty="0" err="1">
                <a:solidFill>
                  <a:schemeClr val="tx1"/>
                </a:solidFill>
                <a:latin typeface="+mn-ea"/>
                <a:ea typeface="+mn-ea"/>
              </a:rPr>
              <a:t>実績外力</a:t>
            </a:r>
            <a:r>
              <a:rPr sz="1100" b="0" dirty="0">
                <a:solidFill>
                  <a:schemeClr val="tx1"/>
                </a:solidFill>
                <a:latin typeface="+mn-ea"/>
                <a:ea typeface="+mn-ea"/>
              </a:rPr>
              <a:t>　： 2018年7月西日本豪雨の累積降水量は379mm（設計前提の約3.4倍）、ピーク時間降水量28mm/h</a:t>
            </a:r>
          </a:p>
          <a:p>
            <a:pPr algn="l">
              <a:lnSpc>
                <a:spcPct val="115000"/>
              </a:lnSpc>
              <a:spcBef>
                <a:spcPts val="200"/>
              </a:spcBef>
            </a:pPr>
            <a:r>
              <a:rPr sz="1100" b="0" dirty="0">
                <a:solidFill>
                  <a:schemeClr val="tx1"/>
                </a:solidFill>
                <a:latin typeface="+mn-ea"/>
                <a:ea typeface="+mn-ea"/>
              </a:rPr>
              <a:t>結　　果　： 流入量が処理能力を上回り雨水が滞留、7線材工場付近の推定冠水深さは約383mm（許容値150mmの約2.6倍）</a:t>
            </a:r>
          </a:p>
        </p:txBody>
      </p:sp>
      <p:sp>
        <p:nvSpPr>
          <p:cNvPr id="23" name="Rounded Rectangle 22"/>
          <p:cNvSpPr/>
          <p:nvPr/>
        </p:nvSpPr>
        <p:spPr>
          <a:xfrm>
            <a:off x="423545" y="3145895"/>
            <a:ext cx="9052560" cy="384048"/>
          </a:xfrm>
          <a:prstGeom prst="roundRect">
            <a:avLst>
              <a:gd name="adj" fmla="val 6000"/>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r>
              <a:rPr sz="1150" b="1" dirty="0">
                <a:solidFill>
                  <a:srgbClr val="FFFFFF"/>
                </a:solidFill>
                <a:latin typeface="+mn-ea"/>
                <a:ea typeface="+mn-ea"/>
              </a:rPr>
              <a:t>→ 豪雨時の冠水の直接原因は、想定を超える降雨量に対するNo.16水処理施設の処理能力不足</a:t>
            </a:r>
            <a:r>
              <a:rPr lang="ja-JP" altLang="en-US" sz="1150" b="1" dirty="0">
                <a:solidFill>
                  <a:srgbClr val="FFFFFF"/>
                </a:solidFill>
                <a:latin typeface="+mn-ea"/>
              </a:rPr>
              <a:t>と考えられます</a:t>
            </a:r>
            <a:r>
              <a:rPr sz="1150" b="1" dirty="0">
                <a:solidFill>
                  <a:srgbClr val="FFFFFF"/>
                </a:solidFill>
                <a:latin typeface="+mn-ea"/>
                <a:ea typeface="+mn-ea"/>
              </a:rPr>
              <a:t>。</a:t>
            </a:r>
          </a:p>
        </p:txBody>
      </p:sp>
      <p:pic>
        <p:nvPicPr>
          <p:cNvPr id="24" name="Picture 23" descr="fig_rain.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18002" y="3731280"/>
            <a:ext cx="6430553" cy="2291543"/>
          </a:xfrm>
          <a:prstGeom prst="rect">
            <a:avLst/>
          </a:prstGeom>
        </p:spPr>
      </p:pic>
      <p:sp>
        <p:nvSpPr>
          <p:cNvPr id="25" name="TextBox 24"/>
          <p:cNvSpPr txBox="1"/>
          <p:nvPr/>
        </p:nvSpPr>
        <p:spPr>
          <a:xfrm>
            <a:off x="3709491" y="6210201"/>
            <a:ext cx="5989320" cy="261610"/>
          </a:xfrm>
          <a:prstGeom prst="rect">
            <a:avLst/>
          </a:prstGeom>
          <a:noFill/>
        </p:spPr>
        <p:txBody>
          <a:bodyPr wrap="square">
            <a:spAutoFit/>
          </a:bodyPr>
          <a:lstStyle/>
          <a:p>
            <a:pPr algn="r"/>
            <a:r>
              <a:rPr sz="1100" b="0" dirty="0">
                <a:latin typeface="+mn-ea"/>
                <a:ea typeface="+mn-ea"/>
              </a:rPr>
              <a:t>（</a:t>
            </a:r>
            <a:r>
              <a:rPr sz="1100" b="0" dirty="0" err="1">
                <a:latin typeface="+mn-ea"/>
                <a:ea typeface="+mn-ea"/>
              </a:rPr>
              <a:t>出典：貴社ご提供資料「神鉄冠水対策申請書」をもとに作成</a:t>
            </a:r>
            <a:r>
              <a:rPr sz="1100" b="0" dirty="0">
                <a:latin typeface="+mn-ea"/>
                <a:ea typeface="+mn-ea"/>
              </a:rPr>
              <a:t>）</a:t>
            </a:r>
          </a:p>
        </p:txBody>
      </p:sp>
      <p:sp>
        <p:nvSpPr>
          <p:cNvPr id="12" name="正方形/長方形 11">
            <a:extLst>
              <a:ext uri="{FF2B5EF4-FFF2-40B4-BE49-F238E27FC236}">
                <a16:creationId xmlns:a16="http://schemas.microsoft.com/office/drawing/2014/main" id="{B36B828E-E43E-489D-83DC-BE9C404E631C}"/>
              </a:ext>
            </a:extLst>
          </p:cNvPr>
          <p:cNvSpPr/>
          <p:nvPr/>
        </p:nvSpPr>
        <p:spPr>
          <a:xfrm>
            <a:off x="3161257" y="5985707"/>
            <a:ext cx="3983339" cy="261610"/>
          </a:xfrm>
          <a:prstGeom prst="rect">
            <a:avLst/>
          </a:prstGeom>
        </p:spPr>
        <p:txBody>
          <a:bodyPr wrap="square">
            <a:spAutoFit/>
          </a:bodyPr>
          <a:lstStyle/>
          <a:p>
            <a:pPr algn="ctr"/>
            <a:r>
              <a:rPr lang="ja-JP" altLang="en-US" sz="1100" dirty="0">
                <a:latin typeface="游ゴシック" panose="020B0400000000000000" pitchFamily="50" charset="-128"/>
                <a:ea typeface="游ゴシック" panose="020B0400000000000000" pitchFamily="50" charset="-128"/>
              </a:rPr>
              <a:t>図：</a:t>
            </a:r>
            <a:r>
              <a:rPr lang="en-US" altLang="ja-JP" sz="1100" dirty="0">
                <a:latin typeface="游ゴシック" panose="020B0400000000000000" pitchFamily="50" charset="-128"/>
                <a:ea typeface="游ゴシック" panose="020B0400000000000000" pitchFamily="50" charset="-128"/>
              </a:rPr>
              <a:t>No.16</a:t>
            </a:r>
            <a:r>
              <a:rPr lang="ja-JP" altLang="en-US" sz="1100" dirty="0">
                <a:latin typeface="游ゴシック" panose="020B0400000000000000" pitchFamily="50" charset="-128"/>
                <a:ea typeface="游ゴシック" panose="020B0400000000000000" pitchFamily="50" charset="-128"/>
              </a:rPr>
              <a:t>水処理施設における累積降水量と推定浸水深</a:t>
            </a:r>
            <a:endParaRPr lang="en-US" altLang="ja-JP" sz="1100" dirty="0">
              <a:effectLst/>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9191722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291336" y="370800"/>
            <a:ext cx="7200000" cy="720000"/>
          </a:xfrm>
          <a:prstGeom prst="rect">
            <a:avLst/>
          </a:prstGeom>
          <a:noFill/>
        </p:spPr>
        <p:txBody>
          <a:bodyPr wrap="square" lIns="0" tIns="0" rIns="0" bIns="0" numCol="1" rtlCol="0" anchor="ctr" anchorCtr="0">
            <a:noAutofit/>
          </a:bodyPr>
          <a:lstStyle/>
          <a:p>
            <a:r>
              <a:rPr sz="2400" dirty="0" err="1">
                <a:solidFill>
                  <a:srgbClr val="333333"/>
                </a:solidFill>
                <a:latin typeface="+mn-ea"/>
                <a:ea typeface="+mn-ea"/>
              </a:rPr>
              <a:t>過去の保険金支払事故</a:t>
            </a:r>
            <a:r>
              <a:rPr sz="2400" dirty="0">
                <a:latin typeface="+mn-ea"/>
                <a:ea typeface="+mn-ea"/>
              </a:rPr>
              <a:t>｜</a:t>
            </a:r>
            <a:r>
              <a:rPr sz="2000" dirty="0">
                <a:latin typeface="+mn-ea"/>
                <a:ea typeface="+mn-ea"/>
              </a:rPr>
              <a:t>③</a:t>
            </a:r>
            <a:r>
              <a:rPr sz="2000" dirty="0" err="1">
                <a:latin typeface="+mn-ea"/>
                <a:ea typeface="+mn-ea"/>
              </a:rPr>
              <a:t>被害の原因</a:t>
            </a:r>
            <a:r>
              <a:rPr lang="ja-JP" altLang="en-US" sz="2000" dirty="0">
                <a:latin typeface="+mn-ea"/>
                <a:ea typeface="+mn-ea"/>
              </a:rPr>
              <a:t>　</a:t>
            </a:r>
            <a:r>
              <a:rPr sz="2000" dirty="0" err="1">
                <a:latin typeface="+mn-ea"/>
                <a:ea typeface="+mn-ea"/>
              </a:rPr>
              <a:t>原因分析</a:t>
            </a:r>
            <a:r>
              <a:rPr sz="2000" dirty="0">
                <a:latin typeface="+mn-ea"/>
                <a:ea typeface="+mn-ea"/>
              </a:rPr>
              <a:t>②③④</a:t>
            </a:r>
            <a:endParaRPr lang="ja-JP" altLang="en-US" sz="2000" dirty="0">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46</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7" name="テキスト ボックス 7"/>
          <p:cNvSpPr txBox="1">
            <a:spLocks noChangeArrowheads="1"/>
          </p:cNvSpPr>
          <p:nvPr/>
        </p:nvSpPr>
        <p:spPr bwMode="auto">
          <a:xfrm>
            <a:off x="360000" y="1202661"/>
            <a:ext cx="9139464" cy="713232"/>
          </a:xfrm>
          <a:prstGeom prst="rect">
            <a:avLst/>
          </a:prstGeom>
          <a:solidFill>
            <a:srgbClr val="CCE0DE"/>
          </a:solidFill>
          <a:ln>
            <a:noFill/>
          </a:ln>
        </p:spPr>
        <p:txBody>
          <a:bodyPr wrap="square" anchor="ct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algn="l" eaLnBrk="1" hangingPunct="1">
              <a:lnSpc>
                <a:spcPct val="125000"/>
              </a:lnSpc>
              <a:defRPr/>
            </a:pPr>
            <a:r>
              <a:rPr sz="1400" b="0" dirty="0" err="1">
                <a:latin typeface="+mn-ea"/>
                <a:ea typeface="+mn-ea"/>
              </a:rPr>
              <a:t>冠水の拡大は処理能力不足</a:t>
            </a:r>
            <a:r>
              <a:rPr lang="ja-JP" altLang="en-US" sz="1400" b="0" dirty="0">
                <a:latin typeface="+mn-ea"/>
                <a:ea typeface="+mn-ea"/>
              </a:rPr>
              <a:t>以外にも</a:t>
            </a:r>
            <a:r>
              <a:rPr sz="1400" b="0" dirty="0">
                <a:latin typeface="+mn-ea"/>
                <a:ea typeface="+mn-ea"/>
              </a:rPr>
              <a:t>②</a:t>
            </a:r>
            <a:r>
              <a:rPr sz="1400" b="0" dirty="0" err="1">
                <a:latin typeface="+mn-ea"/>
                <a:ea typeface="+mn-ea"/>
              </a:rPr>
              <a:t>工場からの送水能力不足</a:t>
            </a:r>
            <a:r>
              <a:rPr sz="1400" b="0" dirty="0">
                <a:latin typeface="+mn-ea"/>
                <a:ea typeface="+mn-ea"/>
              </a:rPr>
              <a:t>、③</a:t>
            </a:r>
            <a:r>
              <a:rPr sz="1400" b="0" dirty="0" err="1">
                <a:latin typeface="+mn-ea"/>
                <a:ea typeface="+mn-ea"/>
              </a:rPr>
              <a:t>自然放流方式に起因する高潮時の海水逆流</a:t>
            </a:r>
            <a:r>
              <a:rPr sz="1400" b="0" dirty="0">
                <a:latin typeface="+mn-ea"/>
                <a:ea typeface="+mn-ea"/>
              </a:rPr>
              <a:t>、④</a:t>
            </a:r>
            <a:r>
              <a:rPr sz="1400" b="0" dirty="0" err="1">
                <a:latin typeface="+mn-ea"/>
                <a:ea typeface="+mn-ea"/>
              </a:rPr>
              <a:t>岸壁高さを超える高波の越流が重畳した複合災害であったと整理されます</a:t>
            </a:r>
            <a:r>
              <a:rPr sz="1400" b="0" dirty="0">
                <a:latin typeface="+mn-ea"/>
                <a:ea typeface="+mn-ea"/>
              </a:rPr>
              <a:t>。</a:t>
            </a:r>
            <a:endParaRPr kumimoji="1" lang="en-US" altLang="ja-JP" sz="1400" b="0" i="0" u="none" strike="noStrike" kern="1200" cap="none" spc="0" normalizeH="0" baseline="0" noProof="0" dirty="0">
              <a:ln>
                <a:noFill/>
              </a:ln>
              <a:effectLst/>
              <a:uLnTx/>
              <a:uFillTx/>
              <a:latin typeface="+mn-ea"/>
              <a:ea typeface="+mn-ea"/>
            </a:endParaRPr>
          </a:p>
        </p:txBody>
      </p:sp>
      <p:grpSp>
        <p:nvGrpSpPr>
          <p:cNvPr id="16" name="グループ化 15">
            <a:extLst>
              <a:ext uri="{FF2B5EF4-FFF2-40B4-BE49-F238E27FC236}">
                <a16:creationId xmlns:a16="http://schemas.microsoft.com/office/drawing/2014/main" id="{F082B121-1C2F-49EB-B95A-DE4802BC942B}"/>
              </a:ext>
            </a:extLst>
          </p:cNvPr>
          <p:cNvGrpSpPr/>
          <p:nvPr/>
        </p:nvGrpSpPr>
        <p:grpSpPr>
          <a:xfrm>
            <a:off x="360000" y="370800"/>
            <a:ext cx="720000" cy="672000"/>
            <a:chOff x="360000" y="370800"/>
            <a:chExt cx="720000" cy="672000"/>
          </a:xfrm>
        </p:grpSpPr>
        <p:sp>
          <p:nvSpPr>
            <p:cNvPr id="18" name="正方形/長方形 17">
              <a:extLst>
                <a:ext uri="{FF2B5EF4-FFF2-40B4-BE49-F238E27FC236}">
                  <a16:creationId xmlns:a16="http://schemas.microsoft.com/office/drawing/2014/main" id="{510F4760-AEA9-43F2-A3BB-028443090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AF7CDDDC-A95E-4CB7-BEFE-383C7A91F0F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7</a:t>
              </a:r>
            </a:p>
          </p:txBody>
        </p:sp>
      </p:grpSp>
      <p:sp>
        <p:nvSpPr>
          <p:cNvPr id="22" name="Rounded Rectangle 21"/>
          <p:cNvSpPr/>
          <p:nvPr/>
        </p:nvSpPr>
        <p:spPr>
          <a:xfrm>
            <a:off x="360000" y="2157984"/>
            <a:ext cx="3017520" cy="347472"/>
          </a:xfrm>
          <a:prstGeom prst="roundRect">
            <a:avLst>
              <a:gd name="adj" fmla="val 6000"/>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r>
              <a:rPr sz="1150" b="1" dirty="0">
                <a:solidFill>
                  <a:srgbClr val="FFFFFF"/>
                </a:solidFill>
                <a:latin typeface="+mn-ea"/>
                <a:ea typeface="+mn-ea"/>
              </a:rPr>
              <a:t>② </a:t>
            </a:r>
            <a:r>
              <a:rPr sz="1150" b="1" dirty="0" err="1">
                <a:solidFill>
                  <a:srgbClr val="FFFFFF"/>
                </a:solidFill>
                <a:latin typeface="+mn-ea"/>
                <a:ea typeface="+mn-ea"/>
              </a:rPr>
              <a:t>送水能力不足（豪雨</a:t>
            </a:r>
            <a:r>
              <a:rPr lang="ja-JP" altLang="en-US" sz="1150" b="1" dirty="0">
                <a:solidFill>
                  <a:srgbClr val="FFFFFF"/>
                </a:solidFill>
                <a:latin typeface="+mn-ea"/>
                <a:ea typeface="+mn-ea"/>
              </a:rPr>
              <a:t>時</a:t>
            </a:r>
            <a:r>
              <a:rPr sz="1150" b="1" dirty="0">
                <a:solidFill>
                  <a:srgbClr val="FFFFFF"/>
                </a:solidFill>
                <a:latin typeface="+mn-ea"/>
                <a:ea typeface="+mn-ea"/>
              </a:rPr>
              <a:t>）</a:t>
            </a:r>
          </a:p>
        </p:txBody>
      </p:sp>
      <p:sp>
        <p:nvSpPr>
          <p:cNvPr id="23" name="Rounded Rectangle 22"/>
          <p:cNvSpPr/>
          <p:nvPr/>
        </p:nvSpPr>
        <p:spPr>
          <a:xfrm>
            <a:off x="411480" y="2560320"/>
            <a:ext cx="3017520" cy="1371600"/>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lstStyle/>
          <a:p>
            <a:pPr algn="l">
              <a:lnSpc>
                <a:spcPct val="115000"/>
              </a:lnSpc>
            </a:pPr>
            <a:r>
              <a:rPr sz="1100" b="0" dirty="0">
                <a:solidFill>
                  <a:schemeClr val="tx1"/>
                </a:solidFill>
                <a:latin typeface="+mn-ea"/>
                <a:ea typeface="+mn-ea"/>
              </a:rPr>
              <a:t>・工場からNo.16水処理施設への送水能力は、水処理能力に合わせ400t/h</a:t>
            </a:r>
            <a:r>
              <a:rPr lang="ja-JP" altLang="en-US" sz="1100" dirty="0">
                <a:solidFill>
                  <a:schemeClr val="tx1"/>
                </a:solidFill>
                <a:latin typeface="+mn-ea"/>
              </a:rPr>
              <a:t>としています。</a:t>
            </a:r>
            <a:endParaRPr sz="1100" b="0" dirty="0">
              <a:solidFill>
                <a:schemeClr val="tx1"/>
              </a:solidFill>
              <a:latin typeface="+mn-ea"/>
              <a:ea typeface="+mn-ea"/>
            </a:endParaRPr>
          </a:p>
          <a:p>
            <a:pPr algn="l">
              <a:lnSpc>
                <a:spcPct val="115000"/>
              </a:lnSpc>
              <a:spcBef>
                <a:spcPts val="400"/>
              </a:spcBef>
            </a:pPr>
            <a:r>
              <a:rPr sz="1100" b="0" dirty="0">
                <a:solidFill>
                  <a:schemeClr val="tx1"/>
                </a:solidFill>
                <a:latin typeface="+mn-ea"/>
                <a:ea typeface="+mn-ea"/>
              </a:rPr>
              <a:t>・3加工工場山側・7線材工場浜側で局所的に雨水が滞留</a:t>
            </a:r>
            <a:r>
              <a:rPr lang="ja-JP" altLang="en-US" sz="1100" b="0" dirty="0">
                <a:solidFill>
                  <a:schemeClr val="tx1"/>
                </a:solidFill>
                <a:latin typeface="+mn-ea"/>
                <a:ea typeface="+mn-ea"/>
              </a:rPr>
              <a:t>し、</a:t>
            </a:r>
            <a:r>
              <a:rPr sz="1100" b="0" dirty="0" err="1">
                <a:solidFill>
                  <a:schemeClr val="tx1"/>
                </a:solidFill>
                <a:latin typeface="+mn-ea"/>
                <a:ea typeface="+mn-ea"/>
              </a:rPr>
              <a:t>滞留した雨水が工場開口部から流入し浸水</a:t>
            </a:r>
            <a:r>
              <a:rPr lang="ja-JP" altLang="en-US" sz="1100" b="0" dirty="0">
                <a:solidFill>
                  <a:schemeClr val="tx1"/>
                </a:solidFill>
                <a:latin typeface="+mn-ea"/>
                <a:ea typeface="+mn-ea"/>
              </a:rPr>
              <a:t>が発生しました</a:t>
            </a:r>
            <a:r>
              <a:rPr lang="ja-JP" altLang="en-US" sz="1100" dirty="0">
                <a:solidFill>
                  <a:schemeClr val="tx1"/>
                </a:solidFill>
                <a:latin typeface="+mn-ea"/>
              </a:rPr>
              <a:t>。</a:t>
            </a:r>
            <a:endParaRPr sz="1100" b="0" dirty="0">
              <a:solidFill>
                <a:schemeClr val="tx1"/>
              </a:solidFill>
              <a:latin typeface="+mn-ea"/>
              <a:ea typeface="+mn-ea"/>
            </a:endParaRPr>
          </a:p>
        </p:txBody>
      </p:sp>
      <p:sp>
        <p:nvSpPr>
          <p:cNvPr id="25" name="Rounded Rectangle 24"/>
          <p:cNvSpPr/>
          <p:nvPr/>
        </p:nvSpPr>
        <p:spPr>
          <a:xfrm>
            <a:off x="3403260" y="2157984"/>
            <a:ext cx="3017520" cy="347472"/>
          </a:xfrm>
          <a:prstGeom prst="roundRect">
            <a:avLst>
              <a:gd name="adj" fmla="val 6000"/>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r>
              <a:rPr sz="1150" b="1">
                <a:solidFill>
                  <a:srgbClr val="FFFFFF"/>
                </a:solidFill>
                <a:latin typeface="+mn-ea"/>
                <a:ea typeface="+mn-ea"/>
              </a:rPr>
              <a:t>③ 高潮による排水不能</a:t>
            </a:r>
          </a:p>
        </p:txBody>
      </p:sp>
      <p:sp>
        <p:nvSpPr>
          <p:cNvPr id="26" name="Rounded Rectangle 25"/>
          <p:cNvSpPr/>
          <p:nvPr/>
        </p:nvSpPr>
        <p:spPr>
          <a:xfrm>
            <a:off x="3429000" y="2560320"/>
            <a:ext cx="3017520" cy="1371600"/>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lstStyle/>
          <a:p>
            <a:pPr algn="l">
              <a:lnSpc>
                <a:spcPct val="115000"/>
              </a:lnSpc>
            </a:pPr>
            <a:r>
              <a:rPr sz="1100" b="0" dirty="0">
                <a:solidFill>
                  <a:schemeClr val="tx1"/>
                </a:solidFill>
                <a:latin typeface="+mn-ea"/>
                <a:ea typeface="+mn-ea"/>
              </a:rPr>
              <a:t>・No.16排水口は重力式（自然放流方式）で逆</a:t>
            </a:r>
            <a:r>
              <a:rPr lang="ja-JP" altLang="en-US" sz="1100" b="0" dirty="0">
                <a:solidFill>
                  <a:schemeClr val="tx1"/>
                </a:solidFill>
                <a:latin typeface="+mn-ea"/>
                <a:ea typeface="+mn-ea"/>
              </a:rPr>
              <a:t>流防止機能がありません。</a:t>
            </a:r>
            <a:endParaRPr sz="1100" b="0" dirty="0">
              <a:solidFill>
                <a:schemeClr val="tx1"/>
              </a:solidFill>
              <a:latin typeface="+mn-ea"/>
              <a:ea typeface="+mn-ea"/>
            </a:endParaRPr>
          </a:p>
          <a:p>
            <a:pPr algn="l">
              <a:lnSpc>
                <a:spcPct val="115000"/>
              </a:lnSpc>
              <a:spcBef>
                <a:spcPts val="400"/>
              </a:spcBef>
            </a:pPr>
            <a:r>
              <a:rPr sz="1100" b="0" dirty="0">
                <a:solidFill>
                  <a:schemeClr val="tx1"/>
                </a:solidFill>
                <a:latin typeface="+mn-ea"/>
                <a:ea typeface="+mn-ea"/>
              </a:rPr>
              <a:t>・台風21号時は過去最高潮位KP+3.7m、地表面より約0.44m海面が上昇</a:t>
            </a:r>
            <a:r>
              <a:rPr lang="ja-JP" altLang="en-US" sz="1100" b="0" dirty="0">
                <a:solidFill>
                  <a:schemeClr val="tx1"/>
                </a:solidFill>
                <a:latin typeface="+mn-ea"/>
                <a:ea typeface="+mn-ea"/>
              </a:rPr>
              <a:t>しました</a:t>
            </a:r>
            <a:r>
              <a:rPr lang="ja-JP" altLang="en-US" sz="1100" dirty="0">
                <a:solidFill>
                  <a:schemeClr val="tx1"/>
                </a:solidFill>
                <a:latin typeface="+mn-ea"/>
              </a:rPr>
              <a:t>。そのため、</a:t>
            </a:r>
            <a:r>
              <a:rPr sz="1100" b="0" dirty="0" err="1">
                <a:solidFill>
                  <a:schemeClr val="tx1"/>
                </a:solidFill>
                <a:latin typeface="+mn-ea"/>
                <a:ea typeface="+mn-ea"/>
              </a:rPr>
              <a:t>排水口から海水が逆流し海への放流が不能</a:t>
            </a:r>
            <a:r>
              <a:rPr lang="ja-JP" altLang="en-US" sz="1100" dirty="0">
                <a:solidFill>
                  <a:schemeClr val="tx1"/>
                </a:solidFill>
                <a:latin typeface="+mn-ea"/>
              </a:rPr>
              <a:t>となり、敷地内</a:t>
            </a:r>
            <a:r>
              <a:rPr sz="1100" b="0" dirty="0" err="1">
                <a:solidFill>
                  <a:schemeClr val="tx1"/>
                </a:solidFill>
                <a:latin typeface="+mn-ea"/>
                <a:ea typeface="+mn-ea"/>
              </a:rPr>
              <a:t>に雨水が滞留</a:t>
            </a:r>
            <a:r>
              <a:rPr lang="ja-JP" altLang="en-US" sz="1100" b="0" dirty="0">
                <a:solidFill>
                  <a:schemeClr val="tx1"/>
                </a:solidFill>
                <a:latin typeface="+mn-ea"/>
                <a:ea typeface="+mn-ea"/>
              </a:rPr>
              <a:t>しました。</a:t>
            </a:r>
            <a:endParaRPr sz="1100" b="0" dirty="0">
              <a:solidFill>
                <a:schemeClr val="tx1"/>
              </a:solidFill>
              <a:latin typeface="+mn-ea"/>
              <a:ea typeface="+mn-ea"/>
            </a:endParaRPr>
          </a:p>
        </p:txBody>
      </p:sp>
      <p:sp>
        <p:nvSpPr>
          <p:cNvPr id="28" name="Rounded Rectangle 27"/>
          <p:cNvSpPr/>
          <p:nvPr/>
        </p:nvSpPr>
        <p:spPr>
          <a:xfrm>
            <a:off x="6446520" y="2157984"/>
            <a:ext cx="3017520" cy="347472"/>
          </a:xfrm>
          <a:prstGeom prst="roundRect">
            <a:avLst>
              <a:gd name="adj" fmla="val 6000"/>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r>
              <a:rPr sz="1150" b="1">
                <a:solidFill>
                  <a:srgbClr val="FFFFFF"/>
                </a:solidFill>
                <a:latin typeface="+mn-ea"/>
                <a:ea typeface="+mn-ea"/>
              </a:rPr>
              <a:t>④ 高波による越流</a:t>
            </a:r>
          </a:p>
        </p:txBody>
      </p:sp>
      <p:sp>
        <p:nvSpPr>
          <p:cNvPr id="29" name="Rounded Rectangle 28"/>
          <p:cNvSpPr/>
          <p:nvPr/>
        </p:nvSpPr>
        <p:spPr>
          <a:xfrm>
            <a:off x="6446520" y="2560320"/>
            <a:ext cx="3017520" cy="1371600"/>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t"/>
          <a:lstStyle/>
          <a:p>
            <a:pPr algn="l">
              <a:lnSpc>
                <a:spcPct val="115000"/>
              </a:lnSpc>
            </a:pPr>
            <a:r>
              <a:rPr sz="1100" b="0" dirty="0">
                <a:solidFill>
                  <a:schemeClr val="tx1"/>
                </a:solidFill>
                <a:latin typeface="+mn-ea"/>
                <a:ea typeface="+mn-ea"/>
              </a:rPr>
              <a:t>・岸壁高さはKP+5.70m、津波（L2）想定に対しては1.57mの余裕</a:t>
            </a:r>
            <a:r>
              <a:rPr lang="ja-JP" altLang="en-US" sz="1100" b="0" dirty="0">
                <a:solidFill>
                  <a:schemeClr val="tx1"/>
                </a:solidFill>
                <a:latin typeface="+mn-ea"/>
                <a:ea typeface="+mn-ea"/>
              </a:rPr>
              <a:t>がありましたが、</a:t>
            </a:r>
            <a:r>
              <a:rPr sz="1100" b="0" dirty="0">
                <a:solidFill>
                  <a:schemeClr val="tx1"/>
                </a:solidFill>
                <a:latin typeface="+mn-ea"/>
                <a:ea typeface="+mn-ea"/>
              </a:rPr>
              <a:t>台風20号時は潮位上昇1.25m＋有義波高5.1mで波高KP+7.70m</a:t>
            </a:r>
            <a:r>
              <a:rPr lang="ja-JP" altLang="en-US" sz="1100" b="0" dirty="0">
                <a:solidFill>
                  <a:schemeClr val="tx1"/>
                </a:solidFill>
                <a:latin typeface="+mn-ea"/>
                <a:ea typeface="+mn-ea"/>
              </a:rPr>
              <a:t>となりました。</a:t>
            </a:r>
            <a:endParaRPr sz="1100" b="0" dirty="0">
              <a:solidFill>
                <a:schemeClr val="tx1"/>
              </a:solidFill>
              <a:latin typeface="+mn-ea"/>
              <a:ea typeface="+mn-ea"/>
            </a:endParaRPr>
          </a:p>
          <a:p>
            <a:pPr algn="l">
              <a:lnSpc>
                <a:spcPct val="115000"/>
              </a:lnSpc>
              <a:spcBef>
                <a:spcPts val="400"/>
              </a:spcBef>
            </a:pPr>
            <a:r>
              <a:rPr sz="1100" b="0" dirty="0">
                <a:solidFill>
                  <a:schemeClr val="tx1"/>
                </a:solidFill>
                <a:latin typeface="+mn-ea"/>
                <a:ea typeface="+mn-ea"/>
              </a:rPr>
              <a:t>・東岸壁から約2mが間欠的に越流し、7線材工場の地下ピットへ海水が浸入</a:t>
            </a:r>
            <a:r>
              <a:rPr lang="ja-JP" altLang="en-US" sz="1100" b="0" dirty="0">
                <a:solidFill>
                  <a:schemeClr val="tx1"/>
                </a:solidFill>
                <a:latin typeface="+mn-ea"/>
                <a:ea typeface="+mn-ea"/>
              </a:rPr>
              <a:t>しています。</a:t>
            </a:r>
            <a:endParaRPr sz="1100" b="0" dirty="0">
              <a:solidFill>
                <a:schemeClr val="tx1"/>
              </a:solidFill>
              <a:latin typeface="+mn-ea"/>
              <a:ea typeface="+mn-ea"/>
            </a:endParaRPr>
          </a:p>
        </p:txBody>
      </p:sp>
      <p:pic>
        <p:nvPicPr>
          <p:cNvPr id="30" name="Picture 29" descr="fig_takanami.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38363" y="4041647"/>
            <a:ext cx="2424332" cy="1719071"/>
          </a:xfrm>
          <a:prstGeom prst="rect">
            <a:avLst/>
          </a:prstGeom>
        </p:spPr>
      </p:pic>
      <p:sp>
        <p:nvSpPr>
          <p:cNvPr id="31" name="TextBox 30"/>
          <p:cNvSpPr txBox="1"/>
          <p:nvPr/>
        </p:nvSpPr>
        <p:spPr>
          <a:xfrm>
            <a:off x="3644524" y="6225590"/>
            <a:ext cx="5989320" cy="261610"/>
          </a:xfrm>
          <a:prstGeom prst="rect">
            <a:avLst/>
          </a:prstGeom>
          <a:noFill/>
        </p:spPr>
        <p:txBody>
          <a:bodyPr wrap="square">
            <a:spAutoFit/>
          </a:bodyPr>
          <a:lstStyle/>
          <a:p>
            <a:pPr algn="r"/>
            <a:r>
              <a:rPr sz="1100" b="0" dirty="0">
                <a:latin typeface="+mn-ea"/>
                <a:ea typeface="+mn-ea"/>
              </a:rPr>
              <a:t>（</a:t>
            </a:r>
            <a:r>
              <a:rPr sz="1100" b="0" dirty="0" err="1">
                <a:latin typeface="+mn-ea"/>
                <a:ea typeface="+mn-ea"/>
              </a:rPr>
              <a:t>出典：貴社ご提供資料「神鉄冠水対策申請書」より抜粋・当社作成</a:t>
            </a:r>
            <a:r>
              <a:rPr sz="1100" b="0" dirty="0">
                <a:latin typeface="+mn-ea"/>
                <a:ea typeface="+mn-ea"/>
              </a:rPr>
              <a:t>）</a:t>
            </a:r>
          </a:p>
        </p:txBody>
      </p:sp>
      <p:pic>
        <p:nvPicPr>
          <p:cNvPr id="3" name="図 2">
            <a:extLst>
              <a:ext uri="{FF2B5EF4-FFF2-40B4-BE49-F238E27FC236}">
                <a16:creationId xmlns:a16="http://schemas.microsoft.com/office/drawing/2014/main" id="{8F1B67A1-5EC3-47E2-9D42-FA4A2447837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85087" y="4175773"/>
            <a:ext cx="2767345" cy="1448793"/>
          </a:xfrm>
          <a:prstGeom prst="rect">
            <a:avLst/>
          </a:prstGeom>
        </p:spPr>
      </p:pic>
      <p:pic>
        <p:nvPicPr>
          <p:cNvPr id="6" name="図 5">
            <a:extLst>
              <a:ext uri="{FF2B5EF4-FFF2-40B4-BE49-F238E27FC236}">
                <a16:creationId xmlns:a16="http://schemas.microsoft.com/office/drawing/2014/main" id="{6DFA8541-3697-4009-8BB1-A0B848B97B1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417836" y="4209563"/>
            <a:ext cx="3039847" cy="1520420"/>
          </a:xfrm>
          <a:prstGeom prst="rect">
            <a:avLst/>
          </a:prstGeom>
        </p:spPr>
      </p:pic>
    </p:spTree>
    <p:extLst>
      <p:ext uri="{BB962C8B-B14F-4D97-AF65-F5344CB8AC3E}">
        <p14:creationId xmlns:p14="http://schemas.microsoft.com/office/powerpoint/2010/main" val="16939982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291336" y="370800"/>
            <a:ext cx="7200000" cy="720000"/>
          </a:xfrm>
          <a:prstGeom prst="rect">
            <a:avLst/>
          </a:prstGeom>
          <a:noFill/>
        </p:spPr>
        <p:txBody>
          <a:bodyPr wrap="square" lIns="0" tIns="0" rIns="0" bIns="0" numCol="1" rtlCol="0" anchor="ctr" anchorCtr="0">
            <a:noAutofit/>
          </a:bodyPr>
          <a:lstStyle/>
          <a:p>
            <a:r>
              <a:rPr sz="2400" dirty="0" err="1">
                <a:latin typeface="+mn-ea"/>
                <a:ea typeface="+mn-ea"/>
              </a:rPr>
              <a:t>過去の保険金支払事故</a:t>
            </a:r>
            <a:r>
              <a:rPr sz="2400" dirty="0">
                <a:latin typeface="+mn-ea"/>
                <a:ea typeface="+mn-ea"/>
              </a:rPr>
              <a:t>｜</a:t>
            </a:r>
            <a:r>
              <a:rPr sz="2000" dirty="0">
                <a:latin typeface="+mn-ea"/>
                <a:ea typeface="+mn-ea"/>
              </a:rPr>
              <a:t>④</a:t>
            </a:r>
            <a:r>
              <a:rPr sz="2000" dirty="0" err="1">
                <a:latin typeface="+mn-ea"/>
                <a:ea typeface="+mn-ea"/>
              </a:rPr>
              <a:t>再発防止策</a:t>
            </a:r>
            <a:endParaRPr lang="ja-JP" altLang="en-US" sz="2000" dirty="0">
              <a:latin typeface="游ゴシック" panose="020B0400000000000000" pitchFamily="50" charset="-128"/>
              <a:ea typeface="游ゴシック" panose="020B0400000000000000" pitchFamily="50" charset="-128"/>
            </a:endParaRP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47</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7" name="テキスト ボックス 7"/>
          <p:cNvSpPr txBox="1">
            <a:spLocks noChangeArrowheads="1"/>
          </p:cNvSpPr>
          <p:nvPr/>
        </p:nvSpPr>
        <p:spPr bwMode="auto">
          <a:xfrm>
            <a:off x="360000" y="1202660"/>
            <a:ext cx="9139464" cy="740439"/>
          </a:xfrm>
          <a:prstGeom prst="rect">
            <a:avLst/>
          </a:prstGeom>
          <a:solidFill>
            <a:srgbClr val="CCE0DE"/>
          </a:solidFill>
          <a:ln>
            <a:noFill/>
          </a:ln>
        </p:spPr>
        <p:txBody>
          <a:bodyPr wrap="square" anchor="ct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algn="l" eaLnBrk="1" hangingPunct="1">
              <a:lnSpc>
                <a:spcPct val="125000"/>
              </a:lnSpc>
              <a:defRPr/>
            </a:pPr>
            <a:r>
              <a:rPr sz="1400" b="0" dirty="0">
                <a:latin typeface="+mn-ea"/>
                <a:ea typeface="+mn-ea"/>
              </a:rPr>
              <a:t>貴社は本事故を受け、2019年5月にNo.16水処理施設能力増強工事（総額262百万円、2019年9月完工）</a:t>
            </a:r>
            <a:r>
              <a:rPr lang="ja-JP" altLang="en-US" sz="1400" dirty="0">
                <a:latin typeface="+mn-ea"/>
                <a:ea typeface="+mn-ea"/>
              </a:rPr>
              <a:t>を実施しており、</a:t>
            </a:r>
            <a:r>
              <a:rPr sz="1400" b="0" dirty="0">
                <a:latin typeface="+mn-ea"/>
                <a:ea typeface="+mn-ea"/>
              </a:rPr>
              <a:t>①</a:t>
            </a:r>
            <a:r>
              <a:rPr sz="1400" b="0" dirty="0" err="1">
                <a:latin typeface="+mn-ea"/>
                <a:ea typeface="+mn-ea"/>
              </a:rPr>
              <a:t>処理能力</a:t>
            </a:r>
            <a:r>
              <a:rPr sz="1400" b="0" dirty="0">
                <a:latin typeface="+mn-ea"/>
                <a:ea typeface="+mn-ea"/>
              </a:rPr>
              <a:t>・②</a:t>
            </a:r>
            <a:r>
              <a:rPr sz="1400" b="0" dirty="0" err="1">
                <a:latin typeface="+mn-ea"/>
                <a:ea typeface="+mn-ea"/>
              </a:rPr>
              <a:t>送水能力</a:t>
            </a:r>
            <a:r>
              <a:rPr sz="1400" b="0" dirty="0">
                <a:latin typeface="+mn-ea"/>
                <a:ea typeface="+mn-ea"/>
              </a:rPr>
              <a:t>・③排水方式の3点を対策されています。④高波対策は2018年8月に完了済みです。</a:t>
            </a:r>
            <a:endPar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endParaRPr>
          </a:p>
        </p:txBody>
      </p:sp>
      <p:grpSp>
        <p:nvGrpSpPr>
          <p:cNvPr id="16" name="グループ化 15">
            <a:extLst>
              <a:ext uri="{FF2B5EF4-FFF2-40B4-BE49-F238E27FC236}">
                <a16:creationId xmlns:a16="http://schemas.microsoft.com/office/drawing/2014/main" id="{F082B121-1C2F-49EB-B95A-DE4802BC942B}"/>
              </a:ext>
            </a:extLst>
          </p:cNvPr>
          <p:cNvGrpSpPr/>
          <p:nvPr/>
        </p:nvGrpSpPr>
        <p:grpSpPr>
          <a:xfrm>
            <a:off x="360000" y="370800"/>
            <a:ext cx="720000" cy="672000"/>
            <a:chOff x="360000" y="370800"/>
            <a:chExt cx="720000" cy="672000"/>
          </a:xfrm>
        </p:grpSpPr>
        <p:sp>
          <p:nvSpPr>
            <p:cNvPr id="18" name="正方形/長方形 17">
              <a:extLst>
                <a:ext uri="{FF2B5EF4-FFF2-40B4-BE49-F238E27FC236}">
                  <a16:creationId xmlns:a16="http://schemas.microsoft.com/office/drawing/2014/main" id="{510F4760-AEA9-43F2-A3BB-028443090294}"/>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AF7CDDDC-A95E-4CB7-BEFE-383C7A91F0F7}"/>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kumimoji="1" lang="en-US" altLang="ja-JP" sz="3200" dirty="0">
                  <a:solidFill>
                    <a:schemeClr val="bg1"/>
                  </a:solidFill>
                  <a:latin typeface="游ゴシック" panose="020B0400000000000000" pitchFamily="50" charset="-128"/>
                  <a:ea typeface="游ゴシック" panose="020B0400000000000000" pitchFamily="50" charset="-128"/>
                </a:rPr>
                <a:t>7</a:t>
              </a:r>
            </a:p>
          </p:txBody>
        </p:sp>
      </p:grpSp>
      <p:sp>
        <p:nvSpPr>
          <p:cNvPr id="22" name="Rounded Rectangle 21"/>
          <p:cNvSpPr/>
          <p:nvPr/>
        </p:nvSpPr>
        <p:spPr>
          <a:xfrm>
            <a:off x="1807073" y="2190752"/>
            <a:ext cx="1417320" cy="310896"/>
          </a:xfrm>
          <a:prstGeom prst="roundRect">
            <a:avLst>
              <a:gd name="adj" fmla="val 6000"/>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r>
              <a:rPr sz="1050" b="1">
                <a:solidFill>
                  <a:srgbClr val="FFFFFF"/>
                </a:solidFill>
                <a:latin typeface="+mn-ea"/>
                <a:ea typeface="+mn-ea"/>
              </a:rPr>
              <a:t>原　因</a:t>
            </a:r>
          </a:p>
        </p:txBody>
      </p:sp>
      <p:sp>
        <p:nvSpPr>
          <p:cNvPr id="23" name="Rounded Rectangle 22"/>
          <p:cNvSpPr/>
          <p:nvPr/>
        </p:nvSpPr>
        <p:spPr>
          <a:xfrm>
            <a:off x="3297545" y="2190752"/>
            <a:ext cx="3246120" cy="310896"/>
          </a:xfrm>
          <a:prstGeom prst="roundRect">
            <a:avLst>
              <a:gd name="adj" fmla="val 6000"/>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r>
              <a:rPr sz="1050" b="1">
                <a:solidFill>
                  <a:srgbClr val="FFFFFF"/>
                </a:solidFill>
                <a:latin typeface="+mn-ea"/>
                <a:ea typeface="+mn-ea"/>
              </a:rPr>
              <a:t>対　策</a:t>
            </a:r>
          </a:p>
        </p:txBody>
      </p:sp>
      <p:sp>
        <p:nvSpPr>
          <p:cNvPr id="24" name="Rounded Rectangle 23"/>
          <p:cNvSpPr/>
          <p:nvPr/>
        </p:nvSpPr>
        <p:spPr>
          <a:xfrm>
            <a:off x="6616817" y="2190752"/>
            <a:ext cx="1874519" cy="310896"/>
          </a:xfrm>
          <a:prstGeom prst="roundRect">
            <a:avLst>
              <a:gd name="adj" fmla="val 6000"/>
            </a:avLst>
          </a:prstGeom>
          <a:solidFill>
            <a:srgbClr val="016559"/>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ctr"/>
            <a:r>
              <a:rPr lang="ja-JP" altLang="en-US" sz="1050" b="1" dirty="0">
                <a:solidFill>
                  <a:srgbClr val="FFFFFF"/>
                </a:solidFill>
                <a:latin typeface="+mn-ea"/>
              </a:rPr>
              <a:t>対策効果</a:t>
            </a:r>
            <a:endParaRPr sz="1050" b="1" dirty="0">
              <a:solidFill>
                <a:srgbClr val="FFFFFF"/>
              </a:solidFill>
              <a:latin typeface="+mn-ea"/>
              <a:ea typeface="+mn-ea"/>
            </a:endParaRPr>
          </a:p>
        </p:txBody>
      </p:sp>
      <p:sp>
        <p:nvSpPr>
          <p:cNvPr id="25" name="Rounded Rectangle 24"/>
          <p:cNvSpPr/>
          <p:nvPr/>
        </p:nvSpPr>
        <p:spPr>
          <a:xfrm>
            <a:off x="1807073" y="2574800"/>
            <a:ext cx="1417320" cy="758952"/>
          </a:xfrm>
          <a:prstGeom prst="roundRect">
            <a:avLst>
              <a:gd name="adj" fmla="val 6000"/>
            </a:avLst>
          </a:prstGeom>
          <a:solidFill>
            <a:srgbClr val="CCE0DE"/>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100" b="1" dirty="0">
                <a:solidFill>
                  <a:schemeClr val="tx1"/>
                </a:solidFill>
                <a:latin typeface="+mn-ea"/>
                <a:ea typeface="+mn-ea"/>
              </a:rPr>
              <a:t>① </a:t>
            </a:r>
            <a:r>
              <a:rPr sz="1100" b="1" dirty="0" err="1">
                <a:solidFill>
                  <a:schemeClr val="tx1"/>
                </a:solidFill>
                <a:latin typeface="+mn-ea"/>
                <a:ea typeface="+mn-ea"/>
              </a:rPr>
              <a:t>処理能力不足</a:t>
            </a:r>
            <a:r>
              <a:rPr sz="1100" b="1" dirty="0">
                <a:solidFill>
                  <a:schemeClr val="tx1"/>
                </a:solidFill>
                <a:latin typeface="+mn-ea"/>
                <a:ea typeface="+mn-ea"/>
              </a:rPr>
              <a:t>
（400t/h）</a:t>
            </a:r>
          </a:p>
        </p:txBody>
      </p:sp>
      <p:sp>
        <p:nvSpPr>
          <p:cNvPr id="26" name="Rounded Rectangle 25"/>
          <p:cNvSpPr/>
          <p:nvPr/>
        </p:nvSpPr>
        <p:spPr>
          <a:xfrm>
            <a:off x="3297545" y="2574800"/>
            <a:ext cx="3246120" cy="758952"/>
          </a:xfrm>
          <a:prstGeom prst="roundRect">
            <a:avLst>
              <a:gd name="adj" fmla="val 6000"/>
            </a:avLst>
          </a:prstGeom>
          <a:solidFill>
            <a:srgbClr val="CCE0DE"/>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100" b="0" dirty="0">
                <a:solidFill>
                  <a:schemeClr val="tx1"/>
                </a:solidFill>
                <a:latin typeface="+mn-ea"/>
                <a:ea typeface="+mn-ea"/>
              </a:rPr>
              <a:t>No.16水処理施設（中和＋油水分離）の処理能力を940t/</a:t>
            </a:r>
            <a:r>
              <a:rPr sz="1100" b="0" dirty="0" err="1">
                <a:solidFill>
                  <a:schemeClr val="tx1"/>
                </a:solidFill>
                <a:latin typeface="+mn-ea"/>
                <a:ea typeface="+mn-ea"/>
              </a:rPr>
              <a:t>hへ増強</a:t>
            </a:r>
            <a:r>
              <a:rPr sz="1100" b="0" dirty="0">
                <a:solidFill>
                  <a:schemeClr val="tx1"/>
                </a:solidFill>
                <a:latin typeface="+mn-ea"/>
                <a:ea typeface="+mn-ea"/>
              </a:rPr>
              <a:t>（＋540t/h、油水分離槽＋中和装置180t/h×3槽を新設）</a:t>
            </a:r>
          </a:p>
        </p:txBody>
      </p:sp>
      <p:sp>
        <p:nvSpPr>
          <p:cNvPr id="27" name="Rounded Rectangle 26"/>
          <p:cNvSpPr/>
          <p:nvPr/>
        </p:nvSpPr>
        <p:spPr>
          <a:xfrm>
            <a:off x="6616817" y="2574800"/>
            <a:ext cx="1874519" cy="758952"/>
          </a:xfrm>
          <a:prstGeom prst="roundRect">
            <a:avLst>
              <a:gd name="adj" fmla="val 6000"/>
            </a:avLst>
          </a:prstGeom>
          <a:solidFill>
            <a:srgbClr val="CCE0DE"/>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100" b="0" dirty="0" err="1">
                <a:solidFill>
                  <a:schemeClr val="tx1"/>
                </a:solidFill>
                <a:latin typeface="+mn-ea"/>
                <a:ea typeface="+mn-ea"/>
              </a:rPr>
              <a:t>西日本豪雨と同等の</a:t>
            </a:r>
            <a:r>
              <a:rPr sz="1100" b="0" dirty="0">
                <a:solidFill>
                  <a:schemeClr val="tx1"/>
                </a:solidFill>
                <a:latin typeface="+mn-ea"/>
                <a:ea typeface="+mn-ea"/>
              </a:rPr>
              <a:t>
降雨でも</a:t>
            </a:r>
            <a:r>
              <a:rPr lang="en-US" sz="1100" b="0" dirty="0">
                <a:solidFill>
                  <a:schemeClr val="tx1"/>
                </a:solidFill>
                <a:latin typeface="+mn-ea"/>
                <a:ea typeface="+mn-ea"/>
              </a:rPr>
              <a:t>149mm</a:t>
            </a:r>
            <a:r>
              <a:rPr lang="ja-JP" altLang="en-US" sz="1100" b="0" dirty="0">
                <a:solidFill>
                  <a:schemeClr val="tx1"/>
                </a:solidFill>
                <a:latin typeface="+mn-ea"/>
                <a:ea typeface="+mn-ea"/>
              </a:rPr>
              <a:t>までの浸水深発生に抑える</a:t>
            </a:r>
            <a:r>
              <a:rPr sz="1100" b="0" dirty="0">
                <a:solidFill>
                  <a:schemeClr val="tx1"/>
                </a:solidFill>
                <a:latin typeface="+mn-ea"/>
                <a:ea typeface="+mn-ea"/>
              </a:rPr>
              <a:t>
（2019年9月完工）</a:t>
            </a:r>
          </a:p>
        </p:txBody>
      </p:sp>
      <p:sp>
        <p:nvSpPr>
          <p:cNvPr id="28" name="Rounded Rectangle 27"/>
          <p:cNvSpPr/>
          <p:nvPr/>
        </p:nvSpPr>
        <p:spPr>
          <a:xfrm>
            <a:off x="1807073" y="3416047"/>
            <a:ext cx="1417320" cy="758952"/>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100" b="1" dirty="0">
                <a:solidFill>
                  <a:schemeClr val="tx1"/>
                </a:solidFill>
                <a:latin typeface="+mn-ea"/>
                <a:ea typeface="+mn-ea"/>
              </a:rPr>
              <a:t>② </a:t>
            </a:r>
            <a:r>
              <a:rPr sz="1100" b="1" dirty="0" err="1">
                <a:solidFill>
                  <a:schemeClr val="tx1"/>
                </a:solidFill>
                <a:latin typeface="+mn-ea"/>
                <a:ea typeface="+mn-ea"/>
              </a:rPr>
              <a:t>送水能力不足</a:t>
            </a:r>
            <a:endParaRPr sz="1100" b="1" dirty="0">
              <a:solidFill>
                <a:schemeClr val="tx1"/>
              </a:solidFill>
              <a:latin typeface="+mn-ea"/>
              <a:ea typeface="+mn-ea"/>
            </a:endParaRPr>
          </a:p>
        </p:txBody>
      </p:sp>
      <p:sp>
        <p:nvSpPr>
          <p:cNvPr id="29" name="Rounded Rectangle 28"/>
          <p:cNvSpPr/>
          <p:nvPr/>
        </p:nvSpPr>
        <p:spPr>
          <a:xfrm>
            <a:off x="3297545" y="3416047"/>
            <a:ext cx="3246120" cy="758952"/>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100" b="0" dirty="0">
                <a:solidFill>
                  <a:schemeClr val="tx1"/>
                </a:solidFill>
                <a:latin typeface="+mn-ea"/>
                <a:ea typeface="+mn-ea"/>
              </a:rPr>
              <a:t>3加工工場山側の送水能力を400→670t/</a:t>
            </a:r>
            <a:r>
              <a:rPr sz="1100" b="0" dirty="0" err="1">
                <a:solidFill>
                  <a:schemeClr val="tx1"/>
                </a:solidFill>
                <a:latin typeface="+mn-ea"/>
                <a:ea typeface="+mn-ea"/>
              </a:rPr>
              <a:t>hへ増強（埋設配管内に水中ポンプ増設</a:t>
            </a:r>
            <a:r>
              <a:rPr sz="1100" b="0" dirty="0">
                <a:solidFill>
                  <a:schemeClr val="tx1"/>
                </a:solidFill>
                <a:latin typeface="+mn-ea"/>
                <a:ea typeface="+mn-ea"/>
              </a:rPr>
              <a:t>）／7線材工場浜側に270t/</a:t>
            </a:r>
            <a:r>
              <a:rPr sz="1100" b="0" dirty="0" err="1">
                <a:solidFill>
                  <a:schemeClr val="tx1"/>
                </a:solidFill>
                <a:latin typeface="+mn-ea"/>
                <a:ea typeface="+mn-ea"/>
              </a:rPr>
              <a:t>hの送水設備を新設</a:t>
            </a:r>
            <a:endParaRPr sz="1100" b="0" dirty="0">
              <a:solidFill>
                <a:schemeClr val="tx1"/>
              </a:solidFill>
              <a:latin typeface="+mn-ea"/>
              <a:ea typeface="+mn-ea"/>
            </a:endParaRPr>
          </a:p>
        </p:txBody>
      </p:sp>
      <p:sp>
        <p:nvSpPr>
          <p:cNvPr id="30" name="Rounded Rectangle 29"/>
          <p:cNvSpPr/>
          <p:nvPr/>
        </p:nvSpPr>
        <p:spPr>
          <a:xfrm>
            <a:off x="6616817" y="3416047"/>
            <a:ext cx="1874519" cy="758952"/>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100" b="0" dirty="0" err="1">
                <a:solidFill>
                  <a:schemeClr val="tx1"/>
                </a:solidFill>
                <a:latin typeface="+mn-ea"/>
                <a:ea typeface="+mn-ea"/>
              </a:rPr>
              <a:t>山側・浜側からの</a:t>
            </a:r>
            <a:r>
              <a:rPr sz="1100" b="0" dirty="0">
                <a:solidFill>
                  <a:schemeClr val="tx1"/>
                </a:solidFill>
                <a:latin typeface="+mn-ea"/>
                <a:ea typeface="+mn-ea"/>
              </a:rPr>
              <a:t>
</a:t>
            </a:r>
            <a:r>
              <a:rPr sz="1100" b="0" dirty="0" err="1">
                <a:solidFill>
                  <a:schemeClr val="tx1"/>
                </a:solidFill>
                <a:latin typeface="+mn-ea"/>
                <a:ea typeface="+mn-ea"/>
              </a:rPr>
              <a:t>浸水を防止</a:t>
            </a:r>
            <a:r>
              <a:rPr sz="1100" b="0" dirty="0">
                <a:solidFill>
                  <a:schemeClr val="tx1"/>
                </a:solidFill>
                <a:latin typeface="+mn-ea"/>
                <a:ea typeface="+mn-ea"/>
              </a:rPr>
              <a:t>
（2019年9月完工）</a:t>
            </a:r>
          </a:p>
        </p:txBody>
      </p:sp>
      <p:sp>
        <p:nvSpPr>
          <p:cNvPr id="31" name="Rounded Rectangle 30"/>
          <p:cNvSpPr/>
          <p:nvPr/>
        </p:nvSpPr>
        <p:spPr>
          <a:xfrm>
            <a:off x="1807073" y="4257295"/>
            <a:ext cx="1417320" cy="758952"/>
          </a:xfrm>
          <a:prstGeom prst="roundRect">
            <a:avLst>
              <a:gd name="adj" fmla="val 6000"/>
            </a:avLst>
          </a:prstGeom>
          <a:solidFill>
            <a:srgbClr val="CCE0DE"/>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100" b="1" dirty="0">
                <a:solidFill>
                  <a:schemeClr val="tx1"/>
                </a:solidFill>
                <a:latin typeface="+mn-ea"/>
                <a:ea typeface="+mn-ea"/>
              </a:rPr>
              <a:t>③ </a:t>
            </a:r>
            <a:r>
              <a:rPr sz="1100" b="1" dirty="0" err="1">
                <a:solidFill>
                  <a:schemeClr val="tx1"/>
                </a:solidFill>
                <a:latin typeface="+mn-ea"/>
                <a:ea typeface="+mn-ea"/>
              </a:rPr>
              <a:t>自然放流方式</a:t>
            </a:r>
            <a:r>
              <a:rPr sz="1100" b="1" dirty="0">
                <a:solidFill>
                  <a:schemeClr val="tx1"/>
                </a:solidFill>
                <a:latin typeface="+mn-ea"/>
                <a:ea typeface="+mn-ea"/>
              </a:rPr>
              <a:t>
</a:t>
            </a:r>
            <a:r>
              <a:rPr sz="1100" b="1" dirty="0" err="1">
                <a:solidFill>
                  <a:schemeClr val="tx1"/>
                </a:solidFill>
                <a:latin typeface="+mn-ea"/>
                <a:ea typeface="+mn-ea"/>
              </a:rPr>
              <a:t>による逆流</a:t>
            </a:r>
            <a:endParaRPr sz="1100" b="1" dirty="0">
              <a:solidFill>
                <a:schemeClr val="tx1"/>
              </a:solidFill>
              <a:latin typeface="+mn-ea"/>
              <a:ea typeface="+mn-ea"/>
            </a:endParaRPr>
          </a:p>
        </p:txBody>
      </p:sp>
      <p:sp>
        <p:nvSpPr>
          <p:cNvPr id="32" name="Rounded Rectangle 31"/>
          <p:cNvSpPr/>
          <p:nvPr/>
        </p:nvSpPr>
        <p:spPr>
          <a:xfrm>
            <a:off x="3297545" y="4257295"/>
            <a:ext cx="3246120" cy="758952"/>
          </a:xfrm>
          <a:prstGeom prst="roundRect">
            <a:avLst>
              <a:gd name="adj" fmla="val 6000"/>
            </a:avLst>
          </a:prstGeom>
          <a:solidFill>
            <a:srgbClr val="CCE0DE"/>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100" b="0" dirty="0">
                <a:solidFill>
                  <a:schemeClr val="tx1"/>
                </a:solidFill>
                <a:latin typeface="+mn-ea"/>
                <a:ea typeface="+mn-ea"/>
              </a:rPr>
              <a:t>放流ピット（9.6m³）を新設し、ポンプ470t/h×2台による強制排水方式へ変更</a:t>
            </a:r>
          </a:p>
        </p:txBody>
      </p:sp>
      <p:sp>
        <p:nvSpPr>
          <p:cNvPr id="33" name="Rounded Rectangle 32"/>
          <p:cNvSpPr/>
          <p:nvPr/>
        </p:nvSpPr>
        <p:spPr>
          <a:xfrm>
            <a:off x="6616817" y="4257295"/>
            <a:ext cx="1874519" cy="758952"/>
          </a:xfrm>
          <a:prstGeom prst="roundRect">
            <a:avLst>
              <a:gd name="adj" fmla="val 6000"/>
            </a:avLst>
          </a:prstGeom>
          <a:solidFill>
            <a:srgbClr val="CCE0DE"/>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100" b="0" dirty="0">
                <a:solidFill>
                  <a:schemeClr val="tx1"/>
                </a:solidFill>
                <a:latin typeface="+mn-ea"/>
                <a:ea typeface="+mn-ea"/>
              </a:rPr>
              <a:t>高潮時（KP+3.7m）でも
</a:t>
            </a:r>
            <a:r>
              <a:rPr sz="1100" b="0" dirty="0" err="1">
                <a:solidFill>
                  <a:schemeClr val="tx1"/>
                </a:solidFill>
                <a:latin typeface="+mn-ea"/>
                <a:ea typeface="+mn-ea"/>
              </a:rPr>
              <a:t>海へ放流可能</a:t>
            </a:r>
            <a:endParaRPr lang="en-US" sz="1100" b="0" dirty="0">
              <a:solidFill>
                <a:schemeClr val="tx1"/>
              </a:solidFill>
              <a:latin typeface="+mn-ea"/>
              <a:ea typeface="+mn-ea"/>
            </a:endParaRPr>
          </a:p>
          <a:p>
            <a:pPr algn="l">
              <a:lnSpc>
                <a:spcPct val="115000"/>
              </a:lnSpc>
            </a:pPr>
            <a:r>
              <a:rPr sz="1100" b="0" dirty="0">
                <a:solidFill>
                  <a:schemeClr val="tx1"/>
                </a:solidFill>
                <a:latin typeface="+mn-ea"/>
                <a:ea typeface="+mn-ea"/>
              </a:rPr>
              <a:t>（2019年9月完工）</a:t>
            </a:r>
          </a:p>
        </p:txBody>
      </p:sp>
      <p:sp>
        <p:nvSpPr>
          <p:cNvPr id="34" name="Rounded Rectangle 33"/>
          <p:cNvSpPr/>
          <p:nvPr/>
        </p:nvSpPr>
        <p:spPr>
          <a:xfrm>
            <a:off x="1807073" y="5098543"/>
            <a:ext cx="1417320" cy="758952"/>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100" b="1" dirty="0">
                <a:solidFill>
                  <a:schemeClr val="tx1"/>
                </a:solidFill>
                <a:latin typeface="+mn-ea"/>
                <a:ea typeface="+mn-ea"/>
              </a:rPr>
              <a:t>④ </a:t>
            </a:r>
            <a:r>
              <a:rPr sz="1100" b="1" dirty="0" err="1">
                <a:solidFill>
                  <a:schemeClr val="tx1"/>
                </a:solidFill>
                <a:latin typeface="+mn-ea"/>
                <a:ea typeface="+mn-ea"/>
              </a:rPr>
              <a:t>岸壁高さ不足</a:t>
            </a:r>
            <a:endParaRPr sz="1100" b="1" dirty="0">
              <a:solidFill>
                <a:schemeClr val="tx1"/>
              </a:solidFill>
              <a:latin typeface="+mn-ea"/>
              <a:ea typeface="+mn-ea"/>
            </a:endParaRPr>
          </a:p>
        </p:txBody>
      </p:sp>
      <p:sp>
        <p:nvSpPr>
          <p:cNvPr id="35" name="Rounded Rectangle 34"/>
          <p:cNvSpPr/>
          <p:nvPr/>
        </p:nvSpPr>
        <p:spPr>
          <a:xfrm>
            <a:off x="3297545" y="5098543"/>
            <a:ext cx="3246120" cy="758952"/>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100" b="0" dirty="0">
                <a:solidFill>
                  <a:schemeClr val="tx1"/>
                </a:solidFill>
                <a:latin typeface="+mn-ea"/>
                <a:ea typeface="+mn-ea"/>
              </a:rPr>
              <a:t>7線材工場東面に浸水防止板、南東面にフレコンバックを設置し地下ピットへの浸水を防止</a:t>
            </a:r>
          </a:p>
        </p:txBody>
      </p:sp>
      <p:sp>
        <p:nvSpPr>
          <p:cNvPr id="36" name="Rounded Rectangle 35"/>
          <p:cNvSpPr/>
          <p:nvPr/>
        </p:nvSpPr>
        <p:spPr>
          <a:xfrm>
            <a:off x="6616817" y="5098543"/>
            <a:ext cx="1874519" cy="758952"/>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64008" tIns="36576" rIns="64008" bIns="36576" rtlCol="0" anchor="ctr"/>
          <a:lstStyle/>
          <a:p>
            <a:pPr algn="l">
              <a:lnSpc>
                <a:spcPct val="115000"/>
              </a:lnSpc>
            </a:pPr>
            <a:r>
              <a:rPr sz="1100" b="0" dirty="0" err="1">
                <a:solidFill>
                  <a:schemeClr val="tx1"/>
                </a:solidFill>
                <a:latin typeface="+mn-ea"/>
                <a:ea typeface="+mn-ea"/>
              </a:rPr>
              <a:t>高波の越流による</a:t>
            </a:r>
            <a:r>
              <a:rPr sz="1100" b="0" dirty="0">
                <a:solidFill>
                  <a:schemeClr val="tx1"/>
                </a:solidFill>
                <a:latin typeface="+mn-ea"/>
                <a:ea typeface="+mn-ea"/>
              </a:rPr>
              <a:t>
</a:t>
            </a:r>
            <a:r>
              <a:rPr sz="1100" b="0" dirty="0" err="1">
                <a:solidFill>
                  <a:schemeClr val="tx1"/>
                </a:solidFill>
                <a:latin typeface="+mn-ea"/>
                <a:ea typeface="+mn-ea"/>
              </a:rPr>
              <a:t>地下ピット浸水を防止</a:t>
            </a:r>
            <a:r>
              <a:rPr sz="1100" b="0" dirty="0">
                <a:solidFill>
                  <a:schemeClr val="tx1"/>
                </a:solidFill>
                <a:latin typeface="+mn-ea"/>
                <a:ea typeface="+mn-ea"/>
              </a:rPr>
              <a:t>
（2018年8月 </a:t>
            </a:r>
            <a:r>
              <a:rPr sz="1100" b="0" dirty="0" err="1">
                <a:solidFill>
                  <a:schemeClr val="tx1"/>
                </a:solidFill>
                <a:latin typeface="+mn-ea"/>
                <a:ea typeface="+mn-ea"/>
              </a:rPr>
              <a:t>完了済</a:t>
            </a:r>
            <a:r>
              <a:rPr sz="1100" b="0" dirty="0">
                <a:solidFill>
                  <a:schemeClr val="tx1"/>
                </a:solidFill>
                <a:latin typeface="+mn-ea"/>
                <a:ea typeface="+mn-ea"/>
              </a:rPr>
              <a:t>）</a:t>
            </a:r>
          </a:p>
        </p:txBody>
      </p:sp>
      <p:sp>
        <p:nvSpPr>
          <p:cNvPr id="39" name="TextBox 38"/>
          <p:cNvSpPr txBox="1"/>
          <p:nvPr/>
        </p:nvSpPr>
        <p:spPr>
          <a:xfrm>
            <a:off x="3672701" y="6241368"/>
            <a:ext cx="5989320" cy="261610"/>
          </a:xfrm>
          <a:prstGeom prst="rect">
            <a:avLst/>
          </a:prstGeom>
          <a:noFill/>
        </p:spPr>
        <p:txBody>
          <a:bodyPr wrap="square">
            <a:spAutoFit/>
          </a:bodyPr>
          <a:lstStyle/>
          <a:p>
            <a:pPr algn="r"/>
            <a:r>
              <a:rPr sz="1100" b="0" dirty="0">
                <a:latin typeface="+mn-ea"/>
                <a:ea typeface="+mn-ea"/>
              </a:rPr>
              <a:t>（</a:t>
            </a:r>
            <a:r>
              <a:rPr sz="1100" b="0" dirty="0" err="1">
                <a:latin typeface="+mn-ea"/>
                <a:ea typeface="+mn-ea"/>
              </a:rPr>
              <a:t>出典：貴社ご提供資料「神鉄冠水対策申請書」より作成</a:t>
            </a:r>
            <a:r>
              <a:rPr sz="1100" b="0" dirty="0">
                <a:latin typeface="+mn-ea"/>
                <a:ea typeface="+mn-ea"/>
              </a:rPr>
              <a:t>）</a:t>
            </a:r>
          </a:p>
        </p:txBody>
      </p:sp>
      <p:pic>
        <p:nvPicPr>
          <p:cNvPr id="3" name="図 2">
            <a:extLst>
              <a:ext uri="{FF2B5EF4-FFF2-40B4-BE49-F238E27FC236}">
                <a16:creationId xmlns:a16="http://schemas.microsoft.com/office/drawing/2014/main" id="{FF30F012-5334-4F27-BC5E-E1CC910CCB6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148194" y="0"/>
            <a:ext cx="6285504" cy="3398330"/>
          </a:xfrm>
          <a:prstGeom prst="rect">
            <a:avLst/>
          </a:prstGeom>
        </p:spPr>
      </p:pic>
    </p:spTree>
    <p:extLst>
      <p:ext uri="{BB962C8B-B14F-4D97-AF65-F5344CB8AC3E}">
        <p14:creationId xmlns:p14="http://schemas.microsoft.com/office/powerpoint/2010/main" val="29360666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quarter" idx="10"/>
          </p:nvPr>
        </p:nvSpPr>
        <p:spPr/>
        <p:txBody>
          <a:bodyPr/>
          <a:lstStyle/>
          <a:p>
            <a:r>
              <a:rPr lang="ja-JP" altLang="en-US" dirty="0">
                <a:effectLst>
                  <a:glow rad="190500">
                    <a:schemeClr val="bg1">
                      <a:alpha val="60000"/>
                    </a:schemeClr>
                  </a:glow>
                </a:effectLst>
              </a:rPr>
              <a:t>参考資料</a:t>
            </a:r>
            <a:endParaRPr kumimoji="1" lang="ja-JP" altLang="en-US" dirty="0">
              <a:effectLst>
                <a:glow rad="190500">
                  <a:schemeClr val="bg1">
                    <a:alpha val="60000"/>
                  </a:schemeClr>
                </a:glow>
              </a:effectLst>
            </a:endParaRPr>
          </a:p>
        </p:txBody>
      </p:sp>
      <p:sp>
        <p:nvSpPr>
          <p:cNvPr id="5" name="テキスト プレースホルダー 4"/>
          <p:cNvSpPr>
            <a:spLocks noGrp="1"/>
          </p:cNvSpPr>
          <p:nvPr>
            <p:ph type="body" sz="quarter" idx="11"/>
          </p:nvPr>
        </p:nvSpPr>
        <p:spPr/>
        <p:txBody>
          <a:bodyPr>
            <a:normAutofit/>
          </a:bodyPr>
          <a:lstStyle/>
          <a:p>
            <a:r>
              <a:rPr lang="en-US" altLang="ja-JP" dirty="0"/>
              <a:t>8</a:t>
            </a:r>
            <a:endParaRPr kumimoji="1" lang="ja-JP" altLang="en-US" dirty="0"/>
          </a:p>
        </p:txBody>
      </p:sp>
      <p:sp>
        <p:nvSpPr>
          <p:cNvPr id="7"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48</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2980879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291335" y="370800"/>
            <a:ext cx="8270177"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被害想定額算出手法｜①分析手順</a:t>
            </a:r>
          </a:p>
        </p:txBody>
      </p:sp>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49</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18" name="Rectangle 36"/>
          <p:cNvSpPr>
            <a:spLocks noChangeArrowheads="1"/>
          </p:cNvSpPr>
          <p:nvPr/>
        </p:nvSpPr>
        <p:spPr bwMode="auto">
          <a:xfrm>
            <a:off x="4197566" y="6121482"/>
            <a:ext cx="172996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13335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33350" algn="l" defTabSz="914400" rtl="0" eaLnBrk="0" fontAlgn="base" latinLnBrk="0" hangingPunct="0">
              <a:lnSpc>
                <a:spcPct val="100000"/>
              </a:lnSpc>
              <a:spcBef>
                <a:spcPct val="0"/>
              </a:spcBef>
              <a:spcAft>
                <a:spcPct val="0"/>
              </a:spcAft>
              <a:buClrTx/>
              <a:buSzTx/>
              <a:buFontTx/>
              <a:buNone/>
              <a:tabLst/>
            </a:pPr>
            <a:r>
              <a:rPr kumimoji="0" lang="ja-JP" altLang="ja-JP" sz="11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図：リスク分析の手順</a:t>
            </a:r>
            <a:endParaRPr kumimoji="0" lang="ja-JP" altLang="ja-JP" sz="105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p:txBody>
      </p:sp>
      <p:sp>
        <p:nvSpPr>
          <p:cNvPr id="19" name="テキスト ボックス 7"/>
          <p:cNvSpPr txBox="1">
            <a:spLocks noChangeArrowheads="1"/>
          </p:cNvSpPr>
          <p:nvPr/>
        </p:nvSpPr>
        <p:spPr bwMode="auto">
          <a:xfrm>
            <a:off x="360000" y="1202660"/>
            <a:ext cx="9201513" cy="928143"/>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spcAft>
                <a:spcPts val="1200"/>
              </a:spcAft>
              <a:defRPr/>
            </a:pPr>
            <a:r>
              <a:rPr lang="ja-JP" altLang="en-US" sz="1400" dirty="0">
                <a:solidFill>
                  <a:prstClr val="black"/>
                </a:solidFill>
                <a:latin typeface="游ゴシック" panose="020B0400000000000000" pitchFamily="50" charset="-128"/>
                <a:ea typeface="游ゴシック" panose="020B0400000000000000" pitchFamily="50" charset="-128"/>
              </a:rPr>
              <a:t>水災リスク分析は、浸水シナリオによる対象拠点の想定浸水深に対し、対象拠点の構造物の用途・構造・高さ等を評価し、浸水に起因する評価対象の被害想定率を算出するものです。</a:t>
            </a:r>
          </a:p>
          <a:p>
            <a:pPr lvl="0" eaLnBrk="1" hangingPunct="1">
              <a:defRPr/>
            </a:pPr>
            <a:r>
              <a:rPr lang="ja-JP" altLang="en-US" sz="1400" dirty="0">
                <a:solidFill>
                  <a:prstClr val="black"/>
                </a:solidFill>
                <a:latin typeface="游ゴシック" panose="020B0400000000000000" pitchFamily="50" charset="-128"/>
                <a:ea typeface="游ゴシック" panose="020B0400000000000000" pitchFamily="50" charset="-128"/>
              </a:rPr>
              <a:t>リスク分析の手順は以下フローのとおりです。</a:t>
            </a:r>
          </a:p>
        </p:txBody>
      </p:sp>
      <p:sp>
        <p:nvSpPr>
          <p:cNvPr id="20" name="正方形/長方形 442">
            <a:extLst>
              <a:ext uri="{FF2B5EF4-FFF2-40B4-BE49-F238E27FC236}">
                <a16:creationId xmlns:a16="http://schemas.microsoft.com/office/drawing/2014/main" id="{45F97E4A-0B8A-47AB-B0E8-C6FAD4D6194B}"/>
              </a:ext>
            </a:extLst>
          </p:cNvPr>
          <p:cNvSpPr>
            <a:spLocks noChangeArrowheads="1"/>
          </p:cNvSpPr>
          <p:nvPr/>
        </p:nvSpPr>
        <p:spPr bwMode="auto">
          <a:xfrm>
            <a:off x="1712640" y="3884072"/>
            <a:ext cx="2977505" cy="824183"/>
          </a:xfrm>
          <a:prstGeom prst="rect">
            <a:avLst/>
          </a:prstGeom>
          <a:gradFill rotWithShape="1">
            <a:gsLst>
              <a:gs pos="0">
                <a:srgbClr val="C9B5E8"/>
              </a:gs>
              <a:gs pos="35001">
                <a:srgbClr val="D9CBEE"/>
              </a:gs>
              <a:gs pos="100000">
                <a:srgbClr val="F0EAF9"/>
              </a:gs>
            </a:gsLst>
            <a:lin ang="16200000" scaled="1"/>
          </a:gradFill>
          <a:ln w="9525">
            <a:solidFill>
              <a:srgbClr val="7D60A0"/>
            </a:solidFill>
            <a:miter lim="800000"/>
            <a:headEnd/>
            <a:tailEnd/>
          </a:ln>
          <a:effectLst>
            <a:outerShdw dist="20000" dir="5400000" rotWithShape="0">
              <a:srgbClr val="000000">
                <a:alpha val="37999"/>
              </a:srgbClr>
            </a:outerShdw>
          </a:effectLst>
        </p:spPr>
        <p:txBody>
          <a:bodyPr vert="horz" wrap="square" lIns="90488" tIns="44450" rIns="90488" bIns="4445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ts val="600"/>
              </a:spcAft>
              <a:buClrTx/>
              <a:buSzTx/>
              <a:buFontTx/>
              <a:buNone/>
              <a:tabLst/>
            </a:pPr>
            <a:r>
              <a:rPr kumimoji="0" lang="ja-JP" altLang="ja-JP" sz="1400" b="1"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Segoe UI" panose="020B0502040204020203" pitchFamily="34" charset="0"/>
              </a:rPr>
              <a:t>評価対象物件に関する情報①</a:t>
            </a:r>
            <a:endPar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Segoe UI" panose="020B0502040204020203" pitchFamily="34" charset="0"/>
              </a:rPr>
              <a:t>建物・設備配置／</a:t>
            </a:r>
            <a:r>
              <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Segoe UI" panose="020B0502040204020203" pitchFamily="34" charset="0"/>
              </a:rPr>
              <a:t>階数／床高／階高</a:t>
            </a:r>
            <a:endPar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p:txBody>
      </p:sp>
      <p:sp>
        <p:nvSpPr>
          <p:cNvPr id="22" name="カギ線コネクタ 16390">
            <a:extLst>
              <a:ext uri="{FF2B5EF4-FFF2-40B4-BE49-F238E27FC236}">
                <a16:creationId xmlns:a16="http://schemas.microsoft.com/office/drawing/2014/main" id="{F70D70E1-5BD5-4CA3-BD8C-B43F704507AD}"/>
              </a:ext>
            </a:extLst>
          </p:cNvPr>
          <p:cNvSpPr>
            <a:spLocks/>
          </p:cNvSpPr>
          <p:nvPr/>
        </p:nvSpPr>
        <p:spPr bwMode="auto">
          <a:xfrm rot="5400000" flipH="1" flipV="1">
            <a:off x="4228563" y="3666572"/>
            <a:ext cx="1080418" cy="157248"/>
          </a:xfrm>
          <a:prstGeom prst="bentConnector3">
            <a:avLst>
              <a:gd name="adj1" fmla="val -1515"/>
            </a:avLst>
          </a:prstGeom>
          <a:noFill/>
          <a:ln w="12700">
            <a:solidFill>
              <a:srgbClr val="000000"/>
            </a:solidFill>
            <a:miter lim="800000"/>
            <a:headEnd/>
            <a:tailEnd type="arrow" w="med"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2400" dirty="0">
              <a:latin typeface="游ゴシック" panose="020B0400000000000000" pitchFamily="50" charset="-128"/>
              <a:ea typeface="游ゴシック" panose="020B0400000000000000" pitchFamily="50" charset="-128"/>
            </a:endParaRPr>
          </a:p>
        </p:txBody>
      </p:sp>
      <p:sp>
        <p:nvSpPr>
          <p:cNvPr id="23" name="正方形/長方形 4">
            <a:extLst>
              <a:ext uri="{FF2B5EF4-FFF2-40B4-BE49-F238E27FC236}">
                <a16:creationId xmlns:a16="http://schemas.microsoft.com/office/drawing/2014/main" id="{749C675A-0027-414E-927B-E064ED45DE4F}"/>
              </a:ext>
            </a:extLst>
          </p:cNvPr>
          <p:cNvSpPr>
            <a:spLocks noChangeArrowheads="1"/>
          </p:cNvSpPr>
          <p:nvPr/>
        </p:nvSpPr>
        <p:spPr bwMode="auto">
          <a:xfrm>
            <a:off x="1712640" y="2505426"/>
            <a:ext cx="2979489" cy="1281640"/>
          </a:xfrm>
          <a:prstGeom prst="rect">
            <a:avLst/>
          </a:prstGeom>
          <a:gradFill rotWithShape="1">
            <a:gsLst>
              <a:gs pos="0">
                <a:srgbClr val="DAFDA7"/>
              </a:gs>
              <a:gs pos="35001">
                <a:srgbClr val="E4FDC2"/>
              </a:gs>
              <a:gs pos="100000">
                <a:srgbClr val="F5FFE6"/>
              </a:gs>
            </a:gsLst>
            <a:lin ang="16200000" scaled="1"/>
          </a:gradFill>
          <a:ln w="9525">
            <a:solidFill>
              <a:srgbClr val="98B954"/>
            </a:solidFill>
            <a:miter lim="800000"/>
            <a:headEnd/>
            <a:tailEnd/>
          </a:ln>
          <a:effectLst>
            <a:outerShdw dist="20000" dir="5400000" rotWithShape="0">
              <a:srgbClr val="000000">
                <a:alpha val="37999"/>
              </a:srgbClr>
            </a:outerShdw>
          </a:effectLst>
        </p:spPr>
        <p:txBody>
          <a:bodyPr vert="horz" wrap="square" lIns="90488" tIns="44450" rIns="90488" bIns="4445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1400" b="1"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Segoe UI" panose="020B0502040204020203" pitchFamily="34" charset="0"/>
              </a:rPr>
              <a:t>対象拠点の想定浸水深</a:t>
            </a:r>
            <a:endPar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marL="0" marR="0" lvl="0" indent="0" algn="ctr" defTabSz="914400" rtl="0" eaLnBrk="0" fontAlgn="base" latinLnBrk="0" hangingPunct="0">
              <a:lnSpc>
                <a:spcPct val="100000"/>
              </a:lnSpc>
              <a:spcBef>
                <a:spcPct val="0"/>
              </a:spcBef>
              <a:spcAft>
                <a:spcPts val="600"/>
              </a:spcAft>
              <a:buClrTx/>
              <a:buSzTx/>
              <a:buFontTx/>
              <a:buNone/>
              <a:tabLst/>
            </a:pPr>
            <a:r>
              <a:rPr kumimoji="0" lang="zh-TW" altLang="ja-JP" sz="1400" b="1"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Segoe UI" panose="020B0502040204020203" pitchFamily="34" charset="0"/>
              </a:rPr>
              <a:t>（河川氾濫／内水氾濫／高潮）</a:t>
            </a:r>
            <a:endPar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Segoe UI" panose="020B0502040204020203" pitchFamily="34" charset="0"/>
              </a:rPr>
              <a:t>・ハザードマップ</a:t>
            </a:r>
            <a:endPar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Segoe UI" panose="020B0502040204020203" pitchFamily="34" charset="0"/>
              </a:rPr>
              <a:t>・</a:t>
            </a:r>
            <a:r>
              <a:rPr kumimoji="0" lang="ja-JP" altLang="en-US" sz="1200" dirty="0">
                <a:latin typeface="游ゴシック" panose="020B0400000000000000" pitchFamily="50" charset="-128"/>
                <a:ea typeface="游ゴシック" panose="020B0400000000000000" pitchFamily="50" charset="-128"/>
                <a:cs typeface="Segoe UI" panose="020B0502040204020203" pitchFamily="34" charset="0"/>
              </a:rPr>
              <a:t>浸水</a:t>
            </a:r>
            <a:r>
              <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Segoe UI" panose="020B0502040204020203" pitchFamily="34" charset="0"/>
              </a:rPr>
              <a:t>シミュレーション　等</a:t>
            </a:r>
            <a:endPar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p:txBody>
      </p:sp>
      <p:sp>
        <p:nvSpPr>
          <p:cNvPr id="24" name="正方形/長方形 7">
            <a:extLst>
              <a:ext uri="{FF2B5EF4-FFF2-40B4-BE49-F238E27FC236}">
                <a16:creationId xmlns:a16="http://schemas.microsoft.com/office/drawing/2014/main" id="{36FB1BE2-0050-470A-92A9-77EA4C69FCF7}"/>
              </a:ext>
            </a:extLst>
          </p:cNvPr>
          <p:cNvSpPr>
            <a:spLocks noChangeArrowheads="1"/>
          </p:cNvSpPr>
          <p:nvPr/>
        </p:nvSpPr>
        <p:spPr bwMode="auto">
          <a:xfrm>
            <a:off x="5037700" y="2502739"/>
            <a:ext cx="1540221" cy="1281525"/>
          </a:xfrm>
          <a:prstGeom prst="rect">
            <a:avLst/>
          </a:prstGeom>
          <a:gradFill rotWithShape="1">
            <a:gsLst>
              <a:gs pos="0">
                <a:srgbClr val="9EEAFF"/>
              </a:gs>
              <a:gs pos="35001">
                <a:srgbClr val="BBEFFF"/>
              </a:gs>
              <a:gs pos="100000">
                <a:srgbClr val="E4F9FF"/>
              </a:gs>
            </a:gsLst>
            <a:lin ang="16200000" scaled="1"/>
          </a:gradFill>
          <a:ln w="9525">
            <a:solidFill>
              <a:srgbClr val="46AAC5"/>
            </a:solidFill>
            <a:miter lim="800000"/>
            <a:headEnd/>
            <a:tailEnd/>
          </a:ln>
          <a:effectLst>
            <a:outerShdw dist="20000" dir="5400000" rotWithShape="0">
              <a:srgbClr val="000000">
                <a:alpha val="37999"/>
              </a:srgbClr>
            </a:outerShdw>
          </a:effectLst>
        </p:spPr>
        <p:txBody>
          <a:bodyPr vert="horz" wrap="square" lIns="90488" tIns="44450" rIns="90488" bIns="4445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600"/>
              </a:spcAft>
              <a:buClrTx/>
              <a:buSzTx/>
              <a:buFontTx/>
              <a:buNone/>
              <a:tabLst/>
            </a:pPr>
            <a:r>
              <a:rPr kumimoji="0" lang="ja-JP" altLang="ja-JP" sz="1400" b="1"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Segoe UI" panose="020B0502040204020203" pitchFamily="34" charset="0"/>
              </a:rPr>
              <a:t>浸水範囲算定</a:t>
            </a:r>
            <a:endPar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各構造物の想定浸水範囲の特定</a:t>
            </a:r>
            <a:endPar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p:txBody>
      </p:sp>
      <p:sp>
        <p:nvSpPr>
          <p:cNvPr id="25" name="正方形/長方形 8">
            <a:extLst>
              <a:ext uri="{FF2B5EF4-FFF2-40B4-BE49-F238E27FC236}">
                <a16:creationId xmlns:a16="http://schemas.microsoft.com/office/drawing/2014/main" id="{C5E315BC-F7D7-4DF6-BA57-A3CB9ADD36C4}"/>
              </a:ext>
            </a:extLst>
          </p:cNvPr>
          <p:cNvSpPr>
            <a:spLocks noChangeArrowheads="1"/>
          </p:cNvSpPr>
          <p:nvPr/>
        </p:nvSpPr>
        <p:spPr bwMode="auto">
          <a:xfrm>
            <a:off x="1712640" y="4800266"/>
            <a:ext cx="2977505" cy="1233757"/>
          </a:xfrm>
          <a:prstGeom prst="rect">
            <a:avLst/>
          </a:prstGeom>
          <a:gradFill rotWithShape="1">
            <a:gsLst>
              <a:gs pos="0">
                <a:srgbClr val="C9B5E8"/>
              </a:gs>
              <a:gs pos="35001">
                <a:srgbClr val="D9CBEE"/>
              </a:gs>
              <a:gs pos="100000">
                <a:srgbClr val="F0EAF9"/>
              </a:gs>
            </a:gsLst>
            <a:lin ang="16200000" scaled="1"/>
          </a:gradFill>
          <a:ln w="9525">
            <a:solidFill>
              <a:srgbClr val="7D60A0"/>
            </a:solidFill>
            <a:miter lim="800000"/>
            <a:headEnd/>
            <a:tailEnd/>
          </a:ln>
          <a:effectLst>
            <a:outerShdw dist="20000" dir="5400000" rotWithShape="0">
              <a:srgbClr val="000000">
                <a:alpha val="37999"/>
              </a:srgbClr>
            </a:outerShdw>
          </a:effectLst>
        </p:spPr>
        <p:txBody>
          <a:bodyPr vert="horz" wrap="square" lIns="90488" tIns="44450" rIns="90488" bIns="4445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ts val="600"/>
              </a:spcAft>
              <a:buClrTx/>
              <a:buSzTx/>
              <a:buFontTx/>
              <a:buNone/>
              <a:tabLst/>
            </a:pPr>
            <a:r>
              <a:rPr kumimoji="0" lang="ja-JP" altLang="ja-JP" sz="1400" b="1"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Segoe UI" panose="020B0502040204020203" pitchFamily="34" charset="0"/>
              </a:rPr>
              <a:t>評価対象物件に関する情報②</a:t>
            </a:r>
            <a:endPar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Segoe UI" panose="020B0502040204020203" pitchFamily="34" charset="0"/>
              </a:rPr>
              <a:t>建物構造／用途／</a:t>
            </a:r>
            <a:endPar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Segoe UI" panose="020B0502040204020203" pitchFamily="34" charset="0"/>
              </a:rPr>
              <a:t>評価額</a:t>
            </a:r>
            <a:r>
              <a:rPr kumimoji="0" lang="ja-JP" altLang="en-US" sz="1200" dirty="0">
                <a:latin typeface="游ゴシック" panose="020B0400000000000000" pitchFamily="50" charset="-128"/>
                <a:ea typeface="游ゴシック" panose="020B0400000000000000" pitchFamily="50" charset="-128"/>
                <a:cs typeface="Segoe UI" panose="020B0502040204020203" pitchFamily="34" charset="0"/>
              </a:rPr>
              <a:t>（</a:t>
            </a:r>
            <a:r>
              <a:rPr kumimoji="0" lang="ja-JP" altLang="en-US"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Segoe UI" panose="020B0502040204020203" pitchFamily="34" charset="0"/>
              </a:rPr>
              <a:t>建物・動産の新価または時価</a:t>
            </a:r>
            <a:r>
              <a:rPr kumimoji="0" lang="ja-JP" altLang="en-US" sz="11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Segoe UI" panose="020B0502040204020203" pitchFamily="34" charset="0"/>
              </a:rPr>
              <a:t>）</a:t>
            </a:r>
            <a:endParaRPr kumimoji="0" lang="ja-JP" altLang="en-US" sz="2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p:txBody>
      </p:sp>
      <p:sp>
        <p:nvSpPr>
          <p:cNvPr id="26" name="直線矢印コネクタ 16388">
            <a:extLst>
              <a:ext uri="{FF2B5EF4-FFF2-40B4-BE49-F238E27FC236}">
                <a16:creationId xmlns:a16="http://schemas.microsoft.com/office/drawing/2014/main" id="{D376A24B-285B-4519-9297-B56F1800D8C5}"/>
              </a:ext>
            </a:extLst>
          </p:cNvPr>
          <p:cNvSpPr>
            <a:spLocks/>
          </p:cNvSpPr>
          <p:nvPr/>
        </p:nvSpPr>
        <p:spPr bwMode="auto">
          <a:xfrm>
            <a:off x="4713956" y="3122143"/>
            <a:ext cx="314325" cy="0"/>
          </a:xfrm>
          <a:prstGeom prst="straightConnector1">
            <a:avLst/>
          </a:prstGeom>
          <a:noFill/>
          <a:ln w="12700">
            <a:solidFill>
              <a:srgbClr val="000000"/>
            </a:solidFill>
            <a:round/>
            <a:headEnd/>
            <a:tailEnd type="arrow" w="med"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2400" dirty="0">
              <a:latin typeface="游ゴシック" panose="020B0400000000000000" pitchFamily="50" charset="-128"/>
              <a:ea typeface="游ゴシック" panose="020B0400000000000000" pitchFamily="50" charset="-128"/>
            </a:endParaRPr>
          </a:p>
        </p:txBody>
      </p:sp>
      <p:sp>
        <p:nvSpPr>
          <p:cNvPr id="27" name="正方形/長方形 445">
            <a:extLst>
              <a:ext uri="{FF2B5EF4-FFF2-40B4-BE49-F238E27FC236}">
                <a16:creationId xmlns:a16="http://schemas.microsoft.com/office/drawing/2014/main" id="{28E8E80E-4100-4227-8340-FAFAE19530D9}"/>
              </a:ext>
            </a:extLst>
          </p:cNvPr>
          <p:cNvSpPr>
            <a:spLocks noChangeArrowheads="1"/>
          </p:cNvSpPr>
          <p:nvPr/>
        </p:nvSpPr>
        <p:spPr bwMode="auto">
          <a:xfrm>
            <a:off x="6923492" y="2487680"/>
            <a:ext cx="1442242" cy="1281525"/>
          </a:xfrm>
          <a:prstGeom prst="rect">
            <a:avLst/>
          </a:prstGeom>
          <a:gradFill rotWithShape="1">
            <a:gsLst>
              <a:gs pos="0">
                <a:srgbClr val="FFBE86"/>
              </a:gs>
              <a:gs pos="35001">
                <a:srgbClr val="FFD0AA"/>
              </a:gs>
              <a:gs pos="100000">
                <a:srgbClr val="FFEBDB"/>
              </a:gs>
            </a:gsLst>
            <a:lin ang="16200000" scaled="1"/>
          </a:gradFill>
          <a:ln w="9525">
            <a:solidFill>
              <a:srgbClr val="F69240"/>
            </a:solidFill>
            <a:miter lim="800000"/>
            <a:headEnd/>
            <a:tailEnd/>
          </a:ln>
          <a:effectLst>
            <a:outerShdw dist="20000" dir="5400000" rotWithShape="0">
              <a:srgbClr val="000000">
                <a:alpha val="37999"/>
              </a:srgbClr>
            </a:outerShdw>
          </a:effectLst>
        </p:spPr>
        <p:txBody>
          <a:bodyPr vert="horz" wrap="square" lIns="90488" tIns="44450" rIns="90488" bIns="4445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ts val="600"/>
              </a:spcAft>
              <a:buClrTx/>
              <a:buSzTx/>
              <a:buFontTx/>
              <a:buNone/>
              <a:tabLst/>
            </a:pPr>
            <a:r>
              <a:rPr kumimoji="0" lang="ja-JP" altLang="ja-JP" sz="1400" b="1"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Segoe UI" panose="020B0502040204020203" pitchFamily="34" charset="0"/>
              </a:rPr>
              <a:t>被害算定</a:t>
            </a:r>
            <a:endPar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Segoe UI" panose="020B0502040204020203" pitchFamily="34" charset="0"/>
              </a:rPr>
              <a:t>浸水範囲に対する</a:t>
            </a:r>
            <a:endParaRPr kumimoji="0" lang="en-US" altLang="ja-JP" sz="12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Segoe UI" panose="020B0502040204020203" pitchFamily="34" charset="0"/>
              </a:rPr>
              <a:t>被害想定率の算出</a:t>
            </a:r>
            <a:endParaRPr kumimoji="0" lang="ja-JP" altLang="ja-JP" sz="12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p:txBody>
      </p:sp>
      <p:sp>
        <p:nvSpPr>
          <p:cNvPr id="28" name="カギ線コネクタ 13">
            <a:extLst>
              <a:ext uri="{FF2B5EF4-FFF2-40B4-BE49-F238E27FC236}">
                <a16:creationId xmlns:a16="http://schemas.microsoft.com/office/drawing/2014/main" id="{EF1B28FB-7B38-4527-B824-03822355229F}"/>
              </a:ext>
            </a:extLst>
          </p:cNvPr>
          <p:cNvSpPr>
            <a:spLocks/>
          </p:cNvSpPr>
          <p:nvPr/>
        </p:nvSpPr>
        <p:spPr bwMode="auto">
          <a:xfrm rot="5400000" flipH="1" flipV="1">
            <a:off x="4653062" y="3265879"/>
            <a:ext cx="2161033" cy="2039244"/>
          </a:xfrm>
          <a:prstGeom prst="bentConnector3">
            <a:avLst>
              <a:gd name="adj1" fmla="val -560"/>
            </a:avLst>
          </a:prstGeom>
          <a:noFill/>
          <a:ln w="12700">
            <a:solidFill>
              <a:srgbClr val="000000"/>
            </a:solidFill>
            <a:miter lim="800000"/>
            <a:headEnd/>
            <a:tailEnd type="arrow" w="med"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2400" dirty="0">
              <a:latin typeface="游ゴシック" panose="020B0400000000000000" pitchFamily="50" charset="-128"/>
              <a:ea typeface="游ゴシック" panose="020B0400000000000000" pitchFamily="50" charset="-128"/>
            </a:endParaRPr>
          </a:p>
        </p:txBody>
      </p:sp>
      <p:sp>
        <p:nvSpPr>
          <p:cNvPr id="29" name="直線矢印コネクタ 28">
            <a:extLst>
              <a:ext uri="{FF2B5EF4-FFF2-40B4-BE49-F238E27FC236}">
                <a16:creationId xmlns:a16="http://schemas.microsoft.com/office/drawing/2014/main" id="{C6F88885-845B-47C1-B598-E370DFA06643}"/>
              </a:ext>
            </a:extLst>
          </p:cNvPr>
          <p:cNvSpPr>
            <a:spLocks/>
          </p:cNvSpPr>
          <p:nvPr/>
        </p:nvSpPr>
        <p:spPr bwMode="auto">
          <a:xfrm>
            <a:off x="6577921" y="3122143"/>
            <a:ext cx="314325" cy="0"/>
          </a:xfrm>
          <a:prstGeom prst="straightConnector1">
            <a:avLst/>
          </a:prstGeom>
          <a:noFill/>
          <a:ln w="12700">
            <a:solidFill>
              <a:srgbClr val="000000"/>
            </a:solidFill>
            <a:round/>
            <a:headEnd/>
            <a:tailEnd type="arrow" w="med" len="med"/>
          </a:ln>
          <a:effectLst>
            <a:outerShdw dist="20000" dir="5400000" rotWithShape="0">
              <a:srgbClr val="000000">
                <a:alpha val="37999"/>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ja-JP" altLang="en-US" sz="2400" dirty="0">
              <a:latin typeface="游ゴシック" panose="020B0400000000000000" pitchFamily="50" charset="-128"/>
              <a:ea typeface="游ゴシック" panose="020B0400000000000000" pitchFamily="50" charset="-128"/>
            </a:endParaRPr>
          </a:p>
        </p:txBody>
      </p:sp>
      <p:grpSp>
        <p:nvGrpSpPr>
          <p:cNvPr id="17" name="グループ化 16">
            <a:extLst>
              <a:ext uri="{FF2B5EF4-FFF2-40B4-BE49-F238E27FC236}">
                <a16:creationId xmlns:a16="http://schemas.microsoft.com/office/drawing/2014/main" id="{42614A22-5E26-4FE5-9034-CE0CFBE66FDF}"/>
              </a:ext>
            </a:extLst>
          </p:cNvPr>
          <p:cNvGrpSpPr/>
          <p:nvPr/>
        </p:nvGrpSpPr>
        <p:grpSpPr>
          <a:xfrm>
            <a:off x="360000" y="370800"/>
            <a:ext cx="720000" cy="672000"/>
            <a:chOff x="360000" y="370800"/>
            <a:chExt cx="720000" cy="672000"/>
          </a:xfrm>
        </p:grpSpPr>
        <p:sp>
          <p:nvSpPr>
            <p:cNvPr id="30" name="正方形/長方形 29">
              <a:extLst>
                <a:ext uri="{FF2B5EF4-FFF2-40B4-BE49-F238E27FC236}">
                  <a16:creationId xmlns:a16="http://schemas.microsoft.com/office/drawing/2014/main" id="{5443C3EB-0B5D-4CBF-ADE1-09ACA69BEA0A}"/>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31" name="テキスト ボックス 30">
              <a:extLst>
                <a:ext uri="{FF2B5EF4-FFF2-40B4-BE49-F238E27FC236}">
                  <a16:creationId xmlns:a16="http://schemas.microsoft.com/office/drawing/2014/main" id="{6949E4B6-E184-489E-98DB-9CDB64F7B3B4}"/>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8</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27809014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50</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10" name="テキスト ボックス 7"/>
          <p:cNvSpPr txBox="1">
            <a:spLocks noChangeArrowheads="1"/>
          </p:cNvSpPr>
          <p:nvPr/>
        </p:nvSpPr>
        <p:spPr bwMode="auto">
          <a:xfrm>
            <a:off x="360000" y="1202661"/>
            <a:ext cx="9201513" cy="470541"/>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defRPr/>
            </a:pPr>
            <a:r>
              <a:rPr lang="ja-JP" altLang="en-US" sz="1400" dirty="0">
                <a:solidFill>
                  <a:prstClr val="black"/>
                </a:solidFill>
                <a:latin typeface="游ゴシック" panose="020B0400000000000000" pitchFamily="50" charset="-128"/>
                <a:ea typeface="游ゴシック" panose="020B0400000000000000" pitchFamily="50" charset="-128"/>
              </a:rPr>
              <a:t>対象拠点の想定浸水深に対し、各構造物の階数、１階床高、各階の階高を基に、浸水する範囲と、各階の浸水深を算定します。</a:t>
            </a:r>
          </a:p>
        </p:txBody>
      </p:sp>
      <p:sp>
        <p:nvSpPr>
          <p:cNvPr id="11" name="テキスト ボックス 10"/>
          <p:cNvSpPr txBox="1"/>
          <p:nvPr/>
        </p:nvSpPr>
        <p:spPr>
          <a:xfrm>
            <a:off x="1291335" y="370800"/>
            <a:ext cx="8270177"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被害想定額算出手法｜②浸水範囲算定</a:t>
            </a:r>
          </a:p>
        </p:txBody>
      </p:sp>
      <p:sp>
        <p:nvSpPr>
          <p:cNvPr id="12" name="正方形/長方形 11">
            <a:extLst>
              <a:ext uri="{FF2B5EF4-FFF2-40B4-BE49-F238E27FC236}">
                <a16:creationId xmlns:a16="http://schemas.microsoft.com/office/drawing/2014/main" id="{32A6F3E6-F398-499D-86C8-3543D479A479}"/>
              </a:ext>
            </a:extLst>
          </p:cNvPr>
          <p:cNvSpPr>
            <a:spLocks noChangeArrowheads="1"/>
          </p:cNvSpPr>
          <p:nvPr/>
        </p:nvSpPr>
        <p:spPr bwMode="auto">
          <a:xfrm>
            <a:off x="2649503" y="4228706"/>
            <a:ext cx="4967605" cy="936625"/>
          </a:xfrm>
          <a:prstGeom prst="rect">
            <a:avLst/>
          </a:prstGeom>
          <a:solidFill>
            <a:srgbClr val="93CDD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13" name="正方形/長方形 12">
            <a:extLst>
              <a:ext uri="{FF2B5EF4-FFF2-40B4-BE49-F238E27FC236}">
                <a16:creationId xmlns:a16="http://schemas.microsoft.com/office/drawing/2014/main" id="{E5857916-C860-41FD-923D-C5AEE991F3EB}"/>
              </a:ext>
            </a:extLst>
          </p:cNvPr>
          <p:cNvSpPr>
            <a:spLocks noChangeArrowheads="1"/>
          </p:cNvSpPr>
          <p:nvPr/>
        </p:nvSpPr>
        <p:spPr bwMode="auto">
          <a:xfrm>
            <a:off x="3891563" y="3900411"/>
            <a:ext cx="1388110" cy="5842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14" name="正方形/長方形 13">
            <a:extLst>
              <a:ext uri="{FF2B5EF4-FFF2-40B4-BE49-F238E27FC236}">
                <a16:creationId xmlns:a16="http://schemas.microsoft.com/office/drawing/2014/main" id="{1EBEAD6C-3AF6-445E-837B-A20895676BE3}"/>
              </a:ext>
            </a:extLst>
          </p:cNvPr>
          <p:cNvSpPr>
            <a:spLocks noChangeArrowheads="1"/>
          </p:cNvSpPr>
          <p:nvPr/>
        </p:nvSpPr>
        <p:spPr bwMode="auto">
          <a:xfrm>
            <a:off x="4590063" y="3973436"/>
            <a:ext cx="616585" cy="511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15" name="Rectangle 2" descr="横線">
            <a:extLst>
              <a:ext uri="{FF2B5EF4-FFF2-40B4-BE49-F238E27FC236}">
                <a16:creationId xmlns:a16="http://schemas.microsoft.com/office/drawing/2014/main" id="{D27D66B7-4837-4533-90C2-80AF774B14CA}"/>
              </a:ext>
            </a:extLst>
          </p:cNvPr>
          <p:cNvSpPr>
            <a:spLocks noChangeArrowheads="1"/>
          </p:cNvSpPr>
          <p:nvPr/>
        </p:nvSpPr>
        <p:spPr bwMode="auto">
          <a:xfrm>
            <a:off x="4590062" y="4217782"/>
            <a:ext cx="616585" cy="255587"/>
          </a:xfrm>
          <a:prstGeom prst="rect">
            <a:avLst/>
          </a:prstGeom>
          <a:pattFill prst="ltHorz">
            <a:fgClr>
              <a:srgbClr val="5B9BD5"/>
            </a:fgClr>
            <a:bgClr>
              <a:srgbClr val="FFFF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dirty="0">
              <a:latin typeface="游ゴシック" panose="020B0400000000000000" pitchFamily="50" charset="-128"/>
            </a:endParaRPr>
          </a:p>
        </p:txBody>
      </p:sp>
      <p:sp>
        <p:nvSpPr>
          <p:cNvPr id="16" name="Rectangle 2">
            <a:extLst>
              <a:ext uri="{FF2B5EF4-FFF2-40B4-BE49-F238E27FC236}">
                <a16:creationId xmlns:a16="http://schemas.microsoft.com/office/drawing/2014/main" id="{BC39DAFC-F83E-43E3-8626-F8B45DC1DB09}"/>
              </a:ext>
            </a:extLst>
          </p:cNvPr>
          <p:cNvSpPr>
            <a:spLocks noChangeArrowheads="1"/>
          </p:cNvSpPr>
          <p:nvPr/>
        </p:nvSpPr>
        <p:spPr bwMode="auto">
          <a:xfrm>
            <a:off x="375469" y="1769722"/>
            <a:ext cx="9155061" cy="984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76176"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悪条件を</a:t>
            </a:r>
            <a:r>
              <a:rPr kumimoji="0" lang="ja-JP" altLang="en-US" sz="1400" dirty="0">
                <a:latin typeface="游ゴシック" panose="020B0400000000000000" pitchFamily="50" charset="-128"/>
                <a:ea typeface="游ゴシック" panose="020B0400000000000000" pitchFamily="50" charset="-128"/>
                <a:cs typeface="ＭＳ Ｐゴシック" panose="020B0600070205080204" pitchFamily="50" charset="-128"/>
              </a:rPr>
              <a:t>想定</a:t>
            </a:r>
            <a:r>
              <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し、</a:t>
            </a:r>
            <a:r>
              <a:rPr kumimoji="0"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土のう</a:t>
            </a:r>
            <a:r>
              <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、水のう、止水板などは機能しない</a:t>
            </a:r>
            <a:r>
              <a:rPr kumimoji="0"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もの</a:t>
            </a:r>
            <a:r>
              <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として評価します。</a:t>
            </a:r>
            <a:endPar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地下階は水没するものと仮定して評価します。</a:t>
            </a:r>
            <a:endPar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地下階が無い建物で、想定浸水深が１階床高に満たない場合は、床下浸水したものと仮定して評価します。</a:t>
            </a:r>
            <a:endPar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各階の階高が不明な建物は、用途・構造から一般的な階高を仮定して評価します。</a:t>
            </a:r>
            <a:endPar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p:txBody>
      </p:sp>
      <p:sp>
        <p:nvSpPr>
          <p:cNvPr id="17" name="Rectangle 3">
            <a:extLst>
              <a:ext uri="{FF2B5EF4-FFF2-40B4-BE49-F238E27FC236}">
                <a16:creationId xmlns:a16="http://schemas.microsoft.com/office/drawing/2014/main" id="{A7974160-1153-4FAF-A55A-AF103F660A76}"/>
              </a:ext>
            </a:extLst>
          </p:cNvPr>
          <p:cNvSpPr>
            <a:spLocks noChangeArrowheads="1"/>
          </p:cNvSpPr>
          <p:nvPr/>
        </p:nvSpPr>
        <p:spPr bwMode="auto">
          <a:xfrm>
            <a:off x="4236419" y="6121596"/>
            <a:ext cx="201850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1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Segoe UI" panose="020B0502040204020203" pitchFamily="34" charset="0"/>
              </a:rPr>
              <a:t>図：浸水範囲算定のイメージ</a:t>
            </a:r>
            <a:endParaRPr kumimoji="0" lang="ja-JP" altLang="ja-JP" sz="105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p:txBody>
      </p:sp>
      <p:sp>
        <p:nvSpPr>
          <p:cNvPr id="18" name="正方形/長方形 17">
            <a:extLst>
              <a:ext uri="{FF2B5EF4-FFF2-40B4-BE49-F238E27FC236}">
                <a16:creationId xmlns:a16="http://schemas.microsoft.com/office/drawing/2014/main" id="{77FFF4E4-A809-4E64-9515-D7F6464ED133}"/>
              </a:ext>
            </a:extLst>
          </p:cNvPr>
          <p:cNvSpPr>
            <a:spLocks noChangeArrowheads="1"/>
          </p:cNvSpPr>
          <p:nvPr/>
        </p:nvSpPr>
        <p:spPr bwMode="auto">
          <a:xfrm>
            <a:off x="2649503" y="5165331"/>
            <a:ext cx="4967605" cy="730885"/>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9D9B39AB-885D-4213-B2C3-0504A8E8F00C}"/>
              </a:ext>
            </a:extLst>
          </p:cNvPr>
          <p:cNvSpPr>
            <a:spLocks noChangeArrowheads="1"/>
          </p:cNvSpPr>
          <p:nvPr/>
        </p:nvSpPr>
        <p:spPr bwMode="auto">
          <a:xfrm>
            <a:off x="3891563" y="5068811"/>
            <a:ext cx="1388110" cy="21971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20" name="正方形/長方形 19">
            <a:extLst>
              <a:ext uri="{FF2B5EF4-FFF2-40B4-BE49-F238E27FC236}">
                <a16:creationId xmlns:a16="http://schemas.microsoft.com/office/drawing/2014/main" id="{25C395DF-66C2-4419-951C-CDA46C350161}"/>
              </a:ext>
            </a:extLst>
          </p:cNvPr>
          <p:cNvSpPr>
            <a:spLocks noChangeArrowheads="1"/>
          </p:cNvSpPr>
          <p:nvPr/>
        </p:nvSpPr>
        <p:spPr bwMode="auto">
          <a:xfrm>
            <a:off x="3891563" y="5068811"/>
            <a:ext cx="1388110" cy="219710"/>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22" name="正方形/長方形 21">
            <a:extLst>
              <a:ext uri="{FF2B5EF4-FFF2-40B4-BE49-F238E27FC236}">
                <a16:creationId xmlns:a16="http://schemas.microsoft.com/office/drawing/2014/main" id="{90550FD9-7680-4510-B527-4F6D584C14FA}"/>
              </a:ext>
            </a:extLst>
          </p:cNvPr>
          <p:cNvSpPr>
            <a:spLocks noChangeArrowheads="1"/>
          </p:cNvSpPr>
          <p:nvPr/>
        </p:nvSpPr>
        <p:spPr bwMode="auto">
          <a:xfrm>
            <a:off x="3891563" y="4484611"/>
            <a:ext cx="1388110" cy="5842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23" name="正方形/長方形 22">
            <a:extLst>
              <a:ext uri="{FF2B5EF4-FFF2-40B4-BE49-F238E27FC236}">
                <a16:creationId xmlns:a16="http://schemas.microsoft.com/office/drawing/2014/main" id="{6B689E92-DBE6-40E3-A27D-7EF5694CE680}"/>
              </a:ext>
            </a:extLst>
          </p:cNvPr>
          <p:cNvSpPr>
            <a:spLocks noChangeArrowheads="1"/>
          </p:cNvSpPr>
          <p:nvPr/>
        </p:nvSpPr>
        <p:spPr bwMode="auto">
          <a:xfrm>
            <a:off x="3891563" y="4484611"/>
            <a:ext cx="1388110" cy="584200"/>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24" name="正方形/長方形 23">
            <a:extLst>
              <a:ext uri="{FF2B5EF4-FFF2-40B4-BE49-F238E27FC236}">
                <a16:creationId xmlns:a16="http://schemas.microsoft.com/office/drawing/2014/main" id="{4DF06D26-F47E-4D15-A4FA-D6698FD97176}"/>
              </a:ext>
            </a:extLst>
          </p:cNvPr>
          <p:cNvSpPr>
            <a:spLocks noChangeArrowheads="1"/>
          </p:cNvSpPr>
          <p:nvPr/>
        </p:nvSpPr>
        <p:spPr bwMode="auto">
          <a:xfrm>
            <a:off x="3891563" y="3900411"/>
            <a:ext cx="1388110" cy="584200"/>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25" name="正方形/長方形 24">
            <a:extLst>
              <a:ext uri="{FF2B5EF4-FFF2-40B4-BE49-F238E27FC236}">
                <a16:creationId xmlns:a16="http://schemas.microsoft.com/office/drawing/2014/main" id="{FDD1FB63-9B7B-4B56-BFF4-A38D576289C9}"/>
              </a:ext>
            </a:extLst>
          </p:cNvPr>
          <p:cNvSpPr>
            <a:spLocks noChangeArrowheads="1"/>
          </p:cNvSpPr>
          <p:nvPr/>
        </p:nvSpPr>
        <p:spPr bwMode="auto">
          <a:xfrm>
            <a:off x="3964588" y="3973436"/>
            <a:ext cx="552450" cy="511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26" name="正方形/長方形 25">
            <a:extLst>
              <a:ext uri="{FF2B5EF4-FFF2-40B4-BE49-F238E27FC236}">
                <a16:creationId xmlns:a16="http://schemas.microsoft.com/office/drawing/2014/main" id="{AE969EA9-C0FD-4DC9-9132-B8BE548AFA39}"/>
              </a:ext>
            </a:extLst>
          </p:cNvPr>
          <p:cNvSpPr>
            <a:spLocks noChangeArrowheads="1"/>
          </p:cNvSpPr>
          <p:nvPr/>
        </p:nvSpPr>
        <p:spPr bwMode="auto">
          <a:xfrm>
            <a:off x="3964588" y="3973436"/>
            <a:ext cx="552450" cy="511175"/>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27" name="正方形/長方形 26">
            <a:extLst>
              <a:ext uri="{FF2B5EF4-FFF2-40B4-BE49-F238E27FC236}">
                <a16:creationId xmlns:a16="http://schemas.microsoft.com/office/drawing/2014/main" id="{250A185A-5484-4D0A-9F92-7C6EFCC0696C}"/>
              </a:ext>
            </a:extLst>
          </p:cNvPr>
          <p:cNvSpPr>
            <a:spLocks noChangeArrowheads="1"/>
          </p:cNvSpPr>
          <p:nvPr/>
        </p:nvSpPr>
        <p:spPr bwMode="auto">
          <a:xfrm>
            <a:off x="4590063" y="3973436"/>
            <a:ext cx="616585" cy="511175"/>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28" name="正方形/長方形 27">
            <a:extLst>
              <a:ext uri="{FF2B5EF4-FFF2-40B4-BE49-F238E27FC236}">
                <a16:creationId xmlns:a16="http://schemas.microsoft.com/office/drawing/2014/main" id="{2FBDAD88-2A9C-4925-B27B-6C25EDCF2D84}"/>
              </a:ext>
            </a:extLst>
          </p:cNvPr>
          <p:cNvSpPr>
            <a:spLocks noChangeArrowheads="1"/>
          </p:cNvSpPr>
          <p:nvPr/>
        </p:nvSpPr>
        <p:spPr bwMode="auto">
          <a:xfrm>
            <a:off x="3964588" y="4557636"/>
            <a:ext cx="552450" cy="511175"/>
          </a:xfrm>
          <a:prstGeom prst="rect">
            <a:avLst/>
          </a:prstGeom>
          <a:pattFill prst="ltHorz">
            <a:fgClr>
              <a:srgbClr val="00B0F0"/>
            </a:fgClr>
            <a:bgClr>
              <a:schemeClr val="bg1"/>
            </a:bgClr>
          </a:pattFill>
          <a:ln>
            <a:noFill/>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29" name="正方形/長方形 28">
            <a:extLst>
              <a:ext uri="{FF2B5EF4-FFF2-40B4-BE49-F238E27FC236}">
                <a16:creationId xmlns:a16="http://schemas.microsoft.com/office/drawing/2014/main" id="{23FE3E28-CB20-4A52-83F0-9F45C44EC3D6}"/>
              </a:ext>
            </a:extLst>
          </p:cNvPr>
          <p:cNvSpPr>
            <a:spLocks noChangeArrowheads="1"/>
          </p:cNvSpPr>
          <p:nvPr/>
        </p:nvSpPr>
        <p:spPr bwMode="auto">
          <a:xfrm>
            <a:off x="3964588" y="4557636"/>
            <a:ext cx="552450" cy="511175"/>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30" name="正方形/長方形 29">
            <a:extLst>
              <a:ext uri="{FF2B5EF4-FFF2-40B4-BE49-F238E27FC236}">
                <a16:creationId xmlns:a16="http://schemas.microsoft.com/office/drawing/2014/main" id="{DC4F2D71-98E3-463B-8DC8-E916935C0A82}"/>
              </a:ext>
            </a:extLst>
          </p:cNvPr>
          <p:cNvSpPr>
            <a:spLocks noChangeArrowheads="1"/>
          </p:cNvSpPr>
          <p:nvPr/>
        </p:nvSpPr>
        <p:spPr bwMode="auto">
          <a:xfrm>
            <a:off x="4590063" y="4557636"/>
            <a:ext cx="616585" cy="511175"/>
          </a:xfrm>
          <a:prstGeom prst="rect">
            <a:avLst/>
          </a:prstGeom>
          <a:pattFill prst="ltHorz">
            <a:fgClr>
              <a:srgbClr val="00B0F0"/>
            </a:fgClr>
            <a:bgClr>
              <a:schemeClr val="bg1"/>
            </a:bgClr>
          </a:pattFill>
          <a:ln>
            <a:noFill/>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31" name="正方形/長方形 30">
            <a:extLst>
              <a:ext uri="{FF2B5EF4-FFF2-40B4-BE49-F238E27FC236}">
                <a16:creationId xmlns:a16="http://schemas.microsoft.com/office/drawing/2014/main" id="{6554F3C1-336C-4F04-87B4-5F272FE6C1F2}"/>
              </a:ext>
            </a:extLst>
          </p:cNvPr>
          <p:cNvSpPr>
            <a:spLocks noChangeArrowheads="1"/>
          </p:cNvSpPr>
          <p:nvPr/>
        </p:nvSpPr>
        <p:spPr bwMode="auto">
          <a:xfrm>
            <a:off x="4590063" y="4557636"/>
            <a:ext cx="616585" cy="511175"/>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32" name="フリーフォーム 30">
            <a:extLst>
              <a:ext uri="{FF2B5EF4-FFF2-40B4-BE49-F238E27FC236}">
                <a16:creationId xmlns:a16="http://schemas.microsoft.com/office/drawing/2014/main" id="{E688F285-3744-45D7-8A79-B5DEFC7E1E5E}"/>
              </a:ext>
            </a:extLst>
          </p:cNvPr>
          <p:cNvSpPr>
            <a:spLocks/>
          </p:cNvSpPr>
          <p:nvPr/>
        </p:nvSpPr>
        <p:spPr bwMode="auto">
          <a:xfrm>
            <a:off x="3822983" y="3635616"/>
            <a:ext cx="1520825" cy="264795"/>
          </a:xfrm>
          <a:custGeom>
            <a:avLst/>
            <a:gdLst>
              <a:gd name="T0" fmla="*/ 0 w 2395"/>
              <a:gd name="T1" fmla="*/ 417 h 417"/>
              <a:gd name="T2" fmla="*/ 1197 w 2395"/>
              <a:gd name="T3" fmla="*/ 0 h 417"/>
              <a:gd name="T4" fmla="*/ 2395 w 2395"/>
              <a:gd name="T5" fmla="*/ 417 h 417"/>
              <a:gd name="T6" fmla="*/ 0 w 2395"/>
              <a:gd name="T7" fmla="*/ 417 h 417"/>
            </a:gdLst>
            <a:ahLst/>
            <a:cxnLst>
              <a:cxn ang="0">
                <a:pos x="T0" y="T1"/>
              </a:cxn>
              <a:cxn ang="0">
                <a:pos x="T2" y="T3"/>
              </a:cxn>
              <a:cxn ang="0">
                <a:pos x="T4" y="T5"/>
              </a:cxn>
              <a:cxn ang="0">
                <a:pos x="T6" y="T7"/>
              </a:cxn>
            </a:cxnLst>
            <a:rect l="0" t="0" r="r" b="b"/>
            <a:pathLst>
              <a:path w="2395" h="417">
                <a:moveTo>
                  <a:pt x="0" y="417"/>
                </a:moveTo>
                <a:lnTo>
                  <a:pt x="1197" y="0"/>
                </a:lnTo>
                <a:lnTo>
                  <a:pt x="2395" y="417"/>
                </a:lnTo>
                <a:lnTo>
                  <a:pt x="0" y="417"/>
                </a:lnTo>
                <a:close/>
              </a:path>
            </a:pathLst>
          </a:custGeom>
          <a:solidFill>
            <a:srgbClr val="4F81B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33" name="フリーフォーム 31">
            <a:extLst>
              <a:ext uri="{FF2B5EF4-FFF2-40B4-BE49-F238E27FC236}">
                <a16:creationId xmlns:a16="http://schemas.microsoft.com/office/drawing/2014/main" id="{5632F2CB-C2BA-454E-94C4-5B535CD96F76}"/>
              </a:ext>
            </a:extLst>
          </p:cNvPr>
          <p:cNvSpPr>
            <a:spLocks/>
          </p:cNvSpPr>
          <p:nvPr/>
        </p:nvSpPr>
        <p:spPr bwMode="auto">
          <a:xfrm>
            <a:off x="3822983" y="3635616"/>
            <a:ext cx="1520825" cy="264795"/>
          </a:xfrm>
          <a:custGeom>
            <a:avLst/>
            <a:gdLst>
              <a:gd name="T0" fmla="*/ 0 w 2395"/>
              <a:gd name="T1" fmla="*/ 417 h 417"/>
              <a:gd name="T2" fmla="*/ 1197 w 2395"/>
              <a:gd name="T3" fmla="*/ 0 h 417"/>
              <a:gd name="T4" fmla="*/ 2395 w 2395"/>
              <a:gd name="T5" fmla="*/ 417 h 417"/>
              <a:gd name="T6" fmla="*/ 0 w 2395"/>
              <a:gd name="T7" fmla="*/ 417 h 417"/>
            </a:gdLst>
            <a:ahLst/>
            <a:cxnLst>
              <a:cxn ang="0">
                <a:pos x="T0" y="T1"/>
              </a:cxn>
              <a:cxn ang="0">
                <a:pos x="T2" y="T3"/>
              </a:cxn>
              <a:cxn ang="0">
                <a:pos x="T4" y="T5"/>
              </a:cxn>
              <a:cxn ang="0">
                <a:pos x="T6" y="T7"/>
              </a:cxn>
            </a:cxnLst>
            <a:rect l="0" t="0" r="r" b="b"/>
            <a:pathLst>
              <a:path w="2395" h="417">
                <a:moveTo>
                  <a:pt x="0" y="417"/>
                </a:moveTo>
                <a:lnTo>
                  <a:pt x="1197" y="0"/>
                </a:lnTo>
                <a:lnTo>
                  <a:pt x="2395" y="417"/>
                </a:lnTo>
                <a:lnTo>
                  <a:pt x="0" y="417"/>
                </a:lnTo>
                <a:close/>
              </a:path>
            </a:pathLst>
          </a:cu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34" name="正方形/長方形 33">
            <a:extLst>
              <a:ext uri="{FF2B5EF4-FFF2-40B4-BE49-F238E27FC236}">
                <a16:creationId xmlns:a16="http://schemas.microsoft.com/office/drawing/2014/main" id="{F7B86BF5-33A1-4A4E-800F-B9F41FECE6C6}"/>
              </a:ext>
            </a:extLst>
          </p:cNvPr>
          <p:cNvSpPr>
            <a:spLocks noChangeArrowheads="1"/>
          </p:cNvSpPr>
          <p:nvPr/>
        </p:nvSpPr>
        <p:spPr bwMode="auto">
          <a:xfrm>
            <a:off x="5874033" y="5653646"/>
            <a:ext cx="1388110" cy="153035"/>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35" name="正方形/長方形 34">
            <a:extLst>
              <a:ext uri="{FF2B5EF4-FFF2-40B4-BE49-F238E27FC236}">
                <a16:creationId xmlns:a16="http://schemas.microsoft.com/office/drawing/2014/main" id="{44CFB95D-630C-47BB-8BD5-F93E250E18A9}"/>
              </a:ext>
            </a:extLst>
          </p:cNvPr>
          <p:cNvSpPr>
            <a:spLocks noChangeArrowheads="1"/>
          </p:cNvSpPr>
          <p:nvPr/>
        </p:nvSpPr>
        <p:spPr bwMode="auto">
          <a:xfrm>
            <a:off x="5874033" y="5653646"/>
            <a:ext cx="1388110" cy="153035"/>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36" name="正方形/長方形 35">
            <a:extLst>
              <a:ext uri="{FF2B5EF4-FFF2-40B4-BE49-F238E27FC236}">
                <a16:creationId xmlns:a16="http://schemas.microsoft.com/office/drawing/2014/main" id="{1B24A62E-E4C8-4B24-BA11-9227F4424FB7}"/>
              </a:ext>
            </a:extLst>
          </p:cNvPr>
          <p:cNvSpPr>
            <a:spLocks noChangeArrowheads="1"/>
          </p:cNvSpPr>
          <p:nvPr/>
        </p:nvSpPr>
        <p:spPr bwMode="auto">
          <a:xfrm>
            <a:off x="5875303" y="4484611"/>
            <a:ext cx="1388110" cy="5842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37" name="正方形/長方形 36">
            <a:extLst>
              <a:ext uri="{FF2B5EF4-FFF2-40B4-BE49-F238E27FC236}">
                <a16:creationId xmlns:a16="http://schemas.microsoft.com/office/drawing/2014/main" id="{CF743E7B-1987-480C-8ECF-FE9099CA121C}"/>
              </a:ext>
            </a:extLst>
          </p:cNvPr>
          <p:cNvSpPr>
            <a:spLocks noChangeArrowheads="1"/>
          </p:cNvSpPr>
          <p:nvPr/>
        </p:nvSpPr>
        <p:spPr bwMode="auto">
          <a:xfrm>
            <a:off x="5875303" y="4484611"/>
            <a:ext cx="1388110" cy="584200"/>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38" name="正方形/長方形 37">
            <a:extLst>
              <a:ext uri="{FF2B5EF4-FFF2-40B4-BE49-F238E27FC236}">
                <a16:creationId xmlns:a16="http://schemas.microsoft.com/office/drawing/2014/main" id="{44B7418F-2598-486B-8D45-093D2196752C}"/>
              </a:ext>
            </a:extLst>
          </p:cNvPr>
          <p:cNvSpPr>
            <a:spLocks noChangeArrowheads="1"/>
          </p:cNvSpPr>
          <p:nvPr/>
        </p:nvSpPr>
        <p:spPr bwMode="auto">
          <a:xfrm>
            <a:off x="5875303" y="3900411"/>
            <a:ext cx="1388110" cy="58420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39" name="正方形/長方形 38">
            <a:extLst>
              <a:ext uri="{FF2B5EF4-FFF2-40B4-BE49-F238E27FC236}">
                <a16:creationId xmlns:a16="http://schemas.microsoft.com/office/drawing/2014/main" id="{34415A8F-2E1C-4A3F-AA95-4422E5FE683A}"/>
              </a:ext>
            </a:extLst>
          </p:cNvPr>
          <p:cNvSpPr>
            <a:spLocks noChangeArrowheads="1"/>
          </p:cNvSpPr>
          <p:nvPr/>
        </p:nvSpPr>
        <p:spPr bwMode="auto">
          <a:xfrm>
            <a:off x="5875303" y="3900411"/>
            <a:ext cx="1388110" cy="584200"/>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40" name="正方形/長方形 39">
            <a:extLst>
              <a:ext uri="{FF2B5EF4-FFF2-40B4-BE49-F238E27FC236}">
                <a16:creationId xmlns:a16="http://schemas.microsoft.com/office/drawing/2014/main" id="{AAF50D0A-DFDC-4692-83D6-B326C70ECFE4}"/>
              </a:ext>
            </a:extLst>
          </p:cNvPr>
          <p:cNvSpPr>
            <a:spLocks noChangeArrowheads="1"/>
          </p:cNvSpPr>
          <p:nvPr/>
        </p:nvSpPr>
        <p:spPr bwMode="auto">
          <a:xfrm>
            <a:off x="5948328" y="3973436"/>
            <a:ext cx="553720" cy="511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41" name="正方形/長方形 40">
            <a:extLst>
              <a:ext uri="{FF2B5EF4-FFF2-40B4-BE49-F238E27FC236}">
                <a16:creationId xmlns:a16="http://schemas.microsoft.com/office/drawing/2014/main" id="{FFEC26D4-4F98-4414-AA5C-96A839D94F1B}"/>
              </a:ext>
            </a:extLst>
          </p:cNvPr>
          <p:cNvSpPr>
            <a:spLocks noChangeArrowheads="1"/>
          </p:cNvSpPr>
          <p:nvPr/>
        </p:nvSpPr>
        <p:spPr bwMode="auto">
          <a:xfrm>
            <a:off x="5948328" y="3973436"/>
            <a:ext cx="553720" cy="511175"/>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42" name="正方形/長方形 41">
            <a:extLst>
              <a:ext uri="{FF2B5EF4-FFF2-40B4-BE49-F238E27FC236}">
                <a16:creationId xmlns:a16="http://schemas.microsoft.com/office/drawing/2014/main" id="{F191246D-8101-4F03-8978-0E7E4CDB74C0}"/>
              </a:ext>
            </a:extLst>
          </p:cNvPr>
          <p:cNvSpPr>
            <a:spLocks noChangeArrowheads="1"/>
          </p:cNvSpPr>
          <p:nvPr/>
        </p:nvSpPr>
        <p:spPr bwMode="auto">
          <a:xfrm>
            <a:off x="6575073" y="3973436"/>
            <a:ext cx="615315" cy="511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43" name="正方形/長方形 42">
            <a:extLst>
              <a:ext uri="{FF2B5EF4-FFF2-40B4-BE49-F238E27FC236}">
                <a16:creationId xmlns:a16="http://schemas.microsoft.com/office/drawing/2014/main" id="{1AA8E6A7-6860-49ED-AD88-CB6E5A983402}"/>
              </a:ext>
            </a:extLst>
          </p:cNvPr>
          <p:cNvSpPr>
            <a:spLocks noChangeArrowheads="1"/>
          </p:cNvSpPr>
          <p:nvPr/>
        </p:nvSpPr>
        <p:spPr bwMode="auto">
          <a:xfrm>
            <a:off x="6575073" y="3973436"/>
            <a:ext cx="615315" cy="511175"/>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44" name="正方形/長方形 43">
            <a:extLst>
              <a:ext uri="{FF2B5EF4-FFF2-40B4-BE49-F238E27FC236}">
                <a16:creationId xmlns:a16="http://schemas.microsoft.com/office/drawing/2014/main" id="{664CD5EA-003C-4A88-BFDF-B59A59EC805C}"/>
              </a:ext>
            </a:extLst>
          </p:cNvPr>
          <p:cNvSpPr>
            <a:spLocks noChangeArrowheads="1"/>
          </p:cNvSpPr>
          <p:nvPr/>
        </p:nvSpPr>
        <p:spPr bwMode="auto">
          <a:xfrm>
            <a:off x="5948328" y="4557636"/>
            <a:ext cx="553720" cy="511175"/>
          </a:xfrm>
          <a:prstGeom prst="rect">
            <a:avLst/>
          </a:prstGeom>
          <a:pattFill prst="ltHorz">
            <a:fgClr>
              <a:srgbClr val="00B0F0"/>
            </a:fgClr>
            <a:bgClr>
              <a:prstClr val="white"/>
            </a:bgClr>
          </a:pattFill>
          <a:ln>
            <a:noFill/>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45" name="正方形/長方形 44">
            <a:extLst>
              <a:ext uri="{FF2B5EF4-FFF2-40B4-BE49-F238E27FC236}">
                <a16:creationId xmlns:a16="http://schemas.microsoft.com/office/drawing/2014/main" id="{B185557E-AC83-445F-9364-9E4B12B63C57}"/>
              </a:ext>
            </a:extLst>
          </p:cNvPr>
          <p:cNvSpPr>
            <a:spLocks noChangeArrowheads="1"/>
          </p:cNvSpPr>
          <p:nvPr/>
        </p:nvSpPr>
        <p:spPr bwMode="auto">
          <a:xfrm>
            <a:off x="5948328" y="4557636"/>
            <a:ext cx="553720" cy="511175"/>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46" name="正方形/長方形 45">
            <a:extLst>
              <a:ext uri="{FF2B5EF4-FFF2-40B4-BE49-F238E27FC236}">
                <a16:creationId xmlns:a16="http://schemas.microsoft.com/office/drawing/2014/main" id="{C6D4B4AD-C0FC-4C6F-AE3C-8BD761998252}"/>
              </a:ext>
            </a:extLst>
          </p:cNvPr>
          <p:cNvSpPr>
            <a:spLocks noChangeArrowheads="1"/>
          </p:cNvSpPr>
          <p:nvPr/>
        </p:nvSpPr>
        <p:spPr bwMode="auto">
          <a:xfrm>
            <a:off x="6575073" y="4557636"/>
            <a:ext cx="615315" cy="511175"/>
          </a:xfrm>
          <a:prstGeom prst="rect">
            <a:avLst/>
          </a:prstGeom>
          <a:pattFill prst="ltHorz">
            <a:fgClr>
              <a:srgbClr val="00B0F0"/>
            </a:fgClr>
            <a:bgClr>
              <a:prstClr val="white"/>
            </a:bgClr>
          </a:pattFill>
          <a:ln>
            <a:noFill/>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47" name="正方形/長方形 46">
            <a:extLst>
              <a:ext uri="{FF2B5EF4-FFF2-40B4-BE49-F238E27FC236}">
                <a16:creationId xmlns:a16="http://schemas.microsoft.com/office/drawing/2014/main" id="{5DEAD3DB-6B89-4203-A80F-1D1CADB7A40B}"/>
              </a:ext>
            </a:extLst>
          </p:cNvPr>
          <p:cNvSpPr>
            <a:spLocks noChangeArrowheads="1"/>
          </p:cNvSpPr>
          <p:nvPr/>
        </p:nvSpPr>
        <p:spPr bwMode="auto">
          <a:xfrm>
            <a:off x="6575073" y="4557636"/>
            <a:ext cx="615315" cy="511175"/>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48" name="フリーフォーム 46">
            <a:extLst>
              <a:ext uri="{FF2B5EF4-FFF2-40B4-BE49-F238E27FC236}">
                <a16:creationId xmlns:a16="http://schemas.microsoft.com/office/drawing/2014/main" id="{0829AE4F-CB2B-4587-BD8A-E85DB6CC627D}"/>
              </a:ext>
            </a:extLst>
          </p:cNvPr>
          <p:cNvSpPr>
            <a:spLocks/>
          </p:cNvSpPr>
          <p:nvPr/>
        </p:nvSpPr>
        <p:spPr bwMode="auto">
          <a:xfrm>
            <a:off x="5807993" y="3635616"/>
            <a:ext cx="1519555" cy="264795"/>
          </a:xfrm>
          <a:custGeom>
            <a:avLst/>
            <a:gdLst>
              <a:gd name="T0" fmla="*/ 0 w 2393"/>
              <a:gd name="T1" fmla="*/ 417 h 417"/>
              <a:gd name="T2" fmla="*/ 1197 w 2393"/>
              <a:gd name="T3" fmla="*/ 0 h 417"/>
              <a:gd name="T4" fmla="*/ 2393 w 2393"/>
              <a:gd name="T5" fmla="*/ 417 h 417"/>
              <a:gd name="T6" fmla="*/ 0 w 2393"/>
              <a:gd name="T7" fmla="*/ 417 h 417"/>
            </a:gdLst>
            <a:ahLst/>
            <a:cxnLst>
              <a:cxn ang="0">
                <a:pos x="T0" y="T1"/>
              </a:cxn>
              <a:cxn ang="0">
                <a:pos x="T2" y="T3"/>
              </a:cxn>
              <a:cxn ang="0">
                <a:pos x="T4" y="T5"/>
              </a:cxn>
              <a:cxn ang="0">
                <a:pos x="T6" y="T7"/>
              </a:cxn>
            </a:cxnLst>
            <a:rect l="0" t="0" r="r" b="b"/>
            <a:pathLst>
              <a:path w="2393" h="417">
                <a:moveTo>
                  <a:pt x="0" y="417"/>
                </a:moveTo>
                <a:lnTo>
                  <a:pt x="1197" y="0"/>
                </a:lnTo>
                <a:lnTo>
                  <a:pt x="2393" y="417"/>
                </a:lnTo>
                <a:lnTo>
                  <a:pt x="0" y="417"/>
                </a:lnTo>
                <a:close/>
              </a:path>
            </a:pathLst>
          </a:custGeom>
          <a:solidFill>
            <a:srgbClr val="4F81B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49" name="フリーフォーム 47">
            <a:extLst>
              <a:ext uri="{FF2B5EF4-FFF2-40B4-BE49-F238E27FC236}">
                <a16:creationId xmlns:a16="http://schemas.microsoft.com/office/drawing/2014/main" id="{0EA9001B-9083-47E2-B1BC-FCF1F8736E9A}"/>
              </a:ext>
            </a:extLst>
          </p:cNvPr>
          <p:cNvSpPr>
            <a:spLocks/>
          </p:cNvSpPr>
          <p:nvPr/>
        </p:nvSpPr>
        <p:spPr bwMode="auto">
          <a:xfrm>
            <a:off x="5807993" y="3635616"/>
            <a:ext cx="1519555" cy="264795"/>
          </a:xfrm>
          <a:custGeom>
            <a:avLst/>
            <a:gdLst>
              <a:gd name="T0" fmla="*/ 0 w 2393"/>
              <a:gd name="T1" fmla="*/ 417 h 417"/>
              <a:gd name="T2" fmla="*/ 1197 w 2393"/>
              <a:gd name="T3" fmla="*/ 0 h 417"/>
              <a:gd name="T4" fmla="*/ 2393 w 2393"/>
              <a:gd name="T5" fmla="*/ 417 h 417"/>
              <a:gd name="T6" fmla="*/ 0 w 2393"/>
              <a:gd name="T7" fmla="*/ 417 h 417"/>
            </a:gdLst>
            <a:ahLst/>
            <a:cxnLst>
              <a:cxn ang="0">
                <a:pos x="T0" y="T1"/>
              </a:cxn>
              <a:cxn ang="0">
                <a:pos x="T2" y="T3"/>
              </a:cxn>
              <a:cxn ang="0">
                <a:pos x="T4" y="T5"/>
              </a:cxn>
              <a:cxn ang="0">
                <a:pos x="T6" y="T7"/>
              </a:cxn>
            </a:cxnLst>
            <a:rect l="0" t="0" r="r" b="b"/>
            <a:pathLst>
              <a:path w="2393" h="417">
                <a:moveTo>
                  <a:pt x="0" y="417"/>
                </a:moveTo>
                <a:lnTo>
                  <a:pt x="1197" y="0"/>
                </a:lnTo>
                <a:lnTo>
                  <a:pt x="2393" y="417"/>
                </a:lnTo>
                <a:lnTo>
                  <a:pt x="0" y="417"/>
                </a:lnTo>
                <a:close/>
              </a:path>
            </a:pathLst>
          </a:cu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50" name="正方形/長方形 49">
            <a:extLst>
              <a:ext uri="{FF2B5EF4-FFF2-40B4-BE49-F238E27FC236}">
                <a16:creationId xmlns:a16="http://schemas.microsoft.com/office/drawing/2014/main" id="{77F162DC-F84A-4FFB-B26D-78AB14E43093}"/>
              </a:ext>
            </a:extLst>
          </p:cNvPr>
          <p:cNvSpPr>
            <a:spLocks noChangeArrowheads="1"/>
          </p:cNvSpPr>
          <p:nvPr/>
        </p:nvSpPr>
        <p:spPr bwMode="auto">
          <a:xfrm>
            <a:off x="5874033" y="5068811"/>
            <a:ext cx="1388110" cy="584835"/>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51" name="正方形/長方形 50">
            <a:extLst>
              <a:ext uri="{FF2B5EF4-FFF2-40B4-BE49-F238E27FC236}">
                <a16:creationId xmlns:a16="http://schemas.microsoft.com/office/drawing/2014/main" id="{A3CDF9D7-F364-4595-A4D7-E35CA2C29390}"/>
              </a:ext>
            </a:extLst>
          </p:cNvPr>
          <p:cNvSpPr>
            <a:spLocks noChangeArrowheads="1"/>
          </p:cNvSpPr>
          <p:nvPr/>
        </p:nvSpPr>
        <p:spPr bwMode="auto">
          <a:xfrm>
            <a:off x="5874033" y="5068811"/>
            <a:ext cx="1388110" cy="584835"/>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52" name="正方形/長方形 51">
            <a:extLst>
              <a:ext uri="{FF2B5EF4-FFF2-40B4-BE49-F238E27FC236}">
                <a16:creationId xmlns:a16="http://schemas.microsoft.com/office/drawing/2014/main" id="{8D84FDE1-C54D-440F-B19C-2DABD8164C66}"/>
              </a:ext>
            </a:extLst>
          </p:cNvPr>
          <p:cNvSpPr>
            <a:spLocks noChangeArrowheads="1"/>
          </p:cNvSpPr>
          <p:nvPr/>
        </p:nvSpPr>
        <p:spPr bwMode="auto">
          <a:xfrm>
            <a:off x="5947058" y="5141836"/>
            <a:ext cx="552450" cy="511810"/>
          </a:xfrm>
          <a:prstGeom prst="rect">
            <a:avLst/>
          </a:prstGeom>
          <a:pattFill prst="ltHorz">
            <a:fgClr>
              <a:srgbClr val="00B0F0"/>
            </a:fgClr>
            <a:bgClr>
              <a:prstClr val="white"/>
            </a:bgClr>
          </a:pattFill>
          <a:ln>
            <a:noFill/>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53" name="正方形/長方形 52">
            <a:extLst>
              <a:ext uri="{FF2B5EF4-FFF2-40B4-BE49-F238E27FC236}">
                <a16:creationId xmlns:a16="http://schemas.microsoft.com/office/drawing/2014/main" id="{A9C1F906-05A4-448B-80A9-E9391AE0E4F0}"/>
              </a:ext>
            </a:extLst>
          </p:cNvPr>
          <p:cNvSpPr>
            <a:spLocks noChangeArrowheads="1"/>
          </p:cNvSpPr>
          <p:nvPr/>
        </p:nvSpPr>
        <p:spPr bwMode="auto">
          <a:xfrm>
            <a:off x="5947058" y="5141836"/>
            <a:ext cx="552450" cy="511810"/>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54" name="正方形/長方形 53">
            <a:extLst>
              <a:ext uri="{FF2B5EF4-FFF2-40B4-BE49-F238E27FC236}">
                <a16:creationId xmlns:a16="http://schemas.microsoft.com/office/drawing/2014/main" id="{150758A2-23FA-4CC9-9C5A-88332C9159E7}"/>
              </a:ext>
            </a:extLst>
          </p:cNvPr>
          <p:cNvSpPr>
            <a:spLocks noChangeArrowheads="1"/>
          </p:cNvSpPr>
          <p:nvPr/>
        </p:nvSpPr>
        <p:spPr bwMode="auto">
          <a:xfrm>
            <a:off x="6572533" y="5141836"/>
            <a:ext cx="616585" cy="511810"/>
          </a:xfrm>
          <a:prstGeom prst="rect">
            <a:avLst/>
          </a:prstGeom>
          <a:pattFill prst="ltHorz">
            <a:fgClr>
              <a:srgbClr val="00B0F0"/>
            </a:fgClr>
            <a:bgClr>
              <a:prstClr val="white"/>
            </a:bgClr>
          </a:pattFill>
          <a:ln>
            <a:noFill/>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55" name="正方形/長方形 54">
            <a:extLst>
              <a:ext uri="{FF2B5EF4-FFF2-40B4-BE49-F238E27FC236}">
                <a16:creationId xmlns:a16="http://schemas.microsoft.com/office/drawing/2014/main" id="{9C69FC95-9299-4CC8-BD2F-7377CC2E770E}"/>
              </a:ext>
            </a:extLst>
          </p:cNvPr>
          <p:cNvSpPr>
            <a:spLocks noChangeArrowheads="1"/>
          </p:cNvSpPr>
          <p:nvPr/>
        </p:nvSpPr>
        <p:spPr bwMode="auto">
          <a:xfrm>
            <a:off x="6572533" y="5141836"/>
            <a:ext cx="616585" cy="511810"/>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56" name="正方形/長方形 55">
            <a:extLst>
              <a:ext uri="{FF2B5EF4-FFF2-40B4-BE49-F238E27FC236}">
                <a16:creationId xmlns:a16="http://schemas.microsoft.com/office/drawing/2014/main" id="{8DCA46E8-FBB0-42AD-8D97-086BDEA2F2EC}"/>
              </a:ext>
            </a:extLst>
          </p:cNvPr>
          <p:cNvSpPr>
            <a:spLocks noChangeArrowheads="1"/>
          </p:cNvSpPr>
          <p:nvPr/>
        </p:nvSpPr>
        <p:spPr bwMode="auto">
          <a:xfrm>
            <a:off x="4592603" y="4228706"/>
            <a:ext cx="614045" cy="255905"/>
          </a:xfrm>
          <a:prstGeom prst="rect">
            <a:avLst/>
          </a:prstGeom>
          <a:pattFill prst="ltHorz">
            <a:fgClr>
              <a:srgbClr val="00B0F0"/>
            </a:fgClr>
            <a:bgClr>
              <a:schemeClr val="bg1"/>
            </a:bgClr>
          </a:pattFill>
          <a:ln w="8890" cap="flat">
            <a:solidFill>
              <a:srgbClr val="000000"/>
            </a:solidFill>
            <a:prstDash val="solid"/>
            <a:round/>
            <a:headEnd/>
            <a:tailEnd/>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57" name="正方形/長方形 56">
            <a:extLst>
              <a:ext uri="{FF2B5EF4-FFF2-40B4-BE49-F238E27FC236}">
                <a16:creationId xmlns:a16="http://schemas.microsoft.com/office/drawing/2014/main" id="{BDEC0556-469A-4CB8-8172-72DC86F67B89}"/>
              </a:ext>
            </a:extLst>
          </p:cNvPr>
          <p:cNvSpPr>
            <a:spLocks noChangeArrowheads="1"/>
          </p:cNvSpPr>
          <p:nvPr/>
        </p:nvSpPr>
        <p:spPr bwMode="auto">
          <a:xfrm>
            <a:off x="5948328" y="4228706"/>
            <a:ext cx="553720" cy="255905"/>
          </a:xfrm>
          <a:prstGeom prst="rect">
            <a:avLst/>
          </a:prstGeom>
          <a:pattFill prst="ltHorz">
            <a:fgClr>
              <a:srgbClr val="00B0F0"/>
            </a:fgClr>
            <a:bgClr>
              <a:prstClr val="white"/>
            </a:bgClr>
          </a:pattFill>
          <a:ln>
            <a:noFill/>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58" name="正方形/長方形 57">
            <a:extLst>
              <a:ext uri="{FF2B5EF4-FFF2-40B4-BE49-F238E27FC236}">
                <a16:creationId xmlns:a16="http://schemas.microsoft.com/office/drawing/2014/main" id="{A81DEE82-913F-4E8F-9280-7DE9A7F8C206}"/>
              </a:ext>
            </a:extLst>
          </p:cNvPr>
          <p:cNvSpPr>
            <a:spLocks noChangeArrowheads="1"/>
          </p:cNvSpPr>
          <p:nvPr/>
        </p:nvSpPr>
        <p:spPr bwMode="auto">
          <a:xfrm>
            <a:off x="5948328" y="4228706"/>
            <a:ext cx="553720" cy="255905"/>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59" name="正方形/長方形 58">
            <a:extLst>
              <a:ext uri="{FF2B5EF4-FFF2-40B4-BE49-F238E27FC236}">
                <a16:creationId xmlns:a16="http://schemas.microsoft.com/office/drawing/2014/main" id="{278236E2-4EF5-476A-B01B-DF687CC3DF80}"/>
              </a:ext>
            </a:extLst>
          </p:cNvPr>
          <p:cNvSpPr>
            <a:spLocks noChangeArrowheads="1"/>
          </p:cNvSpPr>
          <p:nvPr/>
        </p:nvSpPr>
        <p:spPr bwMode="auto">
          <a:xfrm>
            <a:off x="6576978" y="4228706"/>
            <a:ext cx="613410" cy="255905"/>
          </a:xfrm>
          <a:prstGeom prst="rect">
            <a:avLst/>
          </a:prstGeom>
          <a:pattFill prst="ltHorz">
            <a:fgClr>
              <a:srgbClr val="00B0F0"/>
            </a:fgClr>
            <a:bgClr>
              <a:prstClr val="white"/>
            </a:bgClr>
          </a:pattFill>
          <a:ln>
            <a:noFill/>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60" name="正方形/長方形 59">
            <a:extLst>
              <a:ext uri="{FF2B5EF4-FFF2-40B4-BE49-F238E27FC236}">
                <a16:creationId xmlns:a16="http://schemas.microsoft.com/office/drawing/2014/main" id="{4185BF4E-E77C-4C93-8465-AFCF2AD1A095}"/>
              </a:ext>
            </a:extLst>
          </p:cNvPr>
          <p:cNvSpPr>
            <a:spLocks noChangeArrowheads="1"/>
          </p:cNvSpPr>
          <p:nvPr/>
        </p:nvSpPr>
        <p:spPr bwMode="auto">
          <a:xfrm>
            <a:off x="6576978" y="4228706"/>
            <a:ext cx="613410" cy="255905"/>
          </a:xfrm>
          <a:prstGeom prst="rect">
            <a:avLst/>
          </a:prstGeom>
          <a:noFill/>
          <a:ln w="889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61" name="正方形/長方形 60">
            <a:extLst>
              <a:ext uri="{FF2B5EF4-FFF2-40B4-BE49-F238E27FC236}">
                <a16:creationId xmlns:a16="http://schemas.microsoft.com/office/drawing/2014/main" id="{B4577A10-EA07-4CC0-84D4-B74F40F73167}"/>
              </a:ext>
            </a:extLst>
          </p:cNvPr>
          <p:cNvSpPr>
            <a:spLocks noChangeArrowheads="1"/>
          </p:cNvSpPr>
          <p:nvPr/>
        </p:nvSpPr>
        <p:spPr bwMode="auto">
          <a:xfrm>
            <a:off x="2649895" y="5169141"/>
            <a:ext cx="641201"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ja-JP" sz="1000" kern="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地盤高さ▲</a:t>
            </a:r>
            <a:endParaRPr lang="ja-JP" sz="1000" kern="1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62" name="正方形/長方形 61">
            <a:extLst>
              <a:ext uri="{FF2B5EF4-FFF2-40B4-BE49-F238E27FC236}">
                <a16:creationId xmlns:a16="http://schemas.microsoft.com/office/drawing/2014/main" id="{08F85179-FEA1-4602-825C-85DF85016B22}"/>
              </a:ext>
            </a:extLst>
          </p:cNvPr>
          <p:cNvSpPr>
            <a:spLocks noChangeArrowheads="1"/>
          </p:cNvSpPr>
          <p:nvPr/>
        </p:nvSpPr>
        <p:spPr bwMode="auto">
          <a:xfrm>
            <a:off x="3027040" y="4573511"/>
            <a:ext cx="2564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ja-JP" sz="1000" kern="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想定</a:t>
            </a:r>
            <a:endParaRPr lang="ja-JP" sz="1000" kern="1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63" name="正方形/長方形 62">
            <a:extLst>
              <a:ext uri="{FF2B5EF4-FFF2-40B4-BE49-F238E27FC236}">
                <a16:creationId xmlns:a16="http://schemas.microsoft.com/office/drawing/2014/main" id="{F8CDD6E2-D628-49B4-8460-3934B738EBC4}"/>
              </a:ext>
            </a:extLst>
          </p:cNvPr>
          <p:cNvSpPr>
            <a:spLocks noChangeArrowheads="1"/>
          </p:cNvSpPr>
          <p:nvPr/>
        </p:nvSpPr>
        <p:spPr bwMode="auto">
          <a:xfrm>
            <a:off x="2898785" y="4734166"/>
            <a:ext cx="384721"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ja-JP" sz="1000" kern="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浸水深</a:t>
            </a:r>
            <a:endParaRPr lang="ja-JP" sz="1000" kern="1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64" name="フリーフォーム 65">
            <a:extLst>
              <a:ext uri="{FF2B5EF4-FFF2-40B4-BE49-F238E27FC236}">
                <a16:creationId xmlns:a16="http://schemas.microsoft.com/office/drawing/2014/main" id="{28157BE2-6DF9-4D45-A0B3-31604D0EDA05}"/>
              </a:ext>
            </a:extLst>
          </p:cNvPr>
          <p:cNvSpPr>
            <a:spLocks noEditPoints="1"/>
          </p:cNvSpPr>
          <p:nvPr/>
        </p:nvSpPr>
        <p:spPr bwMode="auto">
          <a:xfrm>
            <a:off x="3277518" y="4228706"/>
            <a:ext cx="73025" cy="935990"/>
          </a:xfrm>
          <a:custGeom>
            <a:avLst/>
            <a:gdLst>
              <a:gd name="T0" fmla="*/ 65 w 115"/>
              <a:gd name="T1" fmla="*/ 96 h 1474"/>
              <a:gd name="T2" fmla="*/ 65 w 115"/>
              <a:gd name="T3" fmla="*/ 1379 h 1474"/>
              <a:gd name="T4" fmla="*/ 51 w 115"/>
              <a:gd name="T5" fmla="*/ 1379 h 1474"/>
              <a:gd name="T6" fmla="*/ 51 w 115"/>
              <a:gd name="T7" fmla="*/ 96 h 1474"/>
              <a:gd name="T8" fmla="*/ 65 w 115"/>
              <a:gd name="T9" fmla="*/ 96 h 1474"/>
              <a:gd name="T10" fmla="*/ 0 w 115"/>
              <a:gd name="T11" fmla="*/ 115 h 1474"/>
              <a:gd name="T12" fmla="*/ 58 w 115"/>
              <a:gd name="T13" fmla="*/ 0 h 1474"/>
              <a:gd name="T14" fmla="*/ 115 w 115"/>
              <a:gd name="T15" fmla="*/ 115 h 1474"/>
              <a:gd name="T16" fmla="*/ 0 w 115"/>
              <a:gd name="T17" fmla="*/ 115 h 1474"/>
              <a:gd name="T18" fmla="*/ 115 w 115"/>
              <a:gd name="T19" fmla="*/ 1359 h 1474"/>
              <a:gd name="T20" fmla="*/ 58 w 115"/>
              <a:gd name="T21" fmla="*/ 1474 h 1474"/>
              <a:gd name="T22" fmla="*/ 0 w 115"/>
              <a:gd name="T23" fmla="*/ 1359 h 1474"/>
              <a:gd name="T24" fmla="*/ 115 w 115"/>
              <a:gd name="T25" fmla="*/ 1359 h 1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5" h="1474">
                <a:moveTo>
                  <a:pt x="65" y="96"/>
                </a:moveTo>
                <a:lnTo>
                  <a:pt x="65" y="1379"/>
                </a:lnTo>
                <a:lnTo>
                  <a:pt x="51" y="1379"/>
                </a:lnTo>
                <a:lnTo>
                  <a:pt x="51" y="96"/>
                </a:lnTo>
                <a:lnTo>
                  <a:pt x="65" y="96"/>
                </a:lnTo>
                <a:close/>
                <a:moveTo>
                  <a:pt x="0" y="115"/>
                </a:moveTo>
                <a:lnTo>
                  <a:pt x="58" y="0"/>
                </a:lnTo>
                <a:lnTo>
                  <a:pt x="115" y="115"/>
                </a:lnTo>
                <a:lnTo>
                  <a:pt x="0" y="115"/>
                </a:lnTo>
                <a:close/>
                <a:moveTo>
                  <a:pt x="115" y="1359"/>
                </a:moveTo>
                <a:lnTo>
                  <a:pt x="58" y="1474"/>
                </a:lnTo>
                <a:lnTo>
                  <a:pt x="0" y="1359"/>
                </a:lnTo>
                <a:lnTo>
                  <a:pt x="115" y="1359"/>
                </a:lnTo>
                <a:close/>
              </a:path>
            </a:pathLst>
          </a:custGeom>
          <a:solidFill>
            <a:srgbClr val="000000"/>
          </a:solidFill>
          <a:ln w="0" cap="flat">
            <a:solidFill>
              <a:srgbClr val="000000"/>
            </a:solidFill>
            <a:prstDash val="solid"/>
            <a:round/>
            <a:headEnd/>
            <a:tailEnd/>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65" name="フリーフォーム 66">
            <a:extLst>
              <a:ext uri="{FF2B5EF4-FFF2-40B4-BE49-F238E27FC236}">
                <a16:creationId xmlns:a16="http://schemas.microsoft.com/office/drawing/2014/main" id="{9C29CC5F-18E7-42AB-8479-2AC421897573}"/>
              </a:ext>
            </a:extLst>
          </p:cNvPr>
          <p:cNvSpPr>
            <a:spLocks noEditPoints="1"/>
          </p:cNvSpPr>
          <p:nvPr/>
        </p:nvSpPr>
        <p:spPr bwMode="auto">
          <a:xfrm>
            <a:off x="3635658" y="4953876"/>
            <a:ext cx="73025" cy="116205"/>
          </a:xfrm>
          <a:custGeom>
            <a:avLst/>
            <a:gdLst>
              <a:gd name="T0" fmla="*/ 64 w 115"/>
              <a:gd name="T1" fmla="*/ 0 h 183"/>
              <a:gd name="T2" fmla="*/ 64 w 115"/>
              <a:gd name="T3" fmla="*/ 87 h 183"/>
              <a:gd name="T4" fmla="*/ 51 w 115"/>
              <a:gd name="T5" fmla="*/ 87 h 183"/>
              <a:gd name="T6" fmla="*/ 51 w 115"/>
              <a:gd name="T7" fmla="*/ 0 h 183"/>
              <a:gd name="T8" fmla="*/ 64 w 115"/>
              <a:gd name="T9" fmla="*/ 0 h 183"/>
              <a:gd name="T10" fmla="*/ 115 w 115"/>
              <a:gd name="T11" fmla="*/ 68 h 183"/>
              <a:gd name="T12" fmla="*/ 58 w 115"/>
              <a:gd name="T13" fmla="*/ 183 h 183"/>
              <a:gd name="T14" fmla="*/ 0 w 115"/>
              <a:gd name="T15" fmla="*/ 68 h 183"/>
              <a:gd name="T16" fmla="*/ 115 w 115"/>
              <a:gd name="T17" fmla="*/ 6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183">
                <a:moveTo>
                  <a:pt x="64" y="0"/>
                </a:moveTo>
                <a:lnTo>
                  <a:pt x="64" y="87"/>
                </a:lnTo>
                <a:lnTo>
                  <a:pt x="51" y="87"/>
                </a:lnTo>
                <a:lnTo>
                  <a:pt x="51" y="0"/>
                </a:lnTo>
                <a:lnTo>
                  <a:pt x="64" y="0"/>
                </a:lnTo>
                <a:close/>
                <a:moveTo>
                  <a:pt x="115" y="68"/>
                </a:moveTo>
                <a:lnTo>
                  <a:pt x="58" y="183"/>
                </a:lnTo>
                <a:lnTo>
                  <a:pt x="0" y="68"/>
                </a:lnTo>
                <a:lnTo>
                  <a:pt x="115" y="68"/>
                </a:lnTo>
                <a:close/>
              </a:path>
            </a:pathLst>
          </a:custGeom>
          <a:solidFill>
            <a:srgbClr val="000000"/>
          </a:solidFill>
          <a:ln w="0" cap="flat">
            <a:solidFill>
              <a:srgbClr val="000000"/>
            </a:solidFill>
            <a:prstDash val="solid"/>
            <a:round/>
            <a:headEnd/>
            <a:tailEnd/>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66" name="フリーフォーム 67">
            <a:extLst>
              <a:ext uri="{FF2B5EF4-FFF2-40B4-BE49-F238E27FC236}">
                <a16:creationId xmlns:a16="http://schemas.microsoft.com/office/drawing/2014/main" id="{00BFE823-5CB8-4A7D-A6EF-C5634A6629D0}"/>
              </a:ext>
            </a:extLst>
          </p:cNvPr>
          <p:cNvSpPr>
            <a:spLocks noEditPoints="1"/>
          </p:cNvSpPr>
          <p:nvPr/>
        </p:nvSpPr>
        <p:spPr bwMode="auto">
          <a:xfrm>
            <a:off x="3599463" y="5064366"/>
            <a:ext cx="292100" cy="8890"/>
          </a:xfrm>
          <a:custGeom>
            <a:avLst/>
            <a:gdLst>
              <a:gd name="T0" fmla="*/ 460 w 460"/>
              <a:gd name="T1" fmla="*/ 0 h 14"/>
              <a:gd name="T2" fmla="*/ 349 w 460"/>
              <a:gd name="T3" fmla="*/ 0 h 14"/>
              <a:gd name="T4" fmla="*/ 349 w 460"/>
              <a:gd name="T5" fmla="*/ 14 h 14"/>
              <a:gd name="T6" fmla="*/ 460 w 460"/>
              <a:gd name="T7" fmla="*/ 14 h 14"/>
              <a:gd name="T8" fmla="*/ 460 w 460"/>
              <a:gd name="T9" fmla="*/ 0 h 14"/>
              <a:gd name="T10" fmla="*/ 308 w 460"/>
              <a:gd name="T11" fmla="*/ 0 h 14"/>
              <a:gd name="T12" fmla="*/ 294 w 460"/>
              <a:gd name="T13" fmla="*/ 0 h 14"/>
              <a:gd name="T14" fmla="*/ 294 w 460"/>
              <a:gd name="T15" fmla="*/ 14 h 14"/>
              <a:gd name="T16" fmla="*/ 308 w 460"/>
              <a:gd name="T17" fmla="*/ 14 h 14"/>
              <a:gd name="T18" fmla="*/ 308 w 460"/>
              <a:gd name="T19" fmla="*/ 0 h 14"/>
              <a:gd name="T20" fmla="*/ 253 w 460"/>
              <a:gd name="T21" fmla="*/ 0 h 14"/>
              <a:gd name="T22" fmla="*/ 142 w 460"/>
              <a:gd name="T23" fmla="*/ 0 h 14"/>
              <a:gd name="T24" fmla="*/ 142 w 460"/>
              <a:gd name="T25" fmla="*/ 14 h 14"/>
              <a:gd name="T26" fmla="*/ 253 w 460"/>
              <a:gd name="T27" fmla="*/ 14 h 14"/>
              <a:gd name="T28" fmla="*/ 253 w 460"/>
              <a:gd name="T29" fmla="*/ 0 h 14"/>
              <a:gd name="T30" fmla="*/ 101 w 460"/>
              <a:gd name="T31" fmla="*/ 0 h 14"/>
              <a:gd name="T32" fmla="*/ 87 w 460"/>
              <a:gd name="T33" fmla="*/ 0 h 14"/>
              <a:gd name="T34" fmla="*/ 87 w 460"/>
              <a:gd name="T35" fmla="*/ 14 h 14"/>
              <a:gd name="T36" fmla="*/ 101 w 460"/>
              <a:gd name="T37" fmla="*/ 14 h 14"/>
              <a:gd name="T38" fmla="*/ 101 w 460"/>
              <a:gd name="T39" fmla="*/ 0 h 14"/>
              <a:gd name="T40" fmla="*/ 46 w 460"/>
              <a:gd name="T41" fmla="*/ 0 h 14"/>
              <a:gd name="T42" fmla="*/ 0 w 460"/>
              <a:gd name="T43" fmla="*/ 0 h 14"/>
              <a:gd name="T44" fmla="*/ 0 w 460"/>
              <a:gd name="T45" fmla="*/ 14 h 14"/>
              <a:gd name="T46" fmla="*/ 46 w 460"/>
              <a:gd name="T47" fmla="*/ 14 h 14"/>
              <a:gd name="T48" fmla="*/ 46 w 460"/>
              <a:gd name="T4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0" h="14">
                <a:moveTo>
                  <a:pt x="460" y="0"/>
                </a:moveTo>
                <a:lnTo>
                  <a:pt x="349" y="0"/>
                </a:lnTo>
                <a:lnTo>
                  <a:pt x="349" y="14"/>
                </a:lnTo>
                <a:lnTo>
                  <a:pt x="460" y="14"/>
                </a:lnTo>
                <a:lnTo>
                  <a:pt x="460" y="0"/>
                </a:lnTo>
                <a:close/>
                <a:moveTo>
                  <a:pt x="308" y="0"/>
                </a:moveTo>
                <a:lnTo>
                  <a:pt x="294" y="0"/>
                </a:lnTo>
                <a:lnTo>
                  <a:pt x="294" y="14"/>
                </a:lnTo>
                <a:lnTo>
                  <a:pt x="308" y="14"/>
                </a:lnTo>
                <a:lnTo>
                  <a:pt x="308" y="0"/>
                </a:lnTo>
                <a:close/>
                <a:moveTo>
                  <a:pt x="253" y="0"/>
                </a:moveTo>
                <a:lnTo>
                  <a:pt x="142" y="0"/>
                </a:lnTo>
                <a:lnTo>
                  <a:pt x="142" y="14"/>
                </a:lnTo>
                <a:lnTo>
                  <a:pt x="253" y="14"/>
                </a:lnTo>
                <a:lnTo>
                  <a:pt x="253" y="0"/>
                </a:lnTo>
                <a:close/>
                <a:moveTo>
                  <a:pt x="101" y="0"/>
                </a:moveTo>
                <a:lnTo>
                  <a:pt x="87" y="0"/>
                </a:lnTo>
                <a:lnTo>
                  <a:pt x="87" y="14"/>
                </a:lnTo>
                <a:lnTo>
                  <a:pt x="101" y="14"/>
                </a:lnTo>
                <a:lnTo>
                  <a:pt x="101" y="0"/>
                </a:lnTo>
                <a:close/>
                <a:moveTo>
                  <a:pt x="46" y="0"/>
                </a:moveTo>
                <a:lnTo>
                  <a:pt x="0" y="0"/>
                </a:lnTo>
                <a:lnTo>
                  <a:pt x="0" y="14"/>
                </a:lnTo>
                <a:lnTo>
                  <a:pt x="46" y="14"/>
                </a:lnTo>
                <a:lnTo>
                  <a:pt x="46" y="0"/>
                </a:lnTo>
                <a:close/>
              </a:path>
            </a:pathLst>
          </a:custGeom>
          <a:solidFill>
            <a:srgbClr val="000000"/>
          </a:solidFill>
          <a:ln w="0" cap="flat">
            <a:solidFill>
              <a:srgbClr val="000000"/>
            </a:solidFill>
            <a:prstDash val="solid"/>
            <a:round/>
            <a:headEnd/>
            <a:tailEnd/>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67" name="フリーフォーム 68">
            <a:extLst>
              <a:ext uri="{FF2B5EF4-FFF2-40B4-BE49-F238E27FC236}">
                <a16:creationId xmlns:a16="http://schemas.microsoft.com/office/drawing/2014/main" id="{52505A9C-42C4-4960-81A6-5124E5F2702C}"/>
              </a:ext>
            </a:extLst>
          </p:cNvPr>
          <p:cNvSpPr>
            <a:spLocks noEditPoints="1"/>
          </p:cNvSpPr>
          <p:nvPr/>
        </p:nvSpPr>
        <p:spPr bwMode="auto">
          <a:xfrm>
            <a:off x="3635658" y="5165331"/>
            <a:ext cx="73025" cy="95885"/>
          </a:xfrm>
          <a:custGeom>
            <a:avLst/>
            <a:gdLst>
              <a:gd name="T0" fmla="*/ 64 w 115"/>
              <a:gd name="T1" fmla="*/ 151 h 151"/>
              <a:gd name="T2" fmla="*/ 64 w 115"/>
              <a:gd name="T3" fmla="*/ 96 h 151"/>
              <a:gd name="T4" fmla="*/ 51 w 115"/>
              <a:gd name="T5" fmla="*/ 96 h 151"/>
              <a:gd name="T6" fmla="*/ 51 w 115"/>
              <a:gd name="T7" fmla="*/ 151 h 151"/>
              <a:gd name="T8" fmla="*/ 64 w 115"/>
              <a:gd name="T9" fmla="*/ 151 h 151"/>
              <a:gd name="T10" fmla="*/ 115 w 115"/>
              <a:gd name="T11" fmla="*/ 115 h 151"/>
              <a:gd name="T12" fmla="*/ 58 w 115"/>
              <a:gd name="T13" fmla="*/ 0 h 151"/>
              <a:gd name="T14" fmla="*/ 0 w 115"/>
              <a:gd name="T15" fmla="*/ 115 h 151"/>
              <a:gd name="T16" fmla="*/ 115 w 115"/>
              <a:gd name="T17" fmla="*/ 11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151">
                <a:moveTo>
                  <a:pt x="64" y="151"/>
                </a:moveTo>
                <a:lnTo>
                  <a:pt x="64" y="96"/>
                </a:lnTo>
                <a:lnTo>
                  <a:pt x="51" y="96"/>
                </a:lnTo>
                <a:lnTo>
                  <a:pt x="51" y="151"/>
                </a:lnTo>
                <a:lnTo>
                  <a:pt x="64" y="151"/>
                </a:lnTo>
                <a:close/>
                <a:moveTo>
                  <a:pt x="115" y="115"/>
                </a:moveTo>
                <a:lnTo>
                  <a:pt x="58" y="0"/>
                </a:lnTo>
                <a:lnTo>
                  <a:pt x="0" y="115"/>
                </a:lnTo>
                <a:lnTo>
                  <a:pt x="115" y="115"/>
                </a:lnTo>
                <a:close/>
              </a:path>
            </a:pathLst>
          </a:custGeom>
          <a:solidFill>
            <a:srgbClr val="000000"/>
          </a:solidFill>
          <a:ln w="0" cap="flat">
            <a:solidFill>
              <a:srgbClr val="000000"/>
            </a:solidFill>
            <a:prstDash val="solid"/>
            <a:round/>
            <a:headEnd/>
            <a:tailEnd/>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68" name="正方形/長方形 67">
            <a:extLst>
              <a:ext uri="{FF2B5EF4-FFF2-40B4-BE49-F238E27FC236}">
                <a16:creationId xmlns:a16="http://schemas.microsoft.com/office/drawing/2014/main" id="{6A85D1F2-AA41-4F8C-AB58-445E03264090}"/>
              </a:ext>
            </a:extLst>
          </p:cNvPr>
          <p:cNvSpPr>
            <a:spLocks noChangeArrowheads="1"/>
          </p:cNvSpPr>
          <p:nvPr/>
        </p:nvSpPr>
        <p:spPr bwMode="auto">
          <a:xfrm>
            <a:off x="3419417" y="5174221"/>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en-US" sz="1000" kern="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1</a:t>
            </a:r>
            <a:endParaRPr lang="ja-JP" sz="1000" kern="1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69" name="正方形/長方形 68">
            <a:extLst>
              <a:ext uri="{FF2B5EF4-FFF2-40B4-BE49-F238E27FC236}">
                <a16:creationId xmlns:a16="http://schemas.microsoft.com/office/drawing/2014/main" id="{BD610565-114F-48AB-A5ED-E744D8076A54}"/>
              </a:ext>
            </a:extLst>
          </p:cNvPr>
          <p:cNvSpPr>
            <a:spLocks noChangeArrowheads="1"/>
          </p:cNvSpPr>
          <p:nvPr/>
        </p:nvSpPr>
        <p:spPr bwMode="auto">
          <a:xfrm>
            <a:off x="3508356" y="5174221"/>
            <a:ext cx="12824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ja-JP" sz="1000" kern="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階</a:t>
            </a:r>
            <a:endParaRPr lang="ja-JP" sz="1000" kern="1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70" name="正方形/長方形 69">
            <a:extLst>
              <a:ext uri="{FF2B5EF4-FFF2-40B4-BE49-F238E27FC236}">
                <a16:creationId xmlns:a16="http://schemas.microsoft.com/office/drawing/2014/main" id="{F51BDAD8-F161-4A02-BA62-2ABCF050608E}"/>
              </a:ext>
            </a:extLst>
          </p:cNvPr>
          <p:cNvSpPr>
            <a:spLocks noChangeArrowheads="1"/>
          </p:cNvSpPr>
          <p:nvPr/>
        </p:nvSpPr>
        <p:spPr bwMode="auto">
          <a:xfrm>
            <a:off x="3414390" y="5334876"/>
            <a:ext cx="2564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ja-JP" sz="1000" kern="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床高</a:t>
            </a:r>
            <a:endParaRPr lang="ja-JP" sz="1000" kern="1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71" name="フリーフォーム 72">
            <a:extLst>
              <a:ext uri="{FF2B5EF4-FFF2-40B4-BE49-F238E27FC236}">
                <a16:creationId xmlns:a16="http://schemas.microsoft.com/office/drawing/2014/main" id="{1AF9F6AF-F4A6-4379-8063-B69EE3237ADA}"/>
              </a:ext>
            </a:extLst>
          </p:cNvPr>
          <p:cNvSpPr>
            <a:spLocks noEditPoints="1"/>
          </p:cNvSpPr>
          <p:nvPr/>
        </p:nvSpPr>
        <p:spPr bwMode="auto">
          <a:xfrm>
            <a:off x="3599463" y="4480166"/>
            <a:ext cx="292100" cy="8890"/>
          </a:xfrm>
          <a:custGeom>
            <a:avLst/>
            <a:gdLst>
              <a:gd name="T0" fmla="*/ 460 w 460"/>
              <a:gd name="T1" fmla="*/ 0 h 14"/>
              <a:gd name="T2" fmla="*/ 349 w 460"/>
              <a:gd name="T3" fmla="*/ 0 h 14"/>
              <a:gd name="T4" fmla="*/ 349 w 460"/>
              <a:gd name="T5" fmla="*/ 14 h 14"/>
              <a:gd name="T6" fmla="*/ 460 w 460"/>
              <a:gd name="T7" fmla="*/ 14 h 14"/>
              <a:gd name="T8" fmla="*/ 460 w 460"/>
              <a:gd name="T9" fmla="*/ 0 h 14"/>
              <a:gd name="T10" fmla="*/ 308 w 460"/>
              <a:gd name="T11" fmla="*/ 0 h 14"/>
              <a:gd name="T12" fmla="*/ 294 w 460"/>
              <a:gd name="T13" fmla="*/ 0 h 14"/>
              <a:gd name="T14" fmla="*/ 294 w 460"/>
              <a:gd name="T15" fmla="*/ 14 h 14"/>
              <a:gd name="T16" fmla="*/ 308 w 460"/>
              <a:gd name="T17" fmla="*/ 14 h 14"/>
              <a:gd name="T18" fmla="*/ 308 w 460"/>
              <a:gd name="T19" fmla="*/ 0 h 14"/>
              <a:gd name="T20" fmla="*/ 253 w 460"/>
              <a:gd name="T21" fmla="*/ 0 h 14"/>
              <a:gd name="T22" fmla="*/ 142 w 460"/>
              <a:gd name="T23" fmla="*/ 0 h 14"/>
              <a:gd name="T24" fmla="*/ 142 w 460"/>
              <a:gd name="T25" fmla="*/ 14 h 14"/>
              <a:gd name="T26" fmla="*/ 253 w 460"/>
              <a:gd name="T27" fmla="*/ 14 h 14"/>
              <a:gd name="T28" fmla="*/ 253 w 460"/>
              <a:gd name="T29" fmla="*/ 0 h 14"/>
              <a:gd name="T30" fmla="*/ 101 w 460"/>
              <a:gd name="T31" fmla="*/ 0 h 14"/>
              <a:gd name="T32" fmla="*/ 87 w 460"/>
              <a:gd name="T33" fmla="*/ 0 h 14"/>
              <a:gd name="T34" fmla="*/ 87 w 460"/>
              <a:gd name="T35" fmla="*/ 14 h 14"/>
              <a:gd name="T36" fmla="*/ 101 w 460"/>
              <a:gd name="T37" fmla="*/ 14 h 14"/>
              <a:gd name="T38" fmla="*/ 101 w 460"/>
              <a:gd name="T39" fmla="*/ 0 h 14"/>
              <a:gd name="T40" fmla="*/ 46 w 460"/>
              <a:gd name="T41" fmla="*/ 0 h 14"/>
              <a:gd name="T42" fmla="*/ 0 w 460"/>
              <a:gd name="T43" fmla="*/ 0 h 14"/>
              <a:gd name="T44" fmla="*/ 0 w 460"/>
              <a:gd name="T45" fmla="*/ 14 h 14"/>
              <a:gd name="T46" fmla="*/ 46 w 460"/>
              <a:gd name="T47" fmla="*/ 14 h 14"/>
              <a:gd name="T48" fmla="*/ 46 w 460"/>
              <a:gd name="T4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0" h="14">
                <a:moveTo>
                  <a:pt x="460" y="0"/>
                </a:moveTo>
                <a:lnTo>
                  <a:pt x="349" y="0"/>
                </a:lnTo>
                <a:lnTo>
                  <a:pt x="349" y="14"/>
                </a:lnTo>
                <a:lnTo>
                  <a:pt x="460" y="14"/>
                </a:lnTo>
                <a:lnTo>
                  <a:pt x="460" y="0"/>
                </a:lnTo>
                <a:close/>
                <a:moveTo>
                  <a:pt x="308" y="0"/>
                </a:moveTo>
                <a:lnTo>
                  <a:pt x="294" y="0"/>
                </a:lnTo>
                <a:lnTo>
                  <a:pt x="294" y="14"/>
                </a:lnTo>
                <a:lnTo>
                  <a:pt x="308" y="14"/>
                </a:lnTo>
                <a:lnTo>
                  <a:pt x="308" y="0"/>
                </a:lnTo>
                <a:close/>
                <a:moveTo>
                  <a:pt x="253" y="0"/>
                </a:moveTo>
                <a:lnTo>
                  <a:pt x="142" y="0"/>
                </a:lnTo>
                <a:lnTo>
                  <a:pt x="142" y="14"/>
                </a:lnTo>
                <a:lnTo>
                  <a:pt x="253" y="14"/>
                </a:lnTo>
                <a:lnTo>
                  <a:pt x="253" y="0"/>
                </a:lnTo>
                <a:close/>
                <a:moveTo>
                  <a:pt x="101" y="0"/>
                </a:moveTo>
                <a:lnTo>
                  <a:pt x="87" y="0"/>
                </a:lnTo>
                <a:lnTo>
                  <a:pt x="87" y="14"/>
                </a:lnTo>
                <a:lnTo>
                  <a:pt x="101" y="14"/>
                </a:lnTo>
                <a:lnTo>
                  <a:pt x="101" y="0"/>
                </a:lnTo>
                <a:close/>
                <a:moveTo>
                  <a:pt x="46" y="0"/>
                </a:moveTo>
                <a:lnTo>
                  <a:pt x="0" y="0"/>
                </a:lnTo>
                <a:lnTo>
                  <a:pt x="0" y="14"/>
                </a:lnTo>
                <a:lnTo>
                  <a:pt x="46" y="14"/>
                </a:lnTo>
                <a:lnTo>
                  <a:pt x="46" y="0"/>
                </a:lnTo>
                <a:close/>
              </a:path>
            </a:pathLst>
          </a:custGeom>
          <a:solidFill>
            <a:srgbClr val="000000"/>
          </a:solidFill>
          <a:ln w="0" cap="flat">
            <a:solidFill>
              <a:srgbClr val="000000"/>
            </a:solidFill>
            <a:prstDash val="solid"/>
            <a:round/>
            <a:headEnd/>
            <a:tailEnd/>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72" name="フリーフォーム 73">
            <a:extLst>
              <a:ext uri="{FF2B5EF4-FFF2-40B4-BE49-F238E27FC236}">
                <a16:creationId xmlns:a16="http://schemas.microsoft.com/office/drawing/2014/main" id="{36D9C86E-F310-432A-B125-D64099F5B88B}"/>
              </a:ext>
            </a:extLst>
          </p:cNvPr>
          <p:cNvSpPr>
            <a:spLocks noEditPoints="1"/>
          </p:cNvSpPr>
          <p:nvPr/>
        </p:nvSpPr>
        <p:spPr bwMode="auto">
          <a:xfrm>
            <a:off x="3599463" y="3895966"/>
            <a:ext cx="292100" cy="8255"/>
          </a:xfrm>
          <a:custGeom>
            <a:avLst/>
            <a:gdLst>
              <a:gd name="T0" fmla="*/ 460 w 460"/>
              <a:gd name="T1" fmla="*/ 0 h 13"/>
              <a:gd name="T2" fmla="*/ 349 w 460"/>
              <a:gd name="T3" fmla="*/ 0 h 13"/>
              <a:gd name="T4" fmla="*/ 349 w 460"/>
              <a:gd name="T5" fmla="*/ 13 h 13"/>
              <a:gd name="T6" fmla="*/ 460 w 460"/>
              <a:gd name="T7" fmla="*/ 13 h 13"/>
              <a:gd name="T8" fmla="*/ 460 w 460"/>
              <a:gd name="T9" fmla="*/ 0 h 13"/>
              <a:gd name="T10" fmla="*/ 308 w 460"/>
              <a:gd name="T11" fmla="*/ 0 h 13"/>
              <a:gd name="T12" fmla="*/ 294 w 460"/>
              <a:gd name="T13" fmla="*/ 0 h 13"/>
              <a:gd name="T14" fmla="*/ 294 w 460"/>
              <a:gd name="T15" fmla="*/ 13 h 13"/>
              <a:gd name="T16" fmla="*/ 308 w 460"/>
              <a:gd name="T17" fmla="*/ 13 h 13"/>
              <a:gd name="T18" fmla="*/ 308 w 460"/>
              <a:gd name="T19" fmla="*/ 0 h 13"/>
              <a:gd name="T20" fmla="*/ 253 w 460"/>
              <a:gd name="T21" fmla="*/ 0 h 13"/>
              <a:gd name="T22" fmla="*/ 142 w 460"/>
              <a:gd name="T23" fmla="*/ 0 h 13"/>
              <a:gd name="T24" fmla="*/ 142 w 460"/>
              <a:gd name="T25" fmla="*/ 13 h 13"/>
              <a:gd name="T26" fmla="*/ 253 w 460"/>
              <a:gd name="T27" fmla="*/ 13 h 13"/>
              <a:gd name="T28" fmla="*/ 253 w 460"/>
              <a:gd name="T29" fmla="*/ 0 h 13"/>
              <a:gd name="T30" fmla="*/ 101 w 460"/>
              <a:gd name="T31" fmla="*/ 0 h 13"/>
              <a:gd name="T32" fmla="*/ 87 w 460"/>
              <a:gd name="T33" fmla="*/ 0 h 13"/>
              <a:gd name="T34" fmla="*/ 87 w 460"/>
              <a:gd name="T35" fmla="*/ 13 h 13"/>
              <a:gd name="T36" fmla="*/ 101 w 460"/>
              <a:gd name="T37" fmla="*/ 13 h 13"/>
              <a:gd name="T38" fmla="*/ 101 w 460"/>
              <a:gd name="T39" fmla="*/ 0 h 13"/>
              <a:gd name="T40" fmla="*/ 46 w 460"/>
              <a:gd name="T41" fmla="*/ 0 h 13"/>
              <a:gd name="T42" fmla="*/ 0 w 460"/>
              <a:gd name="T43" fmla="*/ 0 h 13"/>
              <a:gd name="T44" fmla="*/ 0 w 460"/>
              <a:gd name="T45" fmla="*/ 13 h 13"/>
              <a:gd name="T46" fmla="*/ 46 w 460"/>
              <a:gd name="T47" fmla="*/ 13 h 13"/>
              <a:gd name="T48" fmla="*/ 46 w 460"/>
              <a:gd name="T49"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0" h="13">
                <a:moveTo>
                  <a:pt x="460" y="0"/>
                </a:moveTo>
                <a:lnTo>
                  <a:pt x="349" y="0"/>
                </a:lnTo>
                <a:lnTo>
                  <a:pt x="349" y="13"/>
                </a:lnTo>
                <a:lnTo>
                  <a:pt x="460" y="13"/>
                </a:lnTo>
                <a:lnTo>
                  <a:pt x="460" y="0"/>
                </a:lnTo>
                <a:close/>
                <a:moveTo>
                  <a:pt x="308" y="0"/>
                </a:moveTo>
                <a:lnTo>
                  <a:pt x="294" y="0"/>
                </a:lnTo>
                <a:lnTo>
                  <a:pt x="294" y="13"/>
                </a:lnTo>
                <a:lnTo>
                  <a:pt x="308" y="13"/>
                </a:lnTo>
                <a:lnTo>
                  <a:pt x="308" y="0"/>
                </a:lnTo>
                <a:close/>
                <a:moveTo>
                  <a:pt x="253" y="0"/>
                </a:moveTo>
                <a:lnTo>
                  <a:pt x="142" y="0"/>
                </a:lnTo>
                <a:lnTo>
                  <a:pt x="142" y="13"/>
                </a:lnTo>
                <a:lnTo>
                  <a:pt x="253" y="13"/>
                </a:lnTo>
                <a:lnTo>
                  <a:pt x="253" y="0"/>
                </a:lnTo>
                <a:close/>
                <a:moveTo>
                  <a:pt x="101" y="0"/>
                </a:moveTo>
                <a:lnTo>
                  <a:pt x="87" y="0"/>
                </a:lnTo>
                <a:lnTo>
                  <a:pt x="87" y="13"/>
                </a:lnTo>
                <a:lnTo>
                  <a:pt x="101" y="13"/>
                </a:lnTo>
                <a:lnTo>
                  <a:pt x="101" y="0"/>
                </a:lnTo>
                <a:close/>
                <a:moveTo>
                  <a:pt x="46" y="0"/>
                </a:moveTo>
                <a:lnTo>
                  <a:pt x="0" y="0"/>
                </a:lnTo>
                <a:lnTo>
                  <a:pt x="0" y="13"/>
                </a:lnTo>
                <a:lnTo>
                  <a:pt x="46" y="13"/>
                </a:lnTo>
                <a:lnTo>
                  <a:pt x="46" y="0"/>
                </a:lnTo>
                <a:close/>
              </a:path>
            </a:pathLst>
          </a:custGeom>
          <a:solidFill>
            <a:srgbClr val="000000"/>
          </a:solidFill>
          <a:ln w="0" cap="flat">
            <a:solidFill>
              <a:srgbClr val="000000"/>
            </a:solidFill>
            <a:prstDash val="solid"/>
            <a:round/>
            <a:headEnd/>
            <a:tailEnd/>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73" name="フリーフォーム 74">
            <a:extLst>
              <a:ext uri="{FF2B5EF4-FFF2-40B4-BE49-F238E27FC236}">
                <a16:creationId xmlns:a16="http://schemas.microsoft.com/office/drawing/2014/main" id="{6FCF2DEE-6800-4CAC-8428-F0EA0107EA55}"/>
              </a:ext>
            </a:extLst>
          </p:cNvPr>
          <p:cNvSpPr>
            <a:spLocks noEditPoints="1"/>
          </p:cNvSpPr>
          <p:nvPr/>
        </p:nvSpPr>
        <p:spPr bwMode="auto">
          <a:xfrm>
            <a:off x="3741068" y="4484611"/>
            <a:ext cx="73025" cy="584200"/>
          </a:xfrm>
          <a:custGeom>
            <a:avLst/>
            <a:gdLst>
              <a:gd name="T0" fmla="*/ 64 w 115"/>
              <a:gd name="T1" fmla="*/ 96 h 920"/>
              <a:gd name="T2" fmla="*/ 64 w 115"/>
              <a:gd name="T3" fmla="*/ 825 h 920"/>
              <a:gd name="T4" fmla="*/ 50 w 115"/>
              <a:gd name="T5" fmla="*/ 825 h 920"/>
              <a:gd name="T6" fmla="*/ 50 w 115"/>
              <a:gd name="T7" fmla="*/ 96 h 920"/>
              <a:gd name="T8" fmla="*/ 64 w 115"/>
              <a:gd name="T9" fmla="*/ 96 h 920"/>
              <a:gd name="T10" fmla="*/ 0 w 115"/>
              <a:gd name="T11" fmla="*/ 115 h 920"/>
              <a:gd name="T12" fmla="*/ 57 w 115"/>
              <a:gd name="T13" fmla="*/ 0 h 920"/>
              <a:gd name="T14" fmla="*/ 115 w 115"/>
              <a:gd name="T15" fmla="*/ 115 h 920"/>
              <a:gd name="T16" fmla="*/ 0 w 115"/>
              <a:gd name="T17" fmla="*/ 115 h 920"/>
              <a:gd name="T18" fmla="*/ 115 w 115"/>
              <a:gd name="T19" fmla="*/ 805 h 920"/>
              <a:gd name="T20" fmla="*/ 57 w 115"/>
              <a:gd name="T21" fmla="*/ 920 h 920"/>
              <a:gd name="T22" fmla="*/ 0 w 115"/>
              <a:gd name="T23" fmla="*/ 805 h 920"/>
              <a:gd name="T24" fmla="*/ 115 w 115"/>
              <a:gd name="T25" fmla="*/ 805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5" h="920">
                <a:moveTo>
                  <a:pt x="64" y="96"/>
                </a:moveTo>
                <a:lnTo>
                  <a:pt x="64" y="825"/>
                </a:lnTo>
                <a:lnTo>
                  <a:pt x="50" y="825"/>
                </a:lnTo>
                <a:lnTo>
                  <a:pt x="50" y="96"/>
                </a:lnTo>
                <a:lnTo>
                  <a:pt x="64" y="96"/>
                </a:lnTo>
                <a:close/>
                <a:moveTo>
                  <a:pt x="0" y="115"/>
                </a:moveTo>
                <a:lnTo>
                  <a:pt x="57" y="0"/>
                </a:lnTo>
                <a:lnTo>
                  <a:pt x="115" y="115"/>
                </a:lnTo>
                <a:lnTo>
                  <a:pt x="0" y="115"/>
                </a:lnTo>
                <a:close/>
                <a:moveTo>
                  <a:pt x="115" y="805"/>
                </a:moveTo>
                <a:lnTo>
                  <a:pt x="57" y="920"/>
                </a:lnTo>
                <a:lnTo>
                  <a:pt x="0" y="805"/>
                </a:lnTo>
                <a:lnTo>
                  <a:pt x="115" y="805"/>
                </a:lnTo>
                <a:close/>
              </a:path>
            </a:pathLst>
          </a:custGeom>
          <a:solidFill>
            <a:srgbClr val="000000"/>
          </a:solidFill>
          <a:ln w="0" cap="flat">
            <a:solidFill>
              <a:srgbClr val="000000"/>
            </a:solidFill>
            <a:prstDash val="solid"/>
            <a:round/>
            <a:headEnd/>
            <a:tailEnd/>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74" name="フリーフォーム 75">
            <a:extLst>
              <a:ext uri="{FF2B5EF4-FFF2-40B4-BE49-F238E27FC236}">
                <a16:creationId xmlns:a16="http://schemas.microsoft.com/office/drawing/2014/main" id="{4013C142-228B-4D1A-9842-6C1ADCF8BA1C}"/>
              </a:ext>
            </a:extLst>
          </p:cNvPr>
          <p:cNvSpPr>
            <a:spLocks noEditPoints="1"/>
          </p:cNvSpPr>
          <p:nvPr/>
        </p:nvSpPr>
        <p:spPr bwMode="auto">
          <a:xfrm>
            <a:off x="3741068" y="3900411"/>
            <a:ext cx="73025" cy="584200"/>
          </a:xfrm>
          <a:custGeom>
            <a:avLst/>
            <a:gdLst>
              <a:gd name="T0" fmla="*/ 64 w 115"/>
              <a:gd name="T1" fmla="*/ 95 h 920"/>
              <a:gd name="T2" fmla="*/ 64 w 115"/>
              <a:gd name="T3" fmla="*/ 824 h 920"/>
              <a:gd name="T4" fmla="*/ 50 w 115"/>
              <a:gd name="T5" fmla="*/ 824 h 920"/>
              <a:gd name="T6" fmla="*/ 50 w 115"/>
              <a:gd name="T7" fmla="*/ 95 h 920"/>
              <a:gd name="T8" fmla="*/ 64 w 115"/>
              <a:gd name="T9" fmla="*/ 95 h 920"/>
              <a:gd name="T10" fmla="*/ 0 w 115"/>
              <a:gd name="T11" fmla="*/ 115 h 920"/>
              <a:gd name="T12" fmla="*/ 57 w 115"/>
              <a:gd name="T13" fmla="*/ 0 h 920"/>
              <a:gd name="T14" fmla="*/ 115 w 115"/>
              <a:gd name="T15" fmla="*/ 115 h 920"/>
              <a:gd name="T16" fmla="*/ 0 w 115"/>
              <a:gd name="T17" fmla="*/ 115 h 920"/>
              <a:gd name="T18" fmla="*/ 115 w 115"/>
              <a:gd name="T19" fmla="*/ 805 h 920"/>
              <a:gd name="T20" fmla="*/ 57 w 115"/>
              <a:gd name="T21" fmla="*/ 920 h 920"/>
              <a:gd name="T22" fmla="*/ 0 w 115"/>
              <a:gd name="T23" fmla="*/ 805 h 920"/>
              <a:gd name="T24" fmla="*/ 115 w 115"/>
              <a:gd name="T25" fmla="*/ 805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5" h="920">
                <a:moveTo>
                  <a:pt x="64" y="95"/>
                </a:moveTo>
                <a:lnTo>
                  <a:pt x="64" y="824"/>
                </a:lnTo>
                <a:lnTo>
                  <a:pt x="50" y="824"/>
                </a:lnTo>
                <a:lnTo>
                  <a:pt x="50" y="95"/>
                </a:lnTo>
                <a:lnTo>
                  <a:pt x="64" y="95"/>
                </a:lnTo>
                <a:close/>
                <a:moveTo>
                  <a:pt x="0" y="115"/>
                </a:moveTo>
                <a:lnTo>
                  <a:pt x="57" y="0"/>
                </a:lnTo>
                <a:lnTo>
                  <a:pt x="115" y="115"/>
                </a:lnTo>
                <a:lnTo>
                  <a:pt x="0" y="115"/>
                </a:lnTo>
                <a:close/>
                <a:moveTo>
                  <a:pt x="115" y="805"/>
                </a:moveTo>
                <a:lnTo>
                  <a:pt x="57" y="920"/>
                </a:lnTo>
                <a:lnTo>
                  <a:pt x="0" y="805"/>
                </a:lnTo>
                <a:lnTo>
                  <a:pt x="115" y="805"/>
                </a:lnTo>
                <a:close/>
              </a:path>
            </a:pathLst>
          </a:custGeom>
          <a:solidFill>
            <a:srgbClr val="000000"/>
          </a:solidFill>
          <a:ln w="0" cap="flat">
            <a:solidFill>
              <a:srgbClr val="000000"/>
            </a:solidFill>
            <a:prstDash val="solid"/>
            <a:round/>
            <a:headEnd/>
            <a:tailEnd/>
          </a:ln>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75" name="正方形/長方形 74">
            <a:extLst>
              <a:ext uri="{FF2B5EF4-FFF2-40B4-BE49-F238E27FC236}">
                <a16:creationId xmlns:a16="http://schemas.microsoft.com/office/drawing/2014/main" id="{DEB2C4FD-040E-4011-8A3B-1C43E4DCFB60}"/>
              </a:ext>
            </a:extLst>
          </p:cNvPr>
          <p:cNvSpPr>
            <a:spLocks noChangeArrowheads="1"/>
          </p:cNvSpPr>
          <p:nvPr/>
        </p:nvSpPr>
        <p:spPr bwMode="auto">
          <a:xfrm>
            <a:off x="3514032" y="4624946"/>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en-US" sz="1000" kern="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1</a:t>
            </a:r>
            <a:endParaRPr lang="ja-JP" sz="1000" kern="1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76" name="正方形/長方形 75">
            <a:extLst>
              <a:ext uri="{FF2B5EF4-FFF2-40B4-BE49-F238E27FC236}">
                <a16:creationId xmlns:a16="http://schemas.microsoft.com/office/drawing/2014/main" id="{28027754-A23F-4A81-AC1F-7F4A4A1D025F}"/>
              </a:ext>
            </a:extLst>
          </p:cNvPr>
          <p:cNvSpPr>
            <a:spLocks noChangeArrowheads="1"/>
          </p:cNvSpPr>
          <p:nvPr/>
        </p:nvSpPr>
        <p:spPr bwMode="auto">
          <a:xfrm>
            <a:off x="3602336" y="4624946"/>
            <a:ext cx="12824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ja-JP" sz="1000" kern="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階</a:t>
            </a:r>
            <a:endParaRPr lang="ja-JP" sz="1000" kern="1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77" name="正方形/長方形 76">
            <a:extLst>
              <a:ext uri="{FF2B5EF4-FFF2-40B4-BE49-F238E27FC236}">
                <a16:creationId xmlns:a16="http://schemas.microsoft.com/office/drawing/2014/main" id="{0ED1D94D-19A4-4998-AFE3-51FBF685E943}"/>
              </a:ext>
            </a:extLst>
          </p:cNvPr>
          <p:cNvSpPr>
            <a:spLocks noChangeArrowheads="1"/>
          </p:cNvSpPr>
          <p:nvPr/>
        </p:nvSpPr>
        <p:spPr bwMode="auto">
          <a:xfrm>
            <a:off x="3509005" y="4785601"/>
            <a:ext cx="2564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ja-JP" sz="1000" kern="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階高</a:t>
            </a:r>
            <a:endParaRPr lang="ja-JP" sz="1000" kern="1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78" name="正方形/長方形 77">
            <a:extLst>
              <a:ext uri="{FF2B5EF4-FFF2-40B4-BE49-F238E27FC236}">
                <a16:creationId xmlns:a16="http://schemas.microsoft.com/office/drawing/2014/main" id="{4B6A29E1-DBAC-4CF1-A146-6B70792A979C}"/>
              </a:ext>
            </a:extLst>
          </p:cNvPr>
          <p:cNvSpPr>
            <a:spLocks noChangeArrowheads="1"/>
          </p:cNvSpPr>
          <p:nvPr/>
        </p:nvSpPr>
        <p:spPr bwMode="auto">
          <a:xfrm>
            <a:off x="3521652" y="4063606"/>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en-US" sz="1000" kern="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2</a:t>
            </a:r>
            <a:endParaRPr lang="ja-JP" sz="1000" kern="1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79" name="正方形/長方形 78">
            <a:extLst>
              <a:ext uri="{FF2B5EF4-FFF2-40B4-BE49-F238E27FC236}">
                <a16:creationId xmlns:a16="http://schemas.microsoft.com/office/drawing/2014/main" id="{8151E365-0A20-4277-9601-CB1B379BBBE5}"/>
              </a:ext>
            </a:extLst>
          </p:cNvPr>
          <p:cNvSpPr>
            <a:spLocks noChangeArrowheads="1"/>
          </p:cNvSpPr>
          <p:nvPr/>
        </p:nvSpPr>
        <p:spPr bwMode="auto">
          <a:xfrm>
            <a:off x="3610591" y="4063606"/>
            <a:ext cx="12824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ja-JP" sz="1000" kern="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階</a:t>
            </a:r>
            <a:endParaRPr lang="ja-JP" sz="1000" kern="1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80" name="正方形/長方形 79">
            <a:extLst>
              <a:ext uri="{FF2B5EF4-FFF2-40B4-BE49-F238E27FC236}">
                <a16:creationId xmlns:a16="http://schemas.microsoft.com/office/drawing/2014/main" id="{6F2793ED-C271-4B57-978D-5D46B2755BE3}"/>
              </a:ext>
            </a:extLst>
          </p:cNvPr>
          <p:cNvSpPr>
            <a:spLocks noChangeArrowheads="1"/>
          </p:cNvSpPr>
          <p:nvPr/>
        </p:nvSpPr>
        <p:spPr bwMode="auto">
          <a:xfrm>
            <a:off x="3516625" y="4224261"/>
            <a:ext cx="2564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ja-JP" sz="1000" kern="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階高</a:t>
            </a:r>
            <a:endParaRPr lang="ja-JP" sz="1000" kern="1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81" name="フリーフォーム 85">
            <a:extLst>
              <a:ext uri="{FF2B5EF4-FFF2-40B4-BE49-F238E27FC236}">
                <a16:creationId xmlns:a16="http://schemas.microsoft.com/office/drawing/2014/main" id="{A458E317-6C2E-40B8-B196-A5E9E988A368}"/>
              </a:ext>
            </a:extLst>
          </p:cNvPr>
          <p:cNvSpPr>
            <a:spLocks/>
          </p:cNvSpPr>
          <p:nvPr/>
        </p:nvSpPr>
        <p:spPr bwMode="auto">
          <a:xfrm>
            <a:off x="4611018" y="4764646"/>
            <a:ext cx="899795" cy="219075"/>
          </a:xfrm>
          <a:custGeom>
            <a:avLst/>
            <a:gdLst>
              <a:gd name="T0" fmla="*/ 179 w 1417"/>
              <a:gd name="T1" fmla="*/ 0 h 345"/>
              <a:gd name="T2" fmla="*/ 386 w 1417"/>
              <a:gd name="T3" fmla="*/ 0 h 345"/>
              <a:gd name="T4" fmla="*/ 386 w 1417"/>
              <a:gd name="T5" fmla="*/ 0 h 345"/>
              <a:gd name="T6" fmla="*/ 695 w 1417"/>
              <a:gd name="T7" fmla="*/ 0 h 345"/>
              <a:gd name="T8" fmla="*/ 1417 w 1417"/>
              <a:gd name="T9" fmla="*/ 0 h 345"/>
              <a:gd name="T10" fmla="*/ 1417 w 1417"/>
              <a:gd name="T11" fmla="*/ 201 h 345"/>
              <a:gd name="T12" fmla="*/ 1417 w 1417"/>
              <a:gd name="T13" fmla="*/ 201 h 345"/>
              <a:gd name="T14" fmla="*/ 1417 w 1417"/>
              <a:gd name="T15" fmla="*/ 287 h 345"/>
              <a:gd name="T16" fmla="*/ 1417 w 1417"/>
              <a:gd name="T17" fmla="*/ 345 h 345"/>
              <a:gd name="T18" fmla="*/ 695 w 1417"/>
              <a:gd name="T19" fmla="*/ 345 h 345"/>
              <a:gd name="T20" fmla="*/ 386 w 1417"/>
              <a:gd name="T21" fmla="*/ 345 h 345"/>
              <a:gd name="T22" fmla="*/ 386 w 1417"/>
              <a:gd name="T23" fmla="*/ 345 h 345"/>
              <a:gd name="T24" fmla="*/ 179 w 1417"/>
              <a:gd name="T25" fmla="*/ 345 h 345"/>
              <a:gd name="T26" fmla="*/ 179 w 1417"/>
              <a:gd name="T27" fmla="*/ 287 h 345"/>
              <a:gd name="T28" fmla="*/ 0 w 1417"/>
              <a:gd name="T29" fmla="*/ 296 h 345"/>
              <a:gd name="T30" fmla="*/ 179 w 1417"/>
              <a:gd name="T31" fmla="*/ 201 h 345"/>
              <a:gd name="T32" fmla="*/ 179 w 1417"/>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17" h="345">
                <a:moveTo>
                  <a:pt x="179" y="0"/>
                </a:moveTo>
                <a:lnTo>
                  <a:pt x="386" y="0"/>
                </a:lnTo>
                <a:lnTo>
                  <a:pt x="386" y="0"/>
                </a:lnTo>
                <a:lnTo>
                  <a:pt x="695" y="0"/>
                </a:lnTo>
                <a:lnTo>
                  <a:pt x="1417" y="0"/>
                </a:lnTo>
                <a:lnTo>
                  <a:pt x="1417" y="201"/>
                </a:lnTo>
                <a:lnTo>
                  <a:pt x="1417" y="201"/>
                </a:lnTo>
                <a:lnTo>
                  <a:pt x="1417" y="287"/>
                </a:lnTo>
                <a:lnTo>
                  <a:pt x="1417" y="345"/>
                </a:lnTo>
                <a:lnTo>
                  <a:pt x="695" y="345"/>
                </a:lnTo>
                <a:lnTo>
                  <a:pt x="386" y="345"/>
                </a:lnTo>
                <a:lnTo>
                  <a:pt x="386" y="345"/>
                </a:lnTo>
                <a:lnTo>
                  <a:pt x="179" y="345"/>
                </a:lnTo>
                <a:lnTo>
                  <a:pt x="179" y="287"/>
                </a:lnTo>
                <a:lnTo>
                  <a:pt x="0" y="296"/>
                </a:lnTo>
                <a:lnTo>
                  <a:pt x="179" y="201"/>
                </a:lnTo>
                <a:lnTo>
                  <a:pt x="17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algn="r"/>
            <a:r>
              <a:rPr lang="en-US" altLang="ja-JP" sz="1000" dirty="0">
                <a:latin typeface="游ゴシック" panose="020B0400000000000000" pitchFamily="50" charset="-128"/>
                <a:ea typeface="游ゴシック" panose="020B0400000000000000" pitchFamily="50" charset="-128"/>
              </a:rPr>
              <a:t>1</a:t>
            </a:r>
            <a:r>
              <a:rPr lang="ja-JP" altLang="en-US" sz="1000" dirty="0">
                <a:latin typeface="游ゴシック" panose="020B0400000000000000" pitchFamily="50" charset="-128"/>
                <a:ea typeface="游ゴシック" panose="020B0400000000000000" pitchFamily="50" charset="-128"/>
              </a:rPr>
              <a:t>階：水没</a:t>
            </a:r>
          </a:p>
        </p:txBody>
      </p:sp>
      <p:sp>
        <p:nvSpPr>
          <p:cNvPr id="82" name="フリーフォーム 86">
            <a:extLst>
              <a:ext uri="{FF2B5EF4-FFF2-40B4-BE49-F238E27FC236}">
                <a16:creationId xmlns:a16="http://schemas.microsoft.com/office/drawing/2014/main" id="{5A56C3F3-4F00-4B7E-AF70-04589A295198}"/>
              </a:ext>
            </a:extLst>
          </p:cNvPr>
          <p:cNvSpPr>
            <a:spLocks/>
          </p:cNvSpPr>
          <p:nvPr/>
        </p:nvSpPr>
        <p:spPr bwMode="auto">
          <a:xfrm>
            <a:off x="4611018" y="4764646"/>
            <a:ext cx="899795" cy="219075"/>
          </a:xfrm>
          <a:custGeom>
            <a:avLst/>
            <a:gdLst>
              <a:gd name="T0" fmla="*/ 179 w 1417"/>
              <a:gd name="T1" fmla="*/ 0 h 345"/>
              <a:gd name="T2" fmla="*/ 386 w 1417"/>
              <a:gd name="T3" fmla="*/ 0 h 345"/>
              <a:gd name="T4" fmla="*/ 386 w 1417"/>
              <a:gd name="T5" fmla="*/ 0 h 345"/>
              <a:gd name="T6" fmla="*/ 695 w 1417"/>
              <a:gd name="T7" fmla="*/ 0 h 345"/>
              <a:gd name="T8" fmla="*/ 1417 w 1417"/>
              <a:gd name="T9" fmla="*/ 0 h 345"/>
              <a:gd name="T10" fmla="*/ 1417 w 1417"/>
              <a:gd name="T11" fmla="*/ 201 h 345"/>
              <a:gd name="T12" fmla="*/ 1417 w 1417"/>
              <a:gd name="T13" fmla="*/ 201 h 345"/>
              <a:gd name="T14" fmla="*/ 1417 w 1417"/>
              <a:gd name="T15" fmla="*/ 287 h 345"/>
              <a:gd name="T16" fmla="*/ 1417 w 1417"/>
              <a:gd name="T17" fmla="*/ 345 h 345"/>
              <a:gd name="T18" fmla="*/ 695 w 1417"/>
              <a:gd name="T19" fmla="*/ 345 h 345"/>
              <a:gd name="T20" fmla="*/ 386 w 1417"/>
              <a:gd name="T21" fmla="*/ 345 h 345"/>
              <a:gd name="T22" fmla="*/ 386 w 1417"/>
              <a:gd name="T23" fmla="*/ 345 h 345"/>
              <a:gd name="T24" fmla="*/ 179 w 1417"/>
              <a:gd name="T25" fmla="*/ 345 h 345"/>
              <a:gd name="T26" fmla="*/ 179 w 1417"/>
              <a:gd name="T27" fmla="*/ 287 h 345"/>
              <a:gd name="T28" fmla="*/ 0 w 1417"/>
              <a:gd name="T29" fmla="*/ 296 h 345"/>
              <a:gd name="T30" fmla="*/ 179 w 1417"/>
              <a:gd name="T31" fmla="*/ 201 h 345"/>
              <a:gd name="T32" fmla="*/ 179 w 1417"/>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17" h="345">
                <a:moveTo>
                  <a:pt x="179" y="0"/>
                </a:moveTo>
                <a:lnTo>
                  <a:pt x="386" y="0"/>
                </a:lnTo>
                <a:lnTo>
                  <a:pt x="386" y="0"/>
                </a:lnTo>
                <a:lnTo>
                  <a:pt x="695" y="0"/>
                </a:lnTo>
                <a:lnTo>
                  <a:pt x="1417" y="0"/>
                </a:lnTo>
                <a:lnTo>
                  <a:pt x="1417" y="201"/>
                </a:lnTo>
                <a:lnTo>
                  <a:pt x="1417" y="201"/>
                </a:lnTo>
                <a:lnTo>
                  <a:pt x="1417" y="287"/>
                </a:lnTo>
                <a:lnTo>
                  <a:pt x="1417" y="345"/>
                </a:lnTo>
                <a:lnTo>
                  <a:pt x="695" y="345"/>
                </a:lnTo>
                <a:lnTo>
                  <a:pt x="386" y="345"/>
                </a:lnTo>
                <a:lnTo>
                  <a:pt x="386" y="345"/>
                </a:lnTo>
                <a:lnTo>
                  <a:pt x="179" y="345"/>
                </a:lnTo>
                <a:lnTo>
                  <a:pt x="179" y="287"/>
                </a:lnTo>
                <a:lnTo>
                  <a:pt x="0" y="296"/>
                </a:lnTo>
                <a:lnTo>
                  <a:pt x="179" y="201"/>
                </a:lnTo>
                <a:lnTo>
                  <a:pt x="179" y="0"/>
                </a:lnTo>
                <a:close/>
              </a:path>
            </a:pathLst>
          </a:custGeom>
          <a:noFill/>
          <a:ln w="24765" cap="flat">
            <a:solidFill>
              <a:srgbClr val="4BACC6"/>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83" name="フリーフォーム 89">
            <a:extLst>
              <a:ext uri="{FF2B5EF4-FFF2-40B4-BE49-F238E27FC236}">
                <a16:creationId xmlns:a16="http://schemas.microsoft.com/office/drawing/2014/main" id="{639F4C66-429C-4AAB-A2FC-1D36AAABD998}"/>
              </a:ext>
            </a:extLst>
          </p:cNvPr>
          <p:cNvSpPr>
            <a:spLocks/>
          </p:cNvSpPr>
          <p:nvPr/>
        </p:nvSpPr>
        <p:spPr bwMode="auto">
          <a:xfrm>
            <a:off x="4616733" y="4047096"/>
            <a:ext cx="1174750" cy="365125"/>
          </a:xfrm>
          <a:custGeom>
            <a:avLst/>
            <a:gdLst>
              <a:gd name="T0" fmla="*/ 170 w 1850"/>
              <a:gd name="T1" fmla="*/ 0 h 575"/>
              <a:gd name="T2" fmla="*/ 451 w 1850"/>
              <a:gd name="T3" fmla="*/ 0 h 575"/>
              <a:gd name="T4" fmla="*/ 451 w 1850"/>
              <a:gd name="T5" fmla="*/ 0 h 575"/>
              <a:gd name="T6" fmla="*/ 870 w 1850"/>
              <a:gd name="T7" fmla="*/ 0 h 575"/>
              <a:gd name="T8" fmla="*/ 1850 w 1850"/>
              <a:gd name="T9" fmla="*/ 0 h 575"/>
              <a:gd name="T10" fmla="*/ 1850 w 1850"/>
              <a:gd name="T11" fmla="*/ 335 h 575"/>
              <a:gd name="T12" fmla="*/ 1850 w 1850"/>
              <a:gd name="T13" fmla="*/ 335 h 575"/>
              <a:gd name="T14" fmla="*/ 1850 w 1850"/>
              <a:gd name="T15" fmla="*/ 479 h 575"/>
              <a:gd name="T16" fmla="*/ 1850 w 1850"/>
              <a:gd name="T17" fmla="*/ 575 h 575"/>
              <a:gd name="T18" fmla="*/ 870 w 1850"/>
              <a:gd name="T19" fmla="*/ 575 h 575"/>
              <a:gd name="T20" fmla="*/ 451 w 1850"/>
              <a:gd name="T21" fmla="*/ 575 h 575"/>
              <a:gd name="T22" fmla="*/ 451 w 1850"/>
              <a:gd name="T23" fmla="*/ 575 h 575"/>
              <a:gd name="T24" fmla="*/ 170 w 1850"/>
              <a:gd name="T25" fmla="*/ 575 h 575"/>
              <a:gd name="T26" fmla="*/ 170 w 1850"/>
              <a:gd name="T27" fmla="*/ 479 h 575"/>
              <a:gd name="T28" fmla="*/ 0 w 1850"/>
              <a:gd name="T29" fmla="*/ 532 h 575"/>
              <a:gd name="T30" fmla="*/ 170 w 1850"/>
              <a:gd name="T31" fmla="*/ 335 h 575"/>
              <a:gd name="T32" fmla="*/ 170 w 1850"/>
              <a:gd name="T33" fmla="*/ 0 h 5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50" h="575">
                <a:moveTo>
                  <a:pt x="170" y="0"/>
                </a:moveTo>
                <a:lnTo>
                  <a:pt x="451" y="0"/>
                </a:lnTo>
                <a:lnTo>
                  <a:pt x="451" y="0"/>
                </a:lnTo>
                <a:lnTo>
                  <a:pt x="870" y="0"/>
                </a:lnTo>
                <a:lnTo>
                  <a:pt x="1850" y="0"/>
                </a:lnTo>
                <a:lnTo>
                  <a:pt x="1850" y="335"/>
                </a:lnTo>
                <a:lnTo>
                  <a:pt x="1850" y="335"/>
                </a:lnTo>
                <a:lnTo>
                  <a:pt x="1850" y="479"/>
                </a:lnTo>
                <a:lnTo>
                  <a:pt x="1850" y="575"/>
                </a:lnTo>
                <a:lnTo>
                  <a:pt x="870" y="575"/>
                </a:lnTo>
                <a:lnTo>
                  <a:pt x="451" y="575"/>
                </a:lnTo>
                <a:lnTo>
                  <a:pt x="451" y="575"/>
                </a:lnTo>
                <a:lnTo>
                  <a:pt x="170" y="575"/>
                </a:lnTo>
                <a:lnTo>
                  <a:pt x="170" y="479"/>
                </a:lnTo>
                <a:lnTo>
                  <a:pt x="0" y="532"/>
                </a:lnTo>
                <a:lnTo>
                  <a:pt x="170" y="335"/>
                </a:lnTo>
                <a:lnTo>
                  <a:pt x="17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84" name="フリーフォーム 90">
            <a:extLst>
              <a:ext uri="{FF2B5EF4-FFF2-40B4-BE49-F238E27FC236}">
                <a16:creationId xmlns:a16="http://schemas.microsoft.com/office/drawing/2014/main" id="{5BFAAFB9-305C-4BCA-A1F7-FAB992302074}"/>
              </a:ext>
            </a:extLst>
          </p:cNvPr>
          <p:cNvSpPr>
            <a:spLocks/>
          </p:cNvSpPr>
          <p:nvPr/>
        </p:nvSpPr>
        <p:spPr bwMode="auto">
          <a:xfrm>
            <a:off x="4616733" y="4047096"/>
            <a:ext cx="1174750" cy="365125"/>
          </a:xfrm>
          <a:custGeom>
            <a:avLst/>
            <a:gdLst>
              <a:gd name="T0" fmla="*/ 170 w 1850"/>
              <a:gd name="T1" fmla="*/ 0 h 575"/>
              <a:gd name="T2" fmla="*/ 451 w 1850"/>
              <a:gd name="T3" fmla="*/ 0 h 575"/>
              <a:gd name="T4" fmla="*/ 451 w 1850"/>
              <a:gd name="T5" fmla="*/ 0 h 575"/>
              <a:gd name="T6" fmla="*/ 870 w 1850"/>
              <a:gd name="T7" fmla="*/ 0 h 575"/>
              <a:gd name="T8" fmla="*/ 1850 w 1850"/>
              <a:gd name="T9" fmla="*/ 0 h 575"/>
              <a:gd name="T10" fmla="*/ 1850 w 1850"/>
              <a:gd name="T11" fmla="*/ 335 h 575"/>
              <a:gd name="T12" fmla="*/ 1850 w 1850"/>
              <a:gd name="T13" fmla="*/ 335 h 575"/>
              <a:gd name="T14" fmla="*/ 1850 w 1850"/>
              <a:gd name="T15" fmla="*/ 479 h 575"/>
              <a:gd name="T16" fmla="*/ 1850 w 1850"/>
              <a:gd name="T17" fmla="*/ 575 h 575"/>
              <a:gd name="T18" fmla="*/ 870 w 1850"/>
              <a:gd name="T19" fmla="*/ 575 h 575"/>
              <a:gd name="T20" fmla="*/ 451 w 1850"/>
              <a:gd name="T21" fmla="*/ 575 h 575"/>
              <a:gd name="T22" fmla="*/ 451 w 1850"/>
              <a:gd name="T23" fmla="*/ 575 h 575"/>
              <a:gd name="T24" fmla="*/ 170 w 1850"/>
              <a:gd name="T25" fmla="*/ 575 h 575"/>
              <a:gd name="T26" fmla="*/ 170 w 1850"/>
              <a:gd name="T27" fmla="*/ 479 h 575"/>
              <a:gd name="T28" fmla="*/ 0 w 1850"/>
              <a:gd name="T29" fmla="*/ 532 h 575"/>
              <a:gd name="T30" fmla="*/ 170 w 1850"/>
              <a:gd name="T31" fmla="*/ 335 h 575"/>
              <a:gd name="T32" fmla="*/ 170 w 1850"/>
              <a:gd name="T33" fmla="*/ 0 h 5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50" h="575">
                <a:moveTo>
                  <a:pt x="170" y="0"/>
                </a:moveTo>
                <a:lnTo>
                  <a:pt x="451" y="0"/>
                </a:lnTo>
                <a:lnTo>
                  <a:pt x="451" y="0"/>
                </a:lnTo>
                <a:lnTo>
                  <a:pt x="870" y="0"/>
                </a:lnTo>
                <a:lnTo>
                  <a:pt x="1850" y="0"/>
                </a:lnTo>
                <a:lnTo>
                  <a:pt x="1850" y="335"/>
                </a:lnTo>
                <a:lnTo>
                  <a:pt x="1850" y="335"/>
                </a:lnTo>
                <a:lnTo>
                  <a:pt x="1850" y="479"/>
                </a:lnTo>
                <a:lnTo>
                  <a:pt x="1850" y="575"/>
                </a:lnTo>
                <a:lnTo>
                  <a:pt x="870" y="575"/>
                </a:lnTo>
                <a:lnTo>
                  <a:pt x="451" y="575"/>
                </a:lnTo>
                <a:lnTo>
                  <a:pt x="451" y="575"/>
                </a:lnTo>
                <a:lnTo>
                  <a:pt x="170" y="575"/>
                </a:lnTo>
                <a:lnTo>
                  <a:pt x="170" y="479"/>
                </a:lnTo>
                <a:lnTo>
                  <a:pt x="0" y="532"/>
                </a:lnTo>
                <a:lnTo>
                  <a:pt x="170" y="335"/>
                </a:lnTo>
                <a:lnTo>
                  <a:pt x="170" y="0"/>
                </a:lnTo>
                <a:close/>
              </a:path>
            </a:pathLst>
          </a:custGeom>
          <a:noFill/>
          <a:ln w="24765" cap="flat">
            <a:solidFill>
              <a:srgbClr val="4BACC6"/>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algn="r"/>
            <a:r>
              <a:rPr lang="en-US" altLang="ja-JP"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rPr>
              <a:t>2</a:t>
            </a:r>
            <a:r>
              <a:rPr lang="ja-JP" altLang="ja-JP"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rPr>
              <a:t>階：浸水あり</a:t>
            </a:r>
            <a:endParaRPr lang="en-US" altLang="ja-JP"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endParaRPr>
          </a:p>
          <a:p>
            <a:pPr algn="ctr"/>
            <a:r>
              <a:rPr lang="en-US" altLang="ja-JP" sz="1000" kern="0" dirty="0">
                <a:solidFill>
                  <a:srgbClr val="000000"/>
                </a:solidFill>
                <a:latin typeface="游ゴシック" panose="020B0400000000000000" pitchFamily="50" charset="-128"/>
                <a:ea typeface="游ゴシック" panose="020B0400000000000000" pitchFamily="50" charset="-128"/>
                <a:cs typeface="Times New Roman" panose="02020603050405020304" pitchFamily="18" charset="0"/>
              </a:rPr>
              <a:t>    (</a:t>
            </a:r>
            <a:r>
              <a:rPr lang="ja-JP" altLang="en-US" sz="1000" kern="0" dirty="0">
                <a:solidFill>
                  <a:srgbClr val="000000"/>
                </a:solidFill>
                <a:latin typeface="游ゴシック" panose="020B0400000000000000" pitchFamily="50" charset="-128"/>
                <a:ea typeface="游ゴシック" panose="020B0400000000000000" pitchFamily="50" charset="-128"/>
                <a:cs typeface="Times New Roman" panose="02020603050405020304" pitchFamily="18" charset="0"/>
              </a:rPr>
              <a:t>〇〇</a:t>
            </a:r>
            <a:r>
              <a:rPr lang="en-US" altLang="ja-JP" sz="1000" kern="0" dirty="0">
                <a:solidFill>
                  <a:srgbClr val="000000"/>
                </a:solidFill>
                <a:latin typeface="游ゴシック" panose="020B0400000000000000" pitchFamily="50" charset="-128"/>
                <a:ea typeface="游ゴシック" panose="020B0400000000000000" pitchFamily="50" charset="-128"/>
                <a:cs typeface="Times New Roman" panose="02020603050405020304" pitchFamily="18" charset="0"/>
              </a:rPr>
              <a:t>cm)</a:t>
            </a:r>
            <a:endParaRPr lang="ja-JP" altLang="ja-JP" sz="1000" kern="100" dirty="0">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85" name="フリーフォーム 96">
            <a:extLst>
              <a:ext uri="{FF2B5EF4-FFF2-40B4-BE49-F238E27FC236}">
                <a16:creationId xmlns:a16="http://schemas.microsoft.com/office/drawing/2014/main" id="{09A78021-7EA4-4DC5-B183-714D15B5F9EE}"/>
              </a:ext>
            </a:extLst>
          </p:cNvPr>
          <p:cNvSpPr>
            <a:spLocks/>
          </p:cNvSpPr>
          <p:nvPr/>
        </p:nvSpPr>
        <p:spPr bwMode="auto">
          <a:xfrm>
            <a:off x="4630068" y="3620376"/>
            <a:ext cx="1161415" cy="219075"/>
          </a:xfrm>
          <a:custGeom>
            <a:avLst/>
            <a:gdLst>
              <a:gd name="T0" fmla="*/ 149 w 1829"/>
              <a:gd name="T1" fmla="*/ 0 h 345"/>
              <a:gd name="T2" fmla="*/ 430 w 1829"/>
              <a:gd name="T3" fmla="*/ 0 h 345"/>
              <a:gd name="T4" fmla="*/ 430 w 1829"/>
              <a:gd name="T5" fmla="*/ 0 h 345"/>
              <a:gd name="T6" fmla="*/ 849 w 1829"/>
              <a:gd name="T7" fmla="*/ 0 h 345"/>
              <a:gd name="T8" fmla="*/ 1829 w 1829"/>
              <a:gd name="T9" fmla="*/ 0 h 345"/>
              <a:gd name="T10" fmla="*/ 1829 w 1829"/>
              <a:gd name="T11" fmla="*/ 201 h 345"/>
              <a:gd name="T12" fmla="*/ 1829 w 1829"/>
              <a:gd name="T13" fmla="*/ 201 h 345"/>
              <a:gd name="T14" fmla="*/ 1829 w 1829"/>
              <a:gd name="T15" fmla="*/ 288 h 345"/>
              <a:gd name="T16" fmla="*/ 1829 w 1829"/>
              <a:gd name="T17" fmla="*/ 345 h 345"/>
              <a:gd name="T18" fmla="*/ 849 w 1829"/>
              <a:gd name="T19" fmla="*/ 345 h 345"/>
              <a:gd name="T20" fmla="*/ 430 w 1829"/>
              <a:gd name="T21" fmla="*/ 345 h 345"/>
              <a:gd name="T22" fmla="*/ 430 w 1829"/>
              <a:gd name="T23" fmla="*/ 345 h 345"/>
              <a:gd name="T24" fmla="*/ 149 w 1829"/>
              <a:gd name="T25" fmla="*/ 345 h 345"/>
              <a:gd name="T26" fmla="*/ 149 w 1829"/>
              <a:gd name="T27" fmla="*/ 288 h 345"/>
              <a:gd name="T28" fmla="*/ 0 w 1829"/>
              <a:gd name="T29" fmla="*/ 262 h 345"/>
              <a:gd name="T30" fmla="*/ 149 w 1829"/>
              <a:gd name="T31" fmla="*/ 201 h 345"/>
              <a:gd name="T32" fmla="*/ 149 w 1829"/>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29" h="345">
                <a:moveTo>
                  <a:pt x="149" y="0"/>
                </a:moveTo>
                <a:lnTo>
                  <a:pt x="430" y="0"/>
                </a:lnTo>
                <a:lnTo>
                  <a:pt x="430" y="0"/>
                </a:lnTo>
                <a:lnTo>
                  <a:pt x="849" y="0"/>
                </a:lnTo>
                <a:lnTo>
                  <a:pt x="1829" y="0"/>
                </a:lnTo>
                <a:lnTo>
                  <a:pt x="1829" y="201"/>
                </a:lnTo>
                <a:lnTo>
                  <a:pt x="1829" y="201"/>
                </a:lnTo>
                <a:lnTo>
                  <a:pt x="1829" y="288"/>
                </a:lnTo>
                <a:lnTo>
                  <a:pt x="1829" y="345"/>
                </a:lnTo>
                <a:lnTo>
                  <a:pt x="849" y="345"/>
                </a:lnTo>
                <a:lnTo>
                  <a:pt x="430" y="345"/>
                </a:lnTo>
                <a:lnTo>
                  <a:pt x="430" y="345"/>
                </a:lnTo>
                <a:lnTo>
                  <a:pt x="149" y="345"/>
                </a:lnTo>
                <a:lnTo>
                  <a:pt x="149" y="288"/>
                </a:lnTo>
                <a:lnTo>
                  <a:pt x="0" y="262"/>
                </a:lnTo>
                <a:lnTo>
                  <a:pt x="149" y="201"/>
                </a:lnTo>
                <a:lnTo>
                  <a:pt x="14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algn="r"/>
            <a:r>
              <a:rPr lang="ja-JP" altLang="ja-JP"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rPr>
              <a:t>屋根：浸水なし</a:t>
            </a:r>
            <a:endParaRPr lang="ja-JP" altLang="ja-JP" sz="1000" kern="100" dirty="0">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86" name="フリーフォーム 97">
            <a:extLst>
              <a:ext uri="{FF2B5EF4-FFF2-40B4-BE49-F238E27FC236}">
                <a16:creationId xmlns:a16="http://schemas.microsoft.com/office/drawing/2014/main" id="{02B5FC9A-A386-472A-81F9-69CAA918B9AA}"/>
              </a:ext>
            </a:extLst>
          </p:cNvPr>
          <p:cNvSpPr>
            <a:spLocks/>
          </p:cNvSpPr>
          <p:nvPr/>
        </p:nvSpPr>
        <p:spPr bwMode="auto">
          <a:xfrm>
            <a:off x="4630068" y="3620376"/>
            <a:ext cx="1161415" cy="219075"/>
          </a:xfrm>
          <a:custGeom>
            <a:avLst/>
            <a:gdLst>
              <a:gd name="T0" fmla="*/ 149 w 1829"/>
              <a:gd name="T1" fmla="*/ 0 h 345"/>
              <a:gd name="T2" fmla="*/ 430 w 1829"/>
              <a:gd name="T3" fmla="*/ 0 h 345"/>
              <a:gd name="T4" fmla="*/ 430 w 1829"/>
              <a:gd name="T5" fmla="*/ 0 h 345"/>
              <a:gd name="T6" fmla="*/ 849 w 1829"/>
              <a:gd name="T7" fmla="*/ 0 h 345"/>
              <a:gd name="T8" fmla="*/ 1829 w 1829"/>
              <a:gd name="T9" fmla="*/ 0 h 345"/>
              <a:gd name="T10" fmla="*/ 1829 w 1829"/>
              <a:gd name="T11" fmla="*/ 201 h 345"/>
              <a:gd name="T12" fmla="*/ 1829 w 1829"/>
              <a:gd name="T13" fmla="*/ 201 h 345"/>
              <a:gd name="T14" fmla="*/ 1829 w 1829"/>
              <a:gd name="T15" fmla="*/ 288 h 345"/>
              <a:gd name="T16" fmla="*/ 1829 w 1829"/>
              <a:gd name="T17" fmla="*/ 345 h 345"/>
              <a:gd name="T18" fmla="*/ 849 w 1829"/>
              <a:gd name="T19" fmla="*/ 345 h 345"/>
              <a:gd name="T20" fmla="*/ 430 w 1829"/>
              <a:gd name="T21" fmla="*/ 345 h 345"/>
              <a:gd name="T22" fmla="*/ 430 w 1829"/>
              <a:gd name="T23" fmla="*/ 345 h 345"/>
              <a:gd name="T24" fmla="*/ 149 w 1829"/>
              <a:gd name="T25" fmla="*/ 345 h 345"/>
              <a:gd name="T26" fmla="*/ 149 w 1829"/>
              <a:gd name="T27" fmla="*/ 288 h 345"/>
              <a:gd name="T28" fmla="*/ 0 w 1829"/>
              <a:gd name="T29" fmla="*/ 262 h 345"/>
              <a:gd name="T30" fmla="*/ 149 w 1829"/>
              <a:gd name="T31" fmla="*/ 201 h 345"/>
              <a:gd name="T32" fmla="*/ 149 w 1829"/>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29" h="345">
                <a:moveTo>
                  <a:pt x="149" y="0"/>
                </a:moveTo>
                <a:lnTo>
                  <a:pt x="430" y="0"/>
                </a:lnTo>
                <a:lnTo>
                  <a:pt x="430" y="0"/>
                </a:lnTo>
                <a:lnTo>
                  <a:pt x="849" y="0"/>
                </a:lnTo>
                <a:lnTo>
                  <a:pt x="1829" y="0"/>
                </a:lnTo>
                <a:lnTo>
                  <a:pt x="1829" y="201"/>
                </a:lnTo>
                <a:lnTo>
                  <a:pt x="1829" y="201"/>
                </a:lnTo>
                <a:lnTo>
                  <a:pt x="1829" y="288"/>
                </a:lnTo>
                <a:lnTo>
                  <a:pt x="1829" y="345"/>
                </a:lnTo>
                <a:lnTo>
                  <a:pt x="849" y="345"/>
                </a:lnTo>
                <a:lnTo>
                  <a:pt x="430" y="345"/>
                </a:lnTo>
                <a:lnTo>
                  <a:pt x="430" y="345"/>
                </a:lnTo>
                <a:lnTo>
                  <a:pt x="149" y="345"/>
                </a:lnTo>
                <a:lnTo>
                  <a:pt x="149" y="288"/>
                </a:lnTo>
                <a:lnTo>
                  <a:pt x="0" y="262"/>
                </a:lnTo>
                <a:lnTo>
                  <a:pt x="149" y="201"/>
                </a:lnTo>
                <a:lnTo>
                  <a:pt x="149" y="0"/>
                </a:lnTo>
                <a:close/>
              </a:path>
            </a:pathLst>
          </a:custGeom>
          <a:noFill/>
          <a:ln w="24765" cap="flat">
            <a:solidFill>
              <a:srgbClr val="4BACC6"/>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87" name="正方形/長方形 86">
            <a:extLst>
              <a:ext uri="{FF2B5EF4-FFF2-40B4-BE49-F238E27FC236}">
                <a16:creationId xmlns:a16="http://schemas.microsoft.com/office/drawing/2014/main" id="{05948D6A-2208-4411-A169-78418782D7FC}"/>
              </a:ext>
            </a:extLst>
          </p:cNvPr>
          <p:cNvSpPr>
            <a:spLocks noChangeArrowheads="1"/>
          </p:cNvSpPr>
          <p:nvPr/>
        </p:nvSpPr>
        <p:spPr bwMode="auto">
          <a:xfrm>
            <a:off x="4147329" y="3314406"/>
            <a:ext cx="89768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en-US" altLang="ja-JP" sz="1000" kern="0" dirty="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a:t>
            </a:r>
            <a:r>
              <a:rPr lang="ja-JP" sz="1000" kern="0" dirty="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地下階なし</a:t>
            </a:r>
            <a:r>
              <a:rPr lang="en-US" altLang="ja-JP" sz="1000" kern="0" dirty="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a:t>
            </a:r>
            <a:endParaRPr lang="en-US" altLang="ja-JP"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endParaRPr>
          </a:p>
        </p:txBody>
      </p:sp>
      <p:sp>
        <p:nvSpPr>
          <p:cNvPr id="88" name="正方形/長方形 87">
            <a:extLst>
              <a:ext uri="{FF2B5EF4-FFF2-40B4-BE49-F238E27FC236}">
                <a16:creationId xmlns:a16="http://schemas.microsoft.com/office/drawing/2014/main" id="{C579478F-1E0A-4B6F-AAF7-EA27229DDB8B}"/>
              </a:ext>
            </a:extLst>
          </p:cNvPr>
          <p:cNvSpPr>
            <a:spLocks noChangeArrowheads="1"/>
          </p:cNvSpPr>
          <p:nvPr/>
        </p:nvSpPr>
        <p:spPr bwMode="auto">
          <a:xfrm>
            <a:off x="6127629" y="3321917"/>
            <a:ext cx="89768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a:spAutoFit/>
          </a:bodyPr>
          <a:lstStyle/>
          <a:p>
            <a:pPr algn="just">
              <a:spcAft>
                <a:spcPts val="0"/>
              </a:spcAft>
            </a:pPr>
            <a:r>
              <a:rPr lang="en-US" altLang="ja-JP" sz="1000" kern="0" dirty="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a:t>
            </a:r>
            <a:r>
              <a:rPr lang="ja-JP" sz="1000" kern="0" dirty="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地下階</a:t>
            </a:r>
            <a:r>
              <a:rPr lang="ja-JP" altLang="en-US" sz="1000" kern="0" dirty="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あり</a:t>
            </a:r>
            <a:r>
              <a:rPr lang="en-US" altLang="ja-JP" sz="1000" kern="0" dirty="0">
                <a:solidFill>
                  <a:srgbClr val="000000"/>
                </a:solidFill>
                <a:effectLst/>
                <a:latin typeface="游ゴシック" panose="020B0400000000000000" pitchFamily="50" charset="-128"/>
                <a:ea typeface="游ゴシック" panose="020B0400000000000000" pitchFamily="50" charset="-128"/>
                <a:cs typeface="HG丸ｺﾞｼｯｸM-PRO" panose="020F0600000000000000" pitchFamily="50" charset="-128"/>
              </a:rPr>
              <a:t>】</a:t>
            </a:r>
            <a:endParaRPr lang="en-US" altLang="ja-JP"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endParaRPr>
          </a:p>
        </p:txBody>
      </p:sp>
      <p:sp>
        <p:nvSpPr>
          <p:cNvPr id="89" name="フリーフォーム 128">
            <a:extLst>
              <a:ext uri="{FF2B5EF4-FFF2-40B4-BE49-F238E27FC236}">
                <a16:creationId xmlns:a16="http://schemas.microsoft.com/office/drawing/2014/main" id="{548DF383-379F-4394-ABB8-5A24D216C559}"/>
              </a:ext>
            </a:extLst>
          </p:cNvPr>
          <p:cNvSpPr>
            <a:spLocks/>
          </p:cNvSpPr>
          <p:nvPr/>
        </p:nvSpPr>
        <p:spPr bwMode="auto">
          <a:xfrm>
            <a:off x="6949899" y="5295932"/>
            <a:ext cx="1161415" cy="219075"/>
          </a:xfrm>
          <a:custGeom>
            <a:avLst/>
            <a:gdLst>
              <a:gd name="T0" fmla="*/ 149 w 1829"/>
              <a:gd name="T1" fmla="*/ 0 h 345"/>
              <a:gd name="T2" fmla="*/ 430 w 1829"/>
              <a:gd name="T3" fmla="*/ 0 h 345"/>
              <a:gd name="T4" fmla="*/ 430 w 1829"/>
              <a:gd name="T5" fmla="*/ 0 h 345"/>
              <a:gd name="T6" fmla="*/ 849 w 1829"/>
              <a:gd name="T7" fmla="*/ 0 h 345"/>
              <a:gd name="T8" fmla="*/ 1829 w 1829"/>
              <a:gd name="T9" fmla="*/ 0 h 345"/>
              <a:gd name="T10" fmla="*/ 1829 w 1829"/>
              <a:gd name="T11" fmla="*/ 201 h 345"/>
              <a:gd name="T12" fmla="*/ 1829 w 1829"/>
              <a:gd name="T13" fmla="*/ 201 h 345"/>
              <a:gd name="T14" fmla="*/ 1829 w 1829"/>
              <a:gd name="T15" fmla="*/ 288 h 345"/>
              <a:gd name="T16" fmla="*/ 1829 w 1829"/>
              <a:gd name="T17" fmla="*/ 345 h 345"/>
              <a:gd name="T18" fmla="*/ 849 w 1829"/>
              <a:gd name="T19" fmla="*/ 345 h 345"/>
              <a:gd name="T20" fmla="*/ 430 w 1829"/>
              <a:gd name="T21" fmla="*/ 345 h 345"/>
              <a:gd name="T22" fmla="*/ 430 w 1829"/>
              <a:gd name="T23" fmla="*/ 345 h 345"/>
              <a:gd name="T24" fmla="*/ 149 w 1829"/>
              <a:gd name="T25" fmla="*/ 345 h 345"/>
              <a:gd name="T26" fmla="*/ 149 w 1829"/>
              <a:gd name="T27" fmla="*/ 288 h 345"/>
              <a:gd name="T28" fmla="*/ 0 w 1829"/>
              <a:gd name="T29" fmla="*/ 262 h 345"/>
              <a:gd name="T30" fmla="*/ 149 w 1829"/>
              <a:gd name="T31" fmla="*/ 201 h 345"/>
              <a:gd name="T32" fmla="*/ 149 w 1829"/>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29" h="345">
                <a:moveTo>
                  <a:pt x="149" y="0"/>
                </a:moveTo>
                <a:lnTo>
                  <a:pt x="430" y="0"/>
                </a:lnTo>
                <a:lnTo>
                  <a:pt x="430" y="0"/>
                </a:lnTo>
                <a:lnTo>
                  <a:pt x="849" y="0"/>
                </a:lnTo>
                <a:lnTo>
                  <a:pt x="1829" y="0"/>
                </a:lnTo>
                <a:lnTo>
                  <a:pt x="1829" y="201"/>
                </a:lnTo>
                <a:lnTo>
                  <a:pt x="1829" y="201"/>
                </a:lnTo>
                <a:lnTo>
                  <a:pt x="1829" y="288"/>
                </a:lnTo>
                <a:lnTo>
                  <a:pt x="1829" y="345"/>
                </a:lnTo>
                <a:lnTo>
                  <a:pt x="849" y="345"/>
                </a:lnTo>
                <a:lnTo>
                  <a:pt x="430" y="345"/>
                </a:lnTo>
                <a:lnTo>
                  <a:pt x="430" y="345"/>
                </a:lnTo>
                <a:lnTo>
                  <a:pt x="149" y="345"/>
                </a:lnTo>
                <a:lnTo>
                  <a:pt x="149" y="288"/>
                </a:lnTo>
                <a:lnTo>
                  <a:pt x="0" y="262"/>
                </a:lnTo>
                <a:lnTo>
                  <a:pt x="149" y="201"/>
                </a:lnTo>
                <a:lnTo>
                  <a:pt x="14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algn="ctr"/>
            <a:r>
              <a:rPr lang="ja-JP" altLang="en-US"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rPr>
              <a:t>　地下階</a:t>
            </a:r>
            <a:r>
              <a:rPr lang="ja-JP" altLang="ja-JP"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rPr>
              <a:t>：</a:t>
            </a:r>
            <a:r>
              <a:rPr lang="ja-JP" altLang="en-US"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rPr>
              <a:t>水没</a:t>
            </a:r>
            <a:endParaRPr lang="ja-JP" altLang="ja-JP" sz="1000" kern="100" dirty="0">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90" name="フリーフォーム 129">
            <a:extLst>
              <a:ext uri="{FF2B5EF4-FFF2-40B4-BE49-F238E27FC236}">
                <a16:creationId xmlns:a16="http://schemas.microsoft.com/office/drawing/2014/main" id="{341CCCA5-81EC-4007-BDAB-60B99543DDEE}"/>
              </a:ext>
            </a:extLst>
          </p:cNvPr>
          <p:cNvSpPr>
            <a:spLocks/>
          </p:cNvSpPr>
          <p:nvPr/>
        </p:nvSpPr>
        <p:spPr bwMode="auto">
          <a:xfrm>
            <a:off x="6949899" y="5295932"/>
            <a:ext cx="1161415" cy="219075"/>
          </a:xfrm>
          <a:custGeom>
            <a:avLst/>
            <a:gdLst>
              <a:gd name="T0" fmla="*/ 149 w 1829"/>
              <a:gd name="T1" fmla="*/ 0 h 345"/>
              <a:gd name="T2" fmla="*/ 430 w 1829"/>
              <a:gd name="T3" fmla="*/ 0 h 345"/>
              <a:gd name="T4" fmla="*/ 430 w 1829"/>
              <a:gd name="T5" fmla="*/ 0 h 345"/>
              <a:gd name="T6" fmla="*/ 849 w 1829"/>
              <a:gd name="T7" fmla="*/ 0 h 345"/>
              <a:gd name="T8" fmla="*/ 1829 w 1829"/>
              <a:gd name="T9" fmla="*/ 0 h 345"/>
              <a:gd name="T10" fmla="*/ 1829 w 1829"/>
              <a:gd name="T11" fmla="*/ 201 h 345"/>
              <a:gd name="T12" fmla="*/ 1829 w 1829"/>
              <a:gd name="T13" fmla="*/ 201 h 345"/>
              <a:gd name="T14" fmla="*/ 1829 w 1829"/>
              <a:gd name="T15" fmla="*/ 288 h 345"/>
              <a:gd name="T16" fmla="*/ 1829 w 1829"/>
              <a:gd name="T17" fmla="*/ 345 h 345"/>
              <a:gd name="T18" fmla="*/ 849 w 1829"/>
              <a:gd name="T19" fmla="*/ 345 h 345"/>
              <a:gd name="T20" fmla="*/ 430 w 1829"/>
              <a:gd name="T21" fmla="*/ 345 h 345"/>
              <a:gd name="T22" fmla="*/ 430 w 1829"/>
              <a:gd name="T23" fmla="*/ 345 h 345"/>
              <a:gd name="T24" fmla="*/ 149 w 1829"/>
              <a:gd name="T25" fmla="*/ 345 h 345"/>
              <a:gd name="T26" fmla="*/ 149 w 1829"/>
              <a:gd name="T27" fmla="*/ 288 h 345"/>
              <a:gd name="T28" fmla="*/ 0 w 1829"/>
              <a:gd name="T29" fmla="*/ 262 h 345"/>
              <a:gd name="T30" fmla="*/ 149 w 1829"/>
              <a:gd name="T31" fmla="*/ 201 h 345"/>
              <a:gd name="T32" fmla="*/ 149 w 1829"/>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29" h="345">
                <a:moveTo>
                  <a:pt x="149" y="0"/>
                </a:moveTo>
                <a:lnTo>
                  <a:pt x="430" y="0"/>
                </a:lnTo>
                <a:lnTo>
                  <a:pt x="430" y="0"/>
                </a:lnTo>
                <a:lnTo>
                  <a:pt x="849" y="0"/>
                </a:lnTo>
                <a:lnTo>
                  <a:pt x="1829" y="0"/>
                </a:lnTo>
                <a:lnTo>
                  <a:pt x="1829" y="201"/>
                </a:lnTo>
                <a:lnTo>
                  <a:pt x="1829" y="201"/>
                </a:lnTo>
                <a:lnTo>
                  <a:pt x="1829" y="288"/>
                </a:lnTo>
                <a:lnTo>
                  <a:pt x="1829" y="345"/>
                </a:lnTo>
                <a:lnTo>
                  <a:pt x="849" y="345"/>
                </a:lnTo>
                <a:lnTo>
                  <a:pt x="430" y="345"/>
                </a:lnTo>
                <a:lnTo>
                  <a:pt x="430" y="345"/>
                </a:lnTo>
                <a:lnTo>
                  <a:pt x="149" y="345"/>
                </a:lnTo>
                <a:lnTo>
                  <a:pt x="149" y="288"/>
                </a:lnTo>
                <a:lnTo>
                  <a:pt x="0" y="262"/>
                </a:lnTo>
                <a:lnTo>
                  <a:pt x="149" y="201"/>
                </a:lnTo>
                <a:lnTo>
                  <a:pt x="149" y="0"/>
                </a:lnTo>
                <a:close/>
              </a:path>
            </a:pathLst>
          </a:custGeom>
          <a:noFill/>
          <a:ln w="24765" cap="flat">
            <a:solidFill>
              <a:srgbClr val="4BACC6"/>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91" name="フリーフォーム 145">
            <a:extLst>
              <a:ext uri="{FF2B5EF4-FFF2-40B4-BE49-F238E27FC236}">
                <a16:creationId xmlns:a16="http://schemas.microsoft.com/office/drawing/2014/main" id="{6BAB68D2-88B5-4558-96F3-079B763876FF}"/>
              </a:ext>
            </a:extLst>
          </p:cNvPr>
          <p:cNvSpPr>
            <a:spLocks/>
          </p:cNvSpPr>
          <p:nvPr/>
        </p:nvSpPr>
        <p:spPr bwMode="auto">
          <a:xfrm>
            <a:off x="6849676" y="4757848"/>
            <a:ext cx="899795" cy="219075"/>
          </a:xfrm>
          <a:custGeom>
            <a:avLst/>
            <a:gdLst>
              <a:gd name="T0" fmla="*/ 179 w 1417"/>
              <a:gd name="T1" fmla="*/ 0 h 345"/>
              <a:gd name="T2" fmla="*/ 386 w 1417"/>
              <a:gd name="T3" fmla="*/ 0 h 345"/>
              <a:gd name="T4" fmla="*/ 386 w 1417"/>
              <a:gd name="T5" fmla="*/ 0 h 345"/>
              <a:gd name="T6" fmla="*/ 695 w 1417"/>
              <a:gd name="T7" fmla="*/ 0 h 345"/>
              <a:gd name="T8" fmla="*/ 1417 w 1417"/>
              <a:gd name="T9" fmla="*/ 0 h 345"/>
              <a:gd name="T10" fmla="*/ 1417 w 1417"/>
              <a:gd name="T11" fmla="*/ 201 h 345"/>
              <a:gd name="T12" fmla="*/ 1417 w 1417"/>
              <a:gd name="T13" fmla="*/ 201 h 345"/>
              <a:gd name="T14" fmla="*/ 1417 w 1417"/>
              <a:gd name="T15" fmla="*/ 287 h 345"/>
              <a:gd name="T16" fmla="*/ 1417 w 1417"/>
              <a:gd name="T17" fmla="*/ 345 h 345"/>
              <a:gd name="T18" fmla="*/ 695 w 1417"/>
              <a:gd name="T19" fmla="*/ 345 h 345"/>
              <a:gd name="T20" fmla="*/ 386 w 1417"/>
              <a:gd name="T21" fmla="*/ 345 h 345"/>
              <a:gd name="T22" fmla="*/ 386 w 1417"/>
              <a:gd name="T23" fmla="*/ 345 h 345"/>
              <a:gd name="T24" fmla="*/ 179 w 1417"/>
              <a:gd name="T25" fmla="*/ 345 h 345"/>
              <a:gd name="T26" fmla="*/ 179 w 1417"/>
              <a:gd name="T27" fmla="*/ 287 h 345"/>
              <a:gd name="T28" fmla="*/ 0 w 1417"/>
              <a:gd name="T29" fmla="*/ 296 h 345"/>
              <a:gd name="T30" fmla="*/ 179 w 1417"/>
              <a:gd name="T31" fmla="*/ 201 h 345"/>
              <a:gd name="T32" fmla="*/ 179 w 1417"/>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17" h="345">
                <a:moveTo>
                  <a:pt x="179" y="0"/>
                </a:moveTo>
                <a:lnTo>
                  <a:pt x="386" y="0"/>
                </a:lnTo>
                <a:lnTo>
                  <a:pt x="386" y="0"/>
                </a:lnTo>
                <a:lnTo>
                  <a:pt x="695" y="0"/>
                </a:lnTo>
                <a:lnTo>
                  <a:pt x="1417" y="0"/>
                </a:lnTo>
                <a:lnTo>
                  <a:pt x="1417" y="201"/>
                </a:lnTo>
                <a:lnTo>
                  <a:pt x="1417" y="201"/>
                </a:lnTo>
                <a:lnTo>
                  <a:pt x="1417" y="287"/>
                </a:lnTo>
                <a:lnTo>
                  <a:pt x="1417" y="345"/>
                </a:lnTo>
                <a:lnTo>
                  <a:pt x="695" y="345"/>
                </a:lnTo>
                <a:lnTo>
                  <a:pt x="386" y="345"/>
                </a:lnTo>
                <a:lnTo>
                  <a:pt x="386" y="345"/>
                </a:lnTo>
                <a:lnTo>
                  <a:pt x="179" y="345"/>
                </a:lnTo>
                <a:lnTo>
                  <a:pt x="179" y="287"/>
                </a:lnTo>
                <a:lnTo>
                  <a:pt x="0" y="296"/>
                </a:lnTo>
                <a:lnTo>
                  <a:pt x="179" y="201"/>
                </a:lnTo>
                <a:lnTo>
                  <a:pt x="17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algn="r"/>
            <a:r>
              <a:rPr lang="en-US" altLang="ja-JP" sz="1000" dirty="0">
                <a:latin typeface="游ゴシック" panose="020B0400000000000000" pitchFamily="50" charset="-128"/>
                <a:ea typeface="游ゴシック" panose="020B0400000000000000" pitchFamily="50" charset="-128"/>
              </a:rPr>
              <a:t>1</a:t>
            </a:r>
            <a:r>
              <a:rPr lang="ja-JP" altLang="en-US" sz="1000" dirty="0">
                <a:latin typeface="游ゴシック" panose="020B0400000000000000" pitchFamily="50" charset="-128"/>
                <a:ea typeface="游ゴシック" panose="020B0400000000000000" pitchFamily="50" charset="-128"/>
              </a:rPr>
              <a:t>階：水没</a:t>
            </a:r>
          </a:p>
        </p:txBody>
      </p:sp>
      <p:sp>
        <p:nvSpPr>
          <p:cNvPr id="92" name="フリーフォーム 146">
            <a:extLst>
              <a:ext uri="{FF2B5EF4-FFF2-40B4-BE49-F238E27FC236}">
                <a16:creationId xmlns:a16="http://schemas.microsoft.com/office/drawing/2014/main" id="{B14F392E-4140-42F4-BF84-DAEE4256E581}"/>
              </a:ext>
            </a:extLst>
          </p:cNvPr>
          <p:cNvSpPr>
            <a:spLocks/>
          </p:cNvSpPr>
          <p:nvPr/>
        </p:nvSpPr>
        <p:spPr bwMode="auto">
          <a:xfrm>
            <a:off x="6849676" y="4757848"/>
            <a:ext cx="899795" cy="219075"/>
          </a:xfrm>
          <a:custGeom>
            <a:avLst/>
            <a:gdLst>
              <a:gd name="T0" fmla="*/ 179 w 1417"/>
              <a:gd name="T1" fmla="*/ 0 h 345"/>
              <a:gd name="T2" fmla="*/ 386 w 1417"/>
              <a:gd name="T3" fmla="*/ 0 h 345"/>
              <a:gd name="T4" fmla="*/ 386 w 1417"/>
              <a:gd name="T5" fmla="*/ 0 h 345"/>
              <a:gd name="T6" fmla="*/ 695 w 1417"/>
              <a:gd name="T7" fmla="*/ 0 h 345"/>
              <a:gd name="T8" fmla="*/ 1417 w 1417"/>
              <a:gd name="T9" fmla="*/ 0 h 345"/>
              <a:gd name="T10" fmla="*/ 1417 w 1417"/>
              <a:gd name="T11" fmla="*/ 201 h 345"/>
              <a:gd name="T12" fmla="*/ 1417 w 1417"/>
              <a:gd name="T13" fmla="*/ 201 h 345"/>
              <a:gd name="T14" fmla="*/ 1417 w 1417"/>
              <a:gd name="T15" fmla="*/ 287 h 345"/>
              <a:gd name="T16" fmla="*/ 1417 w 1417"/>
              <a:gd name="T17" fmla="*/ 345 h 345"/>
              <a:gd name="T18" fmla="*/ 695 w 1417"/>
              <a:gd name="T19" fmla="*/ 345 h 345"/>
              <a:gd name="T20" fmla="*/ 386 w 1417"/>
              <a:gd name="T21" fmla="*/ 345 h 345"/>
              <a:gd name="T22" fmla="*/ 386 w 1417"/>
              <a:gd name="T23" fmla="*/ 345 h 345"/>
              <a:gd name="T24" fmla="*/ 179 w 1417"/>
              <a:gd name="T25" fmla="*/ 345 h 345"/>
              <a:gd name="T26" fmla="*/ 179 w 1417"/>
              <a:gd name="T27" fmla="*/ 287 h 345"/>
              <a:gd name="T28" fmla="*/ 0 w 1417"/>
              <a:gd name="T29" fmla="*/ 296 h 345"/>
              <a:gd name="T30" fmla="*/ 179 w 1417"/>
              <a:gd name="T31" fmla="*/ 201 h 345"/>
              <a:gd name="T32" fmla="*/ 179 w 1417"/>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17" h="345">
                <a:moveTo>
                  <a:pt x="179" y="0"/>
                </a:moveTo>
                <a:lnTo>
                  <a:pt x="386" y="0"/>
                </a:lnTo>
                <a:lnTo>
                  <a:pt x="386" y="0"/>
                </a:lnTo>
                <a:lnTo>
                  <a:pt x="695" y="0"/>
                </a:lnTo>
                <a:lnTo>
                  <a:pt x="1417" y="0"/>
                </a:lnTo>
                <a:lnTo>
                  <a:pt x="1417" y="201"/>
                </a:lnTo>
                <a:lnTo>
                  <a:pt x="1417" y="201"/>
                </a:lnTo>
                <a:lnTo>
                  <a:pt x="1417" y="287"/>
                </a:lnTo>
                <a:lnTo>
                  <a:pt x="1417" y="345"/>
                </a:lnTo>
                <a:lnTo>
                  <a:pt x="695" y="345"/>
                </a:lnTo>
                <a:lnTo>
                  <a:pt x="386" y="345"/>
                </a:lnTo>
                <a:lnTo>
                  <a:pt x="386" y="345"/>
                </a:lnTo>
                <a:lnTo>
                  <a:pt x="179" y="345"/>
                </a:lnTo>
                <a:lnTo>
                  <a:pt x="179" y="287"/>
                </a:lnTo>
                <a:lnTo>
                  <a:pt x="0" y="296"/>
                </a:lnTo>
                <a:lnTo>
                  <a:pt x="179" y="201"/>
                </a:lnTo>
                <a:lnTo>
                  <a:pt x="179" y="0"/>
                </a:lnTo>
                <a:close/>
              </a:path>
            </a:pathLst>
          </a:custGeom>
          <a:noFill/>
          <a:ln w="24765" cap="flat">
            <a:solidFill>
              <a:srgbClr val="4BACC6"/>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93" name="フリーフォーム 147">
            <a:extLst>
              <a:ext uri="{FF2B5EF4-FFF2-40B4-BE49-F238E27FC236}">
                <a16:creationId xmlns:a16="http://schemas.microsoft.com/office/drawing/2014/main" id="{B9F1EED5-9DE7-4E63-A8D9-F2289F30DF6C}"/>
              </a:ext>
            </a:extLst>
          </p:cNvPr>
          <p:cNvSpPr>
            <a:spLocks/>
          </p:cNvSpPr>
          <p:nvPr/>
        </p:nvSpPr>
        <p:spPr bwMode="auto">
          <a:xfrm>
            <a:off x="6855391" y="4040298"/>
            <a:ext cx="1174750" cy="365125"/>
          </a:xfrm>
          <a:custGeom>
            <a:avLst/>
            <a:gdLst>
              <a:gd name="T0" fmla="*/ 170 w 1850"/>
              <a:gd name="T1" fmla="*/ 0 h 575"/>
              <a:gd name="T2" fmla="*/ 451 w 1850"/>
              <a:gd name="T3" fmla="*/ 0 h 575"/>
              <a:gd name="T4" fmla="*/ 451 w 1850"/>
              <a:gd name="T5" fmla="*/ 0 h 575"/>
              <a:gd name="T6" fmla="*/ 870 w 1850"/>
              <a:gd name="T7" fmla="*/ 0 h 575"/>
              <a:gd name="T8" fmla="*/ 1850 w 1850"/>
              <a:gd name="T9" fmla="*/ 0 h 575"/>
              <a:gd name="T10" fmla="*/ 1850 w 1850"/>
              <a:gd name="T11" fmla="*/ 335 h 575"/>
              <a:gd name="T12" fmla="*/ 1850 w 1850"/>
              <a:gd name="T13" fmla="*/ 335 h 575"/>
              <a:gd name="T14" fmla="*/ 1850 w 1850"/>
              <a:gd name="T15" fmla="*/ 479 h 575"/>
              <a:gd name="T16" fmla="*/ 1850 w 1850"/>
              <a:gd name="T17" fmla="*/ 575 h 575"/>
              <a:gd name="T18" fmla="*/ 870 w 1850"/>
              <a:gd name="T19" fmla="*/ 575 h 575"/>
              <a:gd name="T20" fmla="*/ 451 w 1850"/>
              <a:gd name="T21" fmla="*/ 575 h 575"/>
              <a:gd name="T22" fmla="*/ 451 w 1850"/>
              <a:gd name="T23" fmla="*/ 575 h 575"/>
              <a:gd name="T24" fmla="*/ 170 w 1850"/>
              <a:gd name="T25" fmla="*/ 575 h 575"/>
              <a:gd name="T26" fmla="*/ 170 w 1850"/>
              <a:gd name="T27" fmla="*/ 479 h 575"/>
              <a:gd name="T28" fmla="*/ 0 w 1850"/>
              <a:gd name="T29" fmla="*/ 532 h 575"/>
              <a:gd name="T30" fmla="*/ 170 w 1850"/>
              <a:gd name="T31" fmla="*/ 335 h 575"/>
              <a:gd name="T32" fmla="*/ 170 w 1850"/>
              <a:gd name="T33" fmla="*/ 0 h 5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50" h="575">
                <a:moveTo>
                  <a:pt x="170" y="0"/>
                </a:moveTo>
                <a:lnTo>
                  <a:pt x="451" y="0"/>
                </a:lnTo>
                <a:lnTo>
                  <a:pt x="451" y="0"/>
                </a:lnTo>
                <a:lnTo>
                  <a:pt x="870" y="0"/>
                </a:lnTo>
                <a:lnTo>
                  <a:pt x="1850" y="0"/>
                </a:lnTo>
                <a:lnTo>
                  <a:pt x="1850" y="335"/>
                </a:lnTo>
                <a:lnTo>
                  <a:pt x="1850" y="335"/>
                </a:lnTo>
                <a:lnTo>
                  <a:pt x="1850" y="479"/>
                </a:lnTo>
                <a:lnTo>
                  <a:pt x="1850" y="575"/>
                </a:lnTo>
                <a:lnTo>
                  <a:pt x="870" y="575"/>
                </a:lnTo>
                <a:lnTo>
                  <a:pt x="451" y="575"/>
                </a:lnTo>
                <a:lnTo>
                  <a:pt x="451" y="575"/>
                </a:lnTo>
                <a:lnTo>
                  <a:pt x="170" y="575"/>
                </a:lnTo>
                <a:lnTo>
                  <a:pt x="170" y="479"/>
                </a:lnTo>
                <a:lnTo>
                  <a:pt x="0" y="532"/>
                </a:lnTo>
                <a:lnTo>
                  <a:pt x="170" y="335"/>
                </a:lnTo>
                <a:lnTo>
                  <a:pt x="17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94" name="フリーフォーム 148">
            <a:extLst>
              <a:ext uri="{FF2B5EF4-FFF2-40B4-BE49-F238E27FC236}">
                <a16:creationId xmlns:a16="http://schemas.microsoft.com/office/drawing/2014/main" id="{79235901-2039-47A4-911F-A23FE04AEC87}"/>
              </a:ext>
            </a:extLst>
          </p:cNvPr>
          <p:cNvSpPr>
            <a:spLocks/>
          </p:cNvSpPr>
          <p:nvPr/>
        </p:nvSpPr>
        <p:spPr bwMode="auto">
          <a:xfrm>
            <a:off x="6855391" y="4040298"/>
            <a:ext cx="1174750" cy="365125"/>
          </a:xfrm>
          <a:custGeom>
            <a:avLst/>
            <a:gdLst>
              <a:gd name="T0" fmla="*/ 170 w 1850"/>
              <a:gd name="T1" fmla="*/ 0 h 575"/>
              <a:gd name="T2" fmla="*/ 451 w 1850"/>
              <a:gd name="T3" fmla="*/ 0 h 575"/>
              <a:gd name="T4" fmla="*/ 451 w 1850"/>
              <a:gd name="T5" fmla="*/ 0 h 575"/>
              <a:gd name="T6" fmla="*/ 870 w 1850"/>
              <a:gd name="T7" fmla="*/ 0 h 575"/>
              <a:gd name="T8" fmla="*/ 1850 w 1850"/>
              <a:gd name="T9" fmla="*/ 0 h 575"/>
              <a:gd name="T10" fmla="*/ 1850 w 1850"/>
              <a:gd name="T11" fmla="*/ 335 h 575"/>
              <a:gd name="T12" fmla="*/ 1850 w 1850"/>
              <a:gd name="T13" fmla="*/ 335 h 575"/>
              <a:gd name="T14" fmla="*/ 1850 w 1850"/>
              <a:gd name="T15" fmla="*/ 479 h 575"/>
              <a:gd name="T16" fmla="*/ 1850 w 1850"/>
              <a:gd name="T17" fmla="*/ 575 h 575"/>
              <a:gd name="T18" fmla="*/ 870 w 1850"/>
              <a:gd name="T19" fmla="*/ 575 h 575"/>
              <a:gd name="T20" fmla="*/ 451 w 1850"/>
              <a:gd name="T21" fmla="*/ 575 h 575"/>
              <a:gd name="T22" fmla="*/ 451 w 1850"/>
              <a:gd name="T23" fmla="*/ 575 h 575"/>
              <a:gd name="T24" fmla="*/ 170 w 1850"/>
              <a:gd name="T25" fmla="*/ 575 h 575"/>
              <a:gd name="T26" fmla="*/ 170 w 1850"/>
              <a:gd name="T27" fmla="*/ 479 h 575"/>
              <a:gd name="T28" fmla="*/ 0 w 1850"/>
              <a:gd name="T29" fmla="*/ 532 h 575"/>
              <a:gd name="T30" fmla="*/ 170 w 1850"/>
              <a:gd name="T31" fmla="*/ 335 h 575"/>
              <a:gd name="T32" fmla="*/ 170 w 1850"/>
              <a:gd name="T33" fmla="*/ 0 h 5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50" h="575">
                <a:moveTo>
                  <a:pt x="170" y="0"/>
                </a:moveTo>
                <a:lnTo>
                  <a:pt x="451" y="0"/>
                </a:lnTo>
                <a:lnTo>
                  <a:pt x="451" y="0"/>
                </a:lnTo>
                <a:lnTo>
                  <a:pt x="870" y="0"/>
                </a:lnTo>
                <a:lnTo>
                  <a:pt x="1850" y="0"/>
                </a:lnTo>
                <a:lnTo>
                  <a:pt x="1850" y="335"/>
                </a:lnTo>
                <a:lnTo>
                  <a:pt x="1850" y="335"/>
                </a:lnTo>
                <a:lnTo>
                  <a:pt x="1850" y="479"/>
                </a:lnTo>
                <a:lnTo>
                  <a:pt x="1850" y="575"/>
                </a:lnTo>
                <a:lnTo>
                  <a:pt x="870" y="575"/>
                </a:lnTo>
                <a:lnTo>
                  <a:pt x="451" y="575"/>
                </a:lnTo>
                <a:lnTo>
                  <a:pt x="451" y="575"/>
                </a:lnTo>
                <a:lnTo>
                  <a:pt x="170" y="575"/>
                </a:lnTo>
                <a:lnTo>
                  <a:pt x="170" y="479"/>
                </a:lnTo>
                <a:lnTo>
                  <a:pt x="0" y="532"/>
                </a:lnTo>
                <a:lnTo>
                  <a:pt x="170" y="335"/>
                </a:lnTo>
                <a:lnTo>
                  <a:pt x="170" y="0"/>
                </a:lnTo>
                <a:close/>
              </a:path>
            </a:pathLst>
          </a:custGeom>
          <a:noFill/>
          <a:ln w="24765" cap="flat">
            <a:solidFill>
              <a:srgbClr val="4BACC6"/>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algn="r"/>
            <a:r>
              <a:rPr lang="en-US" altLang="ja-JP"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rPr>
              <a:t>2</a:t>
            </a:r>
            <a:r>
              <a:rPr lang="ja-JP" altLang="ja-JP"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rPr>
              <a:t>階：浸水あり</a:t>
            </a:r>
            <a:endParaRPr lang="en-US" altLang="ja-JP"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endParaRPr>
          </a:p>
          <a:p>
            <a:pPr algn="ctr"/>
            <a:r>
              <a:rPr lang="en-US" altLang="ja-JP" sz="1000" kern="0" dirty="0">
                <a:solidFill>
                  <a:srgbClr val="000000"/>
                </a:solidFill>
                <a:latin typeface="游ゴシック" panose="020B0400000000000000" pitchFamily="50" charset="-128"/>
                <a:ea typeface="游ゴシック" panose="020B0400000000000000" pitchFamily="50" charset="-128"/>
                <a:cs typeface="Times New Roman" panose="02020603050405020304" pitchFamily="18" charset="0"/>
              </a:rPr>
              <a:t>    (</a:t>
            </a:r>
            <a:r>
              <a:rPr lang="ja-JP" altLang="en-US" sz="1000" kern="0" dirty="0">
                <a:solidFill>
                  <a:srgbClr val="000000"/>
                </a:solidFill>
                <a:latin typeface="游ゴシック" panose="020B0400000000000000" pitchFamily="50" charset="-128"/>
                <a:ea typeface="游ゴシック" panose="020B0400000000000000" pitchFamily="50" charset="-128"/>
                <a:cs typeface="Times New Roman" panose="02020603050405020304" pitchFamily="18" charset="0"/>
              </a:rPr>
              <a:t>〇〇</a:t>
            </a:r>
            <a:r>
              <a:rPr lang="en-US" altLang="ja-JP" sz="1000" kern="0" dirty="0">
                <a:solidFill>
                  <a:srgbClr val="000000"/>
                </a:solidFill>
                <a:latin typeface="游ゴシック" panose="020B0400000000000000" pitchFamily="50" charset="-128"/>
                <a:ea typeface="游ゴシック" panose="020B0400000000000000" pitchFamily="50" charset="-128"/>
                <a:cs typeface="Times New Roman" panose="02020603050405020304" pitchFamily="18" charset="0"/>
              </a:rPr>
              <a:t>cm)</a:t>
            </a:r>
            <a:endParaRPr lang="ja-JP" altLang="ja-JP" sz="1000" kern="100" dirty="0">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95" name="フリーフォーム 149">
            <a:extLst>
              <a:ext uri="{FF2B5EF4-FFF2-40B4-BE49-F238E27FC236}">
                <a16:creationId xmlns:a16="http://schemas.microsoft.com/office/drawing/2014/main" id="{A658F9AA-987A-4AE5-9965-AC809EF38442}"/>
              </a:ext>
            </a:extLst>
          </p:cNvPr>
          <p:cNvSpPr>
            <a:spLocks/>
          </p:cNvSpPr>
          <p:nvPr/>
        </p:nvSpPr>
        <p:spPr bwMode="auto">
          <a:xfrm>
            <a:off x="6868726" y="3613578"/>
            <a:ext cx="1161415" cy="219075"/>
          </a:xfrm>
          <a:custGeom>
            <a:avLst/>
            <a:gdLst>
              <a:gd name="T0" fmla="*/ 149 w 1829"/>
              <a:gd name="T1" fmla="*/ 0 h 345"/>
              <a:gd name="T2" fmla="*/ 430 w 1829"/>
              <a:gd name="T3" fmla="*/ 0 h 345"/>
              <a:gd name="T4" fmla="*/ 430 w 1829"/>
              <a:gd name="T5" fmla="*/ 0 h 345"/>
              <a:gd name="T6" fmla="*/ 849 w 1829"/>
              <a:gd name="T7" fmla="*/ 0 h 345"/>
              <a:gd name="T8" fmla="*/ 1829 w 1829"/>
              <a:gd name="T9" fmla="*/ 0 h 345"/>
              <a:gd name="T10" fmla="*/ 1829 w 1829"/>
              <a:gd name="T11" fmla="*/ 201 h 345"/>
              <a:gd name="T12" fmla="*/ 1829 w 1829"/>
              <a:gd name="T13" fmla="*/ 201 h 345"/>
              <a:gd name="T14" fmla="*/ 1829 w 1829"/>
              <a:gd name="T15" fmla="*/ 288 h 345"/>
              <a:gd name="T16" fmla="*/ 1829 w 1829"/>
              <a:gd name="T17" fmla="*/ 345 h 345"/>
              <a:gd name="T18" fmla="*/ 849 w 1829"/>
              <a:gd name="T19" fmla="*/ 345 h 345"/>
              <a:gd name="T20" fmla="*/ 430 w 1829"/>
              <a:gd name="T21" fmla="*/ 345 h 345"/>
              <a:gd name="T22" fmla="*/ 430 w 1829"/>
              <a:gd name="T23" fmla="*/ 345 h 345"/>
              <a:gd name="T24" fmla="*/ 149 w 1829"/>
              <a:gd name="T25" fmla="*/ 345 h 345"/>
              <a:gd name="T26" fmla="*/ 149 w 1829"/>
              <a:gd name="T27" fmla="*/ 288 h 345"/>
              <a:gd name="T28" fmla="*/ 0 w 1829"/>
              <a:gd name="T29" fmla="*/ 262 h 345"/>
              <a:gd name="T30" fmla="*/ 149 w 1829"/>
              <a:gd name="T31" fmla="*/ 201 h 345"/>
              <a:gd name="T32" fmla="*/ 149 w 1829"/>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29" h="345">
                <a:moveTo>
                  <a:pt x="149" y="0"/>
                </a:moveTo>
                <a:lnTo>
                  <a:pt x="430" y="0"/>
                </a:lnTo>
                <a:lnTo>
                  <a:pt x="430" y="0"/>
                </a:lnTo>
                <a:lnTo>
                  <a:pt x="849" y="0"/>
                </a:lnTo>
                <a:lnTo>
                  <a:pt x="1829" y="0"/>
                </a:lnTo>
                <a:lnTo>
                  <a:pt x="1829" y="201"/>
                </a:lnTo>
                <a:lnTo>
                  <a:pt x="1829" y="201"/>
                </a:lnTo>
                <a:lnTo>
                  <a:pt x="1829" y="288"/>
                </a:lnTo>
                <a:lnTo>
                  <a:pt x="1829" y="345"/>
                </a:lnTo>
                <a:lnTo>
                  <a:pt x="849" y="345"/>
                </a:lnTo>
                <a:lnTo>
                  <a:pt x="430" y="345"/>
                </a:lnTo>
                <a:lnTo>
                  <a:pt x="430" y="345"/>
                </a:lnTo>
                <a:lnTo>
                  <a:pt x="149" y="345"/>
                </a:lnTo>
                <a:lnTo>
                  <a:pt x="149" y="288"/>
                </a:lnTo>
                <a:lnTo>
                  <a:pt x="0" y="262"/>
                </a:lnTo>
                <a:lnTo>
                  <a:pt x="149" y="201"/>
                </a:lnTo>
                <a:lnTo>
                  <a:pt x="14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algn="r"/>
            <a:r>
              <a:rPr lang="ja-JP" altLang="ja-JP" sz="1000" kern="0" dirty="0">
                <a:solidFill>
                  <a:srgbClr val="000000"/>
                </a:solidFill>
                <a:latin typeface="游ゴシック" panose="020B0400000000000000" pitchFamily="50" charset="-128"/>
                <a:ea typeface="游ゴシック" panose="020B0400000000000000" pitchFamily="50" charset="-128"/>
                <a:cs typeface="HG丸ｺﾞｼｯｸM-PRO" panose="020F0600000000000000" pitchFamily="50" charset="-128"/>
              </a:rPr>
              <a:t>屋根：浸水なし</a:t>
            </a:r>
            <a:endParaRPr lang="ja-JP" altLang="ja-JP" sz="1000" kern="100" dirty="0">
              <a:latin typeface="游ゴシック" panose="020B0400000000000000" pitchFamily="50" charset="-128"/>
              <a:ea typeface="游ゴシック" panose="020B0400000000000000" pitchFamily="50" charset="-128"/>
              <a:cs typeface="Times New Roman" panose="02020603050405020304" pitchFamily="18" charset="0"/>
            </a:endParaRPr>
          </a:p>
        </p:txBody>
      </p:sp>
      <p:sp>
        <p:nvSpPr>
          <p:cNvPr id="96" name="フリーフォーム 150">
            <a:extLst>
              <a:ext uri="{FF2B5EF4-FFF2-40B4-BE49-F238E27FC236}">
                <a16:creationId xmlns:a16="http://schemas.microsoft.com/office/drawing/2014/main" id="{031E4FB1-CAA3-4F06-A5D6-459E6128F464}"/>
              </a:ext>
            </a:extLst>
          </p:cNvPr>
          <p:cNvSpPr>
            <a:spLocks/>
          </p:cNvSpPr>
          <p:nvPr/>
        </p:nvSpPr>
        <p:spPr bwMode="auto">
          <a:xfrm>
            <a:off x="6868726" y="3613578"/>
            <a:ext cx="1161415" cy="219075"/>
          </a:xfrm>
          <a:custGeom>
            <a:avLst/>
            <a:gdLst>
              <a:gd name="T0" fmla="*/ 149 w 1829"/>
              <a:gd name="T1" fmla="*/ 0 h 345"/>
              <a:gd name="T2" fmla="*/ 430 w 1829"/>
              <a:gd name="T3" fmla="*/ 0 h 345"/>
              <a:gd name="T4" fmla="*/ 430 w 1829"/>
              <a:gd name="T5" fmla="*/ 0 h 345"/>
              <a:gd name="T6" fmla="*/ 849 w 1829"/>
              <a:gd name="T7" fmla="*/ 0 h 345"/>
              <a:gd name="T8" fmla="*/ 1829 w 1829"/>
              <a:gd name="T9" fmla="*/ 0 h 345"/>
              <a:gd name="T10" fmla="*/ 1829 w 1829"/>
              <a:gd name="T11" fmla="*/ 201 h 345"/>
              <a:gd name="T12" fmla="*/ 1829 w 1829"/>
              <a:gd name="T13" fmla="*/ 201 h 345"/>
              <a:gd name="T14" fmla="*/ 1829 w 1829"/>
              <a:gd name="T15" fmla="*/ 288 h 345"/>
              <a:gd name="T16" fmla="*/ 1829 w 1829"/>
              <a:gd name="T17" fmla="*/ 345 h 345"/>
              <a:gd name="T18" fmla="*/ 849 w 1829"/>
              <a:gd name="T19" fmla="*/ 345 h 345"/>
              <a:gd name="T20" fmla="*/ 430 w 1829"/>
              <a:gd name="T21" fmla="*/ 345 h 345"/>
              <a:gd name="T22" fmla="*/ 430 w 1829"/>
              <a:gd name="T23" fmla="*/ 345 h 345"/>
              <a:gd name="T24" fmla="*/ 149 w 1829"/>
              <a:gd name="T25" fmla="*/ 345 h 345"/>
              <a:gd name="T26" fmla="*/ 149 w 1829"/>
              <a:gd name="T27" fmla="*/ 288 h 345"/>
              <a:gd name="T28" fmla="*/ 0 w 1829"/>
              <a:gd name="T29" fmla="*/ 262 h 345"/>
              <a:gd name="T30" fmla="*/ 149 w 1829"/>
              <a:gd name="T31" fmla="*/ 201 h 345"/>
              <a:gd name="T32" fmla="*/ 149 w 1829"/>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29" h="345">
                <a:moveTo>
                  <a:pt x="149" y="0"/>
                </a:moveTo>
                <a:lnTo>
                  <a:pt x="430" y="0"/>
                </a:lnTo>
                <a:lnTo>
                  <a:pt x="430" y="0"/>
                </a:lnTo>
                <a:lnTo>
                  <a:pt x="849" y="0"/>
                </a:lnTo>
                <a:lnTo>
                  <a:pt x="1829" y="0"/>
                </a:lnTo>
                <a:lnTo>
                  <a:pt x="1829" y="201"/>
                </a:lnTo>
                <a:lnTo>
                  <a:pt x="1829" y="201"/>
                </a:lnTo>
                <a:lnTo>
                  <a:pt x="1829" y="288"/>
                </a:lnTo>
                <a:lnTo>
                  <a:pt x="1829" y="345"/>
                </a:lnTo>
                <a:lnTo>
                  <a:pt x="849" y="345"/>
                </a:lnTo>
                <a:lnTo>
                  <a:pt x="430" y="345"/>
                </a:lnTo>
                <a:lnTo>
                  <a:pt x="430" y="345"/>
                </a:lnTo>
                <a:lnTo>
                  <a:pt x="149" y="345"/>
                </a:lnTo>
                <a:lnTo>
                  <a:pt x="149" y="288"/>
                </a:lnTo>
                <a:lnTo>
                  <a:pt x="0" y="262"/>
                </a:lnTo>
                <a:lnTo>
                  <a:pt x="149" y="201"/>
                </a:lnTo>
                <a:lnTo>
                  <a:pt x="149" y="0"/>
                </a:lnTo>
                <a:close/>
              </a:path>
            </a:pathLst>
          </a:custGeom>
          <a:noFill/>
          <a:ln w="24765" cap="flat">
            <a:solidFill>
              <a:srgbClr val="4BACC6"/>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ja-JP" altLang="en-US" sz="1000">
              <a:latin typeface="游ゴシック" panose="020B0400000000000000" pitchFamily="50" charset="-128"/>
              <a:ea typeface="游ゴシック" panose="020B0400000000000000" pitchFamily="50" charset="-128"/>
            </a:endParaRPr>
          </a:p>
        </p:txBody>
      </p:sp>
      <p:sp>
        <p:nvSpPr>
          <p:cNvPr id="97" name="Rectangle 2" descr="横線">
            <a:extLst>
              <a:ext uri="{FF2B5EF4-FFF2-40B4-BE49-F238E27FC236}">
                <a16:creationId xmlns:a16="http://schemas.microsoft.com/office/drawing/2014/main" id="{ED990B01-DFCF-4D4C-9BEF-EE25C2F9AD1A}"/>
              </a:ext>
            </a:extLst>
          </p:cNvPr>
          <p:cNvSpPr>
            <a:spLocks noChangeArrowheads="1"/>
          </p:cNvSpPr>
          <p:nvPr/>
        </p:nvSpPr>
        <p:spPr bwMode="auto">
          <a:xfrm>
            <a:off x="3964588" y="4226644"/>
            <a:ext cx="552450" cy="255587"/>
          </a:xfrm>
          <a:prstGeom prst="rect">
            <a:avLst/>
          </a:prstGeom>
          <a:pattFill prst="ltHorz">
            <a:fgClr>
              <a:srgbClr val="00B0F0"/>
            </a:fgClr>
            <a:bgClr>
              <a:srgbClr val="FFFFFF"/>
            </a:bgClr>
          </a:pattFill>
          <a:ln>
            <a:noFill/>
          </a:ln>
        </p:spPr>
        <p:txBody>
          <a:bodyPr vert="horz" wrap="square" lIns="91440" tIns="45720" rIns="91440" bIns="45720" numCol="1" anchor="t" anchorCtr="0" compatLnSpc="1">
            <a:prstTxWarp prst="textNoShape">
              <a:avLst/>
            </a:prstTxWarp>
          </a:bodyPr>
          <a:lstStyle/>
          <a:p>
            <a:endParaRPr lang="ja-JP" altLang="en-US" dirty="0">
              <a:latin typeface="游ゴシック" panose="020B0400000000000000" pitchFamily="50" charset="-128"/>
            </a:endParaRPr>
          </a:p>
        </p:txBody>
      </p:sp>
      <p:sp>
        <p:nvSpPr>
          <p:cNvPr id="98" name="Rectangle 3">
            <a:extLst>
              <a:ext uri="{FF2B5EF4-FFF2-40B4-BE49-F238E27FC236}">
                <a16:creationId xmlns:a16="http://schemas.microsoft.com/office/drawing/2014/main" id="{EEBCCF46-9CDD-4A6F-97F9-8E128CF135DF}"/>
              </a:ext>
            </a:extLst>
          </p:cNvPr>
          <p:cNvSpPr>
            <a:spLocks noChangeArrowheads="1"/>
          </p:cNvSpPr>
          <p:nvPr/>
        </p:nvSpPr>
        <p:spPr bwMode="auto">
          <a:xfrm>
            <a:off x="3964588" y="4226644"/>
            <a:ext cx="552450" cy="255587"/>
          </a:xfrm>
          <a:prstGeom prst="rect">
            <a:avLst/>
          </a:prstGeom>
          <a:noFill/>
          <a:ln w="889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dirty="0">
              <a:latin typeface="游ゴシック" panose="020B0400000000000000" pitchFamily="50" charset="-128"/>
            </a:endParaRPr>
          </a:p>
        </p:txBody>
      </p:sp>
      <p:grpSp>
        <p:nvGrpSpPr>
          <p:cNvPr id="99" name="グループ化 98">
            <a:extLst>
              <a:ext uri="{FF2B5EF4-FFF2-40B4-BE49-F238E27FC236}">
                <a16:creationId xmlns:a16="http://schemas.microsoft.com/office/drawing/2014/main" id="{C4962BB5-CC78-4A2B-9BA8-CA309D08F08B}"/>
              </a:ext>
            </a:extLst>
          </p:cNvPr>
          <p:cNvGrpSpPr/>
          <p:nvPr/>
        </p:nvGrpSpPr>
        <p:grpSpPr>
          <a:xfrm>
            <a:off x="360000" y="370800"/>
            <a:ext cx="720000" cy="672000"/>
            <a:chOff x="360000" y="370800"/>
            <a:chExt cx="720000" cy="672000"/>
          </a:xfrm>
        </p:grpSpPr>
        <p:sp>
          <p:nvSpPr>
            <p:cNvPr id="100" name="正方形/長方形 99">
              <a:extLst>
                <a:ext uri="{FF2B5EF4-FFF2-40B4-BE49-F238E27FC236}">
                  <a16:creationId xmlns:a16="http://schemas.microsoft.com/office/drawing/2014/main" id="{D23E5E7E-3B88-4DCE-9EFB-C61F6134BFFF}"/>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01" name="テキスト ボックス 100">
              <a:extLst>
                <a:ext uri="{FF2B5EF4-FFF2-40B4-BE49-F238E27FC236}">
                  <a16:creationId xmlns:a16="http://schemas.microsoft.com/office/drawing/2014/main" id="{ECE88D5E-586C-4C0B-83BE-B1810D069BB3}"/>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8</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36456231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a:extLst>
              <a:ext uri="{FF2B5EF4-FFF2-40B4-BE49-F238E27FC236}">
                <a16:creationId xmlns:a16="http://schemas.microsoft.com/office/drawing/2014/main" id="{21DCCF39-1120-4A4D-95F5-A107DDEED197}"/>
              </a:ext>
            </a:extLst>
          </p:cNvPr>
          <p:cNvGrpSpPr/>
          <p:nvPr/>
        </p:nvGrpSpPr>
        <p:grpSpPr>
          <a:xfrm>
            <a:off x="360000" y="370800"/>
            <a:ext cx="720000" cy="672000"/>
            <a:chOff x="360000" y="370800"/>
            <a:chExt cx="720000" cy="672000"/>
          </a:xfrm>
        </p:grpSpPr>
        <p:sp>
          <p:nvSpPr>
            <p:cNvPr id="4" name="正方形/長方形 3">
              <a:extLst>
                <a:ext uri="{FF2B5EF4-FFF2-40B4-BE49-F238E27FC236}">
                  <a16:creationId xmlns:a16="http://schemas.microsoft.com/office/drawing/2014/main" id="{87BED610-7563-4B8A-A3EE-FECB879960E0}"/>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5" name="テキスト ボックス 4">
              <a:extLst>
                <a:ext uri="{FF2B5EF4-FFF2-40B4-BE49-F238E27FC236}">
                  <a16:creationId xmlns:a16="http://schemas.microsoft.com/office/drawing/2014/main" id="{251134CA-8021-40EB-BD07-B795A9867865}"/>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8</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
        <p:nvSpPr>
          <p:cNvPr id="6" name="テキスト ボックス 5">
            <a:extLst>
              <a:ext uri="{FF2B5EF4-FFF2-40B4-BE49-F238E27FC236}">
                <a16:creationId xmlns:a16="http://schemas.microsoft.com/office/drawing/2014/main" id="{3F9BD6B1-9720-460E-A986-D9BB50EB5E4B}"/>
              </a:ext>
            </a:extLst>
          </p:cNvPr>
          <p:cNvSpPr txBox="1">
            <a:spLocks noChangeArrowheads="1"/>
          </p:cNvSpPr>
          <p:nvPr/>
        </p:nvSpPr>
        <p:spPr bwMode="auto">
          <a:xfrm>
            <a:off x="360001" y="1202661"/>
            <a:ext cx="9201512" cy="479853"/>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defRPr/>
            </a:pPr>
            <a:r>
              <a:rPr lang="ja-JP" altLang="en-US" sz="1400" dirty="0">
                <a:solidFill>
                  <a:prstClr val="black"/>
                </a:solidFill>
                <a:latin typeface="游ゴシック" panose="020B0400000000000000" pitchFamily="50" charset="-128"/>
                <a:ea typeface="游ゴシック" panose="020B0400000000000000" pitchFamily="50" charset="-128"/>
              </a:rPr>
              <a:t>建物の被害は、各階の浸水率（階高に対する浸水深の割合）と被害の大きさの関係を表す被害関数によって算出します。建物の被害率は、作成した被害関数と各階の浸水率を照らし合わせて算出します。</a:t>
            </a:r>
          </a:p>
        </p:txBody>
      </p:sp>
      <p:sp>
        <p:nvSpPr>
          <p:cNvPr id="7" name="テキスト ボックス 6">
            <a:extLst>
              <a:ext uri="{FF2B5EF4-FFF2-40B4-BE49-F238E27FC236}">
                <a16:creationId xmlns:a16="http://schemas.microsoft.com/office/drawing/2014/main" id="{666D6C7C-9C20-48DC-9CF7-76C89247C9BF}"/>
              </a:ext>
            </a:extLst>
          </p:cNvPr>
          <p:cNvSpPr txBox="1"/>
          <p:nvPr/>
        </p:nvSpPr>
        <p:spPr>
          <a:xfrm>
            <a:off x="1291335" y="370800"/>
            <a:ext cx="8270177"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被害想定額算出手法｜③被害算定 </a:t>
            </a:r>
            <a:r>
              <a:rPr lang="en-US" altLang="ja-JP" sz="2400" dirty="0">
                <a:latin typeface="游ゴシック" panose="020B0400000000000000" pitchFamily="50" charset="-128"/>
                <a:ea typeface="游ゴシック" panose="020B0400000000000000" pitchFamily="50" charset="-128"/>
              </a:rPr>
              <a:t>– </a:t>
            </a:r>
            <a:r>
              <a:rPr lang="ja-JP" altLang="en-US" sz="2400" dirty="0">
                <a:latin typeface="游ゴシック" panose="020B0400000000000000" pitchFamily="50" charset="-128"/>
                <a:ea typeface="游ゴシック" panose="020B0400000000000000" pitchFamily="50" charset="-128"/>
              </a:rPr>
              <a:t>建物 </a:t>
            </a:r>
            <a:r>
              <a:rPr lang="en-US" altLang="ja-JP" sz="2400" dirty="0">
                <a:latin typeface="游ゴシック" panose="020B0400000000000000" pitchFamily="50" charset="-128"/>
                <a:ea typeface="游ゴシック" panose="020B0400000000000000" pitchFamily="50" charset="-128"/>
              </a:rPr>
              <a:t>-</a:t>
            </a:r>
            <a:endParaRPr lang="ja-JP" altLang="en-US" sz="2400" dirty="0">
              <a:latin typeface="游ゴシック" panose="020B0400000000000000" pitchFamily="50" charset="-128"/>
              <a:ea typeface="游ゴシック" panose="020B0400000000000000" pitchFamily="50" charset="-128"/>
            </a:endParaRPr>
          </a:p>
        </p:txBody>
      </p:sp>
      <p:pic>
        <p:nvPicPr>
          <p:cNvPr id="8" name="図 7">
            <a:extLst>
              <a:ext uri="{FF2B5EF4-FFF2-40B4-BE49-F238E27FC236}">
                <a16:creationId xmlns:a16="http://schemas.microsoft.com/office/drawing/2014/main" id="{8D9B6132-C4CA-4334-B779-B16912EE0701}"/>
              </a:ext>
            </a:extLst>
          </p:cNvPr>
          <p:cNvPicPr>
            <a:picLocks noChangeAspect="1"/>
          </p:cNvPicPr>
          <p:nvPr/>
        </p:nvPicPr>
        <p:blipFill>
          <a:blip r:embed="rId2"/>
          <a:stretch>
            <a:fillRect/>
          </a:stretch>
        </p:blipFill>
        <p:spPr>
          <a:xfrm>
            <a:off x="290330" y="2108376"/>
            <a:ext cx="2350415" cy="3201216"/>
          </a:xfrm>
          <a:prstGeom prst="rect">
            <a:avLst/>
          </a:prstGeom>
        </p:spPr>
      </p:pic>
      <p:sp>
        <p:nvSpPr>
          <p:cNvPr id="9" name="Rectangle 2">
            <a:extLst>
              <a:ext uri="{FF2B5EF4-FFF2-40B4-BE49-F238E27FC236}">
                <a16:creationId xmlns:a16="http://schemas.microsoft.com/office/drawing/2014/main" id="{8429BB0C-635B-4628-A64E-810AB6F0C262}"/>
              </a:ext>
            </a:extLst>
          </p:cNvPr>
          <p:cNvSpPr>
            <a:spLocks noChangeArrowheads="1"/>
          </p:cNvSpPr>
          <p:nvPr/>
        </p:nvSpPr>
        <p:spPr bwMode="auto">
          <a:xfrm>
            <a:off x="5318760" y="1807722"/>
            <a:ext cx="4290560" cy="1415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76176"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kumimoji="0" lang="ja-JP" altLang="en-US" sz="1400" dirty="0">
                <a:latin typeface="游ゴシック" panose="020B0400000000000000" pitchFamily="50" charset="-128"/>
                <a:ea typeface="游ゴシック" panose="020B0400000000000000" pitchFamily="50" charset="-128"/>
                <a:cs typeface="ＭＳ Ｐゴシック" panose="020B0600070205080204" pitchFamily="50" charset="-128"/>
              </a:rPr>
              <a:t>被害関数は、構造種別・用途に応じてあらかじめ算出しています。被害関数の作成にあたっては、過去の水災による被害事例を参考に、一般的なモデル建物における建物の構成要素（躯体、内外装、付帯設備など）ごとに被害想定を行い、モデル建物全体で積算しました。</a:t>
            </a:r>
            <a:endParaRPr kumimoji="0" lang="ja-JP"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p:txBody>
      </p:sp>
      <p:sp>
        <p:nvSpPr>
          <p:cNvPr id="10" name="テキスト ボックス 81">
            <a:extLst>
              <a:ext uri="{FF2B5EF4-FFF2-40B4-BE49-F238E27FC236}">
                <a16:creationId xmlns:a16="http://schemas.microsoft.com/office/drawing/2014/main" id="{F004A230-4D7B-44FD-ADD1-FAF1704CA67A}"/>
              </a:ext>
            </a:extLst>
          </p:cNvPr>
          <p:cNvSpPr txBox="1">
            <a:spLocks noChangeArrowheads="1"/>
          </p:cNvSpPr>
          <p:nvPr/>
        </p:nvSpPr>
        <p:spPr bwMode="auto">
          <a:xfrm>
            <a:off x="2959363" y="5254964"/>
            <a:ext cx="1995338" cy="42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en-US" sz="10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rPr>
              <a:t>モデル建物の被害率設定例</a:t>
            </a:r>
          </a:p>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en-US" sz="10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rPr>
              <a:t>（木造２階建住宅）</a:t>
            </a:r>
            <a:endParaRPr kumimoji="0" lang="ja-JP" altLang="ja-JP" sz="18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p:txBody>
      </p:sp>
      <p:sp>
        <p:nvSpPr>
          <p:cNvPr id="11" name="テキスト ボックス 112641">
            <a:extLst>
              <a:ext uri="{FF2B5EF4-FFF2-40B4-BE49-F238E27FC236}">
                <a16:creationId xmlns:a16="http://schemas.microsoft.com/office/drawing/2014/main" id="{4B92A272-0229-4F27-A62E-32FF59A9BFC3}"/>
              </a:ext>
            </a:extLst>
          </p:cNvPr>
          <p:cNvSpPr txBox="1">
            <a:spLocks noChangeArrowheads="1"/>
          </p:cNvSpPr>
          <p:nvPr/>
        </p:nvSpPr>
        <p:spPr bwMode="auto">
          <a:xfrm>
            <a:off x="522661" y="5320518"/>
            <a:ext cx="1995338" cy="240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en-US" sz="10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rPr>
              <a:t>被害関数の算出フロー</a:t>
            </a:r>
            <a:endParaRPr kumimoji="0" lang="ja-JP" altLang="ja-JP" sz="18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endParaRPr>
          </a:p>
        </p:txBody>
      </p:sp>
      <p:sp>
        <p:nvSpPr>
          <p:cNvPr id="12" name="正方形/長方形 11">
            <a:extLst>
              <a:ext uri="{FF2B5EF4-FFF2-40B4-BE49-F238E27FC236}">
                <a16:creationId xmlns:a16="http://schemas.microsoft.com/office/drawing/2014/main" id="{BBCA6ED9-269E-4524-8000-F9761316D151}"/>
              </a:ext>
            </a:extLst>
          </p:cNvPr>
          <p:cNvSpPr/>
          <p:nvPr/>
        </p:nvSpPr>
        <p:spPr>
          <a:xfrm>
            <a:off x="304122" y="5697452"/>
            <a:ext cx="4829697" cy="261610"/>
          </a:xfrm>
          <a:prstGeom prst="rect">
            <a:avLst/>
          </a:prstGeom>
        </p:spPr>
        <p:txBody>
          <a:bodyPr wrap="square">
            <a:spAutoFit/>
          </a:bodyPr>
          <a:lstStyle/>
          <a:p>
            <a:pPr indent="127000" algn="ctr">
              <a:spcAft>
                <a:spcPts val="0"/>
              </a:spcAft>
            </a:pPr>
            <a:r>
              <a:rPr lang="en-US" altLang="ja-JP" sz="1100" spc="-25" dirty="0">
                <a:latin typeface="游ゴシック" panose="020B0400000000000000" pitchFamily="50" charset="-128"/>
                <a:ea typeface="游ゴシック" panose="020B0400000000000000" pitchFamily="50" charset="-128"/>
              </a:rPr>
              <a:t> </a:t>
            </a:r>
            <a:r>
              <a:rPr lang="ja-JP" altLang="ja-JP" sz="1100" spc="-25" dirty="0">
                <a:latin typeface="游ゴシック" panose="020B0400000000000000" pitchFamily="50" charset="-128"/>
                <a:ea typeface="游ゴシック" panose="020B0400000000000000" pitchFamily="50" charset="-128"/>
              </a:rPr>
              <a:t>図：被害関数の設定イメージ</a:t>
            </a:r>
            <a:endParaRPr lang="ja-JP" altLang="ja-JP" sz="1100" dirty="0">
              <a:effectLst/>
              <a:latin typeface="游ゴシック" panose="020B0400000000000000" pitchFamily="50" charset="-128"/>
              <a:ea typeface="游ゴシック" panose="020B0400000000000000" pitchFamily="50" charset="-128"/>
            </a:endParaRPr>
          </a:p>
        </p:txBody>
      </p:sp>
      <p:sp>
        <p:nvSpPr>
          <p:cNvPr id="13" name="正方形/長方形 12">
            <a:extLst>
              <a:ext uri="{FF2B5EF4-FFF2-40B4-BE49-F238E27FC236}">
                <a16:creationId xmlns:a16="http://schemas.microsoft.com/office/drawing/2014/main" id="{F4EEEA37-BE6C-43A3-BE2E-253AC7A0C64E}"/>
              </a:ext>
            </a:extLst>
          </p:cNvPr>
          <p:cNvSpPr/>
          <p:nvPr/>
        </p:nvSpPr>
        <p:spPr>
          <a:xfrm>
            <a:off x="6516192" y="6085038"/>
            <a:ext cx="1701107" cy="261610"/>
          </a:xfrm>
          <a:prstGeom prst="rect">
            <a:avLst/>
          </a:prstGeom>
        </p:spPr>
        <p:txBody>
          <a:bodyPr wrap="none">
            <a:spAutoFit/>
          </a:bodyPr>
          <a:lstStyle/>
          <a:p>
            <a:r>
              <a:rPr lang="ja-JP" altLang="ja-JP" sz="1100" spc="-25" dirty="0">
                <a:latin typeface="游ゴシック" panose="020B0400000000000000" pitchFamily="50" charset="-128"/>
                <a:ea typeface="游ゴシック" panose="020B0400000000000000" pitchFamily="50" charset="-128"/>
                <a:cs typeface="Segoe UI" panose="020B0502040204020203" pitchFamily="34" charset="0"/>
              </a:rPr>
              <a:t>図：建物各階の被害関数</a:t>
            </a:r>
            <a:endParaRPr lang="ja-JP" altLang="en-US" sz="1100" dirty="0">
              <a:latin typeface="游ゴシック" panose="020B0400000000000000" pitchFamily="50" charset="-128"/>
              <a:ea typeface="游ゴシック" panose="020B0400000000000000" pitchFamily="50" charset="-128"/>
            </a:endParaRPr>
          </a:p>
        </p:txBody>
      </p:sp>
      <p:pic>
        <p:nvPicPr>
          <p:cNvPr id="14" name="図 13">
            <a:extLst>
              <a:ext uri="{FF2B5EF4-FFF2-40B4-BE49-F238E27FC236}">
                <a16:creationId xmlns:a16="http://schemas.microsoft.com/office/drawing/2014/main" id="{2014C189-85D1-4D4E-8E44-04AE70082D5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78930" y="3734825"/>
            <a:ext cx="3690377" cy="2330764"/>
          </a:xfrm>
          <a:prstGeom prst="rect">
            <a:avLst/>
          </a:prstGeom>
        </p:spPr>
      </p:pic>
      <p:sp>
        <p:nvSpPr>
          <p:cNvPr id="15" name="下矢印吹き出し 307">
            <a:extLst>
              <a:ext uri="{FF2B5EF4-FFF2-40B4-BE49-F238E27FC236}">
                <a16:creationId xmlns:a16="http://schemas.microsoft.com/office/drawing/2014/main" id="{6D1D560C-5095-4CC4-BF49-31A8487EEA39}"/>
              </a:ext>
            </a:extLst>
          </p:cNvPr>
          <p:cNvSpPr>
            <a:spLocks noChangeArrowheads="1"/>
          </p:cNvSpPr>
          <p:nvPr/>
        </p:nvSpPr>
        <p:spPr bwMode="auto">
          <a:xfrm>
            <a:off x="5737817" y="3349435"/>
            <a:ext cx="736600" cy="450850"/>
          </a:xfrm>
          <a:prstGeom prst="downArrowCallout">
            <a:avLst>
              <a:gd name="adj1" fmla="val 25021"/>
              <a:gd name="adj2" fmla="val 25021"/>
              <a:gd name="adj3" fmla="val 25000"/>
              <a:gd name="adj4" fmla="val 64977"/>
            </a:avLst>
          </a:prstGeom>
          <a:gradFill rotWithShape="1">
            <a:gsLst>
              <a:gs pos="0">
                <a:srgbClr val="9EEAFF"/>
              </a:gs>
              <a:gs pos="35001">
                <a:srgbClr val="BBEFFF"/>
              </a:gs>
              <a:gs pos="100000">
                <a:srgbClr val="E4F9FF"/>
              </a:gs>
            </a:gsLst>
            <a:lin ang="16200000" scaled="1"/>
          </a:gradFill>
          <a:ln w="9525" algn="ctr">
            <a:solidFill>
              <a:srgbClr val="46AAC5"/>
            </a:solidFill>
            <a:miter lim="800000"/>
            <a:headEnd/>
            <a:tailEnd/>
          </a:ln>
          <a:effectLst>
            <a:outerShdw blurRad="40000" dist="20000" dir="5400000" rotWithShape="0">
              <a:srgbClr val="000000">
                <a:alpha val="37999"/>
              </a:srgbClr>
            </a:outerShdw>
          </a:effec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en-US" sz="10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rPr>
              <a:t>床上浸水</a:t>
            </a:r>
            <a:endParaRPr kumimoji="0" lang="ja-JP" altLang="ja-JP" sz="18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endParaRPr>
          </a:p>
        </p:txBody>
      </p:sp>
      <p:sp>
        <p:nvSpPr>
          <p:cNvPr id="16" name="下矢印吹き出し 112640">
            <a:extLst>
              <a:ext uri="{FF2B5EF4-FFF2-40B4-BE49-F238E27FC236}">
                <a16:creationId xmlns:a16="http://schemas.microsoft.com/office/drawing/2014/main" id="{E41EB9D2-8A91-4E10-9907-23DDAD42B149}"/>
              </a:ext>
            </a:extLst>
          </p:cNvPr>
          <p:cNvSpPr>
            <a:spLocks noChangeArrowheads="1"/>
          </p:cNvSpPr>
          <p:nvPr/>
        </p:nvSpPr>
        <p:spPr bwMode="auto">
          <a:xfrm>
            <a:off x="8539163" y="3349435"/>
            <a:ext cx="735012" cy="450850"/>
          </a:xfrm>
          <a:prstGeom prst="downArrowCallout">
            <a:avLst>
              <a:gd name="adj1" fmla="val 24967"/>
              <a:gd name="adj2" fmla="val 24967"/>
              <a:gd name="adj3" fmla="val 25000"/>
              <a:gd name="adj4" fmla="val 64977"/>
            </a:avLst>
          </a:prstGeom>
          <a:gradFill rotWithShape="1">
            <a:gsLst>
              <a:gs pos="0">
                <a:srgbClr val="A3C4FF"/>
              </a:gs>
              <a:gs pos="35001">
                <a:srgbClr val="BFD5FF"/>
              </a:gs>
              <a:gs pos="100000">
                <a:srgbClr val="E5EEFF"/>
              </a:gs>
            </a:gsLst>
            <a:lin ang="16200000" scaled="1"/>
          </a:gradFill>
          <a:ln w="9525" algn="ctr">
            <a:solidFill>
              <a:srgbClr val="4A7EBB"/>
            </a:solidFill>
            <a:miter lim="800000"/>
            <a:headEnd/>
            <a:tailEnd/>
          </a:ln>
          <a:effectLst>
            <a:outerShdw blurRad="40000" dist="20000" dir="5400000" rotWithShape="0">
              <a:srgbClr val="000000">
                <a:alpha val="37999"/>
              </a:srgbClr>
            </a:outerShdw>
          </a:effec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en-US" sz="10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rPr>
              <a:t>水没</a:t>
            </a:r>
            <a:endParaRPr kumimoji="0" lang="ja-JP" altLang="ja-JP" sz="18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endParaRPr>
          </a:p>
        </p:txBody>
      </p:sp>
      <p:pic>
        <p:nvPicPr>
          <p:cNvPr id="17" name="図 16">
            <a:extLst>
              <a:ext uri="{FF2B5EF4-FFF2-40B4-BE49-F238E27FC236}">
                <a16:creationId xmlns:a16="http://schemas.microsoft.com/office/drawing/2014/main" id="{20A83AA3-DE8D-42B5-9467-42C2579E94C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72680" y="2311161"/>
            <a:ext cx="2444592" cy="2875393"/>
          </a:xfrm>
          <a:prstGeom prst="rect">
            <a:avLst/>
          </a:prstGeom>
        </p:spPr>
      </p:pic>
      <p:sp>
        <p:nvSpPr>
          <p:cNvPr id="18" name="スライド番号プレースホルダー 5">
            <a:extLst>
              <a:ext uri="{FF2B5EF4-FFF2-40B4-BE49-F238E27FC236}">
                <a16:creationId xmlns:a16="http://schemas.microsoft.com/office/drawing/2014/main" id="{A97B9333-ACAB-4BF4-8293-182CC0BEEC32}"/>
              </a:ext>
            </a:extLst>
          </p:cNvPr>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51</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661930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52</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11" name="テキスト ボックス 10"/>
          <p:cNvSpPr txBox="1">
            <a:spLocks noChangeArrowheads="1"/>
          </p:cNvSpPr>
          <p:nvPr/>
        </p:nvSpPr>
        <p:spPr bwMode="auto">
          <a:xfrm>
            <a:off x="360001" y="1202661"/>
            <a:ext cx="9201512" cy="720000"/>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defRPr/>
            </a:pPr>
            <a:r>
              <a:rPr lang="ja-JP" altLang="en-US" sz="1400" dirty="0">
                <a:solidFill>
                  <a:prstClr val="black"/>
                </a:solidFill>
                <a:latin typeface="游ゴシック" panose="020B0400000000000000" pitchFamily="50" charset="-128"/>
                <a:ea typeface="游ゴシック" panose="020B0400000000000000" pitchFamily="50" charset="-128"/>
              </a:rPr>
              <a:t>設備・什器、商品、材料など、建物収容物の浸水被害は、国土交通省水管理・国土保全局「治水経済調査マニュアル（案）」（令和</a:t>
            </a:r>
            <a:r>
              <a:rPr lang="en-US" altLang="ja-JP" sz="1400" dirty="0">
                <a:solidFill>
                  <a:prstClr val="black"/>
                </a:solidFill>
                <a:latin typeface="游ゴシック" panose="020B0400000000000000" pitchFamily="50" charset="-128"/>
                <a:ea typeface="游ゴシック" panose="020B0400000000000000" pitchFamily="50" charset="-128"/>
              </a:rPr>
              <a:t>2</a:t>
            </a:r>
            <a:r>
              <a:rPr lang="ja-JP" altLang="en-US" sz="1400" dirty="0">
                <a:solidFill>
                  <a:prstClr val="black"/>
                </a:solidFill>
                <a:latin typeface="游ゴシック" panose="020B0400000000000000" pitchFamily="50" charset="-128"/>
                <a:ea typeface="游ゴシック" panose="020B0400000000000000" pitchFamily="50" charset="-128"/>
              </a:rPr>
              <a:t>年</a:t>
            </a:r>
            <a:r>
              <a:rPr lang="en-US" altLang="ja-JP" sz="1400" dirty="0">
                <a:solidFill>
                  <a:prstClr val="black"/>
                </a:solidFill>
                <a:latin typeface="游ゴシック" panose="020B0400000000000000" pitchFamily="50" charset="-128"/>
                <a:ea typeface="游ゴシック" panose="020B0400000000000000" pitchFamily="50" charset="-128"/>
              </a:rPr>
              <a:t>4</a:t>
            </a:r>
            <a:r>
              <a:rPr lang="ja-JP" altLang="en-US" sz="1400" dirty="0">
                <a:solidFill>
                  <a:prstClr val="black"/>
                </a:solidFill>
                <a:latin typeface="游ゴシック" panose="020B0400000000000000" pitchFamily="50" charset="-128"/>
                <a:ea typeface="游ゴシック" panose="020B0400000000000000" pitchFamily="50" charset="-128"/>
              </a:rPr>
              <a:t>月）に記載された被害率に基づいて算出します。同マニュアルでは、過去の水災被害に基づく建物収容物の被害率が、浸水深の範囲に応じて記載されています。</a:t>
            </a:r>
          </a:p>
        </p:txBody>
      </p:sp>
      <p:sp>
        <p:nvSpPr>
          <p:cNvPr id="17" name="テキスト ボックス 16"/>
          <p:cNvSpPr txBox="1"/>
          <p:nvPr/>
        </p:nvSpPr>
        <p:spPr>
          <a:xfrm>
            <a:off x="1291335" y="370800"/>
            <a:ext cx="8270177"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被害想定額算出手法｜③被害算定 </a:t>
            </a:r>
            <a:r>
              <a:rPr lang="en-US" altLang="ja-JP" sz="2400" dirty="0">
                <a:latin typeface="游ゴシック" panose="020B0400000000000000" pitchFamily="50" charset="-128"/>
                <a:ea typeface="游ゴシック" panose="020B0400000000000000" pitchFamily="50" charset="-128"/>
              </a:rPr>
              <a:t>– </a:t>
            </a:r>
            <a:r>
              <a:rPr lang="ja-JP" altLang="en-US" sz="2400" dirty="0">
                <a:latin typeface="游ゴシック" panose="020B0400000000000000" pitchFamily="50" charset="-128"/>
                <a:ea typeface="游ゴシック" panose="020B0400000000000000" pitchFamily="50" charset="-128"/>
              </a:rPr>
              <a:t>収容物 </a:t>
            </a:r>
            <a:r>
              <a:rPr lang="en-US" altLang="ja-JP" sz="2400" dirty="0">
                <a:latin typeface="游ゴシック" panose="020B0400000000000000" pitchFamily="50" charset="-128"/>
                <a:ea typeface="游ゴシック" panose="020B0400000000000000" pitchFamily="50" charset="-128"/>
              </a:rPr>
              <a:t>-</a:t>
            </a:r>
            <a:endParaRPr lang="ja-JP" altLang="en-US" sz="2400" dirty="0">
              <a:latin typeface="游ゴシック" panose="020B0400000000000000" pitchFamily="50" charset="-128"/>
              <a:ea typeface="游ゴシック" panose="020B0400000000000000" pitchFamily="50" charset="-128"/>
            </a:endParaRPr>
          </a:p>
        </p:txBody>
      </p:sp>
      <p:sp>
        <p:nvSpPr>
          <p:cNvPr id="20" name="正方形/長方形 19">
            <a:extLst>
              <a:ext uri="{FF2B5EF4-FFF2-40B4-BE49-F238E27FC236}">
                <a16:creationId xmlns:a16="http://schemas.microsoft.com/office/drawing/2014/main" id="{28735421-E2CB-45F1-BF26-BDA8BFC2227B}"/>
              </a:ext>
            </a:extLst>
          </p:cNvPr>
          <p:cNvSpPr/>
          <p:nvPr/>
        </p:nvSpPr>
        <p:spPr>
          <a:xfrm>
            <a:off x="4204392" y="1945998"/>
            <a:ext cx="4953000" cy="261610"/>
          </a:xfrm>
          <a:prstGeom prst="rect">
            <a:avLst/>
          </a:prstGeom>
        </p:spPr>
        <p:txBody>
          <a:bodyPr>
            <a:spAutoFit/>
          </a:bodyPr>
          <a:lstStyle/>
          <a:p>
            <a:pPr indent="127000" algn="ctr">
              <a:spcAft>
                <a:spcPts val="0"/>
              </a:spcAft>
            </a:pPr>
            <a:r>
              <a:rPr lang="ja-JP" altLang="ja-JP" sz="1100" spc="-25" dirty="0">
                <a:latin typeface="游ゴシック" panose="020B0400000000000000" pitchFamily="50" charset="-128"/>
                <a:ea typeface="游ゴシック" panose="020B0400000000000000" pitchFamily="50" charset="-128"/>
              </a:rPr>
              <a:t>表：治水経済調査マニュアル（案）における収容物の被害率</a:t>
            </a:r>
            <a:endParaRPr lang="ja-JP" altLang="ja-JP" sz="1050" dirty="0">
              <a:effectLst/>
              <a:latin typeface="游ゴシック" panose="020B0400000000000000" pitchFamily="50" charset="-128"/>
              <a:ea typeface="游ゴシック" panose="020B0400000000000000" pitchFamily="50" charset="-128"/>
            </a:endParaRPr>
          </a:p>
        </p:txBody>
      </p:sp>
      <p:graphicFrame>
        <p:nvGraphicFramePr>
          <p:cNvPr id="22" name="表 21">
            <a:extLst>
              <a:ext uri="{FF2B5EF4-FFF2-40B4-BE49-F238E27FC236}">
                <a16:creationId xmlns:a16="http://schemas.microsoft.com/office/drawing/2014/main" id="{A6E6645B-B02F-4890-A03C-409D90940A42}"/>
              </a:ext>
            </a:extLst>
          </p:cNvPr>
          <p:cNvGraphicFramePr>
            <a:graphicFrameLocks noGrp="1"/>
          </p:cNvGraphicFramePr>
          <p:nvPr>
            <p:extLst>
              <p:ext uri="{D42A27DB-BD31-4B8C-83A1-F6EECF244321}">
                <p14:modId xmlns:p14="http://schemas.microsoft.com/office/powerpoint/2010/main" val="4157947885"/>
              </p:ext>
            </p:extLst>
          </p:nvPr>
        </p:nvGraphicFramePr>
        <p:xfrm>
          <a:off x="3800273" y="2232290"/>
          <a:ext cx="5761239" cy="1497721"/>
        </p:xfrm>
        <a:graphic>
          <a:graphicData uri="http://schemas.openxmlformats.org/drawingml/2006/table">
            <a:tbl>
              <a:tblPr firstRow="1" firstCol="1" bandRow="1"/>
              <a:tblGrid>
                <a:gridCol w="770853">
                  <a:extLst>
                    <a:ext uri="{9D8B030D-6E8A-4147-A177-3AD203B41FA5}">
                      <a16:colId xmlns:a16="http://schemas.microsoft.com/office/drawing/2014/main" val="1507040284"/>
                    </a:ext>
                  </a:extLst>
                </a:gridCol>
                <a:gridCol w="770853">
                  <a:extLst>
                    <a:ext uri="{9D8B030D-6E8A-4147-A177-3AD203B41FA5}">
                      <a16:colId xmlns:a16="http://schemas.microsoft.com/office/drawing/2014/main" val="570995715"/>
                    </a:ext>
                  </a:extLst>
                </a:gridCol>
                <a:gridCol w="770853">
                  <a:extLst>
                    <a:ext uri="{9D8B030D-6E8A-4147-A177-3AD203B41FA5}">
                      <a16:colId xmlns:a16="http://schemas.microsoft.com/office/drawing/2014/main" val="4068382875"/>
                    </a:ext>
                  </a:extLst>
                </a:gridCol>
                <a:gridCol w="689736">
                  <a:extLst>
                    <a:ext uri="{9D8B030D-6E8A-4147-A177-3AD203B41FA5}">
                      <a16:colId xmlns:a16="http://schemas.microsoft.com/office/drawing/2014/main" val="4016370526"/>
                    </a:ext>
                  </a:extLst>
                </a:gridCol>
                <a:gridCol w="689736">
                  <a:extLst>
                    <a:ext uri="{9D8B030D-6E8A-4147-A177-3AD203B41FA5}">
                      <a16:colId xmlns:a16="http://schemas.microsoft.com/office/drawing/2014/main" val="1374352403"/>
                    </a:ext>
                  </a:extLst>
                </a:gridCol>
                <a:gridCol w="689736">
                  <a:extLst>
                    <a:ext uri="{9D8B030D-6E8A-4147-A177-3AD203B41FA5}">
                      <a16:colId xmlns:a16="http://schemas.microsoft.com/office/drawing/2014/main" val="1037102102"/>
                    </a:ext>
                  </a:extLst>
                </a:gridCol>
                <a:gridCol w="689736">
                  <a:extLst>
                    <a:ext uri="{9D8B030D-6E8A-4147-A177-3AD203B41FA5}">
                      <a16:colId xmlns:a16="http://schemas.microsoft.com/office/drawing/2014/main" val="811532388"/>
                    </a:ext>
                  </a:extLst>
                </a:gridCol>
                <a:gridCol w="689736">
                  <a:extLst>
                    <a:ext uri="{9D8B030D-6E8A-4147-A177-3AD203B41FA5}">
                      <a16:colId xmlns:a16="http://schemas.microsoft.com/office/drawing/2014/main" val="1063314260"/>
                    </a:ext>
                  </a:extLst>
                </a:gridCol>
              </a:tblGrid>
              <a:tr h="345979">
                <a:tc rowSpan="2" gridSpan="2">
                  <a:txBody>
                    <a:bodyPr/>
                    <a:lstStyle/>
                    <a:p>
                      <a:pPr algn="ctr">
                        <a:spcAft>
                          <a:spcPts val="0"/>
                        </a:spcAft>
                      </a:pPr>
                      <a:r>
                        <a:rPr lang="ja-JP" sz="1200" spc="-25" dirty="0">
                          <a:effectLst/>
                          <a:latin typeface="游ゴシック" panose="020B0400000000000000" pitchFamily="50" charset="-128"/>
                          <a:ea typeface="游ゴシック" panose="020B0400000000000000" pitchFamily="50" charset="-128"/>
                          <a:cs typeface="Segoe UI" panose="020B0502040204020203" pitchFamily="34" charset="0"/>
                        </a:rPr>
                        <a:t>資産項目</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tc rowSpan="2" hMerge="1">
                  <a:txBody>
                    <a:bodyPr/>
                    <a:lstStyle/>
                    <a:p>
                      <a:endParaRPr kumimoji="1" lang="ja-JP" altLang="en-US"/>
                    </a:p>
                  </a:txBody>
                  <a:tcPr/>
                </a:tc>
                <a:tc rowSpan="2">
                  <a:txBody>
                    <a:bodyPr/>
                    <a:lstStyle/>
                    <a:p>
                      <a:pPr algn="ctr">
                        <a:spcAft>
                          <a:spcPts val="0"/>
                        </a:spcAft>
                      </a:pPr>
                      <a:r>
                        <a:rPr lang="ja-JP" sz="1200" spc="-25" dirty="0">
                          <a:effectLst/>
                          <a:latin typeface="游ゴシック" panose="020B0400000000000000" pitchFamily="50" charset="-128"/>
                          <a:ea typeface="游ゴシック" panose="020B0400000000000000" pitchFamily="50" charset="-128"/>
                          <a:cs typeface="Segoe UI" panose="020B0502040204020203" pitchFamily="34" charset="0"/>
                        </a:rPr>
                        <a:t>床下浸水</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tc gridSpan="5">
                  <a:txBody>
                    <a:bodyPr/>
                    <a:lstStyle/>
                    <a:p>
                      <a:pPr algn="ctr">
                        <a:spcAft>
                          <a:spcPts val="0"/>
                        </a:spcAft>
                      </a:pPr>
                      <a:r>
                        <a:rPr lang="ja-JP" sz="1200" spc="-25" dirty="0">
                          <a:effectLst/>
                          <a:latin typeface="游ゴシック" panose="020B0400000000000000" pitchFamily="50" charset="-128"/>
                          <a:ea typeface="游ゴシック" panose="020B0400000000000000" pitchFamily="50" charset="-128"/>
                          <a:cs typeface="Segoe UI" panose="020B0502040204020203" pitchFamily="34" charset="0"/>
                        </a:rPr>
                        <a:t>床上浸水深</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498488360"/>
                  </a:ext>
                </a:extLst>
              </a:tr>
              <a:tr h="441627">
                <a:tc gridSpan="2" vMerge="1">
                  <a:txBody>
                    <a:bodyPr/>
                    <a:lstStyle/>
                    <a:p>
                      <a:endParaRPr kumimoji="1" lang="ja-JP" altLang="en-US"/>
                    </a:p>
                  </a:txBody>
                  <a:tcPr/>
                </a:tc>
                <a:tc hMerge="1" vMerge="1">
                  <a:txBody>
                    <a:bodyPr/>
                    <a:lstStyle/>
                    <a:p>
                      <a:endParaRPr kumimoji="1" lang="ja-JP" altLang="en-US"/>
                    </a:p>
                  </a:txBody>
                  <a:tcPr/>
                </a:tc>
                <a:tc vMerge="1">
                  <a:txBody>
                    <a:bodyPr/>
                    <a:lstStyle/>
                    <a:p>
                      <a:endParaRPr kumimoji="1" lang="ja-JP" altLang="en-US"/>
                    </a:p>
                  </a:txBody>
                  <a:tcPr/>
                </a:tc>
                <a:tc>
                  <a:txBody>
                    <a:bodyPr/>
                    <a:lstStyle/>
                    <a:p>
                      <a:pPr algn="ctr">
                        <a:spcAft>
                          <a:spcPts val="0"/>
                        </a:spcAft>
                      </a:pPr>
                      <a:r>
                        <a:rPr lang="en-US" sz="1200" spc="-25" dirty="0">
                          <a:effectLst/>
                          <a:latin typeface="游ゴシック" panose="020B0400000000000000" pitchFamily="50" charset="-128"/>
                          <a:ea typeface="游ゴシック" panose="020B0400000000000000" pitchFamily="50" charset="-128"/>
                          <a:cs typeface="Segoe UI" panose="020B0502040204020203" pitchFamily="34" charset="0"/>
                        </a:rPr>
                        <a:t>50cm</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p>
                      <a:pPr algn="ctr">
                        <a:spcAft>
                          <a:spcPts val="0"/>
                        </a:spcAft>
                      </a:pPr>
                      <a:r>
                        <a:rPr lang="ja-JP" sz="1200" spc="-25" dirty="0">
                          <a:effectLst/>
                          <a:latin typeface="游ゴシック" panose="020B0400000000000000" pitchFamily="50" charset="-128"/>
                          <a:ea typeface="游ゴシック" panose="020B0400000000000000" pitchFamily="50" charset="-128"/>
                          <a:cs typeface="Segoe UI" panose="020B0502040204020203" pitchFamily="34" charset="0"/>
                        </a:rPr>
                        <a:t>未満</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tc>
                  <a:txBody>
                    <a:bodyPr/>
                    <a:lstStyle/>
                    <a:p>
                      <a:pPr algn="ctr">
                        <a:spcAft>
                          <a:spcPts val="0"/>
                        </a:spcAft>
                      </a:pPr>
                      <a:r>
                        <a:rPr lang="en-US" sz="1200" spc="-25" dirty="0">
                          <a:effectLst/>
                          <a:latin typeface="游ゴシック" panose="020B0400000000000000" pitchFamily="50" charset="-128"/>
                          <a:ea typeface="游ゴシック" panose="020B0400000000000000" pitchFamily="50" charset="-128"/>
                          <a:cs typeface="Segoe UI" panose="020B0502040204020203" pitchFamily="34" charset="0"/>
                        </a:rPr>
                        <a:t>50</a:t>
                      </a:r>
                      <a:r>
                        <a:rPr lang="ja-JP" sz="1200" spc="-25" dirty="0">
                          <a:effectLst/>
                          <a:latin typeface="游ゴシック" panose="020B0400000000000000" pitchFamily="50" charset="-128"/>
                          <a:ea typeface="游ゴシック" panose="020B0400000000000000" pitchFamily="50" charset="-128"/>
                          <a:cs typeface="Segoe UI" panose="020B0502040204020203" pitchFamily="34" charset="0"/>
                        </a:rPr>
                        <a:t>～</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p>
                      <a:pPr algn="ctr">
                        <a:spcAft>
                          <a:spcPts val="0"/>
                        </a:spcAft>
                      </a:pPr>
                      <a:r>
                        <a:rPr lang="en-US" sz="1200" spc="-25" dirty="0">
                          <a:effectLst/>
                          <a:latin typeface="游ゴシック" panose="020B0400000000000000" pitchFamily="50" charset="-128"/>
                          <a:ea typeface="游ゴシック" panose="020B0400000000000000" pitchFamily="50" charset="-128"/>
                          <a:cs typeface="Segoe UI" panose="020B0502040204020203" pitchFamily="34" charset="0"/>
                        </a:rPr>
                        <a:t>99cm</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tc>
                  <a:txBody>
                    <a:bodyPr/>
                    <a:lstStyle/>
                    <a:p>
                      <a:pPr algn="ctr">
                        <a:spcAft>
                          <a:spcPts val="0"/>
                        </a:spcAft>
                      </a:pPr>
                      <a:r>
                        <a:rPr lang="en-US" sz="1200" spc="-25" dirty="0">
                          <a:effectLst/>
                          <a:latin typeface="游ゴシック" panose="020B0400000000000000" pitchFamily="50" charset="-128"/>
                          <a:ea typeface="游ゴシック" panose="020B0400000000000000" pitchFamily="50" charset="-128"/>
                          <a:cs typeface="Segoe UI" panose="020B0502040204020203" pitchFamily="34" charset="0"/>
                        </a:rPr>
                        <a:t>100</a:t>
                      </a:r>
                      <a:r>
                        <a:rPr lang="ja-JP" sz="1200" spc="-25" dirty="0">
                          <a:effectLst/>
                          <a:latin typeface="游ゴシック" panose="020B0400000000000000" pitchFamily="50" charset="-128"/>
                          <a:ea typeface="游ゴシック" panose="020B0400000000000000" pitchFamily="50" charset="-128"/>
                          <a:cs typeface="Segoe UI" panose="020B0502040204020203" pitchFamily="34" charset="0"/>
                        </a:rPr>
                        <a:t>～</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p>
                      <a:pPr algn="ctr">
                        <a:spcAft>
                          <a:spcPts val="0"/>
                        </a:spcAft>
                      </a:pPr>
                      <a:r>
                        <a:rPr lang="en-US" sz="1200" spc="-25" dirty="0">
                          <a:effectLst/>
                          <a:latin typeface="游ゴシック" panose="020B0400000000000000" pitchFamily="50" charset="-128"/>
                          <a:ea typeface="游ゴシック" panose="020B0400000000000000" pitchFamily="50" charset="-128"/>
                          <a:cs typeface="Segoe UI" panose="020B0502040204020203" pitchFamily="34" charset="0"/>
                        </a:rPr>
                        <a:t>199cm</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tc>
                  <a:txBody>
                    <a:bodyPr/>
                    <a:lstStyle/>
                    <a:p>
                      <a:pPr algn="ctr">
                        <a:spcAft>
                          <a:spcPts val="0"/>
                        </a:spcAft>
                      </a:pPr>
                      <a:r>
                        <a:rPr lang="en-US" sz="1200" spc="-25" dirty="0">
                          <a:effectLst/>
                          <a:latin typeface="游ゴシック" panose="020B0400000000000000" pitchFamily="50" charset="-128"/>
                          <a:ea typeface="游ゴシック" panose="020B0400000000000000" pitchFamily="50" charset="-128"/>
                          <a:cs typeface="Segoe UI" panose="020B0502040204020203" pitchFamily="34" charset="0"/>
                        </a:rPr>
                        <a:t>200</a:t>
                      </a:r>
                      <a:r>
                        <a:rPr lang="ja-JP" sz="1200" spc="-25" dirty="0">
                          <a:effectLst/>
                          <a:latin typeface="游ゴシック" panose="020B0400000000000000" pitchFamily="50" charset="-128"/>
                          <a:ea typeface="游ゴシック" panose="020B0400000000000000" pitchFamily="50" charset="-128"/>
                          <a:cs typeface="Segoe UI" panose="020B0502040204020203" pitchFamily="34" charset="0"/>
                        </a:rPr>
                        <a:t>～</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p>
                      <a:pPr algn="ctr">
                        <a:spcAft>
                          <a:spcPts val="0"/>
                        </a:spcAft>
                      </a:pPr>
                      <a:r>
                        <a:rPr lang="en-US" sz="1200" spc="-25" dirty="0">
                          <a:effectLst/>
                          <a:latin typeface="游ゴシック" panose="020B0400000000000000" pitchFamily="50" charset="-128"/>
                          <a:ea typeface="游ゴシック" panose="020B0400000000000000" pitchFamily="50" charset="-128"/>
                          <a:cs typeface="Segoe UI" panose="020B0502040204020203" pitchFamily="34" charset="0"/>
                        </a:rPr>
                        <a:t>299cm</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tc>
                  <a:txBody>
                    <a:bodyPr/>
                    <a:lstStyle/>
                    <a:p>
                      <a:pPr algn="ctr">
                        <a:spcAft>
                          <a:spcPts val="0"/>
                        </a:spcAft>
                      </a:pPr>
                      <a:r>
                        <a:rPr lang="en-US" sz="1200" spc="-25" dirty="0">
                          <a:effectLst/>
                          <a:latin typeface="游ゴシック" panose="020B0400000000000000" pitchFamily="50" charset="-128"/>
                          <a:ea typeface="游ゴシック" panose="020B0400000000000000" pitchFamily="50" charset="-128"/>
                          <a:cs typeface="Segoe UI" panose="020B0502040204020203" pitchFamily="34" charset="0"/>
                        </a:rPr>
                        <a:t>300cm</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p>
                      <a:pPr algn="ctr">
                        <a:spcAft>
                          <a:spcPts val="0"/>
                        </a:spcAft>
                      </a:pPr>
                      <a:r>
                        <a:rPr lang="ja-JP" sz="1200" spc="-25" dirty="0">
                          <a:effectLst/>
                          <a:latin typeface="游ゴシック" panose="020B0400000000000000" pitchFamily="50" charset="-128"/>
                          <a:ea typeface="游ゴシック" panose="020B0400000000000000" pitchFamily="50" charset="-128"/>
                          <a:cs typeface="Segoe UI" panose="020B0502040204020203" pitchFamily="34" charset="0"/>
                        </a:rPr>
                        <a:t>以上</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202536077"/>
                  </a:ext>
                </a:extLst>
              </a:tr>
              <a:tr h="236705">
                <a:tc gridSpan="2">
                  <a:txBody>
                    <a:bodyPr/>
                    <a:lstStyle/>
                    <a:p>
                      <a:pPr algn="ctr">
                        <a:spcAft>
                          <a:spcPts val="0"/>
                        </a:spcAft>
                      </a:pPr>
                      <a:r>
                        <a:rPr lang="ja-JP" sz="1200" spc="-25" dirty="0">
                          <a:effectLst/>
                          <a:latin typeface="游ゴシック" panose="020B0400000000000000" pitchFamily="50" charset="-128"/>
                          <a:ea typeface="游ゴシック" panose="020B0400000000000000" pitchFamily="50" charset="-128"/>
                          <a:cs typeface="Segoe UI" panose="020B0502040204020203" pitchFamily="34" charset="0"/>
                        </a:rPr>
                        <a:t>家庭用品</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3.7%</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30.8%</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53.3%</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70.1%</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94.8%</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97.7%</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74884727"/>
                  </a:ext>
                </a:extLst>
              </a:tr>
              <a:tr h="236705">
                <a:tc rowSpan="2">
                  <a:txBody>
                    <a:bodyPr/>
                    <a:lstStyle/>
                    <a:p>
                      <a:pPr algn="ctr">
                        <a:spcAft>
                          <a:spcPts val="0"/>
                        </a:spcAft>
                      </a:pPr>
                      <a:r>
                        <a:rPr lang="ja-JP" sz="1200" spc="-25" dirty="0">
                          <a:effectLst/>
                          <a:latin typeface="游ゴシック" panose="020B0400000000000000" pitchFamily="50" charset="-128"/>
                          <a:ea typeface="游ゴシック" panose="020B0400000000000000" pitchFamily="50" charset="-128"/>
                          <a:cs typeface="Segoe UI" panose="020B0502040204020203" pitchFamily="34" charset="0"/>
                        </a:rPr>
                        <a:t>事業所</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ja-JP" sz="1200" spc="-25" dirty="0">
                          <a:effectLst/>
                          <a:latin typeface="游ゴシック" panose="020B0400000000000000" pitchFamily="50" charset="-128"/>
                          <a:ea typeface="游ゴシック" panose="020B0400000000000000" pitchFamily="50" charset="-128"/>
                          <a:cs typeface="Segoe UI" panose="020B0502040204020203" pitchFamily="34" charset="0"/>
                        </a:rPr>
                        <a:t>償却資産</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6.4%</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29.6%</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57.3%</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80.1%</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92.0%</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94.0%</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972550850"/>
                  </a:ext>
                </a:extLst>
              </a:tr>
              <a:tr h="236705">
                <a:tc vMerge="1">
                  <a:txBody>
                    <a:bodyPr/>
                    <a:lstStyle/>
                    <a:p>
                      <a:endParaRPr kumimoji="1" lang="ja-JP" altLang="en-US"/>
                    </a:p>
                  </a:txBody>
                  <a:tcPr/>
                </a:tc>
                <a:tc>
                  <a:txBody>
                    <a:bodyPr/>
                    <a:lstStyle/>
                    <a:p>
                      <a:pPr algn="ctr">
                        <a:spcAft>
                          <a:spcPts val="0"/>
                        </a:spcAft>
                      </a:pPr>
                      <a:r>
                        <a:rPr lang="ja-JP" sz="1200" spc="-25" dirty="0">
                          <a:effectLst/>
                          <a:latin typeface="游ゴシック" panose="020B0400000000000000" pitchFamily="50" charset="-128"/>
                          <a:ea typeface="游ゴシック" panose="020B0400000000000000" pitchFamily="50" charset="-128"/>
                          <a:cs typeface="Segoe UI" panose="020B0502040204020203" pitchFamily="34" charset="0"/>
                        </a:rPr>
                        <a:t>在庫資産</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5.3%</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28.2%</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44.0%</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81.4%</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94.6%</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spcAft>
                          <a:spcPts val="0"/>
                        </a:spcAft>
                      </a:pPr>
                      <a:r>
                        <a:rPr lang="en-US" sz="1200" dirty="0">
                          <a:effectLst/>
                          <a:latin typeface="游ゴシック" panose="020B0400000000000000" pitchFamily="50" charset="-128"/>
                          <a:ea typeface="游ゴシック" panose="020B0400000000000000" pitchFamily="50" charset="-128"/>
                          <a:cs typeface="Segoe UI" panose="020B0502040204020203" pitchFamily="34" charset="0"/>
                        </a:rPr>
                        <a:t>97.5%</a:t>
                      </a:r>
                      <a:endParaRPr lang="ja-JP" sz="1200" dirty="0">
                        <a:effectLst/>
                        <a:latin typeface="游ゴシック" panose="020B0400000000000000" pitchFamily="50" charset="-128"/>
                        <a:ea typeface="游ゴシック" panose="020B0400000000000000" pitchFamily="50" charset="-128"/>
                        <a:cs typeface="Segoe UI" panose="020B0502040204020203" pitchFamily="34" charset="0"/>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373316383"/>
                  </a:ext>
                </a:extLst>
              </a:tr>
            </a:tbl>
          </a:graphicData>
        </a:graphic>
      </p:graphicFrame>
      <p:sp>
        <p:nvSpPr>
          <p:cNvPr id="23" name="正方形/長方形 22">
            <a:extLst>
              <a:ext uri="{FF2B5EF4-FFF2-40B4-BE49-F238E27FC236}">
                <a16:creationId xmlns:a16="http://schemas.microsoft.com/office/drawing/2014/main" id="{23800496-B26C-468E-8962-0446D3150430}"/>
              </a:ext>
            </a:extLst>
          </p:cNvPr>
          <p:cNvSpPr/>
          <p:nvPr/>
        </p:nvSpPr>
        <p:spPr>
          <a:xfrm>
            <a:off x="332292" y="2163219"/>
            <a:ext cx="3155932" cy="1384995"/>
          </a:xfrm>
          <a:prstGeom prst="rect">
            <a:avLst/>
          </a:prstGeom>
        </p:spPr>
        <p:txBody>
          <a:bodyPr wrap="square">
            <a:spAutoFit/>
          </a:bodyPr>
          <a:lstStyle/>
          <a:p>
            <a:r>
              <a:rPr lang="ja-JP" altLang="ja-JP" sz="1400" spc="-25" dirty="0">
                <a:latin typeface="游ゴシック" panose="020B0400000000000000" pitchFamily="50" charset="-128"/>
                <a:ea typeface="游ゴシック" panose="020B0400000000000000" pitchFamily="50" charset="-128"/>
                <a:cs typeface="Segoe UI" panose="020B0502040204020203" pitchFamily="34" charset="0"/>
              </a:rPr>
              <a:t>評価に当たっては、</a:t>
            </a:r>
            <a:r>
              <a:rPr lang="ja-JP" altLang="en-US" sz="1400" spc="-25" dirty="0">
                <a:latin typeface="游ゴシック" panose="020B0400000000000000" pitchFamily="50" charset="-128"/>
                <a:ea typeface="游ゴシック" panose="020B0400000000000000" pitchFamily="50" charset="-128"/>
                <a:cs typeface="Segoe UI" panose="020B0502040204020203" pitchFamily="34" charset="0"/>
              </a:rPr>
              <a:t>右表</a:t>
            </a:r>
            <a:r>
              <a:rPr lang="ja-JP" altLang="ja-JP" sz="1400" spc="-25" dirty="0">
                <a:latin typeface="游ゴシック" panose="020B0400000000000000" pitchFamily="50" charset="-128"/>
                <a:ea typeface="游ゴシック" panose="020B0400000000000000" pitchFamily="50" charset="-128"/>
                <a:cs typeface="Segoe UI" panose="020B0502040204020203" pitchFamily="34" charset="0"/>
              </a:rPr>
              <a:t>の被害率を平準化して、各階の浸水深に対する被害関数を作成しています。</a:t>
            </a:r>
            <a:r>
              <a:rPr lang="ja-JP" altLang="en-US" sz="1400" spc="-25" dirty="0">
                <a:latin typeface="游ゴシック" panose="020B0400000000000000" pitchFamily="50" charset="-128"/>
                <a:ea typeface="游ゴシック" panose="020B0400000000000000" pitchFamily="50" charset="-128"/>
                <a:cs typeface="Segoe UI" panose="020B0502040204020203" pitchFamily="34" charset="0"/>
              </a:rPr>
              <a:t>（下図）</a:t>
            </a:r>
            <a:endParaRPr lang="en-US" altLang="ja-JP" sz="1400" spc="-25" dirty="0">
              <a:latin typeface="游ゴシック" panose="020B0400000000000000" pitchFamily="50" charset="-128"/>
              <a:ea typeface="游ゴシック" panose="020B0400000000000000" pitchFamily="50" charset="-128"/>
              <a:cs typeface="Segoe UI" panose="020B0502040204020203" pitchFamily="34" charset="0"/>
            </a:endParaRPr>
          </a:p>
          <a:p>
            <a:r>
              <a:rPr lang="ja-JP" altLang="ja-JP" sz="1400" spc="-25" dirty="0">
                <a:latin typeface="游ゴシック" panose="020B0400000000000000" pitchFamily="50" charset="-128"/>
                <a:ea typeface="游ゴシック" panose="020B0400000000000000" pitchFamily="50" charset="-128"/>
                <a:cs typeface="Segoe UI" panose="020B0502040204020203" pitchFamily="34" charset="0"/>
              </a:rPr>
              <a:t>収容品の被害率は、作成した被害関数と各階の浸水深を照らし合わせて算出します。</a:t>
            </a:r>
            <a:endParaRPr lang="ja-JP" altLang="en-US" sz="1400" dirty="0">
              <a:latin typeface="游ゴシック" panose="020B0400000000000000" pitchFamily="50" charset="-128"/>
              <a:ea typeface="游ゴシック" panose="020B0400000000000000" pitchFamily="50" charset="-128"/>
            </a:endParaRPr>
          </a:p>
        </p:txBody>
      </p:sp>
      <p:grpSp>
        <p:nvGrpSpPr>
          <p:cNvPr id="32" name="グループ化 31">
            <a:extLst>
              <a:ext uri="{FF2B5EF4-FFF2-40B4-BE49-F238E27FC236}">
                <a16:creationId xmlns:a16="http://schemas.microsoft.com/office/drawing/2014/main" id="{ED4158EE-9FDA-4D77-95E3-D471DFC4E16D}"/>
              </a:ext>
            </a:extLst>
          </p:cNvPr>
          <p:cNvGrpSpPr/>
          <p:nvPr/>
        </p:nvGrpSpPr>
        <p:grpSpPr>
          <a:xfrm>
            <a:off x="360000" y="370800"/>
            <a:ext cx="720000" cy="672000"/>
            <a:chOff x="360000" y="370800"/>
            <a:chExt cx="720000" cy="672000"/>
          </a:xfrm>
        </p:grpSpPr>
        <p:sp>
          <p:nvSpPr>
            <p:cNvPr id="33" name="正方形/長方形 32">
              <a:extLst>
                <a:ext uri="{FF2B5EF4-FFF2-40B4-BE49-F238E27FC236}">
                  <a16:creationId xmlns:a16="http://schemas.microsoft.com/office/drawing/2014/main" id="{A59ABAA4-750A-4B68-9013-029DCDB69FFB}"/>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34" name="テキスト ボックス 33">
              <a:extLst>
                <a:ext uri="{FF2B5EF4-FFF2-40B4-BE49-F238E27FC236}">
                  <a16:creationId xmlns:a16="http://schemas.microsoft.com/office/drawing/2014/main" id="{CFBC42AE-E54F-4741-91B2-AAFC71F54B9A}"/>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8</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grpSp>
        <p:nvGrpSpPr>
          <p:cNvPr id="35" name="グループ化 34">
            <a:extLst>
              <a:ext uri="{FF2B5EF4-FFF2-40B4-BE49-F238E27FC236}">
                <a16:creationId xmlns:a16="http://schemas.microsoft.com/office/drawing/2014/main" id="{3450DC43-B7B0-4B05-AAA4-03936F039539}"/>
              </a:ext>
            </a:extLst>
          </p:cNvPr>
          <p:cNvGrpSpPr/>
          <p:nvPr/>
        </p:nvGrpSpPr>
        <p:grpSpPr>
          <a:xfrm>
            <a:off x="5729455" y="3857139"/>
            <a:ext cx="4117728" cy="2563764"/>
            <a:chOff x="0" y="18166"/>
            <a:chExt cx="4401820" cy="2686289"/>
          </a:xfrm>
        </p:grpSpPr>
        <p:pic>
          <p:nvPicPr>
            <p:cNvPr id="36" name="図 35">
              <a:extLst>
                <a:ext uri="{FF2B5EF4-FFF2-40B4-BE49-F238E27FC236}">
                  <a16:creationId xmlns:a16="http://schemas.microsoft.com/office/drawing/2014/main" id="{67F8F520-61B3-47A5-A297-51190CF764E3}"/>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314325"/>
              <a:ext cx="4401820" cy="2209800"/>
            </a:xfrm>
            <a:prstGeom prst="rect">
              <a:avLst/>
            </a:prstGeom>
            <a:noFill/>
            <a:ln>
              <a:noFill/>
            </a:ln>
          </p:spPr>
        </p:pic>
        <p:sp>
          <p:nvSpPr>
            <p:cNvPr id="37" name="下矢印吹き出し 30">
              <a:extLst>
                <a:ext uri="{FF2B5EF4-FFF2-40B4-BE49-F238E27FC236}">
                  <a16:creationId xmlns:a16="http://schemas.microsoft.com/office/drawing/2014/main" id="{AA831C22-F04E-467E-80C1-FADD57624D09}"/>
                </a:ext>
              </a:extLst>
            </p:cNvPr>
            <p:cNvSpPr/>
            <p:nvPr/>
          </p:nvSpPr>
          <p:spPr>
            <a:xfrm>
              <a:off x="210701" y="18166"/>
              <a:ext cx="923095" cy="367651"/>
            </a:xfrm>
            <a:prstGeom prst="downArrowCallout">
              <a:avLst/>
            </a:prstGeom>
            <a:gradFill rotWithShape="1">
              <a:gsLst>
                <a:gs pos="0">
                  <a:srgbClr val="4BACC6">
                    <a:tint val="50000"/>
                    <a:satMod val="300000"/>
                  </a:srgbClr>
                </a:gs>
                <a:gs pos="35000">
                  <a:srgbClr val="4BACC6">
                    <a:tint val="37000"/>
                    <a:satMod val="300000"/>
                  </a:srgbClr>
                </a:gs>
                <a:gs pos="100000">
                  <a:srgbClr val="4BACC6">
                    <a:tint val="15000"/>
                    <a:satMod val="350000"/>
                  </a:srgbClr>
                </a:gs>
              </a:gsLst>
              <a:lin ang="16200000" scaled="1"/>
            </a:gra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rot="0" spcFirstLastPara="0" vert="horz" wrap="square" lIns="91440" tIns="7200" rIns="91440" bIns="72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ysClr val="windowText" lastClr="000000"/>
                  </a:solidFill>
                  <a:effectLst/>
                  <a:uLnTx/>
                  <a:uFillTx/>
                  <a:latin typeface="+mn-ea"/>
                  <a:ea typeface="+mn-ea"/>
                  <a:cs typeface="ＭＳ Ｐゴシック" panose="020B0600070205080204" pitchFamily="50" charset="-128"/>
                </a:rPr>
                <a:t>床上浸水</a:t>
              </a:r>
            </a:p>
          </p:txBody>
        </p:sp>
        <p:sp>
          <p:nvSpPr>
            <p:cNvPr id="38" name="テキスト ボックス 112654">
              <a:extLst>
                <a:ext uri="{FF2B5EF4-FFF2-40B4-BE49-F238E27FC236}">
                  <a16:creationId xmlns:a16="http://schemas.microsoft.com/office/drawing/2014/main" id="{F885BE62-12FF-40BF-8AD9-3DEBF88AB8FC}"/>
                </a:ext>
              </a:extLst>
            </p:cNvPr>
            <p:cNvSpPr txBox="1"/>
            <p:nvPr/>
          </p:nvSpPr>
          <p:spPr>
            <a:xfrm>
              <a:off x="1590675" y="2438400"/>
              <a:ext cx="1523151" cy="266055"/>
            </a:xfrm>
            <a:prstGeom prst="rect">
              <a:avLst/>
            </a:prstGeom>
            <a:noFill/>
            <a:ln w="6350">
              <a:noFill/>
              <a:prstDash val="sysDash"/>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sysClr val="windowText" lastClr="000000"/>
                  </a:solidFill>
                  <a:effectLst/>
                  <a:uLnTx/>
                  <a:uFillTx/>
                  <a:latin typeface="+mn-ea"/>
                  <a:ea typeface="+mn-ea"/>
                  <a:cs typeface="ＭＳ Ｐゴシック" panose="020B0600070205080204" pitchFamily="50" charset="-128"/>
                </a:rPr>
                <a:t>図：収容物の被害関数</a:t>
              </a:r>
              <a:endParaRPr kumimoji="0" lang="ja-JP" altLang="en-US" sz="1050" b="0" i="0" u="none" strike="noStrike" kern="0" cap="none" spc="0" normalizeH="0" baseline="0" noProof="0" dirty="0">
                <a:ln>
                  <a:noFill/>
                </a:ln>
                <a:solidFill>
                  <a:sysClr val="windowText" lastClr="000000"/>
                </a:solidFill>
                <a:effectLst/>
                <a:uLnTx/>
                <a:uFillTx/>
                <a:latin typeface="+mn-ea"/>
                <a:ea typeface="+mn-ea"/>
                <a:cs typeface="ＭＳ Ｐゴシック" panose="020B0600070205080204" pitchFamily="50" charset="-128"/>
              </a:endParaRPr>
            </a:p>
          </p:txBody>
        </p:sp>
      </p:grpSp>
      <p:grpSp>
        <p:nvGrpSpPr>
          <p:cNvPr id="39" name="グループ化 38">
            <a:extLst>
              <a:ext uri="{FF2B5EF4-FFF2-40B4-BE49-F238E27FC236}">
                <a16:creationId xmlns:a16="http://schemas.microsoft.com/office/drawing/2014/main" id="{5DBEAC40-A906-4A05-9162-4427DEDA3537}"/>
              </a:ext>
            </a:extLst>
          </p:cNvPr>
          <p:cNvGrpSpPr>
            <a:grpSpLocks noChangeAspect="1"/>
          </p:cNvGrpSpPr>
          <p:nvPr/>
        </p:nvGrpSpPr>
        <p:grpSpPr>
          <a:xfrm>
            <a:off x="88110" y="4083972"/>
            <a:ext cx="5756095" cy="2349752"/>
            <a:chOff x="0" y="0"/>
            <a:chExt cx="6407245" cy="2615565"/>
          </a:xfrm>
        </p:grpSpPr>
        <p:pic>
          <p:nvPicPr>
            <p:cNvPr id="40" name="図 39">
              <a:extLst>
                <a:ext uri="{FF2B5EF4-FFF2-40B4-BE49-F238E27FC236}">
                  <a16:creationId xmlns:a16="http://schemas.microsoft.com/office/drawing/2014/main" id="{0371C90B-8557-4C79-B583-4EA0E3D52DC4}"/>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0" y="0"/>
              <a:ext cx="5963285" cy="2400300"/>
            </a:xfrm>
            <a:prstGeom prst="rect">
              <a:avLst/>
            </a:prstGeom>
            <a:noFill/>
            <a:ln>
              <a:noFill/>
            </a:ln>
          </p:spPr>
        </p:pic>
        <p:sp>
          <p:nvSpPr>
            <p:cNvPr id="41" name="テキスト ボックス 112649">
              <a:extLst>
                <a:ext uri="{FF2B5EF4-FFF2-40B4-BE49-F238E27FC236}">
                  <a16:creationId xmlns:a16="http://schemas.microsoft.com/office/drawing/2014/main" id="{153FB6A7-2045-4A87-9B49-0F214EC9FCE5}"/>
                </a:ext>
              </a:extLst>
            </p:cNvPr>
            <p:cNvSpPr txBox="1"/>
            <p:nvPr/>
          </p:nvSpPr>
          <p:spPr>
            <a:xfrm>
              <a:off x="1114425" y="1781175"/>
              <a:ext cx="697865" cy="3397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spcAft>
                  <a:spcPts val="0"/>
                </a:spcAft>
              </a:pPr>
              <a:r>
                <a:rPr lang="ja-JP" sz="1000" dirty="0">
                  <a:solidFill>
                    <a:srgbClr val="4F81BD"/>
                  </a:solidFill>
                  <a:effectLst/>
                  <a:latin typeface="+mn-ea"/>
                  <a:cs typeface="ＭＳ Ｐゴシック" panose="020B0600070205080204" pitchFamily="50" charset="-128"/>
                </a:rPr>
                <a:t>家庭用品</a:t>
              </a:r>
              <a:endParaRPr lang="ja-JP" sz="1000" dirty="0">
                <a:effectLst/>
                <a:latin typeface="+mn-ea"/>
                <a:cs typeface="ＭＳ Ｐゴシック" panose="020B0600070205080204" pitchFamily="50" charset="-128"/>
              </a:endParaRPr>
            </a:p>
          </p:txBody>
        </p:sp>
        <p:sp>
          <p:nvSpPr>
            <p:cNvPr id="42" name="テキスト ボックス 112650">
              <a:extLst>
                <a:ext uri="{FF2B5EF4-FFF2-40B4-BE49-F238E27FC236}">
                  <a16:creationId xmlns:a16="http://schemas.microsoft.com/office/drawing/2014/main" id="{C833CC5A-672E-4D50-9F97-9319FACC7C90}"/>
                </a:ext>
              </a:extLst>
            </p:cNvPr>
            <p:cNvSpPr txBox="1"/>
            <p:nvPr/>
          </p:nvSpPr>
          <p:spPr>
            <a:xfrm>
              <a:off x="2600325" y="1800225"/>
              <a:ext cx="1078865" cy="3397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spcAft>
                  <a:spcPts val="0"/>
                </a:spcAft>
              </a:pPr>
              <a:r>
                <a:rPr lang="ja-JP" sz="1000" dirty="0">
                  <a:solidFill>
                    <a:srgbClr val="C0504D"/>
                  </a:solidFill>
                  <a:effectLst/>
                  <a:latin typeface="+mn-ea"/>
                  <a:cs typeface="ＭＳ Ｐゴシック" panose="020B0600070205080204" pitchFamily="50" charset="-128"/>
                </a:rPr>
                <a:t>事業所償却資産</a:t>
              </a:r>
              <a:endParaRPr lang="ja-JP" sz="1000" dirty="0">
                <a:effectLst/>
                <a:latin typeface="+mn-ea"/>
                <a:cs typeface="ＭＳ Ｐゴシック" panose="020B0600070205080204" pitchFamily="50" charset="-128"/>
              </a:endParaRPr>
            </a:p>
          </p:txBody>
        </p:sp>
        <p:sp>
          <p:nvSpPr>
            <p:cNvPr id="43" name="テキスト ボックス 112653">
              <a:extLst>
                <a:ext uri="{FF2B5EF4-FFF2-40B4-BE49-F238E27FC236}">
                  <a16:creationId xmlns:a16="http://schemas.microsoft.com/office/drawing/2014/main" id="{F6F07083-EE93-4D02-BF1C-F25772D98CF8}"/>
                </a:ext>
              </a:extLst>
            </p:cNvPr>
            <p:cNvSpPr txBox="1"/>
            <p:nvPr/>
          </p:nvSpPr>
          <p:spPr>
            <a:xfrm>
              <a:off x="4784605" y="1266825"/>
              <a:ext cx="1622640" cy="531495"/>
            </a:xfrm>
            <a:prstGeom prst="rect">
              <a:avLst/>
            </a:prstGeom>
            <a:solidFill>
              <a:schemeClr val="bg1"/>
            </a:solidFill>
            <a:ln w="6350">
              <a:solidFill>
                <a:schemeClr val="tx1"/>
              </a:solidFill>
              <a:prstDash val="sysDash"/>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spcAft>
                  <a:spcPts val="0"/>
                </a:spcAft>
              </a:pPr>
              <a:r>
                <a:rPr lang="ja-JP" sz="900" dirty="0">
                  <a:effectLst/>
                  <a:latin typeface="+mn-ea"/>
                  <a:cs typeface="ＭＳ Ｐゴシック" panose="020B0600070205080204" pitchFamily="50" charset="-128"/>
                </a:rPr>
                <a:t>点線：治水経済調査</a:t>
              </a:r>
              <a:endParaRPr lang="ja-JP" sz="1000" dirty="0">
                <a:effectLst/>
                <a:latin typeface="+mn-ea"/>
                <a:cs typeface="ＭＳ Ｐゴシック" panose="020B0600070205080204" pitchFamily="50" charset="-128"/>
              </a:endParaRPr>
            </a:p>
            <a:p>
              <a:pPr indent="342900">
                <a:spcAft>
                  <a:spcPts val="0"/>
                </a:spcAft>
              </a:pPr>
              <a:r>
                <a:rPr lang="ja-JP" sz="900" dirty="0">
                  <a:effectLst/>
                  <a:latin typeface="+mn-ea"/>
                  <a:cs typeface="ＭＳ Ｐゴシック" panose="020B0600070205080204" pitchFamily="50" charset="-128"/>
                </a:rPr>
                <a:t>マニュアル（案）</a:t>
              </a:r>
              <a:endParaRPr lang="ja-JP" sz="1000" dirty="0">
                <a:effectLst/>
                <a:latin typeface="+mn-ea"/>
                <a:cs typeface="ＭＳ Ｐゴシック" panose="020B0600070205080204" pitchFamily="50" charset="-128"/>
              </a:endParaRPr>
            </a:p>
            <a:p>
              <a:pPr>
                <a:spcAft>
                  <a:spcPts val="0"/>
                </a:spcAft>
              </a:pPr>
              <a:r>
                <a:rPr lang="ja-JP" sz="900" dirty="0">
                  <a:effectLst/>
                  <a:latin typeface="+mn-ea"/>
                  <a:cs typeface="ＭＳ Ｐゴシック" panose="020B0600070205080204" pitchFamily="50" charset="-128"/>
                </a:rPr>
                <a:t>実線：作成した被害関数</a:t>
              </a:r>
              <a:endParaRPr lang="ja-JP" sz="1000" dirty="0">
                <a:effectLst/>
                <a:latin typeface="+mn-ea"/>
                <a:cs typeface="ＭＳ Ｐゴシック" panose="020B0600070205080204" pitchFamily="50" charset="-128"/>
              </a:endParaRPr>
            </a:p>
          </p:txBody>
        </p:sp>
        <p:sp>
          <p:nvSpPr>
            <p:cNvPr id="44" name="テキスト ボックス 112655">
              <a:extLst>
                <a:ext uri="{FF2B5EF4-FFF2-40B4-BE49-F238E27FC236}">
                  <a16:creationId xmlns:a16="http://schemas.microsoft.com/office/drawing/2014/main" id="{58B47A1E-A206-4653-AADF-0E526C47AF15}"/>
                </a:ext>
              </a:extLst>
            </p:cNvPr>
            <p:cNvSpPr txBox="1"/>
            <p:nvPr/>
          </p:nvSpPr>
          <p:spPr>
            <a:xfrm>
              <a:off x="2409825" y="2305050"/>
              <a:ext cx="1459865" cy="310515"/>
            </a:xfrm>
            <a:prstGeom prst="rect">
              <a:avLst/>
            </a:prstGeom>
            <a:noFill/>
            <a:ln w="6350">
              <a:noFill/>
              <a:prstDash val="sysDash"/>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indent="127000" algn="ctr">
                <a:spcAft>
                  <a:spcPts val="0"/>
                </a:spcAft>
              </a:pPr>
              <a:r>
                <a:rPr lang="ja-JP" sz="1100" spc="-25" dirty="0">
                  <a:effectLst/>
                  <a:latin typeface="+mn-ea"/>
                  <a:cs typeface="ＭＳ Ｐゴシック" panose="020B0600070205080204" pitchFamily="50" charset="-128"/>
                </a:rPr>
                <a:t>図：被害率の平準化</a:t>
              </a:r>
              <a:endParaRPr lang="ja-JP" sz="1100" dirty="0">
                <a:effectLst/>
                <a:latin typeface="+mn-ea"/>
                <a:cs typeface="ＭＳ Ｐゴシック" panose="020B0600070205080204" pitchFamily="50" charset="-128"/>
              </a:endParaRPr>
            </a:p>
          </p:txBody>
        </p:sp>
        <p:sp>
          <p:nvSpPr>
            <p:cNvPr id="45" name="テキスト ボックス 112651">
              <a:extLst>
                <a:ext uri="{FF2B5EF4-FFF2-40B4-BE49-F238E27FC236}">
                  <a16:creationId xmlns:a16="http://schemas.microsoft.com/office/drawing/2014/main" id="{37E55C78-F160-47F2-8950-CF689E020AAD}"/>
                </a:ext>
              </a:extLst>
            </p:cNvPr>
            <p:cNvSpPr txBox="1"/>
            <p:nvPr/>
          </p:nvSpPr>
          <p:spPr>
            <a:xfrm>
              <a:off x="4621480" y="1800225"/>
              <a:ext cx="1078865" cy="3397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a:spcAft>
                  <a:spcPts val="0"/>
                </a:spcAft>
              </a:pPr>
              <a:r>
                <a:rPr lang="ja-JP" sz="1000" dirty="0">
                  <a:solidFill>
                    <a:srgbClr val="9BBB59"/>
                  </a:solidFill>
                  <a:effectLst/>
                  <a:latin typeface="+mn-ea"/>
                  <a:cs typeface="ＭＳ Ｐゴシック" panose="020B0600070205080204" pitchFamily="50" charset="-128"/>
                </a:rPr>
                <a:t>事業所在庫資産</a:t>
              </a:r>
              <a:endParaRPr lang="ja-JP" sz="1000" dirty="0">
                <a:effectLst/>
                <a:latin typeface="+mn-ea"/>
                <a:cs typeface="ＭＳ Ｐゴシック" panose="020B0600070205080204" pitchFamily="50" charset="-128"/>
              </a:endParaRPr>
            </a:p>
          </p:txBody>
        </p:sp>
      </p:grpSp>
    </p:spTree>
    <p:extLst>
      <p:ext uri="{BB962C8B-B14F-4D97-AF65-F5344CB8AC3E}">
        <p14:creationId xmlns:p14="http://schemas.microsoft.com/office/powerpoint/2010/main" val="21387904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スライド番号プレースホルダー 5"/>
          <p:cNvSpPr>
            <a:spLocks noGrp="1"/>
          </p:cNvSpPr>
          <p:nvPr>
            <p:ph type="sldNum" sz="quarter" idx="4"/>
          </p:nvPr>
        </p:nvSpPr>
        <p:spPr>
          <a:xfrm>
            <a:off x="9172177" y="6390901"/>
            <a:ext cx="461667" cy="268288"/>
          </a:xfrm>
          <a:prstGeom prst="rect">
            <a:avLst/>
          </a:prstGeom>
        </p:spPr>
        <p:txBody>
          <a:bodyPr lIns="0" tIns="0" rIns="0" bIns="0" anchor="b"/>
          <a:lstStyle>
            <a:lvl1pPr algn="r" fontAlgn="auto">
              <a:spcBef>
                <a:spcPts val="0"/>
              </a:spcBef>
              <a:spcAft>
                <a:spcPts val="0"/>
              </a:spcAft>
              <a:defRPr lang="ja-JP" altLang="en-US" sz="1199">
                <a:solidFill>
                  <a:srgbClr val="414243"/>
                </a:solidFill>
                <a:latin typeface="Arial" pitchFamily="34" charset="0"/>
                <a:ea typeface="ＭＳ Ｐゴシック" pitchFamily="50" charset="-128"/>
              </a:defRPr>
            </a:lvl1pPr>
          </a:lstStyle>
          <a:p>
            <a:pPr algn="ctr"/>
            <a:fld id="{3C987C2D-0993-D24A-8F17-67855EAE4BDA}" type="slidenum">
              <a:rPr kumimoji="1" lang="ja-JP" altLang="en-US" smtClean="0">
                <a:solidFill>
                  <a:schemeClr val="bg1"/>
                </a:solidFill>
                <a:latin typeface="游ゴシック" panose="020B0400000000000000" pitchFamily="50" charset="-128"/>
                <a:ea typeface="游ゴシック" panose="020B0400000000000000" pitchFamily="50" charset="-128"/>
              </a:rPr>
              <a:pPr algn="ctr"/>
              <a:t>53</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12" name="正方形/長方形 11"/>
          <p:cNvSpPr/>
          <p:nvPr/>
        </p:nvSpPr>
        <p:spPr>
          <a:xfrm>
            <a:off x="6070169" y="5399536"/>
            <a:ext cx="1829347" cy="261610"/>
          </a:xfrm>
          <a:prstGeom prst="rect">
            <a:avLst/>
          </a:prstGeom>
        </p:spPr>
        <p:txBody>
          <a:bodyPr wrap="none">
            <a:spAutoFit/>
          </a:bodyPr>
          <a:lstStyle/>
          <a:p>
            <a:pPr indent="127000" algn="ctr">
              <a:spcAft>
                <a:spcPts val="0"/>
              </a:spcAft>
            </a:pPr>
            <a:r>
              <a:rPr lang="ja-JP" altLang="ja-JP" sz="1100" spc="-25" dirty="0">
                <a:latin typeface="游ゴシック" panose="020B0400000000000000" pitchFamily="50" charset="-128"/>
                <a:ea typeface="游ゴシック" panose="020B0400000000000000" pitchFamily="50" charset="-128"/>
              </a:rPr>
              <a:t>図：屋外設備の被害関数</a:t>
            </a:r>
            <a:endParaRPr lang="ja-JP" altLang="ja-JP" sz="1100" dirty="0">
              <a:effectLst/>
              <a:latin typeface="游ゴシック" panose="020B0400000000000000" pitchFamily="50" charset="-128"/>
              <a:ea typeface="游ゴシック" panose="020B0400000000000000" pitchFamily="50" charset="-128"/>
            </a:endParaRPr>
          </a:p>
        </p:txBody>
      </p:sp>
      <p:sp>
        <p:nvSpPr>
          <p:cNvPr id="13" name="テキスト ボックス 12"/>
          <p:cNvSpPr txBox="1">
            <a:spLocks noChangeArrowheads="1"/>
          </p:cNvSpPr>
          <p:nvPr/>
        </p:nvSpPr>
        <p:spPr bwMode="auto">
          <a:xfrm>
            <a:off x="349069" y="1214572"/>
            <a:ext cx="9201512" cy="720000"/>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lvl="0" eaLnBrk="1" hangingPunct="1">
              <a:defRPr/>
            </a:pPr>
            <a:r>
              <a:rPr lang="ja-JP" altLang="en-US" sz="1400" dirty="0">
                <a:solidFill>
                  <a:prstClr val="black"/>
                </a:solidFill>
                <a:latin typeface="游ゴシック" panose="020B0400000000000000" pitchFamily="50" charset="-128"/>
                <a:ea typeface="游ゴシック" panose="020B0400000000000000" pitchFamily="50" charset="-128"/>
              </a:rPr>
              <a:t>タンク、水槽、配管ラックなどの屋外設備は、建物内収容品と比べて浸水による被害を受けづらいと考えられることから、屋外設備の被害関数を作成しています。屋外設備の被害は、屋外設備の浸水率（設備高さに対する浸水深の割合）と被害の大きさの関係を表す被害関数によって算出します。</a:t>
            </a:r>
          </a:p>
        </p:txBody>
      </p:sp>
      <p:sp>
        <p:nvSpPr>
          <p:cNvPr id="9" name="正方形/長方形 8"/>
          <p:cNvSpPr/>
          <p:nvPr/>
        </p:nvSpPr>
        <p:spPr>
          <a:xfrm>
            <a:off x="574090" y="2844224"/>
            <a:ext cx="3864270" cy="1169551"/>
          </a:xfrm>
          <a:prstGeom prst="rect">
            <a:avLst/>
          </a:prstGeom>
        </p:spPr>
        <p:txBody>
          <a:bodyPr wrap="square">
            <a:spAutoFit/>
          </a:bodyPr>
          <a:lstStyle/>
          <a:p>
            <a:r>
              <a:rPr lang="ja-JP" altLang="en-US" sz="1400" spc="-25" dirty="0">
                <a:latin typeface="游ゴシック" panose="020B0400000000000000" pitchFamily="50" charset="-128"/>
                <a:ea typeface="游ゴシック" panose="020B0400000000000000" pitchFamily="50" charset="-128"/>
                <a:cs typeface="Times New Roman" panose="02020603050405020304" pitchFamily="18" charset="0"/>
              </a:rPr>
              <a:t>被害関数の作成に当たっては、架台や配管、タンク、ポンプ等を含む屋外設備一式のモデルを仮定し、各部の被害想定額を積算しました。屋外設備の被害率は、作成した被害関数と屋外設備の浸水率を照らし合わせて算出します。</a:t>
            </a:r>
          </a:p>
        </p:txBody>
      </p:sp>
      <p:sp>
        <p:nvSpPr>
          <p:cNvPr id="10" name="テキスト ボックス 9"/>
          <p:cNvSpPr txBox="1"/>
          <p:nvPr/>
        </p:nvSpPr>
        <p:spPr>
          <a:xfrm>
            <a:off x="1291335" y="370800"/>
            <a:ext cx="8462265" cy="720000"/>
          </a:xfrm>
          <a:prstGeom prst="rect">
            <a:avLst/>
          </a:prstGeom>
          <a:noFill/>
        </p:spPr>
        <p:txBody>
          <a:bodyPr wrap="square" lIns="0" tIns="0" rIns="0" bIns="0" numCol="1" rtlCol="0" anchor="ctr" anchorCtr="0">
            <a:noAutofit/>
          </a:bodyPr>
          <a:lstStyle/>
          <a:p>
            <a:r>
              <a:rPr lang="ja-JP" altLang="en-US" sz="2400" dirty="0">
                <a:latin typeface="游ゴシック" panose="020B0400000000000000" pitchFamily="50" charset="-128"/>
                <a:ea typeface="游ゴシック" panose="020B0400000000000000" pitchFamily="50" charset="-128"/>
              </a:rPr>
              <a:t>被害想定額算出手法｜③被害算定 </a:t>
            </a:r>
            <a:r>
              <a:rPr lang="en-US" altLang="ja-JP" sz="2400" dirty="0">
                <a:latin typeface="游ゴシック" panose="020B0400000000000000" pitchFamily="50" charset="-128"/>
                <a:ea typeface="游ゴシック" panose="020B0400000000000000" pitchFamily="50" charset="-128"/>
              </a:rPr>
              <a:t>– </a:t>
            </a:r>
            <a:r>
              <a:rPr lang="ja-JP" altLang="en-US" sz="2400" dirty="0">
                <a:latin typeface="游ゴシック" panose="020B0400000000000000" pitchFamily="50" charset="-128"/>
                <a:ea typeface="游ゴシック" panose="020B0400000000000000" pitchFamily="50" charset="-128"/>
              </a:rPr>
              <a:t>屋外設備 </a:t>
            </a:r>
            <a:r>
              <a:rPr lang="en-US" altLang="ja-JP" sz="2400" dirty="0">
                <a:latin typeface="游ゴシック" panose="020B0400000000000000" pitchFamily="50" charset="-128"/>
                <a:ea typeface="游ゴシック" panose="020B0400000000000000" pitchFamily="50" charset="-128"/>
              </a:rPr>
              <a:t>-</a:t>
            </a:r>
            <a:endParaRPr lang="ja-JP" altLang="en-US" sz="2400" dirty="0">
              <a:latin typeface="游ゴシック" panose="020B0400000000000000" pitchFamily="50" charset="-128"/>
              <a:ea typeface="游ゴシック" panose="020B0400000000000000" pitchFamily="50" charset="-128"/>
            </a:endParaRPr>
          </a:p>
        </p:txBody>
      </p:sp>
      <p:pic>
        <p:nvPicPr>
          <p:cNvPr id="14" name="図 13">
            <a:extLst>
              <a:ext uri="{FF2B5EF4-FFF2-40B4-BE49-F238E27FC236}">
                <a16:creationId xmlns:a16="http://schemas.microsoft.com/office/drawing/2014/main" id="{58686EB1-7816-4803-93E6-660AD9E36D1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70603" y="2526636"/>
            <a:ext cx="4428480" cy="2804866"/>
          </a:xfrm>
          <a:prstGeom prst="rect">
            <a:avLst/>
          </a:prstGeom>
        </p:spPr>
      </p:pic>
      <p:grpSp>
        <p:nvGrpSpPr>
          <p:cNvPr id="11" name="グループ化 10">
            <a:extLst>
              <a:ext uri="{FF2B5EF4-FFF2-40B4-BE49-F238E27FC236}">
                <a16:creationId xmlns:a16="http://schemas.microsoft.com/office/drawing/2014/main" id="{32ED6211-35C3-48D2-96DF-B71CF2402A98}"/>
              </a:ext>
            </a:extLst>
          </p:cNvPr>
          <p:cNvGrpSpPr/>
          <p:nvPr/>
        </p:nvGrpSpPr>
        <p:grpSpPr>
          <a:xfrm>
            <a:off x="360000" y="370800"/>
            <a:ext cx="720000" cy="672000"/>
            <a:chOff x="360000" y="370800"/>
            <a:chExt cx="720000" cy="672000"/>
          </a:xfrm>
        </p:grpSpPr>
        <p:sp>
          <p:nvSpPr>
            <p:cNvPr id="15" name="正方形/長方形 14">
              <a:extLst>
                <a:ext uri="{FF2B5EF4-FFF2-40B4-BE49-F238E27FC236}">
                  <a16:creationId xmlns:a16="http://schemas.microsoft.com/office/drawing/2014/main" id="{3DB61F85-71C4-449B-AEC1-9A381C7CC185}"/>
                </a:ext>
              </a:extLst>
            </p:cNvPr>
            <p:cNvSpPr>
              <a:spLocks noChangeAspect="1"/>
            </p:cNvSpPr>
            <p:nvPr/>
          </p:nvSpPr>
          <p:spPr>
            <a:xfrm>
              <a:off x="360000" y="370800"/>
              <a:ext cx="720000" cy="672000"/>
            </a:xfrm>
            <a:prstGeom prst="rect">
              <a:avLst/>
            </a:prstGeom>
            <a:solidFill>
              <a:srgbClr val="006659"/>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nchorCtr="1"/>
            <a:lstStyle/>
            <a:p>
              <a:pPr algn="ctr"/>
              <a:endParaRPr kumimoji="1" lang="ja-JP" altLang="en-US" sz="2400" dirty="0">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15BF5ADC-EBF9-48DA-B6B6-6F2263B86678}"/>
                </a:ext>
              </a:extLst>
            </p:cNvPr>
            <p:cNvSpPr txBox="1">
              <a:spLocks noChangeAspect="1"/>
            </p:cNvSpPr>
            <p:nvPr/>
          </p:nvSpPr>
          <p:spPr>
            <a:xfrm>
              <a:off x="360000" y="370800"/>
              <a:ext cx="720000" cy="672000"/>
            </a:xfrm>
            <a:prstGeom prst="rect">
              <a:avLst/>
            </a:prstGeom>
            <a:noFill/>
          </p:spPr>
          <p:txBody>
            <a:bodyPr wrap="square" lIns="0" tIns="0" rIns="0" bIns="0" numCol="1" rtlCol="0" anchor="ctr" anchorCtr="1">
              <a:noAutofit/>
            </a:bodyPr>
            <a:lstStyle/>
            <a:p>
              <a:pPr marL="0" indent="0" algn="ctr">
                <a:buFont typeface="Wingdings" charset="2"/>
                <a:buNone/>
              </a:pPr>
              <a:r>
                <a:rPr lang="en-US" altLang="ja-JP" sz="3200" dirty="0">
                  <a:solidFill>
                    <a:schemeClr val="bg1"/>
                  </a:solidFill>
                  <a:latin typeface="游ゴシック" panose="020B0400000000000000" pitchFamily="50" charset="-128"/>
                  <a:ea typeface="游ゴシック" panose="020B0400000000000000" pitchFamily="50" charset="-128"/>
                </a:rPr>
                <a:t>8</a:t>
              </a:r>
              <a:endParaRPr kumimoji="1" lang="en-US" altLang="ja-JP" sz="3200" dirty="0">
                <a:solidFill>
                  <a:schemeClr val="bg1"/>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41597608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14300" y="361950"/>
          <a:ext cx="9820275" cy="6705600"/>
          <a:chOff x="114300" y="361950"/>
          <a:chExt cx="9820275" cy="6705600"/>
        </a:xfrm>
      </p:grpSpPr>
      <p:sp>
        <p:nvSpPr>
          <p:cNvPr id="10" name="テキスト ボックス 9"/>
          <p:cNvSpPr txBox="1"/>
          <p:nvPr/>
        </p:nvSpPr>
        <p:spPr>
          <a:xfrm>
            <a:off x="8248650" y="361950"/>
            <a:ext cx="1333500" cy="180975"/>
          </a:xfrm>
          <a:prstGeom prst="rect">
            <a:avLst/>
          </a:prstGeom>
          <a:solidFill>
            <a:srgbClr val="404040">
              <a:alpha val="100000"/>
            </a:srgbClr>
          </a:solidFill>
        </p:spPr>
        <p:txBody>
          <a:bodyPr wrap="none"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Strictly Confidential</a:t>
            </a:r>
          </a:p>
        </p:txBody>
      </p:sp>
      <p:sp>
        <p:nvSpPr>
          <p:cNvPr id="2" name="テキスト ボックス 1"/>
          <p:cNvSpPr txBox="1"/>
          <p:nvPr/>
        </p:nvSpPr>
        <p:spPr>
          <a:xfrm>
            <a:off x="361950" y="371475"/>
            <a:ext cx="723900" cy="676275"/>
          </a:xfrm>
          <a:prstGeom prst="rect">
            <a:avLst/>
          </a:prstGeom>
          <a:solidFill>
            <a:srgbClr val="006659">
              <a:alpha val="100000"/>
            </a:srgbClr>
          </a:solidFill>
        </p:spPr>
        <p:txBody>
          <a:bodyPr lIns="91440" tIns="45720" rIns="91440" bIns="45720" rtlCol="0" anchor="ctr">
            <a:noAutofit/>
          </a:bodyPr>
          <a:lstStyle/>
          <a:p>
            <a:pPr marL="0" marR="0" lvl="0" indent="0" algn="ctr" rtl="0" fontAlgn="ctr">
              <a:lnSpc>
                <a:spcPct val="100000"/>
              </a:lnSpc>
              <a:spcBef>
                <a:spcPts val="0"/>
              </a:spcBef>
              <a:spcAft>
                <a:spcPts val="0"/>
              </a:spcAft>
            </a:pPr>
            <a:r>
              <a:rPr lang="en-US" sz="3200" u="none" spc="0" dirty="0">
                <a:solidFill>
                  <a:srgbClr val="FFFFFF">
                    <a:alpha val="100000"/>
                  </a:srgbClr>
                </a:solidFill>
                <a:latin typeface="游ゴシック"/>
              </a:rPr>
              <a:t>8</a:t>
            </a:r>
          </a:p>
        </p:txBody>
      </p:sp>
      <p:sp>
        <p:nvSpPr>
          <p:cNvPr id="3" name="テキスト ボックス 2"/>
          <p:cNvSpPr txBox="1"/>
          <p:nvPr/>
        </p:nvSpPr>
        <p:spPr>
          <a:xfrm>
            <a:off x="1295400" y="371475"/>
            <a:ext cx="7239000" cy="723900"/>
          </a:xfrm>
          <a:prstGeom prst="rect">
            <a:avLst/>
          </a:prstGeom>
          <a:noFill/>
        </p:spPr>
        <p:txBody>
          <a:bodyPr lIns="91440" tIns="45720" rIns="91440" bIns="45720" rtlCol="0" anchor="ctr">
            <a:noAutofit/>
          </a:bodyPr>
          <a:lstStyle/>
          <a:p>
            <a:pPr marL="47625" fontAlgn="ctr"/>
            <a:r>
              <a:rPr lang="ja-JP" altLang="en-US" sz="2400" dirty="0">
                <a:latin typeface="游ゴシック" panose="020B0400000000000000" pitchFamily="50" charset="-128"/>
                <a:ea typeface="游ゴシック" panose="020B0400000000000000" pitchFamily="50" charset="-128"/>
              </a:rPr>
              <a:t>参考情報</a:t>
            </a:r>
            <a:r>
              <a:rPr lang="en-US" altLang="ja-JP" sz="2400" dirty="0">
                <a:latin typeface="游ゴシック" panose="020B0400000000000000" pitchFamily="50" charset="-128"/>
                <a:ea typeface="游ゴシック" panose="020B0400000000000000" pitchFamily="50" charset="-128"/>
              </a:rPr>
              <a:t>(</a:t>
            </a:r>
            <a:r>
              <a:rPr lang="ja-JP" altLang="en-US" sz="2400" dirty="0">
                <a:latin typeface="游ゴシック" panose="020B0400000000000000" pitchFamily="50" charset="-128"/>
                <a:ea typeface="游ゴシック" panose="020B0400000000000000" pitchFamily="50" charset="-128"/>
              </a:rPr>
              <a:t>水災対策</a:t>
            </a:r>
            <a:r>
              <a:rPr lang="en-US" altLang="ja-JP" sz="2400" dirty="0">
                <a:latin typeface="游ゴシック" panose="020B0400000000000000" pitchFamily="50" charset="-128"/>
                <a:ea typeface="游ゴシック" panose="020B0400000000000000" pitchFamily="50" charset="-128"/>
              </a:rPr>
              <a:t>(</a:t>
            </a:r>
            <a:r>
              <a:rPr lang="ja-JP" altLang="en-US" sz="2400" dirty="0">
                <a:latin typeface="游ゴシック" panose="020B0400000000000000" pitchFamily="50" charset="-128"/>
                <a:ea typeface="游ゴシック" panose="020B0400000000000000" pitchFamily="50" charset="-128"/>
              </a:rPr>
              <a:t>施設防護</a:t>
            </a:r>
            <a:r>
              <a:rPr lang="en-US" altLang="ja-JP" sz="2400" dirty="0">
                <a:latin typeface="游ゴシック" panose="020B0400000000000000" pitchFamily="50" charset="-128"/>
                <a:ea typeface="游ゴシック" panose="020B0400000000000000" pitchFamily="50" charset="-128"/>
              </a:rPr>
              <a:t>)</a:t>
            </a:r>
            <a:r>
              <a:rPr lang="ja-JP" altLang="en-US" sz="2400" dirty="0">
                <a:latin typeface="游ゴシック" panose="020B0400000000000000" pitchFamily="50" charset="-128"/>
                <a:ea typeface="游ゴシック" panose="020B0400000000000000" pitchFamily="50" charset="-128"/>
              </a:rPr>
              <a:t>の一般的な考え方</a:t>
            </a:r>
            <a:r>
              <a:rPr lang="en-US" altLang="ja-JP" sz="2400" dirty="0">
                <a:latin typeface="游ゴシック" panose="020B0400000000000000" pitchFamily="50" charset="-128"/>
                <a:ea typeface="游ゴシック" panose="020B0400000000000000" pitchFamily="50" charset="-128"/>
              </a:rPr>
              <a:t>)</a:t>
            </a:r>
          </a:p>
        </p:txBody>
      </p:sp>
      <p:sp>
        <p:nvSpPr>
          <p:cNvPr id="4" name="テキスト ボックス 3"/>
          <p:cNvSpPr txBox="1"/>
          <p:nvPr/>
        </p:nvSpPr>
        <p:spPr>
          <a:xfrm>
            <a:off x="361950" y="6496050"/>
            <a:ext cx="9220200" cy="209550"/>
          </a:xfrm>
          <a:prstGeom prst="rect">
            <a:avLst/>
          </a:prstGeom>
          <a:solidFill>
            <a:srgbClr val="006659">
              <a:alpha val="100000"/>
            </a:srgbClr>
          </a:solidFill>
        </p:spPr>
        <p:txBody>
          <a:bodyPr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 MS&amp;AD InterRisk Research &amp; Consulting, Inc.</a:t>
            </a:r>
          </a:p>
        </p:txBody>
      </p:sp>
      <p:sp>
        <p:nvSpPr>
          <p:cNvPr id="16" name="テキスト ボックス 7">
            <a:extLst>
              <a:ext uri="{FF2B5EF4-FFF2-40B4-BE49-F238E27FC236}">
                <a16:creationId xmlns:a16="http://schemas.microsoft.com/office/drawing/2014/main" id="{13614222-AAE6-4663-A3FE-2EF5AF98A617}"/>
              </a:ext>
            </a:extLst>
          </p:cNvPr>
          <p:cNvSpPr txBox="1">
            <a:spLocks noChangeArrowheads="1"/>
          </p:cNvSpPr>
          <p:nvPr/>
        </p:nvSpPr>
        <p:spPr bwMode="auto">
          <a:xfrm>
            <a:off x="359825" y="1260000"/>
            <a:ext cx="9180000" cy="1524282"/>
          </a:xfrm>
          <a:prstGeom prst="rect">
            <a:avLst/>
          </a:prstGeom>
          <a:solidFill>
            <a:srgbClr val="CCE0DE"/>
          </a:solidFill>
          <a:ln>
            <a:noFill/>
          </a:ln>
        </p:spPr>
        <p:txBody>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建物に収容される資産の浸水を防止するためには、下図のように「①敷地」、「②建物」、「③資産」の</a:t>
            </a: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3</a:t>
            </a: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つ境界</a:t>
            </a: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屋外設置物は①、③の</a:t>
            </a: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2</a:t>
            </a: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つ</a:t>
            </a: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で水の流入を防ぐことが重要です。</a:t>
            </a:r>
            <a:endPar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①の対策</a:t>
            </a: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敷地境界への防水壁の設置など</a:t>
            </a: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は実施コストが膨大となりやすいものの、確実な浸水対策が可能です。②の対策</a:t>
            </a: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建物開口部への止水板・土のうの設置など</a:t>
            </a: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および③の対策</a:t>
            </a: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上階や保管棚の高所での資産保管など</a:t>
            </a: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は建物外壁での止水性が確保される場合には一般的・現実的と考えられます。</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grpSp>
        <p:nvGrpSpPr>
          <p:cNvPr id="17" name="グループ化 16">
            <a:extLst>
              <a:ext uri="{FF2B5EF4-FFF2-40B4-BE49-F238E27FC236}">
                <a16:creationId xmlns:a16="http://schemas.microsoft.com/office/drawing/2014/main" id="{6CCF613B-23FD-4106-A1D7-ACC35CF62C02}"/>
              </a:ext>
            </a:extLst>
          </p:cNvPr>
          <p:cNvGrpSpPr/>
          <p:nvPr/>
        </p:nvGrpSpPr>
        <p:grpSpPr>
          <a:xfrm>
            <a:off x="6660000" y="5580000"/>
            <a:ext cx="477070" cy="504825"/>
            <a:chOff x="6503425" y="5594958"/>
            <a:chExt cx="477070" cy="504825"/>
          </a:xfrm>
        </p:grpSpPr>
        <p:sp>
          <p:nvSpPr>
            <p:cNvPr id="18" name="右矢印 17">
              <a:extLst>
                <a:ext uri="{FF2B5EF4-FFF2-40B4-BE49-F238E27FC236}">
                  <a16:creationId xmlns:a16="http://schemas.microsoft.com/office/drawing/2014/main" id="{7B5A1088-8881-48CC-84C3-C7A0F716F445}"/>
                </a:ext>
              </a:extLst>
            </p:cNvPr>
            <p:cNvSpPr/>
            <p:nvPr/>
          </p:nvSpPr>
          <p:spPr>
            <a:xfrm rot="10800000">
              <a:off x="6503425" y="5594958"/>
              <a:ext cx="449262" cy="504825"/>
            </a:xfrm>
            <a:prstGeom prst="rightArrow">
              <a:avLst>
                <a:gd name="adj1" fmla="val 50000"/>
                <a:gd name="adj2" fmla="val 61188"/>
              </a:avLst>
            </a:prstGeom>
            <a:solidFill>
              <a:srgbClr val="4F81BD">
                <a:lumMod val="20000"/>
                <a:lumOff val="80000"/>
              </a:srgbClr>
            </a:solidFill>
            <a:ln w="25400" cap="flat" cmpd="sng" algn="ctr">
              <a:solidFill>
                <a:srgbClr val="4F81BD">
                  <a:lumMod val="60000"/>
                  <a:lumOff val="40000"/>
                </a:srgbClr>
              </a:solid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sng"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19" name="正方形/長方形 18">
              <a:extLst>
                <a:ext uri="{FF2B5EF4-FFF2-40B4-BE49-F238E27FC236}">
                  <a16:creationId xmlns:a16="http://schemas.microsoft.com/office/drawing/2014/main" id="{989747EC-43BB-4F3E-8DA2-C66C3059ACF1}"/>
                </a:ext>
              </a:extLst>
            </p:cNvPr>
            <p:cNvSpPr/>
            <p:nvPr/>
          </p:nvSpPr>
          <p:spPr>
            <a:xfrm>
              <a:off x="6530495" y="5594958"/>
              <a:ext cx="450000" cy="504000"/>
            </a:xfrm>
            <a:prstGeom prst="rect">
              <a:avLst/>
            </a:prstGeom>
            <a:noFill/>
            <a:ln w="28575" cap="flat" cmpd="sng" algn="ctr">
              <a:noFill/>
              <a:prstDash val="solid"/>
            </a:ln>
            <a:effectLst/>
          </p:spPr>
          <p:txBody>
            <a:bodyPr lIns="0" tIns="0" rIns="0" bIns="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rgbClr val="1F497D"/>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水</a:t>
              </a:r>
            </a:p>
          </p:txBody>
        </p:sp>
      </p:grpSp>
      <p:grpSp>
        <p:nvGrpSpPr>
          <p:cNvPr id="20" name="グループ化 1">
            <a:extLst>
              <a:ext uri="{FF2B5EF4-FFF2-40B4-BE49-F238E27FC236}">
                <a16:creationId xmlns:a16="http://schemas.microsoft.com/office/drawing/2014/main" id="{D71F5A71-89D3-40D9-AC2C-02A6270B73BB}"/>
              </a:ext>
            </a:extLst>
          </p:cNvPr>
          <p:cNvGrpSpPr>
            <a:grpSpLocks/>
          </p:cNvGrpSpPr>
          <p:nvPr/>
        </p:nvGrpSpPr>
        <p:grpSpPr bwMode="auto">
          <a:xfrm>
            <a:off x="2552324" y="2880000"/>
            <a:ext cx="4795002" cy="3096002"/>
            <a:chOff x="1449996" y="2586207"/>
            <a:chExt cx="3899878" cy="2485857"/>
          </a:xfrm>
        </p:grpSpPr>
        <p:cxnSp>
          <p:nvCxnSpPr>
            <p:cNvPr id="21" name="直線コネクタ 26">
              <a:extLst>
                <a:ext uri="{FF2B5EF4-FFF2-40B4-BE49-F238E27FC236}">
                  <a16:creationId xmlns:a16="http://schemas.microsoft.com/office/drawing/2014/main" id="{C645BD3F-DA7D-4B80-A1B2-3A1C9B1BE1B8}"/>
                </a:ext>
              </a:extLst>
            </p:cNvPr>
            <p:cNvCxnSpPr>
              <a:cxnSpLocks noChangeShapeType="1"/>
            </p:cNvCxnSpPr>
            <p:nvPr/>
          </p:nvCxnSpPr>
          <p:spPr bwMode="auto">
            <a:xfrm flipH="1">
              <a:off x="2903337" y="2853021"/>
              <a:ext cx="2411" cy="712809"/>
            </a:xfrm>
            <a:prstGeom prst="line">
              <a:avLst/>
            </a:prstGeom>
            <a:noFill/>
            <a:ln w="25400" algn="ctr">
              <a:solidFill>
                <a:srgbClr val="7F7F7F"/>
              </a:solidFill>
              <a:prstDash val="sysDash"/>
              <a:round/>
              <a:headEnd/>
              <a:tailEnd/>
            </a:ln>
            <a:extLst>
              <a:ext uri="{909E8E84-426E-40DD-AFC4-6F175D3DCCD1}">
                <a14:hiddenFill xmlns:a14="http://schemas.microsoft.com/office/drawing/2010/main">
                  <a:noFill/>
                </a14:hiddenFill>
              </a:ext>
            </a:extLst>
          </p:spPr>
        </p:cxnSp>
        <p:sp>
          <p:nvSpPr>
            <p:cNvPr id="22" name="正方形/長方形 21">
              <a:extLst>
                <a:ext uri="{FF2B5EF4-FFF2-40B4-BE49-F238E27FC236}">
                  <a16:creationId xmlns:a16="http://schemas.microsoft.com/office/drawing/2014/main" id="{DCA1D74A-8E55-4E7A-9259-9138DDF62F8D}"/>
                </a:ext>
              </a:extLst>
            </p:cNvPr>
            <p:cNvSpPr/>
            <p:nvPr/>
          </p:nvSpPr>
          <p:spPr>
            <a:xfrm>
              <a:off x="2239897" y="3993444"/>
              <a:ext cx="3097571" cy="285968"/>
            </a:xfrm>
            <a:prstGeom prst="rect">
              <a:avLst/>
            </a:prstGeom>
            <a:solidFill>
              <a:sysClr val="window" lastClr="FFFFFF">
                <a:lumMod val="85000"/>
              </a:sysClr>
            </a:solidFill>
            <a:ln w="28575" cap="flat" cmpd="sng" algn="ctr">
              <a:solidFill>
                <a:sysClr val="window" lastClr="FFFFFF">
                  <a:lumMod val="50000"/>
                </a:sysClr>
              </a:solid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23" name="直方体 22">
              <a:extLst>
                <a:ext uri="{FF2B5EF4-FFF2-40B4-BE49-F238E27FC236}">
                  <a16:creationId xmlns:a16="http://schemas.microsoft.com/office/drawing/2014/main" id="{FFE2E3DB-22EB-49FA-BDC4-244D6FB48563}"/>
                </a:ext>
              </a:extLst>
            </p:cNvPr>
            <p:cNvSpPr/>
            <p:nvPr/>
          </p:nvSpPr>
          <p:spPr>
            <a:xfrm>
              <a:off x="2701017" y="3624948"/>
              <a:ext cx="1476412" cy="1017203"/>
            </a:xfrm>
            <a:prstGeom prst="cube">
              <a:avLst>
                <a:gd name="adj" fmla="val 19541"/>
              </a:avLst>
            </a:prstGeom>
            <a:solidFill>
              <a:srgbClr val="EEECE1">
                <a:lumMod val="90000"/>
              </a:srgbClr>
            </a:solidFill>
            <a:ln w="25400" cap="flat" cmpd="sng" algn="ctr">
              <a:solidFill>
                <a:sysClr val="windowText" lastClr="000000">
                  <a:lumMod val="50000"/>
                  <a:lumOff val="50000"/>
                </a:sysClr>
              </a:solid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24" name="正方形/長方形 23">
              <a:extLst>
                <a:ext uri="{FF2B5EF4-FFF2-40B4-BE49-F238E27FC236}">
                  <a16:creationId xmlns:a16="http://schemas.microsoft.com/office/drawing/2014/main" id="{AD5FFEF4-14CE-4758-9DED-B3F7D117B47D}"/>
                </a:ext>
              </a:extLst>
            </p:cNvPr>
            <p:cNvSpPr/>
            <p:nvPr/>
          </p:nvSpPr>
          <p:spPr>
            <a:xfrm>
              <a:off x="2961560" y="4137387"/>
              <a:ext cx="754749" cy="504764"/>
            </a:xfrm>
            <a:prstGeom prst="rect">
              <a:avLst/>
            </a:prstGeom>
            <a:solidFill>
              <a:sysClr val="window" lastClr="FFFFFF"/>
            </a:solidFill>
            <a:ln w="25400" cap="flat" cmpd="sng" algn="ctr">
              <a:solidFill>
                <a:sysClr val="window" lastClr="FFFFFF">
                  <a:lumMod val="50000"/>
                </a:sysClr>
              </a:solid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25" name="正方形/長方形 24">
              <a:extLst>
                <a:ext uri="{FF2B5EF4-FFF2-40B4-BE49-F238E27FC236}">
                  <a16:creationId xmlns:a16="http://schemas.microsoft.com/office/drawing/2014/main" id="{BDAD6ADF-229D-438F-8560-9D4A5CEFE203}"/>
                </a:ext>
              </a:extLst>
            </p:cNvPr>
            <p:cNvSpPr/>
            <p:nvPr/>
          </p:nvSpPr>
          <p:spPr>
            <a:xfrm>
              <a:off x="2816814" y="4289009"/>
              <a:ext cx="1044242" cy="353142"/>
            </a:xfrm>
            <a:prstGeom prst="rect">
              <a:avLst/>
            </a:prstGeom>
            <a:pattFill prst="ltUpDiag">
              <a:fgClr>
                <a:srgbClr val="4F81BD"/>
              </a:fgClr>
              <a:bgClr>
                <a:sysClr val="window" lastClr="FFFFFF"/>
              </a:bgClr>
            </a:pattFill>
            <a:ln w="25400" cap="flat" cmpd="sng" algn="ctr">
              <a:solidFill>
                <a:sysClr val="window" lastClr="FFFFFF">
                  <a:lumMod val="50000"/>
                </a:sysClr>
              </a:solid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26" name="直方体 25">
              <a:extLst>
                <a:ext uri="{FF2B5EF4-FFF2-40B4-BE49-F238E27FC236}">
                  <a16:creationId xmlns:a16="http://schemas.microsoft.com/office/drawing/2014/main" id="{E55BA80B-E6F5-4576-84F7-A9BBFDF48CAF}"/>
                </a:ext>
              </a:extLst>
            </p:cNvPr>
            <p:cNvSpPr/>
            <p:nvPr/>
          </p:nvSpPr>
          <p:spPr>
            <a:xfrm>
              <a:off x="2701017" y="2816942"/>
              <a:ext cx="1476412" cy="1017203"/>
            </a:xfrm>
            <a:prstGeom prst="cube">
              <a:avLst>
                <a:gd name="adj" fmla="val 20687"/>
              </a:avLst>
            </a:prstGeom>
            <a:noFill/>
            <a:ln w="25400" cap="flat" cmpd="sng" algn="ctr">
              <a:solidFill>
                <a:sysClr val="windowText" lastClr="000000">
                  <a:lumMod val="50000"/>
                  <a:lumOff val="50000"/>
                </a:sysClr>
              </a:solidFill>
              <a:prstDash val="sysDash"/>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27" name="直方体 26">
              <a:extLst>
                <a:ext uri="{FF2B5EF4-FFF2-40B4-BE49-F238E27FC236}">
                  <a16:creationId xmlns:a16="http://schemas.microsoft.com/office/drawing/2014/main" id="{42CF91A5-0CE0-469A-9DBF-7C34057B8C28}"/>
                </a:ext>
              </a:extLst>
            </p:cNvPr>
            <p:cNvSpPr/>
            <p:nvPr/>
          </p:nvSpPr>
          <p:spPr>
            <a:xfrm>
              <a:off x="3186951" y="3296755"/>
              <a:ext cx="504544" cy="451025"/>
            </a:xfrm>
            <a:prstGeom prst="cube">
              <a:avLst>
                <a:gd name="adj" fmla="val 22760"/>
              </a:avLst>
            </a:prstGeom>
            <a:solidFill>
              <a:srgbClr val="F79646">
                <a:lumMod val="20000"/>
                <a:lumOff val="80000"/>
              </a:srgbClr>
            </a:solidFill>
            <a:ln w="25400" cap="flat" cmpd="sng" algn="ctr">
              <a:solidFill>
                <a:srgbClr val="F79646">
                  <a:lumMod val="75000"/>
                </a:srgbClr>
              </a:solid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28" name="平行四辺形 27">
              <a:extLst>
                <a:ext uri="{FF2B5EF4-FFF2-40B4-BE49-F238E27FC236}">
                  <a16:creationId xmlns:a16="http://schemas.microsoft.com/office/drawing/2014/main" id="{CEF08BB6-E7F5-416F-9A04-9699074FAF53}"/>
                </a:ext>
              </a:extLst>
            </p:cNvPr>
            <p:cNvSpPr/>
            <p:nvPr/>
          </p:nvSpPr>
          <p:spPr>
            <a:xfrm rot="16200000" flipV="1">
              <a:off x="4408376" y="4130566"/>
              <a:ext cx="1078619" cy="804377"/>
            </a:xfrm>
            <a:prstGeom prst="parallelogram">
              <a:avLst>
                <a:gd name="adj" fmla="val 100679"/>
              </a:avLst>
            </a:prstGeom>
            <a:solidFill>
              <a:sysClr val="window" lastClr="FFFFFF">
                <a:lumMod val="85000"/>
              </a:sysClr>
            </a:solidFill>
            <a:ln w="28575" cap="flat" cmpd="sng" algn="ctr">
              <a:solidFill>
                <a:sysClr val="window" lastClr="FFFFFF">
                  <a:lumMod val="50000"/>
                </a:sysClr>
              </a:solid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29" name="平行四辺形 28">
              <a:extLst>
                <a:ext uri="{FF2B5EF4-FFF2-40B4-BE49-F238E27FC236}">
                  <a16:creationId xmlns:a16="http://schemas.microsoft.com/office/drawing/2014/main" id="{8238B579-E763-40D6-8A2F-D797A394C2BF}"/>
                </a:ext>
              </a:extLst>
            </p:cNvPr>
            <p:cNvSpPr/>
            <p:nvPr/>
          </p:nvSpPr>
          <p:spPr>
            <a:xfrm rot="16200000" flipV="1">
              <a:off x="1312874" y="4130566"/>
              <a:ext cx="1078619" cy="804375"/>
            </a:xfrm>
            <a:prstGeom prst="parallelogram">
              <a:avLst>
                <a:gd name="adj" fmla="val 100679"/>
              </a:avLst>
            </a:prstGeom>
            <a:solidFill>
              <a:sysClr val="window" lastClr="FFFFFF">
                <a:lumMod val="85000"/>
              </a:sysClr>
            </a:solidFill>
            <a:ln w="28575" cap="flat" cmpd="sng" algn="ctr">
              <a:solidFill>
                <a:sysClr val="window" lastClr="FFFFFF">
                  <a:lumMod val="50000"/>
                </a:sysClr>
              </a:solid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A53401AA-3A42-4C45-B895-13AB2AB78A3B}"/>
                </a:ext>
              </a:extLst>
            </p:cNvPr>
            <p:cNvSpPr/>
            <p:nvPr/>
          </p:nvSpPr>
          <p:spPr>
            <a:xfrm>
              <a:off x="1449996" y="4784175"/>
              <a:ext cx="3095503" cy="287888"/>
            </a:xfrm>
            <a:prstGeom prst="rect">
              <a:avLst/>
            </a:prstGeom>
            <a:solidFill>
              <a:sysClr val="window" lastClr="FFFFFF">
                <a:lumMod val="85000"/>
              </a:sysClr>
            </a:solidFill>
            <a:ln w="28575" cap="flat" cmpd="sng" algn="ctr">
              <a:solidFill>
                <a:sysClr val="window" lastClr="FFFFFF">
                  <a:lumMod val="50000"/>
                </a:sysClr>
              </a:solid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cxnSp>
          <p:nvCxnSpPr>
            <p:cNvPr id="31" name="直線コネクタ 35">
              <a:extLst>
                <a:ext uri="{FF2B5EF4-FFF2-40B4-BE49-F238E27FC236}">
                  <a16:creationId xmlns:a16="http://schemas.microsoft.com/office/drawing/2014/main" id="{D8063FB5-8D5D-4A87-A99A-383B01E169BC}"/>
                </a:ext>
              </a:extLst>
            </p:cNvPr>
            <p:cNvCxnSpPr>
              <a:cxnSpLocks noChangeShapeType="1"/>
            </p:cNvCxnSpPr>
            <p:nvPr/>
          </p:nvCxnSpPr>
          <p:spPr bwMode="auto">
            <a:xfrm>
              <a:off x="2449513" y="2979738"/>
              <a:ext cx="942975" cy="639762"/>
            </a:xfrm>
            <a:prstGeom prst="line">
              <a:avLst/>
            </a:prstGeom>
            <a:noFill/>
            <a:ln w="19050" algn="ctr">
              <a:solidFill>
                <a:srgbClr val="E46C0A"/>
              </a:solidFill>
              <a:round/>
              <a:headEnd/>
              <a:tailEnd/>
            </a:ln>
            <a:extLst>
              <a:ext uri="{909E8E84-426E-40DD-AFC4-6F175D3DCCD1}">
                <a14:hiddenFill xmlns:a14="http://schemas.microsoft.com/office/drawing/2010/main">
                  <a:noFill/>
                </a14:hiddenFill>
              </a:ext>
            </a:extLst>
          </p:spPr>
        </p:cxnSp>
        <p:sp>
          <p:nvSpPr>
            <p:cNvPr id="32" name="正方形/長方形 31">
              <a:extLst>
                <a:ext uri="{FF2B5EF4-FFF2-40B4-BE49-F238E27FC236}">
                  <a16:creationId xmlns:a16="http://schemas.microsoft.com/office/drawing/2014/main" id="{E5C194B4-DF0A-43BB-861A-74DD8C393503}"/>
                </a:ext>
              </a:extLst>
            </p:cNvPr>
            <p:cNvSpPr/>
            <p:nvPr/>
          </p:nvSpPr>
          <p:spPr>
            <a:xfrm>
              <a:off x="1990352" y="2729147"/>
              <a:ext cx="841597" cy="318596"/>
            </a:xfrm>
            <a:prstGeom prst="rect">
              <a:avLst/>
            </a:prstGeom>
            <a:noFill/>
            <a:ln w="28575"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rgbClr val="F79646">
                      <a:lumMod val="75000"/>
                    </a:srgb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資産</a:t>
              </a:r>
            </a:p>
          </p:txBody>
        </p:sp>
        <p:cxnSp>
          <p:nvCxnSpPr>
            <p:cNvPr id="33" name="直線コネクタ 37">
              <a:extLst>
                <a:ext uri="{FF2B5EF4-FFF2-40B4-BE49-F238E27FC236}">
                  <a16:creationId xmlns:a16="http://schemas.microsoft.com/office/drawing/2014/main" id="{FE066FBB-AB40-44AC-A64B-A26BA98F04F8}"/>
                </a:ext>
              </a:extLst>
            </p:cNvPr>
            <p:cNvCxnSpPr>
              <a:cxnSpLocks noChangeShapeType="1"/>
            </p:cNvCxnSpPr>
            <p:nvPr/>
          </p:nvCxnSpPr>
          <p:spPr bwMode="auto">
            <a:xfrm>
              <a:off x="2261057" y="3612757"/>
              <a:ext cx="965200" cy="655638"/>
            </a:xfrm>
            <a:prstGeom prst="line">
              <a:avLst/>
            </a:prstGeom>
            <a:noFill/>
            <a:ln w="19050" algn="ctr">
              <a:solidFill>
                <a:srgbClr val="7F7F7F"/>
              </a:solidFill>
              <a:round/>
              <a:headEnd/>
              <a:tailEnd/>
            </a:ln>
            <a:extLst>
              <a:ext uri="{909E8E84-426E-40DD-AFC4-6F175D3DCCD1}">
                <a14:hiddenFill xmlns:a14="http://schemas.microsoft.com/office/drawing/2010/main">
                  <a:noFill/>
                </a14:hiddenFill>
              </a:ext>
            </a:extLst>
          </p:spPr>
        </p:cxnSp>
        <p:sp>
          <p:nvSpPr>
            <p:cNvPr id="34" name="正方形/長方形 33">
              <a:extLst>
                <a:ext uri="{FF2B5EF4-FFF2-40B4-BE49-F238E27FC236}">
                  <a16:creationId xmlns:a16="http://schemas.microsoft.com/office/drawing/2014/main" id="{C9893DD6-61E0-48D0-AC2F-B881E4DB3230}"/>
                </a:ext>
              </a:extLst>
            </p:cNvPr>
            <p:cNvSpPr/>
            <p:nvPr/>
          </p:nvSpPr>
          <p:spPr>
            <a:xfrm>
              <a:off x="1469293" y="3347438"/>
              <a:ext cx="1095936" cy="318596"/>
            </a:xfrm>
            <a:prstGeom prst="rect">
              <a:avLst/>
            </a:prstGeom>
            <a:noFill/>
            <a:ln w="28575" cap="flat" cmpd="sng" algn="ctr">
              <a:noFill/>
              <a:prstDash val="solid"/>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prstClr val="white">
                      <a:lumMod val="50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開口部</a:t>
              </a:r>
            </a:p>
          </p:txBody>
        </p:sp>
        <p:sp>
          <p:nvSpPr>
            <p:cNvPr id="35" name="正方形/長方形 34">
              <a:extLst>
                <a:ext uri="{FF2B5EF4-FFF2-40B4-BE49-F238E27FC236}">
                  <a16:creationId xmlns:a16="http://schemas.microsoft.com/office/drawing/2014/main" id="{40EEBF49-C993-42B4-B3A2-490B1F3F7E13}"/>
                </a:ext>
              </a:extLst>
            </p:cNvPr>
            <p:cNvSpPr/>
            <p:nvPr/>
          </p:nvSpPr>
          <p:spPr>
            <a:xfrm>
              <a:off x="2930677" y="2586207"/>
              <a:ext cx="738207" cy="316677"/>
            </a:xfrm>
            <a:prstGeom prst="rect">
              <a:avLst/>
            </a:prstGeom>
            <a:noFill/>
            <a:ln w="28575" cap="flat" cmpd="sng" algn="ctr">
              <a:noFill/>
              <a:prstDash val="solid"/>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prstClr val="white">
                      <a:lumMod val="50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建物</a:t>
              </a:r>
            </a:p>
          </p:txBody>
        </p:sp>
      </p:grpSp>
      <p:cxnSp>
        <p:nvCxnSpPr>
          <p:cNvPr id="36" name="直線矢印コネクタ 32">
            <a:extLst>
              <a:ext uri="{FF2B5EF4-FFF2-40B4-BE49-F238E27FC236}">
                <a16:creationId xmlns:a16="http://schemas.microsoft.com/office/drawing/2014/main" id="{C56C8E71-809C-43B6-BEB4-F4450C9FD368}"/>
              </a:ext>
            </a:extLst>
          </p:cNvPr>
          <p:cNvCxnSpPr>
            <a:cxnSpLocks noChangeShapeType="1"/>
            <a:stCxn id="37" idx="2"/>
            <a:endCxn id="29" idx="4"/>
          </p:cNvCxnSpPr>
          <p:nvPr/>
        </p:nvCxnSpPr>
        <p:spPr bwMode="auto">
          <a:xfrm>
            <a:off x="1800000" y="4971361"/>
            <a:ext cx="1074173" cy="332959"/>
          </a:xfrm>
          <a:prstGeom prst="straightConnector1">
            <a:avLst/>
          </a:prstGeom>
          <a:noFill/>
          <a:ln w="28575" algn="ctr">
            <a:solidFill>
              <a:srgbClr val="00B050"/>
            </a:solidFill>
            <a:round/>
            <a:headEnd/>
            <a:tailEnd type="arrow" w="lg" len="med"/>
          </a:ln>
          <a:extLst>
            <a:ext uri="{909E8E84-426E-40DD-AFC4-6F175D3DCCD1}">
              <a14:hiddenFill xmlns:a14="http://schemas.microsoft.com/office/drawing/2010/main">
                <a:noFill/>
              </a14:hiddenFill>
            </a:ext>
          </a:extLst>
        </p:spPr>
      </p:cxnSp>
      <p:sp>
        <p:nvSpPr>
          <p:cNvPr id="37" name="角丸四角形 37">
            <a:extLst>
              <a:ext uri="{FF2B5EF4-FFF2-40B4-BE49-F238E27FC236}">
                <a16:creationId xmlns:a16="http://schemas.microsoft.com/office/drawing/2014/main" id="{AA8D35CA-2700-4724-B667-0922C013D5C0}"/>
              </a:ext>
            </a:extLst>
          </p:cNvPr>
          <p:cNvSpPr/>
          <p:nvPr/>
        </p:nvSpPr>
        <p:spPr>
          <a:xfrm>
            <a:off x="360000" y="4410000"/>
            <a:ext cx="2880000" cy="561361"/>
          </a:xfrm>
          <a:prstGeom prst="roundRect">
            <a:avLst>
              <a:gd name="adj" fmla="val 13873"/>
            </a:avLst>
          </a:prstGeom>
          <a:solidFill>
            <a:srgbClr val="F5F8EE"/>
          </a:solidFill>
          <a:ln w="25400" cap="flat" cmpd="sng" algn="ctr">
            <a:solidFill>
              <a:srgbClr val="00B050"/>
            </a:solidFill>
            <a:prstDash val="solid"/>
          </a:ln>
          <a:effectLst/>
        </p:spPr>
        <p:txBody>
          <a:bodyPr lIns="72000" tIns="72000" rIns="72000" bIns="7200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sng" strike="noStrike" kern="0" cap="none" spc="0" normalizeH="0" baseline="0" noProof="0" dirty="0">
                <a:ln>
                  <a:noFill/>
                </a:ln>
                <a:solidFill>
                  <a:srgbClr val="00B050"/>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①敷地内の浸水を防ぐ</a:t>
            </a:r>
            <a:endParaRPr kumimoji="0" lang="en-US" altLang="ja-JP" sz="1400" b="0" i="0" u="sng" strike="noStrike" kern="0" cap="none" spc="0" normalizeH="0" baseline="0" noProof="0" dirty="0">
              <a:ln>
                <a:noFill/>
              </a:ln>
              <a:solidFill>
                <a:srgbClr val="00B050"/>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a:p>
            <a:pPr marL="363538" marR="0" lvl="0" indent="-363538" algn="l"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black">
                    <a:lumMod val="95000"/>
                    <a:lumOff val="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例</a:t>
            </a:r>
            <a:r>
              <a:rPr kumimoji="0" lang="en-US" altLang="ja-JP" sz="1200" b="0" i="0" u="none" strike="noStrike" kern="0" cap="none" spc="0" normalizeH="0" baseline="0" noProof="0" dirty="0">
                <a:ln>
                  <a:noFill/>
                </a:ln>
                <a:solidFill>
                  <a:prstClr val="black">
                    <a:lumMod val="95000"/>
                    <a:lumOff val="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a:t>
            </a:r>
            <a:r>
              <a:rPr kumimoji="0" lang="ja-JP" altLang="en-US" sz="1200" b="0" i="0" u="none" strike="noStrike" kern="0" cap="none" spc="0" normalizeH="0" baseline="0" noProof="0" dirty="0">
                <a:ln>
                  <a:noFill/>
                </a:ln>
                <a:solidFill>
                  <a:prstClr val="black">
                    <a:lumMod val="95000"/>
                    <a:lumOff val="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 防水壁の設置、地盤のかさ上げ など</a:t>
            </a:r>
            <a:endParaRPr kumimoji="0" lang="en-US" altLang="ja-JP" sz="1200" b="0" i="0" u="none" strike="noStrike" kern="0" cap="none" spc="0" normalizeH="0" baseline="0" noProof="0" dirty="0">
              <a:ln>
                <a:noFill/>
              </a:ln>
              <a:solidFill>
                <a:prstClr val="black">
                  <a:lumMod val="95000"/>
                  <a:lumOff val="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cxnSp>
        <p:nvCxnSpPr>
          <p:cNvPr id="38" name="直線矢印コネクタ 34">
            <a:extLst>
              <a:ext uri="{FF2B5EF4-FFF2-40B4-BE49-F238E27FC236}">
                <a16:creationId xmlns:a16="http://schemas.microsoft.com/office/drawing/2014/main" id="{989F1E18-A44F-43E9-8CD4-3990840E98D0}"/>
              </a:ext>
            </a:extLst>
          </p:cNvPr>
          <p:cNvCxnSpPr>
            <a:cxnSpLocks noChangeShapeType="1"/>
            <a:stCxn id="41" idx="1"/>
            <a:endCxn id="25" idx="3"/>
          </p:cNvCxnSpPr>
          <p:nvPr/>
        </p:nvCxnSpPr>
        <p:spPr bwMode="auto">
          <a:xfrm flipH="1" flipV="1">
            <a:off x="5516785" y="5220659"/>
            <a:ext cx="1143215" cy="1967"/>
          </a:xfrm>
          <a:prstGeom prst="straightConnector1">
            <a:avLst/>
          </a:prstGeom>
          <a:noFill/>
          <a:ln w="28575" algn="ctr">
            <a:solidFill>
              <a:srgbClr val="00B050"/>
            </a:solidFill>
            <a:round/>
            <a:headEnd/>
            <a:tailEnd type="arrow" w="lg" len="med"/>
          </a:ln>
          <a:extLst>
            <a:ext uri="{909E8E84-426E-40DD-AFC4-6F175D3DCCD1}">
              <a14:hiddenFill xmlns:a14="http://schemas.microsoft.com/office/drawing/2010/main">
                <a:noFill/>
              </a14:hiddenFill>
            </a:ext>
          </a:extLst>
        </p:spPr>
      </p:cxnSp>
      <p:cxnSp>
        <p:nvCxnSpPr>
          <p:cNvPr id="39" name="直線矢印コネクタ 40">
            <a:extLst>
              <a:ext uri="{FF2B5EF4-FFF2-40B4-BE49-F238E27FC236}">
                <a16:creationId xmlns:a16="http://schemas.microsoft.com/office/drawing/2014/main" id="{9ADDF75C-DF3C-431E-8A4D-0EB1C6B82AC1}"/>
              </a:ext>
            </a:extLst>
          </p:cNvPr>
          <p:cNvCxnSpPr>
            <a:cxnSpLocks noChangeShapeType="1"/>
            <a:stCxn id="40" idx="1"/>
            <a:endCxn id="27" idx="5"/>
          </p:cNvCxnSpPr>
          <p:nvPr/>
        </p:nvCxnSpPr>
        <p:spPr bwMode="auto">
          <a:xfrm flipH="1">
            <a:off x="5308306" y="3419410"/>
            <a:ext cx="1351694" cy="562479"/>
          </a:xfrm>
          <a:prstGeom prst="straightConnector1">
            <a:avLst/>
          </a:prstGeom>
          <a:noFill/>
          <a:ln w="28575" algn="ctr">
            <a:solidFill>
              <a:srgbClr val="00B050"/>
            </a:solidFill>
            <a:round/>
            <a:headEnd/>
            <a:tailEnd type="arrow" w="lg" len="med"/>
          </a:ln>
          <a:extLst>
            <a:ext uri="{909E8E84-426E-40DD-AFC4-6F175D3DCCD1}">
              <a14:hiddenFill xmlns:a14="http://schemas.microsoft.com/office/drawing/2010/main">
                <a:noFill/>
              </a14:hiddenFill>
            </a:ext>
          </a:extLst>
        </p:spPr>
      </p:cxnSp>
      <p:sp>
        <p:nvSpPr>
          <p:cNvPr id="40" name="角丸四角形 40">
            <a:extLst>
              <a:ext uri="{FF2B5EF4-FFF2-40B4-BE49-F238E27FC236}">
                <a16:creationId xmlns:a16="http://schemas.microsoft.com/office/drawing/2014/main" id="{28DDB232-5A5F-450B-8097-F6908ADE4B53}"/>
              </a:ext>
            </a:extLst>
          </p:cNvPr>
          <p:cNvSpPr/>
          <p:nvPr/>
        </p:nvSpPr>
        <p:spPr>
          <a:xfrm>
            <a:off x="6660000" y="3150000"/>
            <a:ext cx="2880000" cy="538819"/>
          </a:xfrm>
          <a:prstGeom prst="roundRect">
            <a:avLst>
              <a:gd name="adj" fmla="val 12517"/>
            </a:avLst>
          </a:prstGeom>
          <a:solidFill>
            <a:srgbClr val="F5F8EE"/>
          </a:solidFill>
          <a:ln w="25400" cap="flat" cmpd="sng" algn="ctr">
            <a:solidFill>
              <a:srgbClr val="00B050"/>
            </a:solidFill>
            <a:prstDash val="solid"/>
          </a:ln>
          <a:effectLst/>
        </p:spPr>
        <p:txBody>
          <a:bodyPr lIns="72000" tIns="72000" rIns="72000" bIns="7200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sng" strike="noStrike" kern="0" cap="none" spc="0" normalizeH="0" baseline="0" noProof="0" dirty="0">
                <a:ln>
                  <a:noFill/>
                </a:ln>
                <a:solidFill>
                  <a:srgbClr val="00B050"/>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③資産の浸水を防ぐ</a:t>
            </a:r>
            <a:endParaRPr kumimoji="0" lang="en-US" altLang="ja-JP" sz="1400" b="0" i="0" u="sng" strike="noStrike" kern="0" cap="none" spc="0" normalizeH="0" baseline="0" noProof="0" dirty="0">
              <a:ln>
                <a:noFill/>
              </a:ln>
              <a:solidFill>
                <a:srgbClr val="00B050"/>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a:p>
            <a:pPr marL="360363" marR="0" lvl="0" indent="-360363" algn="l"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black">
                    <a:lumMod val="95000"/>
                    <a:lumOff val="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例</a:t>
            </a:r>
            <a:r>
              <a:rPr kumimoji="0" lang="en-US" altLang="ja-JP" sz="1200" b="0" i="0" u="none" strike="noStrike" kern="0" cap="none" spc="0" normalizeH="0" baseline="0" noProof="0" dirty="0">
                <a:ln>
                  <a:noFill/>
                </a:ln>
                <a:solidFill>
                  <a:prstClr val="black">
                    <a:lumMod val="95000"/>
                    <a:lumOff val="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a:t>
            </a:r>
            <a:r>
              <a:rPr kumimoji="0" lang="ja-JP" altLang="en-US" sz="1200" b="0" i="0" u="none" strike="noStrike" kern="0" cap="none" spc="0" normalizeH="0" baseline="0" noProof="0" dirty="0">
                <a:ln>
                  <a:noFill/>
                </a:ln>
                <a:solidFill>
                  <a:prstClr val="black">
                    <a:lumMod val="95000"/>
                    <a:lumOff val="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上階への設置、資産周囲の防護 など</a:t>
            </a:r>
            <a:endParaRPr kumimoji="0" lang="en-US" altLang="ja-JP" sz="1200" b="0" i="0" u="none" strike="noStrike" kern="0" cap="none" spc="0" normalizeH="0" baseline="0" noProof="0" dirty="0">
              <a:ln>
                <a:noFill/>
              </a:ln>
              <a:solidFill>
                <a:prstClr val="black">
                  <a:lumMod val="95000"/>
                  <a:lumOff val="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41" name="角丸四角形 41">
            <a:extLst>
              <a:ext uri="{FF2B5EF4-FFF2-40B4-BE49-F238E27FC236}">
                <a16:creationId xmlns:a16="http://schemas.microsoft.com/office/drawing/2014/main" id="{02F79118-65EA-43EE-8E83-94F74618D77A}"/>
              </a:ext>
            </a:extLst>
          </p:cNvPr>
          <p:cNvSpPr/>
          <p:nvPr/>
        </p:nvSpPr>
        <p:spPr>
          <a:xfrm>
            <a:off x="6660000" y="4950000"/>
            <a:ext cx="2880000" cy="545252"/>
          </a:xfrm>
          <a:prstGeom prst="roundRect">
            <a:avLst>
              <a:gd name="adj" fmla="val 13000"/>
            </a:avLst>
          </a:prstGeom>
          <a:solidFill>
            <a:srgbClr val="F5F8EE"/>
          </a:solidFill>
          <a:ln w="25400" cap="flat" cmpd="sng" algn="ctr">
            <a:solidFill>
              <a:srgbClr val="00B050"/>
            </a:solidFill>
            <a:prstDash val="solid"/>
          </a:ln>
          <a:effectLst/>
        </p:spPr>
        <p:txBody>
          <a:bodyPr lIns="72000" tIns="72000" rIns="72000" bIns="7200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sng" strike="noStrike" kern="0" cap="none" spc="0" normalizeH="0" baseline="0" noProof="0" dirty="0">
                <a:ln>
                  <a:noFill/>
                </a:ln>
                <a:solidFill>
                  <a:srgbClr val="00B050"/>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②建物内の浸水を防ぐ</a:t>
            </a:r>
            <a:endParaRPr kumimoji="0" lang="en-US" altLang="ja-JP" sz="1400" b="0" i="0" u="sng" strike="noStrike" kern="0" cap="none" spc="0" normalizeH="0" baseline="0" noProof="0" dirty="0">
              <a:ln>
                <a:noFill/>
              </a:ln>
              <a:solidFill>
                <a:srgbClr val="00B050"/>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a:p>
            <a:pPr marL="363538" marR="0" lvl="0" indent="-363538" algn="l"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black">
                    <a:lumMod val="95000"/>
                    <a:lumOff val="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例</a:t>
            </a:r>
            <a:r>
              <a:rPr kumimoji="0" lang="en-US" altLang="ja-JP" sz="1200" b="0" i="0" u="none" strike="noStrike" kern="0" cap="none" spc="0" normalizeH="0" baseline="0" noProof="0" dirty="0">
                <a:ln>
                  <a:noFill/>
                </a:ln>
                <a:solidFill>
                  <a:prstClr val="black">
                    <a:lumMod val="95000"/>
                    <a:lumOff val="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a:t>
            </a:r>
            <a:r>
              <a:rPr kumimoji="0" lang="ja-JP" altLang="en-US" sz="1200" b="0" i="0" u="none" strike="noStrike" kern="0" cap="none" spc="0" normalizeH="0" baseline="0" noProof="0" dirty="0">
                <a:ln>
                  <a:noFill/>
                </a:ln>
                <a:solidFill>
                  <a:prstClr val="black">
                    <a:lumMod val="95000"/>
                    <a:lumOff val="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 止水板の設置、建物のかさ上げ など</a:t>
            </a:r>
            <a:endParaRPr kumimoji="0" lang="en-US" altLang="ja-JP" sz="1200" b="0" i="0" u="none" strike="noStrike" kern="0" cap="none" spc="0" normalizeH="0" baseline="0" noProof="0" dirty="0">
              <a:ln>
                <a:noFill/>
              </a:ln>
              <a:solidFill>
                <a:prstClr val="black">
                  <a:lumMod val="95000"/>
                  <a:lumOff val="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42" name="正方形/長方形 41">
            <a:extLst>
              <a:ext uri="{FF2B5EF4-FFF2-40B4-BE49-F238E27FC236}">
                <a16:creationId xmlns:a16="http://schemas.microsoft.com/office/drawing/2014/main" id="{711AC136-249C-4E52-9D2F-041EF93A4384}"/>
              </a:ext>
            </a:extLst>
          </p:cNvPr>
          <p:cNvSpPr/>
          <p:nvPr/>
        </p:nvSpPr>
        <p:spPr>
          <a:xfrm>
            <a:off x="3149825" y="6030000"/>
            <a:ext cx="3600000" cy="360000"/>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dirty="0">
                <a:ln>
                  <a:noFill/>
                </a:ln>
                <a:solidFill>
                  <a:prstClr val="black">
                    <a:lumMod val="85000"/>
                    <a:lumOff val="1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rPr>
              <a:t>浸水を防ぐための３つの防護ライン</a:t>
            </a:r>
            <a:endParaRPr kumimoji="0" lang="en-US" altLang="ja-JP" sz="1400" b="0" i="0" u="none" strike="noStrike" kern="1200" cap="none" spc="0" normalizeH="0" baseline="0" noProof="0" dirty="0">
              <a:ln>
                <a:noFill/>
              </a:ln>
              <a:solidFill>
                <a:prstClr val="black">
                  <a:lumMod val="85000"/>
                  <a:lumOff val="15000"/>
                </a:prstClr>
              </a:solidFill>
              <a:effectLst/>
              <a:uLnTx/>
              <a:uFillTx/>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43" name="スライド番号プレースホルダー 5">
            <a:extLst>
              <a:ext uri="{FF2B5EF4-FFF2-40B4-BE49-F238E27FC236}">
                <a16:creationId xmlns:a16="http://schemas.microsoft.com/office/drawing/2014/main" id="{D233D7F0-F29C-4330-8D45-4430BCDCB425}"/>
              </a:ext>
            </a:extLst>
          </p:cNvPr>
          <p:cNvSpPr txBox="1">
            <a:spLocks/>
          </p:cNvSpPr>
          <p:nvPr/>
        </p:nvSpPr>
        <p:spPr>
          <a:xfrm>
            <a:off x="9247906" y="6437312"/>
            <a:ext cx="461667" cy="268288"/>
          </a:xfrm>
          <a:prstGeom prst="rect">
            <a:avLst/>
          </a:prstGeom>
        </p:spPr>
        <p:txBody>
          <a:bodyPr lIns="0" tIns="0" rIns="0" bIns="0" anchor="b"/>
          <a:lstStyle>
            <a:defPPr>
              <a:defRPr lang="fr-FR"/>
            </a:defPPr>
            <a:lvl1pPr marL="0" algn="r" defTabSz="914400" rtl="0" eaLnBrk="1" fontAlgn="auto" latinLnBrk="0" hangingPunct="1">
              <a:spcBef>
                <a:spcPts val="0"/>
              </a:spcBef>
              <a:spcAft>
                <a:spcPts val="0"/>
              </a:spcAft>
              <a:defRPr lang="ja-JP" altLang="en-US" sz="1199" kern="1200">
                <a:solidFill>
                  <a:srgbClr val="414243"/>
                </a:solidFill>
                <a:latin typeface="Arial" pitchFamily="34" charset="0"/>
                <a:ea typeface="ＭＳ Ｐゴシック" pitchFamily="50"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3C987C2D-0993-D24A-8F17-67855EAE4BDA}" type="slidenum">
              <a:rPr kumimoji="1" lang="en-US" altLang="ja-JP" smtClean="0">
                <a:solidFill>
                  <a:schemeClr val="bg1"/>
                </a:solidFill>
                <a:latin typeface="游ゴシック" panose="020B0400000000000000" pitchFamily="50" charset="-128"/>
                <a:ea typeface="游ゴシック" panose="020B0400000000000000" pitchFamily="50" charset="-128"/>
              </a:rPr>
              <a:pPr algn="ctr"/>
              <a:t>54</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4825106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14300" y="361950"/>
          <a:ext cx="9820275" cy="6705600"/>
          <a:chOff x="114300" y="361950"/>
          <a:chExt cx="9820275" cy="6705600"/>
        </a:xfrm>
      </p:grpSpPr>
      <p:sp>
        <p:nvSpPr>
          <p:cNvPr id="10" name="テキスト ボックス 9"/>
          <p:cNvSpPr txBox="1"/>
          <p:nvPr/>
        </p:nvSpPr>
        <p:spPr>
          <a:xfrm>
            <a:off x="8248650" y="361950"/>
            <a:ext cx="1333500" cy="180975"/>
          </a:xfrm>
          <a:prstGeom prst="rect">
            <a:avLst/>
          </a:prstGeom>
          <a:solidFill>
            <a:srgbClr val="404040">
              <a:alpha val="100000"/>
            </a:srgbClr>
          </a:solidFill>
        </p:spPr>
        <p:txBody>
          <a:bodyPr wrap="none"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Strictly Confidential</a:t>
            </a:r>
          </a:p>
        </p:txBody>
      </p:sp>
      <p:sp>
        <p:nvSpPr>
          <p:cNvPr id="2" name="テキスト ボックス 1"/>
          <p:cNvSpPr txBox="1"/>
          <p:nvPr/>
        </p:nvSpPr>
        <p:spPr>
          <a:xfrm>
            <a:off x="361950" y="371475"/>
            <a:ext cx="723900" cy="676275"/>
          </a:xfrm>
          <a:prstGeom prst="rect">
            <a:avLst/>
          </a:prstGeom>
          <a:solidFill>
            <a:srgbClr val="006659">
              <a:alpha val="100000"/>
            </a:srgbClr>
          </a:solidFill>
        </p:spPr>
        <p:txBody>
          <a:bodyPr lIns="91440" tIns="45720" rIns="91440" bIns="45720" rtlCol="0" anchor="ctr">
            <a:noAutofit/>
          </a:bodyPr>
          <a:lstStyle/>
          <a:p>
            <a:pPr marL="0" marR="0" lvl="0" indent="0" algn="ctr" rtl="0" fontAlgn="ctr">
              <a:lnSpc>
                <a:spcPct val="100000"/>
              </a:lnSpc>
              <a:spcBef>
                <a:spcPts val="0"/>
              </a:spcBef>
              <a:spcAft>
                <a:spcPts val="0"/>
              </a:spcAft>
            </a:pPr>
            <a:r>
              <a:rPr lang="en-US" sz="3200" dirty="0">
                <a:solidFill>
                  <a:srgbClr val="FFFFFF">
                    <a:alpha val="100000"/>
                  </a:srgbClr>
                </a:solidFill>
                <a:latin typeface="游ゴシック"/>
              </a:rPr>
              <a:t>8</a:t>
            </a:r>
            <a:endParaRPr lang="en-US" sz="3200" u="none" spc="0" dirty="0">
              <a:solidFill>
                <a:srgbClr val="FFFFFF">
                  <a:alpha val="100000"/>
                </a:srgbClr>
              </a:solidFill>
              <a:latin typeface="游ゴシック"/>
            </a:endParaRPr>
          </a:p>
        </p:txBody>
      </p:sp>
      <p:sp>
        <p:nvSpPr>
          <p:cNvPr id="3" name="テキスト ボックス 2"/>
          <p:cNvSpPr txBox="1"/>
          <p:nvPr/>
        </p:nvSpPr>
        <p:spPr>
          <a:xfrm>
            <a:off x="1295400" y="371475"/>
            <a:ext cx="7239000" cy="723900"/>
          </a:xfrm>
          <a:prstGeom prst="rect">
            <a:avLst/>
          </a:prstGeom>
          <a:noFill/>
        </p:spPr>
        <p:txBody>
          <a:bodyPr lIns="91440" tIns="45720" rIns="91440" bIns="45720" rtlCol="0" anchor="ctr">
            <a:noAutofit/>
          </a:bodyPr>
          <a:lstStyle/>
          <a:p>
            <a:pPr marL="47625" fontAlgn="ctr"/>
            <a:r>
              <a:rPr lang="ja-JP" altLang="en-US" sz="2400" dirty="0">
                <a:latin typeface="游ゴシック" panose="020B0400000000000000" pitchFamily="50" charset="-128"/>
                <a:ea typeface="游ゴシック" panose="020B0400000000000000" pitchFamily="50" charset="-128"/>
              </a:rPr>
              <a:t>参考情報</a:t>
            </a:r>
            <a:r>
              <a:rPr lang="en-US" altLang="ja-JP" sz="2400" dirty="0">
                <a:latin typeface="游ゴシック" panose="020B0400000000000000" pitchFamily="50" charset="-128"/>
                <a:ea typeface="游ゴシック" panose="020B0400000000000000" pitchFamily="50" charset="-128"/>
              </a:rPr>
              <a:t>(</a:t>
            </a:r>
            <a:r>
              <a:rPr lang="ja-JP" altLang="en-US" sz="2400" dirty="0">
                <a:latin typeface="游ゴシック" panose="020B0400000000000000" pitchFamily="50" charset="-128"/>
                <a:ea typeface="游ゴシック" panose="020B0400000000000000" pitchFamily="50" charset="-128"/>
              </a:rPr>
              <a:t>水災対策資機材の種類</a:t>
            </a:r>
            <a:r>
              <a:rPr lang="en-US" altLang="ja-JP" sz="2400" dirty="0">
                <a:latin typeface="游ゴシック" panose="020B0400000000000000" pitchFamily="50" charset="-128"/>
                <a:ea typeface="游ゴシック" panose="020B0400000000000000" pitchFamily="50" charset="-128"/>
              </a:rPr>
              <a:t>)</a:t>
            </a:r>
          </a:p>
        </p:txBody>
      </p:sp>
      <p:sp>
        <p:nvSpPr>
          <p:cNvPr id="4" name="テキスト ボックス 3"/>
          <p:cNvSpPr txBox="1"/>
          <p:nvPr/>
        </p:nvSpPr>
        <p:spPr>
          <a:xfrm>
            <a:off x="361950" y="6496050"/>
            <a:ext cx="9220200" cy="209550"/>
          </a:xfrm>
          <a:prstGeom prst="rect">
            <a:avLst/>
          </a:prstGeom>
          <a:solidFill>
            <a:srgbClr val="006659">
              <a:alpha val="100000"/>
            </a:srgbClr>
          </a:solidFill>
        </p:spPr>
        <p:txBody>
          <a:bodyPr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 MS&amp;AD InterRisk Research &amp; Consulting, Inc.</a:t>
            </a:r>
          </a:p>
        </p:txBody>
      </p:sp>
      <p:pic>
        <p:nvPicPr>
          <p:cNvPr id="6" name="図 5">
            <a:extLst>
              <a:ext uri="{FF2B5EF4-FFF2-40B4-BE49-F238E27FC236}">
                <a16:creationId xmlns:a16="http://schemas.microsoft.com/office/drawing/2014/main" id="{0E64C2A5-2131-433B-9988-312AC9BD6B3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9825" y="1260000"/>
            <a:ext cx="9180000" cy="4181162"/>
          </a:xfrm>
          <a:prstGeom prst="rect">
            <a:avLst/>
          </a:prstGeom>
        </p:spPr>
      </p:pic>
      <p:sp>
        <p:nvSpPr>
          <p:cNvPr id="7" name="テキスト ボックス 6">
            <a:extLst>
              <a:ext uri="{FF2B5EF4-FFF2-40B4-BE49-F238E27FC236}">
                <a16:creationId xmlns:a16="http://schemas.microsoft.com/office/drawing/2014/main" id="{02B4A5BC-399E-4D88-9FF6-C60EBE81870D}"/>
              </a:ext>
            </a:extLst>
          </p:cNvPr>
          <p:cNvSpPr txBox="1"/>
          <p:nvPr/>
        </p:nvSpPr>
        <p:spPr>
          <a:xfrm>
            <a:off x="359825" y="5760000"/>
            <a:ext cx="9180000" cy="360000"/>
          </a:xfrm>
          <a:prstGeom prst="rect">
            <a:avLst/>
          </a:prstGeom>
          <a:noFill/>
        </p:spPr>
        <p:txBody>
          <a:bodyPr wrap="square" rtlCol="0" anchor="ctr" anchorCtr="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出典：地下街等における浸水防止用設備整備のガイドライン</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国土交通省、平成</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28</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年</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8</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月</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p>
        </p:txBody>
      </p:sp>
      <p:sp>
        <p:nvSpPr>
          <p:cNvPr id="8" name="スライド番号プレースホルダー 5">
            <a:extLst>
              <a:ext uri="{FF2B5EF4-FFF2-40B4-BE49-F238E27FC236}">
                <a16:creationId xmlns:a16="http://schemas.microsoft.com/office/drawing/2014/main" id="{7127C628-E3A2-4D32-828C-50CF361777F7}"/>
              </a:ext>
            </a:extLst>
          </p:cNvPr>
          <p:cNvSpPr txBox="1">
            <a:spLocks/>
          </p:cNvSpPr>
          <p:nvPr/>
        </p:nvSpPr>
        <p:spPr>
          <a:xfrm>
            <a:off x="9247906" y="6437312"/>
            <a:ext cx="461667" cy="268288"/>
          </a:xfrm>
          <a:prstGeom prst="rect">
            <a:avLst/>
          </a:prstGeom>
        </p:spPr>
        <p:txBody>
          <a:bodyPr lIns="0" tIns="0" rIns="0" bIns="0" anchor="b"/>
          <a:lstStyle>
            <a:defPPr>
              <a:defRPr lang="fr-FR"/>
            </a:defPPr>
            <a:lvl1pPr marL="0" algn="r" defTabSz="914400" rtl="0" eaLnBrk="1" fontAlgn="auto" latinLnBrk="0" hangingPunct="1">
              <a:spcBef>
                <a:spcPts val="0"/>
              </a:spcBef>
              <a:spcAft>
                <a:spcPts val="0"/>
              </a:spcAft>
              <a:defRPr lang="ja-JP" altLang="en-US" sz="1199" kern="1200">
                <a:solidFill>
                  <a:srgbClr val="414243"/>
                </a:solidFill>
                <a:latin typeface="Arial" pitchFamily="34" charset="0"/>
                <a:ea typeface="ＭＳ Ｐゴシック" pitchFamily="50"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3C987C2D-0993-D24A-8F17-67855EAE4BDA}" type="slidenum">
              <a:rPr kumimoji="1" lang="en-US" altLang="ja-JP" smtClean="0">
                <a:solidFill>
                  <a:schemeClr val="bg1"/>
                </a:solidFill>
                <a:latin typeface="游ゴシック" panose="020B0400000000000000" pitchFamily="50" charset="-128"/>
                <a:ea typeface="游ゴシック" panose="020B0400000000000000" pitchFamily="50" charset="-128"/>
              </a:rPr>
              <a:pPr algn="ctr"/>
              <a:t>55</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1127052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14300" y="361950"/>
          <a:ext cx="9820275" cy="6705600"/>
          <a:chOff x="114300" y="361950"/>
          <a:chExt cx="9820275" cy="6705600"/>
        </a:xfrm>
      </p:grpSpPr>
      <p:sp>
        <p:nvSpPr>
          <p:cNvPr id="10" name="テキスト ボックス 9"/>
          <p:cNvSpPr txBox="1"/>
          <p:nvPr/>
        </p:nvSpPr>
        <p:spPr>
          <a:xfrm>
            <a:off x="8248650" y="361950"/>
            <a:ext cx="1333500" cy="180975"/>
          </a:xfrm>
          <a:prstGeom prst="rect">
            <a:avLst/>
          </a:prstGeom>
          <a:solidFill>
            <a:srgbClr val="404040">
              <a:alpha val="100000"/>
            </a:srgbClr>
          </a:solidFill>
        </p:spPr>
        <p:txBody>
          <a:bodyPr wrap="none"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Strictly Confidential</a:t>
            </a:r>
          </a:p>
        </p:txBody>
      </p:sp>
      <p:sp>
        <p:nvSpPr>
          <p:cNvPr id="2" name="テキスト ボックス 1"/>
          <p:cNvSpPr txBox="1"/>
          <p:nvPr/>
        </p:nvSpPr>
        <p:spPr>
          <a:xfrm>
            <a:off x="361950" y="371475"/>
            <a:ext cx="723900" cy="676275"/>
          </a:xfrm>
          <a:prstGeom prst="rect">
            <a:avLst/>
          </a:prstGeom>
          <a:solidFill>
            <a:srgbClr val="006659">
              <a:alpha val="100000"/>
            </a:srgbClr>
          </a:solidFill>
        </p:spPr>
        <p:txBody>
          <a:bodyPr lIns="91440" tIns="45720" rIns="91440" bIns="45720" rtlCol="0" anchor="ctr">
            <a:noAutofit/>
          </a:bodyPr>
          <a:lstStyle/>
          <a:p>
            <a:pPr marL="0" marR="0" lvl="0" indent="0" algn="ctr" rtl="0" fontAlgn="ctr">
              <a:lnSpc>
                <a:spcPct val="100000"/>
              </a:lnSpc>
              <a:spcBef>
                <a:spcPts val="0"/>
              </a:spcBef>
              <a:spcAft>
                <a:spcPts val="0"/>
              </a:spcAft>
            </a:pPr>
            <a:r>
              <a:rPr lang="en-US" sz="3200" dirty="0">
                <a:solidFill>
                  <a:srgbClr val="FFFFFF">
                    <a:alpha val="100000"/>
                  </a:srgbClr>
                </a:solidFill>
                <a:latin typeface="游ゴシック"/>
              </a:rPr>
              <a:t>8</a:t>
            </a:r>
            <a:endParaRPr lang="en-US" sz="3200" u="none" spc="0" dirty="0">
              <a:solidFill>
                <a:srgbClr val="FFFFFF">
                  <a:alpha val="100000"/>
                </a:srgbClr>
              </a:solidFill>
              <a:latin typeface="游ゴシック"/>
            </a:endParaRPr>
          </a:p>
        </p:txBody>
      </p:sp>
      <p:sp>
        <p:nvSpPr>
          <p:cNvPr id="4" name="テキスト ボックス 3"/>
          <p:cNvSpPr txBox="1"/>
          <p:nvPr/>
        </p:nvSpPr>
        <p:spPr>
          <a:xfrm>
            <a:off x="361950" y="6496050"/>
            <a:ext cx="9220200" cy="209550"/>
          </a:xfrm>
          <a:prstGeom prst="rect">
            <a:avLst/>
          </a:prstGeom>
          <a:solidFill>
            <a:srgbClr val="006659">
              <a:alpha val="100000"/>
            </a:srgbClr>
          </a:solidFill>
        </p:spPr>
        <p:txBody>
          <a:bodyPr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 MS&amp;AD InterRisk Research &amp; Consulting, Inc.</a:t>
            </a:r>
          </a:p>
        </p:txBody>
      </p:sp>
      <p:graphicFrame>
        <p:nvGraphicFramePr>
          <p:cNvPr id="6" name="表 5">
            <a:extLst>
              <a:ext uri="{FF2B5EF4-FFF2-40B4-BE49-F238E27FC236}">
                <a16:creationId xmlns:a16="http://schemas.microsoft.com/office/drawing/2014/main" id="{D675042D-B5DC-4167-BC93-C2AC10509B30}"/>
              </a:ext>
            </a:extLst>
          </p:cNvPr>
          <p:cNvGraphicFramePr>
            <a:graphicFrameLocks noGrp="1"/>
          </p:cNvGraphicFramePr>
          <p:nvPr/>
        </p:nvGraphicFramePr>
        <p:xfrm>
          <a:off x="359825" y="1620000"/>
          <a:ext cx="9180000" cy="4320000"/>
        </p:xfrm>
        <a:graphic>
          <a:graphicData uri="http://schemas.openxmlformats.org/drawingml/2006/table">
            <a:tbl>
              <a:tblPr bandRow="1">
                <a:tableStyleId>{5C22544A-7EE6-4342-B048-85BDC9FD1C3A}</a:tableStyleId>
              </a:tblPr>
              <a:tblGrid>
                <a:gridCol w="2295000">
                  <a:extLst>
                    <a:ext uri="{9D8B030D-6E8A-4147-A177-3AD203B41FA5}">
                      <a16:colId xmlns:a16="http://schemas.microsoft.com/office/drawing/2014/main" val="1843206991"/>
                    </a:ext>
                  </a:extLst>
                </a:gridCol>
                <a:gridCol w="2295000">
                  <a:extLst>
                    <a:ext uri="{9D8B030D-6E8A-4147-A177-3AD203B41FA5}">
                      <a16:colId xmlns:a16="http://schemas.microsoft.com/office/drawing/2014/main" val="4194487522"/>
                    </a:ext>
                  </a:extLst>
                </a:gridCol>
                <a:gridCol w="2295000">
                  <a:extLst>
                    <a:ext uri="{9D8B030D-6E8A-4147-A177-3AD203B41FA5}">
                      <a16:colId xmlns:a16="http://schemas.microsoft.com/office/drawing/2014/main" val="3224909430"/>
                    </a:ext>
                  </a:extLst>
                </a:gridCol>
                <a:gridCol w="2295000">
                  <a:extLst>
                    <a:ext uri="{9D8B030D-6E8A-4147-A177-3AD203B41FA5}">
                      <a16:colId xmlns:a16="http://schemas.microsoft.com/office/drawing/2014/main" val="3496773093"/>
                    </a:ext>
                  </a:extLst>
                </a:gridCol>
              </a:tblGrid>
              <a:tr h="2176758">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567435"/>
                  </a:ext>
                </a:extLst>
              </a:tr>
              <a:tr h="2143242">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9413027"/>
                  </a:ext>
                </a:extLst>
              </a:tr>
            </a:tbl>
          </a:graphicData>
        </a:graphic>
      </p:graphicFrame>
      <p:grpSp>
        <p:nvGrpSpPr>
          <p:cNvPr id="7" name="グループ化 6">
            <a:extLst>
              <a:ext uri="{FF2B5EF4-FFF2-40B4-BE49-F238E27FC236}">
                <a16:creationId xmlns:a16="http://schemas.microsoft.com/office/drawing/2014/main" id="{BE48F622-F8A8-48B2-889D-ED0428C9806B}"/>
              </a:ext>
            </a:extLst>
          </p:cNvPr>
          <p:cNvGrpSpPr/>
          <p:nvPr/>
        </p:nvGrpSpPr>
        <p:grpSpPr>
          <a:xfrm>
            <a:off x="540000" y="5940000"/>
            <a:ext cx="8820000" cy="450000"/>
            <a:chOff x="540000" y="5940000"/>
            <a:chExt cx="8820000" cy="450000"/>
          </a:xfrm>
        </p:grpSpPr>
        <p:sp>
          <p:nvSpPr>
            <p:cNvPr id="8" name="左右矢印 10">
              <a:extLst>
                <a:ext uri="{FF2B5EF4-FFF2-40B4-BE49-F238E27FC236}">
                  <a16:creationId xmlns:a16="http://schemas.microsoft.com/office/drawing/2014/main" id="{E326FEBA-EC54-4BF5-AFF3-BD9A8AA5DD54}"/>
                </a:ext>
              </a:extLst>
            </p:cNvPr>
            <p:cNvSpPr/>
            <p:nvPr/>
          </p:nvSpPr>
          <p:spPr>
            <a:xfrm>
              <a:off x="1529825" y="5940000"/>
              <a:ext cx="6840000" cy="450000"/>
            </a:xfrm>
            <a:prstGeom prst="leftRightArrow">
              <a:avLst>
                <a:gd name="adj1" fmla="val 63821"/>
                <a:gd name="adj2" fmla="val 50000"/>
              </a:avLst>
            </a:prstGeom>
            <a:gradFill>
              <a:gsLst>
                <a:gs pos="0">
                  <a:schemeClr val="accent1">
                    <a:lumMod val="5000"/>
                    <a:lumOff val="95000"/>
                  </a:schemeClr>
                </a:gs>
                <a:gs pos="39000">
                  <a:srgbClr val="66CCFF"/>
                </a:gs>
                <a:gs pos="73000">
                  <a:srgbClr val="3399FF"/>
                </a:gs>
                <a:gs pos="100000">
                  <a:srgbClr val="0070C0"/>
                </a:gs>
              </a:gsLst>
              <a:lin ang="0" scaled="0"/>
            </a:gradFill>
            <a:ln w="9525">
              <a:solidFill>
                <a:srgbClr val="737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srgbClr val="000000"/>
                  </a:solidFill>
                  <a:effectLst>
                    <a:glow rad="101600">
                      <a:prstClr val="white">
                        <a:alpha val="60000"/>
                      </a:prstClr>
                    </a:glow>
                  </a:effectLst>
                  <a:uLnTx/>
                  <a:uFillTx/>
                  <a:latin typeface="游ゴシック" panose="020B0400000000000000" pitchFamily="50" charset="-128"/>
                  <a:ea typeface="游ゴシック" panose="020B0400000000000000" pitchFamily="50" charset="-128"/>
                </a:rPr>
                <a:t>想定浸水深</a:t>
              </a:r>
            </a:p>
          </p:txBody>
        </p:sp>
        <p:sp>
          <p:nvSpPr>
            <p:cNvPr id="9" name="テキスト ボックス 8">
              <a:extLst>
                <a:ext uri="{FF2B5EF4-FFF2-40B4-BE49-F238E27FC236}">
                  <a16:creationId xmlns:a16="http://schemas.microsoft.com/office/drawing/2014/main" id="{81AB76FF-A07F-4F84-AE1F-9D48CA725190}"/>
                </a:ext>
              </a:extLst>
            </p:cNvPr>
            <p:cNvSpPr txBox="1"/>
            <p:nvPr/>
          </p:nvSpPr>
          <p:spPr>
            <a:xfrm>
              <a:off x="8460000" y="5940000"/>
              <a:ext cx="900000" cy="450000"/>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20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深い</a:t>
              </a:r>
              <a:endParaRPr kumimoji="0" lang="en-US" altLang="ja-JP" sz="12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sp>
          <p:nvSpPr>
            <p:cNvPr id="11" name="テキスト ボックス 10">
              <a:extLst>
                <a:ext uri="{FF2B5EF4-FFF2-40B4-BE49-F238E27FC236}">
                  <a16:creationId xmlns:a16="http://schemas.microsoft.com/office/drawing/2014/main" id="{D629A441-4071-4C84-A7E6-E7FE70050CC9}"/>
                </a:ext>
              </a:extLst>
            </p:cNvPr>
            <p:cNvSpPr txBox="1"/>
            <p:nvPr/>
          </p:nvSpPr>
          <p:spPr>
            <a:xfrm>
              <a:off x="540000" y="5940000"/>
              <a:ext cx="900000" cy="450000"/>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20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浅い</a:t>
              </a:r>
              <a:endParaRPr kumimoji="0" lang="en-US" altLang="ja-JP" sz="12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grpSp>
      <p:pic>
        <p:nvPicPr>
          <p:cNvPr id="12" name="Picture 2" descr="æ­¢æ°´ãã¢ï½ã¢ã¯ã¢ã¼ã">
            <a:extLst>
              <a:ext uri="{FF2B5EF4-FFF2-40B4-BE49-F238E27FC236}">
                <a16:creationId xmlns:a16="http://schemas.microsoft.com/office/drawing/2014/main" id="{8B29EC74-E008-4878-8826-968E0B12510F}"/>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308000" y="1710000"/>
            <a:ext cx="216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BXæ­¢æ°´æ¿ï½ã©ã¯ã»ãã">
            <a:extLst>
              <a:ext uri="{FF2B5EF4-FFF2-40B4-BE49-F238E27FC236}">
                <a16:creationId xmlns:a16="http://schemas.microsoft.com/office/drawing/2014/main" id="{F38D9184-76BE-461B-9816-A27521E09BF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898000" y="1710000"/>
            <a:ext cx="18000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ç°¡æåã®ããæ¨æºã¿ã¤ã">
            <a:extLst>
              <a:ext uri="{FF2B5EF4-FFF2-40B4-BE49-F238E27FC236}">
                <a16:creationId xmlns:a16="http://schemas.microsoft.com/office/drawing/2014/main" id="{D572B58B-C81E-4C4D-967E-B7DBB56131D9}"/>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32000" y="1710000"/>
            <a:ext cx="2160000" cy="1736639"/>
          </a:xfrm>
          <a:prstGeom prst="rect">
            <a:avLst/>
          </a:prstGeom>
          <a:noFill/>
          <a:extLst>
            <a:ext uri="{909E8E84-426E-40DD-AFC4-6F175D3DCCD1}">
              <a14:hiddenFill xmlns:a14="http://schemas.microsoft.com/office/drawing/2010/main">
                <a:solidFill>
                  <a:srgbClr val="FFFFFF"/>
                </a:solidFill>
              </a14:hiddenFill>
            </a:ext>
          </a:extLst>
        </p:spPr>
      </p:pic>
      <p:sp>
        <p:nvSpPr>
          <p:cNvPr id="15" name="テキスト ボックス 14">
            <a:extLst>
              <a:ext uri="{FF2B5EF4-FFF2-40B4-BE49-F238E27FC236}">
                <a16:creationId xmlns:a16="http://schemas.microsoft.com/office/drawing/2014/main" id="{C76AD431-8628-4902-A5E4-21DC61CC1C16}"/>
              </a:ext>
            </a:extLst>
          </p:cNvPr>
          <p:cNvSpPr txBox="1"/>
          <p:nvPr/>
        </p:nvSpPr>
        <p:spPr>
          <a:xfrm>
            <a:off x="432000" y="3528000"/>
            <a:ext cx="2160000" cy="360040"/>
          </a:xfrm>
          <a:prstGeom prst="rect">
            <a:avLst/>
          </a:prstGeom>
          <a:noFill/>
        </p:spPr>
        <p:txBody>
          <a:bodyPr wrap="square"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吸水性簡易土の</a:t>
            </a:r>
            <a:r>
              <a:rPr kumimoji="0" lang="ja-JP" altLang="en-US" sz="1200" b="0" i="0" u="none" strike="noStrike" kern="1200" cap="none" spc="0" normalizeH="0" baseline="0" noProof="0" dirty="0" err="1">
                <a:ln>
                  <a:noFill/>
                </a:ln>
                <a:solidFill>
                  <a:prstClr val="black"/>
                </a:solidFill>
                <a:effectLst/>
                <a:uLnTx/>
                <a:uFillTx/>
                <a:latin typeface="游ゴシック" panose="020B0400000000000000" pitchFamily="50" charset="-128"/>
                <a:ea typeface="游ゴシック" panose="020B0400000000000000" pitchFamily="50" charset="-128"/>
              </a:rPr>
              <a:t>う</a:t>
            </a:r>
            <a:endParaRPr kumimoji="0" lang="en-US" altLang="ja-JP"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7E6904B-E4E6-4FCF-BD63-5A208CA7A3E7}"/>
              </a:ext>
            </a:extLst>
          </p:cNvPr>
          <p:cNvSpPr txBox="1"/>
          <p:nvPr/>
        </p:nvSpPr>
        <p:spPr>
          <a:xfrm>
            <a:off x="380167" y="5400000"/>
            <a:ext cx="2160000" cy="360040"/>
          </a:xfrm>
          <a:prstGeom prst="rect">
            <a:avLst/>
          </a:prstGeom>
          <a:noFill/>
        </p:spPr>
        <p:txBody>
          <a:bodyPr wrap="square"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止水シート</a:t>
            </a:r>
            <a:endParaRPr kumimoji="0" lang="en-US" altLang="ja-JP"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ja-JP"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(Flash</a:t>
            </a:r>
            <a:r>
              <a:rPr kumimoji="0" lang="ja-JP" altLang="en-US"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wall)</a:t>
            </a:r>
          </a:p>
        </p:txBody>
      </p:sp>
      <p:pic>
        <p:nvPicPr>
          <p:cNvPr id="17" name="Picture 2" descr="http://www.nihon-pit.co.jp/HP/img-sinki/bousui-img/sw-4-m.jpg">
            <a:extLst>
              <a:ext uri="{FF2B5EF4-FFF2-40B4-BE49-F238E27FC236}">
                <a16:creationId xmlns:a16="http://schemas.microsoft.com/office/drawing/2014/main" id="{14EB2F5A-8C7E-4EB6-ABA7-9C82C037C949}"/>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881759" y="4068337"/>
            <a:ext cx="1800000" cy="1350000"/>
          </a:xfrm>
          <a:prstGeom prst="rect">
            <a:avLst/>
          </a:prstGeom>
          <a:noFill/>
          <a:extLst>
            <a:ext uri="{909E8E84-426E-40DD-AFC4-6F175D3DCCD1}">
              <a14:hiddenFill xmlns:a14="http://schemas.microsoft.com/office/drawing/2010/main">
                <a:solidFill>
                  <a:srgbClr val="FFFFFF"/>
                </a:solidFill>
              </a14:hiddenFill>
            </a:ext>
          </a:extLst>
        </p:spPr>
      </p:pic>
      <p:pic>
        <p:nvPicPr>
          <p:cNvPr id="18" name="コンテンツ プレースホルダー 3">
            <a:extLst>
              <a:ext uri="{FF2B5EF4-FFF2-40B4-BE49-F238E27FC236}">
                <a16:creationId xmlns:a16="http://schemas.microsoft.com/office/drawing/2014/main" id="{773C5C5F-E821-44F7-8DF4-6D22C76ECD40}"/>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5004000" y="1710000"/>
            <a:ext cx="2160000" cy="1620000"/>
          </a:xfrm>
          <a:prstGeom prst="rect">
            <a:avLst/>
          </a:prstGeom>
        </p:spPr>
      </p:pic>
      <p:pic>
        <p:nvPicPr>
          <p:cNvPr id="19" name="Picture 2" descr="è±çå¼æ­¢æ°´æ¿">
            <a:extLst>
              <a:ext uri="{FF2B5EF4-FFF2-40B4-BE49-F238E27FC236}">
                <a16:creationId xmlns:a16="http://schemas.microsoft.com/office/drawing/2014/main" id="{C245C106-78FC-4C9A-BAE9-F045FA93A134}"/>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4991979" y="4037517"/>
            <a:ext cx="2160000" cy="1088449"/>
          </a:xfrm>
          <a:prstGeom prst="rect">
            <a:avLst/>
          </a:prstGeom>
          <a:noFill/>
          <a:extLst>
            <a:ext uri="{909E8E84-426E-40DD-AFC4-6F175D3DCCD1}">
              <a14:hiddenFill xmlns:a14="http://schemas.microsoft.com/office/drawing/2010/main">
                <a:solidFill>
                  <a:srgbClr val="FFFFFF"/>
                </a:solidFill>
              </a14:hiddenFill>
            </a:ext>
          </a:extLst>
        </p:spPr>
      </p:pic>
      <p:sp>
        <p:nvSpPr>
          <p:cNvPr id="20" name="正方形/長方形 19">
            <a:extLst>
              <a:ext uri="{FF2B5EF4-FFF2-40B4-BE49-F238E27FC236}">
                <a16:creationId xmlns:a16="http://schemas.microsoft.com/office/drawing/2014/main" id="{8C793CE2-D2A2-4195-87E5-D79002DA7035}"/>
              </a:ext>
            </a:extLst>
          </p:cNvPr>
          <p:cNvSpPr/>
          <p:nvPr/>
        </p:nvSpPr>
        <p:spPr>
          <a:xfrm>
            <a:off x="378000" y="1259999"/>
            <a:ext cx="2250000" cy="360000"/>
          </a:xfrm>
          <a:prstGeom prst="rect">
            <a:avLst/>
          </a:prstGeom>
          <a:solidFill>
            <a:srgbClr val="006C60"/>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浸水深</a:t>
            </a:r>
            <a:r>
              <a:rPr kumimoji="0" lang="en-US" altLang="ja-JP"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0.5m</a:t>
            </a: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未満</a:t>
            </a:r>
            <a:endParaRPr kumimoji="1"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F1EBF74F-77D7-4094-8EE3-8A31BE05A3EB}"/>
              </a:ext>
            </a:extLst>
          </p:cNvPr>
          <p:cNvSpPr/>
          <p:nvPr/>
        </p:nvSpPr>
        <p:spPr>
          <a:xfrm>
            <a:off x="2682000" y="1260000"/>
            <a:ext cx="2250000" cy="360000"/>
          </a:xfrm>
          <a:prstGeom prst="rect">
            <a:avLst/>
          </a:prstGeom>
          <a:solidFill>
            <a:srgbClr val="006C60"/>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浸水深</a:t>
            </a:r>
            <a:r>
              <a:rPr kumimoji="0" lang="en-US" altLang="ja-JP"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1.0m</a:t>
            </a: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未満</a:t>
            </a:r>
            <a:endParaRPr kumimoji="1"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endParaRPr>
          </a:p>
        </p:txBody>
      </p:sp>
      <p:sp>
        <p:nvSpPr>
          <p:cNvPr id="22" name="正方形/長方形 21">
            <a:extLst>
              <a:ext uri="{FF2B5EF4-FFF2-40B4-BE49-F238E27FC236}">
                <a16:creationId xmlns:a16="http://schemas.microsoft.com/office/drawing/2014/main" id="{5019F589-4B44-4DEF-81E4-1860F5BB4D55}"/>
              </a:ext>
            </a:extLst>
          </p:cNvPr>
          <p:cNvSpPr/>
          <p:nvPr/>
        </p:nvSpPr>
        <p:spPr>
          <a:xfrm>
            <a:off x="4968000" y="1260000"/>
            <a:ext cx="2250000" cy="360000"/>
          </a:xfrm>
          <a:prstGeom prst="rect">
            <a:avLst/>
          </a:prstGeom>
          <a:solidFill>
            <a:srgbClr val="006C60"/>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浸水深</a:t>
            </a:r>
            <a:r>
              <a:rPr kumimoji="0" lang="en-US" altLang="ja-JP"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2.0m</a:t>
            </a: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未満</a:t>
            </a:r>
            <a:endParaRPr kumimoji="1"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endParaRPr>
          </a:p>
        </p:txBody>
      </p:sp>
      <p:sp>
        <p:nvSpPr>
          <p:cNvPr id="23" name="正方形/長方形 22">
            <a:extLst>
              <a:ext uri="{FF2B5EF4-FFF2-40B4-BE49-F238E27FC236}">
                <a16:creationId xmlns:a16="http://schemas.microsoft.com/office/drawing/2014/main" id="{BAEA96BD-4B36-426D-B916-E82A97BA6BC3}"/>
              </a:ext>
            </a:extLst>
          </p:cNvPr>
          <p:cNvSpPr/>
          <p:nvPr/>
        </p:nvSpPr>
        <p:spPr>
          <a:xfrm>
            <a:off x="7272000" y="1260000"/>
            <a:ext cx="2250000" cy="360000"/>
          </a:xfrm>
          <a:prstGeom prst="rect">
            <a:avLst/>
          </a:prstGeom>
          <a:solidFill>
            <a:srgbClr val="006C60"/>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浸水深</a:t>
            </a:r>
            <a:r>
              <a:rPr kumimoji="0" lang="en-US" altLang="ja-JP"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2.0m</a:t>
            </a: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以上</a:t>
            </a:r>
            <a:endParaRPr kumimoji="1"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endParaRPr>
          </a:p>
        </p:txBody>
      </p:sp>
      <p:pic>
        <p:nvPicPr>
          <p:cNvPr id="24" name="図 23">
            <a:extLst>
              <a:ext uri="{FF2B5EF4-FFF2-40B4-BE49-F238E27FC236}">
                <a16:creationId xmlns:a16="http://schemas.microsoft.com/office/drawing/2014/main" id="{D1922013-6078-40B1-A8EE-6E9F2C3B1F27}"/>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431539" y="4123003"/>
            <a:ext cx="2160000" cy="873956"/>
          </a:xfrm>
          <a:prstGeom prst="rect">
            <a:avLst/>
          </a:prstGeom>
        </p:spPr>
      </p:pic>
      <p:sp>
        <p:nvSpPr>
          <p:cNvPr id="25" name="テキスト ボックス 24">
            <a:extLst>
              <a:ext uri="{FF2B5EF4-FFF2-40B4-BE49-F238E27FC236}">
                <a16:creationId xmlns:a16="http://schemas.microsoft.com/office/drawing/2014/main" id="{33353728-443E-4069-9338-66B22985F422}"/>
              </a:ext>
            </a:extLst>
          </p:cNvPr>
          <p:cNvSpPr txBox="1"/>
          <p:nvPr/>
        </p:nvSpPr>
        <p:spPr>
          <a:xfrm>
            <a:off x="2718000" y="3528000"/>
            <a:ext cx="2160000" cy="360040"/>
          </a:xfrm>
          <a:prstGeom prst="rect">
            <a:avLst/>
          </a:prstGeom>
          <a:noFill/>
        </p:spPr>
        <p:txBody>
          <a:bodyPr wrap="square"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簡易式止水板</a:t>
            </a:r>
            <a:endParaRPr kumimoji="0" lang="en-US" altLang="ja-JP"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sp>
        <p:nvSpPr>
          <p:cNvPr id="26" name="テキスト ボックス 25">
            <a:extLst>
              <a:ext uri="{FF2B5EF4-FFF2-40B4-BE49-F238E27FC236}">
                <a16:creationId xmlns:a16="http://schemas.microsoft.com/office/drawing/2014/main" id="{38BA00DD-31DB-432F-A151-2B389308B57C}"/>
              </a:ext>
            </a:extLst>
          </p:cNvPr>
          <p:cNvSpPr txBox="1"/>
          <p:nvPr/>
        </p:nvSpPr>
        <p:spPr>
          <a:xfrm>
            <a:off x="2718000" y="5400000"/>
            <a:ext cx="2160000" cy="360040"/>
          </a:xfrm>
          <a:prstGeom prst="rect">
            <a:avLst/>
          </a:prstGeom>
          <a:noFill/>
        </p:spPr>
        <p:txBody>
          <a:bodyPr wrap="square"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スイング式止水板</a:t>
            </a:r>
            <a:endParaRPr kumimoji="0" lang="en-US" altLang="ja-JP"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sp>
        <p:nvSpPr>
          <p:cNvPr id="27" name="テキスト ボックス 26">
            <a:extLst>
              <a:ext uri="{FF2B5EF4-FFF2-40B4-BE49-F238E27FC236}">
                <a16:creationId xmlns:a16="http://schemas.microsoft.com/office/drawing/2014/main" id="{EB3B28DA-CC38-4A60-AB70-464F7F818EA9}"/>
              </a:ext>
            </a:extLst>
          </p:cNvPr>
          <p:cNvSpPr txBox="1"/>
          <p:nvPr/>
        </p:nvSpPr>
        <p:spPr>
          <a:xfrm>
            <a:off x="5022000" y="3528000"/>
            <a:ext cx="2160000" cy="360040"/>
          </a:xfrm>
          <a:prstGeom prst="rect">
            <a:avLst/>
          </a:prstGeom>
          <a:noFill/>
        </p:spPr>
        <p:txBody>
          <a:bodyPr wrap="square"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自動昇降式</a:t>
            </a:r>
            <a:r>
              <a:rPr kumimoji="0" lang="en-US" altLang="zh-TW"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zh-TW" altLang="en-US"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浮力起動式</a:t>
            </a:r>
            <a:r>
              <a:rPr kumimoji="0" lang="en-US" altLang="zh-TW"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止水板</a:t>
            </a:r>
            <a:endParaRPr kumimoji="0" lang="en-US" altLang="ja-JP"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sp>
        <p:nvSpPr>
          <p:cNvPr id="28" name="テキスト ボックス 27">
            <a:extLst>
              <a:ext uri="{FF2B5EF4-FFF2-40B4-BE49-F238E27FC236}">
                <a16:creationId xmlns:a16="http://schemas.microsoft.com/office/drawing/2014/main" id="{A91CA5B5-0E7E-4619-B071-C146064F9CED}"/>
              </a:ext>
            </a:extLst>
          </p:cNvPr>
          <p:cNvSpPr txBox="1"/>
          <p:nvPr/>
        </p:nvSpPr>
        <p:spPr>
          <a:xfrm>
            <a:off x="5071017" y="5400000"/>
            <a:ext cx="2160000" cy="360040"/>
          </a:xfrm>
          <a:prstGeom prst="rect">
            <a:avLst/>
          </a:prstGeom>
          <a:noFill/>
        </p:spPr>
        <p:txBody>
          <a:bodyPr wrap="square"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脱着式止水板</a:t>
            </a:r>
            <a:endParaRPr kumimoji="0" lang="en-US" altLang="ja-JP"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sp>
        <p:nvSpPr>
          <p:cNvPr id="29" name="テキスト ボックス 28">
            <a:extLst>
              <a:ext uri="{FF2B5EF4-FFF2-40B4-BE49-F238E27FC236}">
                <a16:creationId xmlns:a16="http://schemas.microsoft.com/office/drawing/2014/main" id="{2484655F-4468-4723-A7D2-75BAFC558CEA}"/>
              </a:ext>
            </a:extLst>
          </p:cNvPr>
          <p:cNvSpPr txBox="1"/>
          <p:nvPr/>
        </p:nvSpPr>
        <p:spPr>
          <a:xfrm>
            <a:off x="7308000" y="3888000"/>
            <a:ext cx="2160000" cy="360040"/>
          </a:xfrm>
          <a:prstGeom prst="rect">
            <a:avLst/>
          </a:prstGeom>
          <a:noFill/>
        </p:spPr>
        <p:txBody>
          <a:bodyPr wrap="square"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止水ドア</a:t>
            </a:r>
            <a:endParaRPr kumimoji="0" lang="en-US" altLang="ja-JP" sz="12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sp>
        <p:nvSpPr>
          <p:cNvPr id="30" name="スライド番号プレースホルダー 5">
            <a:extLst>
              <a:ext uri="{FF2B5EF4-FFF2-40B4-BE49-F238E27FC236}">
                <a16:creationId xmlns:a16="http://schemas.microsoft.com/office/drawing/2014/main" id="{7C6F9B78-EA3F-4140-8DD8-F2598A912D51}"/>
              </a:ext>
            </a:extLst>
          </p:cNvPr>
          <p:cNvSpPr txBox="1">
            <a:spLocks/>
          </p:cNvSpPr>
          <p:nvPr/>
        </p:nvSpPr>
        <p:spPr>
          <a:xfrm>
            <a:off x="9247906" y="6437312"/>
            <a:ext cx="461667" cy="268288"/>
          </a:xfrm>
          <a:prstGeom prst="rect">
            <a:avLst/>
          </a:prstGeom>
        </p:spPr>
        <p:txBody>
          <a:bodyPr lIns="0" tIns="0" rIns="0" bIns="0" anchor="b"/>
          <a:lstStyle>
            <a:defPPr>
              <a:defRPr lang="fr-FR"/>
            </a:defPPr>
            <a:lvl1pPr marL="0" algn="r" defTabSz="914400" rtl="0" eaLnBrk="1" fontAlgn="auto" latinLnBrk="0" hangingPunct="1">
              <a:spcBef>
                <a:spcPts val="0"/>
              </a:spcBef>
              <a:spcAft>
                <a:spcPts val="0"/>
              </a:spcAft>
              <a:defRPr lang="ja-JP" altLang="en-US" sz="1199" kern="1200">
                <a:solidFill>
                  <a:srgbClr val="414243"/>
                </a:solidFill>
                <a:latin typeface="Arial" pitchFamily="34" charset="0"/>
                <a:ea typeface="ＭＳ Ｐゴシック" pitchFamily="50"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3C987C2D-0993-D24A-8F17-67855EAE4BDA}" type="slidenum">
              <a:rPr kumimoji="1" lang="en-US" altLang="ja-JP" smtClean="0">
                <a:solidFill>
                  <a:schemeClr val="bg1"/>
                </a:solidFill>
                <a:latin typeface="游ゴシック" panose="020B0400000000000000" pitchFamily="50" charset="-128"/>
                <a:ea typeface="游ゴシック" panose="020B0400000000000000" pitchFamily="50" charset="-128"/>
              </a:rPr>
              <a:pPr algn="ctr"/>
              <a:t>56</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31" name="テキスト ボックス 30">
            <a:extLst>
              <a:ext uri="{FF2B5EF4-FFF2-40B4-BE49-F238E27FC236}">
                <a16:creationId xmlns:a16="http://schemas.microsoft.com/office/drawing/2014/main" id="{81F1EF85-FB31-426C-827C-9E34AE08B0B9}"/>
              </a:ext>
            </a:extLst>
          </p:cNvPr>
          <p:cNvSpPr txBox="1"/>
          <p:nvPr/>
        </p:nvSpPr>
        <p:spPr>
          <a:xfrm>
            <a:off x="1295400" y="371475"/>
            <a:ext cx="7239000" cy="723900"/>
          </a:xfrm>
          <a:prstGeom prst="rect">
            <a:avLst/>
          </a:prstGeom>
          <a:noFill/>
        </p:spPr>
        <p:txBody>
          <a:bodyPr lIns="91440" tIns="45720" rIns="91440" bIns="45720" rtlCol="0" anchor="ctr">
            <a:noAutofit/>
          </a:bodyPr>
          <a:lstStyle/>
          <a:p>
            <a:pPr marL="47625" marR="0" lvl="0" indent="0" algn="l" rtl="0" fontAlgn="ctr">
              <a:lnSpc>
                <a:spcPct val="100000"/>
              </a:lnSpc>
              <a:spcBef>
                <a:spcPts val="0"/>
              </a:spcBef>
              <a:spcAft>
                <a:spcPts val="0"/>
              </a:spcAft>
            </a:pPr>
            <a:r>
              <a:rPr lang="ja-JP" altLang="en-US" sz="2400" u="none" spc="0" dirty="0">
                <a:solidFill>
                  <a:srgbClr val="000000">
                    <a:alpha val="100000"/>
                  </a:srgbClr>
                </a:solidFill>
                <a:latin typeface="游ゴシック" panose="020B0400000000000000" pitchFamily="50" charset="-128"/>
                <a:ea typeface="游ゴシック" panose="020B0400000000000000" pitchFamily="50" charset="-128"/>
              </a:rPr>
              <a:t>参考情報</a:t>
            </a:r>
            <a:r>
              <a:rPr lang="en-US" altLang="ja-JP" sz="2400" u="none" spc="0" dirty="0">
                <a:solidFill>
                  <a:srgbClr val="000000">
                    <a:alpha val="100000"/>
                  </a:srgbClr>
                </a:solidFill>
                <a:latin typeface="游ゴシック" panose="020B0400000000000000" pitchFamily="50" charset="-128"/>
                <a:ea typeface="游ゴシック" panose="020B0400000000000000" pitchFamily="50" charset="-128"/>
              </a:rPr>
              <a:t>(</a:t>
            </a:r>
            <a:r>
              <a:rPr lang="ja-JP" altLang="en-US" sz="2400" u="none" spc="0" dirty="0">
                <a:solidFill>
                  <a:srgbClr val="000000">
                    <a:alpha val="100000"/>
                  </a:srgbClr>
                </a:solidFill>
                <a:latin typeface="游ゴシック" panose="020B0400000000000000" pitchFamily="50" charset="-128"/>
                <a:ea typeface="游ゴシック" panose="020B0400000000000000" pitchFamily="50" charset="-128"/>
              </a:rPr>
              <a:t>浸水深さに応じた対策資機材の例</a:t>
            </a:r>
            <a:r>
              <a:rPr lang="en-US" altLang="ja-JP" sz="2400" u="none" spc="0" dirty="0">
                <a:solidFill>
                  <a:srgbClr val="000000">
                    <a:alpha val="100000"/>
                  </a:srgbClr>
                </a:solidFill>
                <a:latin typeface="游ゴシック" panose="020B0400000000000000" pitchFamily="50" charset="-128"/>
                <a:ea typeface="游ゴシック" panose="020B0400000000000000" pitchFamily="50" charset="-128"/>
              </a:rPr>
              <a:t>)</a:t>
            </a:r>
            <a:r>
              <a:rPr lang="ja-JP" altLang="en-US" sz="2400" u="none" spc="0" dirty="0">
                <a:solidFill>
                  <a:srgbClr val="000000">
                    <a:alpha val="100000"/>
                  </a:srgbClr>
                </a:solidFill>
                <a:latin typeface="游ゴシック" panose="020B0400000000000000" pitchFamily="50" charset="-128"/>
                <a:ea typeface="游ゴシック" panose="020B0400000000000000" pitchFamily="50" charset="-128"/>
              </a:rPr>
              <a:t> </a:t>
            </a:r>
            <a:endParaRPr lang="en-US" altLang="ja-JP" sz="2400" u="none" spc="0" dirty="0">
              <a:solidFill>
                <a:srgbClr val="000000">
                  <a:alpha val="100000"/>
                </a:srgbClr>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904633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14300" y="361950"/>
          <a:ext cx="9820275" cy="6705600"/>
          <a:chOff x="114300" y="361950"/>
          <a:chExt cx="9820275" cy="6705600"/>
        </a:xfrm>
      </p:grpSpPr>
      <p:sp>
        <p:nvSpPr>
          <p:cNvPr id="10" name="テキスト ボックス 9"/>
          <p:cNvSpPr txBox="1"/>
          <p:nvPr/>
        </p:nvSpPr>
        <p:spPr>
          <a:xfrm>
            <a:off x="8248650" y="361950"/>
            <a:ext cx="1333500" cy="180975"/>
          </a:xfrm>
          <a:prstGeom prst="rect">
            <a:avLst/>
          </a:prstGeom>
          <a:solidFill>
            <a:srgbClr val="404040">
              <a:alpha val="100000"/>
            </a:srgbClr>
          </a:solidFill>
        </p:spPr>
        <p:txBody>
          <a:bodyPr wrap="none"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Strictly Confidential</a:t>
            </a:r>
          </a:p>
        </p:txBody>
      </p:sp>
      <p:sp>
        <p:nvSpPr>
          <p:cNvPr id="2" name="テキスト ボックス 1"/>
          <p:cNvSpPr txBox="1"/>
          <p:nvPr/>
        </p:nvSpPr>
        <p:spPr>
          <a:xfrm>
            <a:off x="361950" y="371475"/>
            <a:ext cx="723900" cy="676275"/>
          </a:xfrm>
          <a:prstGeom prst="rect">
            <a:avLst/>
          </a:prstGeom>
          <a:solidFill>
            <a:srgbClr val="006659">
              <a:alpha val="100000"/>
            </a:srgbClr>
          </a:solidFill>
        </p:spPr>
        <p:txBody>
          <a:bodyPr lIns="91440" tIns="45720" rIns="91440" bIns="45720" rtlCol="0" anchor="ctr">
            <a:noAutofit/>
          </a:bodyPr>
          <a:lstStyle/>
          <a:p>
            <a:pPr marL="0" marR="0" lvl="0" indent="0" algn="ctr" rtl="0" fontAlgn="ctr">
              <a:lnSpc>
                <a:spcPct val="100000"/>
              </a:lnSpc>
              <a:spcBef>
                <a:spcPts val="0"/>
              </a:spcBef>
              <a:spcAft>
                <a:spcPts val="0"/>
              </a:spcAft>
            </a:pPr>
            <a:r>
              <a:rPr lang="en-US" sz="3200" dirty="0">
                <a:solidFill>
                  <a:srgbClr val="FFFFFF">
                    <a:alpha val="100000"/>
                  </a:srgbClr>
                </a:solidFill>
                <a:latin typeface="游ゴシック"/>
              </a:rPr>
              <a:t>8</a:t>
            </a:r>
            <a:endParaRPr lang="en-US" sz="3200" u="none" spc="0" dirty="0">
              <a:solidFill>
                <a:srgbClr val="FFFFFF">
                  <a:alpha val="100000"/>
                </a:srgbClr>
              </a:solidFill>
              <a:latin typeface="游ゴシック"/>
            </a:endParaRPr>
          </a:p>
        </p:txBody>
      </p:sp>
      <p:sp>
        <p:nvSpPr>
          <p:cNvPr id="4" name="テキスト ボックス 3"/>
          <p:cNvSpPr txBox="1"/>
          <p:nvPr/>
        </p:nvSpPr>
        <p:spPr>
          <a:xfrm>
            <a:off x="361950" y="6496050"/>
            <a:ext cx="9220200" cy="209550"/>
          </a:xfrm>
          <a:prstGeom prst="rect">
            <a:avLst/>
          </a:prstGeom>
          <a:solidFill>
            <a:srgbClr val="006659">
              <a:alpha val="100000"/>
            </a:srgbClr>
          </a:solidFill>
        </p:spPr>
        <p:txBody>
          <a:bodyPr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 MS&amp;AD InterRisk Research &amp; Consulting, Inc.</a:t>
            </a:r>
          </a:p>
        </p:txBody>
      </p:sp>
      <p:graphicFrame>
        <p:nvGraphicFramePr>
          <p:cNvPr id="6" name="表 5">
            <a:extLst>
              <a:ext uri="{FF2B5EF4-FFF2-40B4-BE49-F238E27FC236}">
                <a16:creationId xmlns:a16="http://schemas.microsoft.com/office/drawing/2014/main" id="{4DAF3DA5-2080-433F-852E-4166E8CE6B5E}"/>
              </a:ext>
            </a:extLst>
          </p:cNvPr>
          <p:cNvGraphicFramePr>
            <a:graphicFrameLocks noGrp="1"/>
          </p:cNvGraphicFramePr>
          <p:nvPr/>
        </p:nvGraphicFramePr>
        <p:xfrm>
          <a:off x="359825" y="1620000"/>
          <a:ext cx="9180000" cy="4320000"/>
        </p:xfrm>
        <a:graphic>
          <a:graphicData uri="http://schemas.openxmlformats.org/drawingml/2006/table">
            <a:tbl>
              <a:tblPr bandRow="1">
                <a:tableStyleId>{5C22544A-7EE6-4342-B048-85BDC9FD1C3A}</a:tableStyleId>
              </a:tblPr>
              <a:tblGrid>
                <a:gridCol w="2295000">
                  <a:extLst>
                    <a:ext uri="{9D8B030D-6E8A-4147-A177-3AD203B41FA5}">
                      <a16:colId xmlns:a16="http://schemas.microsoft.com/office/drawing/2014/main" val="1843206991"/>
                    </a:ext>
                  </a:extLst>
                </a:gridCol>
                <a:gridCol w="2295000">
                  <a:extLst>
                    <a:ext uri="{9D8B030D-6E8A-4147-A177-3AD203B41FA5}">
                      <a16:colId xmlns:a16="http://schemas.microsoft.com/office/drawing/2014/main" val="4194487522"/>
                    </a:ext>
                  </a:extLst>
                </a:gridCol>
                <a:gridCol w="2295000">
                  <a:extLst>
                    <a:ext uri="{9D8B030D-6E8A-4147-A177-3AD203B41FA5}">
                      <a16:colId xmlns:a16="http://schemas.microsoft.com/office/drawing/2014/main" val="3224909430"/>
                    </a:ext>
                  </a:extLst>
                </a:gridCol>
                <a:gridCol w="2295000">
                  <a:extLst>
                    <a:ext uri="{9D8B030D-6E8A-4147-A177-3AD203B41FA5}">
                      <a16:colId xmlns:a16="http://schemas.microsoft.com/office/drawing/2014/main" val="3496773093"/>
                    </a:ext>
                  </a:extLst>
                </a:gridCol>
              </a:tblGrid>
              <a:tr h="2176758">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567435"/>
                  </a:ext>
                </a:extLst>
              </a:tr>
              <a:tr h="2143242">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28575" cap="flat" cmpd="sng" algn="ctr">
                      <a:solidFill>
                        <a:srgbClr val="006C60"/>
                      </a:solidFill>
                      <a:prstDash val="sysDot"/>
                      <a:round/>
                      <a:headEnd type="none" w="med" len="med"/>
                      <a:tailEnd type="none" w="med" len="med"/>
                    </a:lnL>
                    <a:lnR w="28575" cap="flat" cmpd="sng" algn="ctr">
                      <a:solidFill>
                        <a:srgbClr val="006C60"/>
                      </a:solid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9413027"/>
                  </a:ext>
                </a:extLst>
              </a:tr>
            </a:tbl>
          </a:graphicData>
        </a:graphic>
      </p:graphicFrame>
      <p:sp>
        <p:nvSpPr>
          <p:cNvPr id="7" name="テキスト ボックス 6">
            <a:extLst>
              <a:ext uri="{FF2B5EF4-FFF2-40B4-BE49-F238E27FC236}">
                <a16:creationId xmlns:a16="http://schemas.microsoft.com/office/drawing/2014/main" id="{0CAB3220-CAEB-4A97-9A89-16AC76DB10BE}"/>
              </a:ext>
            </a:extLst>
          </p:cNvPr>
          <p:cNvSpPr txBox="1"/>
          <p:nvPr/>
        </p:nvSpPr>
        <p:spPr>
          <a:xfrm>
            <a:off x="432000" y="3420000"/>
            <a:ext cx="2160000" cy="360040"/>
          </a:xfrm>
          <a:prstGeom prst="rect">
            <a:avLst/>
          </a:prstGeom>
          <a:noFill/>
        </p:spPr>
        <p:txBody>
          <a:bodyPr wrap="square" rtlCol="0" anchor="ctr" anchorCtr="0">
            <a:noAutofit/>
          </a:bodyPr>
          <a:lstStyle/>
          <a:p>
            <a:pPr lvl="0" algn="ctr">
              <a:defRPr/>
            </a:pPr>
            <a:r>
              <a:rPr lang="ja-JP" altLang="en-US" sz="1200" dirty="0">
                <a:solidFill>
                  <a:prstClr val="black"/>
                </a:solidFill>
                <a:latin typeface="游ゴシック" panose="020B0400000000000000" pitchFamily="50" charset="-128"/>
                <a:ea typeface="游ゴシック" panose="020B0400000000000000" pitchFamily="50" charset="-128"/>
              </a:rPr>
              <a:t>ボックスウォール</a:t>
            </a:r>
            <a:endParaRPr lang="en-US" altLang="ja-JP" sz="1200" dirty="0">
              <a:solidFill>
                <a:prstClr val="black"/>
              </a:solidFill>
              <a:latin typeface="游ゴシック" panose="020B0400000000000000" pitchFamily="50" charset="-128"/>
              <a:ea typeface="游ゴシック" panose="020B0400000000000000" pitchFamily="50" charset="-128"/>
            </a:endParaRPr>
          </a:p>
        </p:txBody>
      </p:sp>
      <p:sp>
        <p:nvSpPr>
          <p:cNvPr id="8" name="正方形/長方形 7">
            <a:extLst>
              <a:ext uri="{FF2B5EF4-FFF2-40B4-BE49-F238E27FC236}">
                <a16:creationId xmlns:a16="http://schemas.microsoft.com/office/drawing/2014/main" id="{39847AE6-F40E-4CFF-81F2-B966AC3117F9}"/>
              </a:ext>
            </a:extLst>
          </p:cNvPr>
          <p:cNvSpPr/>
          <p:nvPr/>
        </p:nvSpPr>
        <p:spPr>
          <a:xfrm>
            <a:off x="378000" y="1259999"/>
            <a:ext cx="2250000" cy="360000"/>
          </a:xfrm>
          <a:prstGeom prst="rect">
            <a:avLst/>
          </a:prstGeom>
          <a:solidFill>
            <a:srgbClr val="006C60"/>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浸水深</a:t>
            </a:r>
            <a:r>
              <a:rPr kumimoji="0" lang="en-US" altLang="ja-JP"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0.5m</a:t>
            </a: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未満</a:t>
            </a:r>
            <a:endParaRPr kumimoji="1"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endParaRPr>
          </a:p>
        </p:txBody>
      </p:sp>
      <p:sp>
        <p:nvSpPr>
          <p:cNvPr id="9" name="正方形/長方形 8">
            <a:extLst>
              <a:ext uri="{FF2B5EF4-FFF2-40B4-BE49-F238E27FC236}">
                <a16:creationId xmlns:a16="http://schemas.microsoft.com/office/drawing/2014/main" id="{F7B01571-42FB-4EB0-A45A-70D0334F3829}"/>
              </a:ext>
            </a:extLst>
          </p:cNvPr>
          <p:cNvSpPr/>
          <p:nvPr/>
        </p:nvSpPr>
        <p:spPr>
          <a:xfrm>
            <a:off x="2682000" y="1260000"/>
            <a:ext cx="2250000" cy="360000"/>
          </a:xfrm>
          <a:prstGeom prst="rect">
            <a:avLst/>
          </a:prstGeom>
          <a:solidFill>
            <a:srgbClr val="006C60"/>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浸水深</a:t>
            </a:r>
            <a:r>
              <a:rPr kumimoji="0" lang="en-US" altLang="ja-JP"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1.0m</a:t>
            </a: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未満</a:t>
            </a:r>
            <a:endParaRPr kumimoji="1"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endParaRPr>
          </a:p>
        </p:txBody>
      </p:sp>
      <p:sp>
        <p:nvSpPr>
          <p:cNvPr id="11" name="正方形/長方形 10">
            <a:extLst>
              <a:ext uri="{FF2B5EF4-FFF2-40B4-BE49-F238E27FC236}">
                <a16:creationId xmlns:a16="http://schemas.microsoft.com/office/drawing/2014/main" id="{7FA89DBD-54F2-4B3A-B5F7-A8E97A169865}"/>
              </a:ext>
            </a:extLst>
          </p:cNvPr>
          <p:cNvSpPr/>
          <p:nvPr/>
        </p:nvSpPr>
        <p:spPr>
          <a:xfrm>
            <a:off x="4968000" y="1260000"/>
            <a:ext cx="2250000" cy="360000"/>
          </a:xfrm>
          <a:prstGeom prst="rect">
            <a:avLst/>
          </a:prstGeom>
          <a:solidFill>
            <a:srgbClr val="006C60"/>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浸水深</a:t>
            </a:r>
            <a:r>
              <a:rPr kumimoji="0" lang="en-US" altLang="ja-JP"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2.0m</a:t>
            </a: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未満</a:t>
            </a:r>
            <a:endParaRPr kumimoji="1"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endParaRPr>
          </a:p>
        </p:txBody>
      </p:sp>
      <p:sp>
        <p:nvSpPr>
          <p:cNvPr id="12" name="正方形/長方形 11">
            <a:extLst>
              <a:ext uri="{FF2B5EF4-FFF2-40B4-BE49-F238E27FC236}">
                <a16:creationId xmlns:a16="http://schemas.microsoft.com/office/drawing/2014/main" id="{3E8D4D66-1646-49AA-99CB-7B1B940C80E1}"/>
              </a:ext>
            </a:extLst>
          </p:cNvPr>
          <p:cNvSpPr/>
          <p:nvPr/>
        </p:nvSpPr>
        <p:spPr>
          <a:xfrm>
            <a:off x="7272000" y="1260000"/>
            <a:ext cx="2250000" cy="360000"/>
          </a:xfrm>
          <a:prstGeom prst="rect">
            <a:avLst/>
          </a:prstGeom>
          <a:solidFill>
            <a:srgbClr val="006C60"/>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浸水深</a:t>
            </a:r>
            <a:r>
              <a:rPr kumimoji="0" lang="en-US" altLang="ja-JP"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2.5m</a:t>
            </a:r>
            <a:r>
              <a:rPr lang="ja-JP" altLang="en-US" sz="1400" b="1" dirty="0">
                <a:solidFill>
                  <a:prstClr val="white"/>
                </a:solidFill>
                <a:latin typeface="游ゴシック" panose="020B0400000000000000" pitchFamily="50" charset="-128"/>
                <a:ea typeface="游ゴシック" panose="020B0400000000000000" pitchFamily="50" charset="-128"/>
              </a:rPr>
              <a:t>未満</a:t>
            </a:r>
            <a:endParaRPr kumimoji="1" lang="ja-JP" altLang="en-US" sz="1400" b="1"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endParaRPr>
          </a:p>
        </p:txBody>
      </p:sp>
      <p:sp>
        <p:nvSpPr>
          <p:cNvPr id="13" name="テキスト ボックス 12">
            <a:extLst>
              <a:ext uri="{FF2B5EF4-FFF2-40B4-BE49-F238E27FC236}">
                <a16:creationId xmlns:a16="http://schemas.microsoft.com/office/drawing/2014/main" id="{8C4ED90E-B2A1-44C7-B1F3-DDC23C9B2F31}"/>
              </a:ext>
            </a:extLst>
          </p:cNvPr>
          <p:cNvSpPr txBox="1"/>
          <p:nvPr/>
        </p:nvSpPr>
        <p:spPr>
          <a:xfrm>
            <a:off x="2718000" y="4860000"/>
            <a:ext cx="2160000" cy="360040"/>
          </a:xfrm>
          <a:prstGeom prst="rect">
            <a:avLst/>
          </a:prstGeom>
          <a:noFill/>
        </p:spPr>
        <p:txBody>
          <a:bodyPr wrap="square" rtlCol="0" anchor="ctr" anchorCtr="0">
            <a:noAutofit/>
          </a:bodyPr>
          <a:lstStyle/>
          <a:p>
            <a:pPr lvl="0" algn="ctr">
              <a:defRPr/>
            </a:pPr>
            <a:r>
              <a:rPr lang="ja-JP" altLang="en-US" sz="1200" dirty="0">
                <a:solidFill>
                  <a:prstClr val="black"/>
                </a:solidFill>
                <a:latin typeface="游ゴシック" panose="020B0400000000000000" pitchFamily="50" charset="-128"/>
                <a:ea typeface="游ゴシック" panose="020B0400000000000000" pitchFamily="50" charset="-128"/>
              </a:rPr>
              <a:t>チューブウォール</a:t>
            </a:r>
            <a:endParaRPr lang="en-US" altLang="ja-JP" sz="1200" dirty="0">
              <a:solidFill>
                <a:prstClr val="black"/>
              </a:solidFill>
              <a:latin typeface="游ゴシック" panose="020B0400000000000000" pitchFamily="50" charset="-128"/>
              <a:ea typeface="游ゴシック" panose="020B0400000000000000" pitchFamily="50" charset="-128"/>
            </a:endParaRPr>
          </a:p>
        </p:txBody>
      </p:sp>
      <p:sp>
        <p:nvSpPr>
          <p:cNvPr id="14" name="テキスト ボックス 13">
            <a:extLst>
              <a:ext uri="{FF2B5EF4-FFF2-40B4-BE49-F238E27FC236}">
                <a16:creationId xmlns:a16="http://schemas.microsoft.com/office/drawing/2014/main" id="{672A1581-8463-42C5-B571-73BE6BA46ABC}"/>
              </a:ext>
            </a:extLst>
          </p:cNvPr>
          <p:cNvSpPr txBox="1"/>
          <p:nvPr/>
        </p:nvSpPr>
        <p:spPr>
          <a:xfrm>
            <a:off x="5022000" y="5310000"/>
            <a:ext cx="2160000" cy="360040"/>
          </a:xfrm>
          <a:prstGeom prst="rect">
            <a:avLst/>
          </a:prstGeom>
          <a:noFill/>
        </p:spPr>
        <p:txBody>
          <a:bodyPr wrap="square" rtlCol="0" anchor="ctr" anchorCtr="0">
            <a:noAutofit/>
          </a:bodyPr>
          <a:lstStyle/>
          <a:p>
            <a:pPr lvl="0" algn="ctr">
              <a:defRPr/>
            </a:pPr>
            <a:r>
              <a:rPr lang="ja-JP" altLang="en-US" sz="1200" dirty="0">
                <a:solidFill>
                  <a:prstClr val="black"/>
                </a:solidFill>
                <a:latin typeface="游ゴシック" panose="020B0400000000000000" pitchFamily="50" charset="-128"/>
                <a:ea typeface="游ゴシック" panose="020B0400000000000000" pitchFamily="50" charset="-128"/>
              </a:rPr>
              <a:t>水の</a:t>
            </a:r>
            <a:r>
              <a:rPr lang="ja-JP" altLang="en-US" sz="1200" dirty="0" err="1">
                <a:solidFill>
                  <a:prstClr val="black"/>
                </a:solidFill>
                <a:latin typeface="游ゴシック" panose="020B0400000000000000" pitchFamily="50" charset="-128"/>
                <a:ea typeface="游ゴシック" panose="020B0400000000000000" pitchFamily="50" charset="-128"/>
              </a:rPr>
              <a:t>う</a:t>
            </a:r>
            <a:r>
              <a:rPr lang="ja-JP" altLang="en-US" sz="1200" dirty="0">
                <a:solidFill>
                  <a:prstClr val="black"/>
                </a:solidFill>
                <a:latin typeface="游ゴシック" panose="020B0400000000000000" pitchFamily="50" charset="-128"/>
                <a:ea typeface="游ゴシック" panose="020B0400000000000000" pitchFamily="50" charset="-128"/>
              </a:rPr>
              <a:t>型簡易膨張</a:t>
            </a:r>
            <a:endParaRPr lang="en-US" altLang="ja-JP" sz="1200" dirty="0">
              <a:solidFill>
                <a:prstClr val="black"/>
              </a:solidFill>
              <a:latin typeface="游ゴシック" panose="020B0400000000000000" pitchFamily="50" charset="-128"/>
              <a:ea typeface="游ゴシック" panose="020B0400000000000000" pitchFamily="50" charset="-128"/>
            </a:endParaRPr>
          </a:p>
          <a:p>
            <a:pPr lvl="0" algn="ctr">
              <a:defRPr/>
            </a:pPr>
            <a:r>
              <a:rPr lang="ja-JP" altLang="en-US" sz="1200" dirty="0">
                <a:solidFill>
                  <a:prstClr val="black"/>
                </a:solidFill>
                <a:latin typeface="游ゴシック" panose="020B0400000000000000" pitchFamily="50" charset="-128"/>
                <a:ea typeface="游ゴシック" panose="020B0400000000000000" pitchFamily="50" charset="-128"/>
              </a:rPr>
              <a:t>ダムシステム</a:t>
            </a:r>
            <a:endParaRPr lang="en-US" altLang="ja-JP" sz="1200" dirty="0">
              <a:solidFill>
                <a:prstClr val="black"/>
              </a:solidFill>
              <a:latin typeface="游ゴシック" panose="020B0400000000000000" pitchFamily="50" charset="-128"/>
              <a:ea typeface="游ゴシック" panose="020B0400000000000000" pitchFamily="50" charset="-128"/>
            </a:endParaRPr>
          </a:p>
          <a:p>
            <a:pPr lvl="0" algn="ctr">
              <a:defRPr/>
            </a:pPr>
            <a:r>
              <a:rPr lang="en-US" altLang="ja-JP" sz="1200" dirty="0">
                <a:solidFill>
                  <a:prstClr val="black"/>
                </a:solidFill>
                <a:latin typeface="游ゴシック" panose="020B0400000000000000" pitchFamily="50" charset="-128"/>
                <a:ea typeface="游ゴシック" panose="020B0400000000000000" pitchFamily="50" charset="-128"/>
              </a:rPr>
              <a:t>(</a:t>
            </a:r>
            <a:r>
              <a:rPr lang="ja-JP" altLang="en-US" sz="1200" dirty="0">
                <a:solidFill>
                  <a:prstClr val="black"/>
                </a:solidFill>
                <a:latin typeface="游ゴシック" panose="020B0400000000000000" pitchFamily="50" charset="-128"/>
                <a:ea typeface="游ゴシック" panose="020B0400000000000000" pitchFamily="50" charset="-128"/>
              </a:rPr>
              <a:t>タイガーダム</a:t>
            </a:r>
            <a:r>
              <a:rPr lang="en-US" altLang="ja-JP" sz="1200" dirty="0">
                <a:solidFill>
                  <a:prstClr val="black"/>
                </a:solidFill>
                <a:latin typeface="游ゴシック" panose="020B0400000000000000" pitchFamily="50" charset="-128"/>
                <a:ea typeface="游ゴシック" panose="020B0400000000000000" pitchFamily="50" charset="-128"/>
              </a:rPr>
              <a:t>)</a:t>
            </a:r>
          </a:p>
        </p:txBody>
      </p:sp>
      <p:sp>
        <p:nvSpPr>
          <p:cNvPr id="15" name="テキスト ボックス 14">
            <a:extLst>
              <a:ext uri="{FF2B5EF4-FFF2-40B4-BE49-F238E27FC236}">
                <a16:creationId xmlns:a16="http://schemas.microsoft.com/office/drawing/2014/main" id="{05749B55-F1D9-48E3-8559-6498338CFEF2}"/>
              </a:ext>
            </a:extLst>
          </p:cNvPr>
          <p:cNvSpPr txBox="1"/>
          <p:nvPr/>
        </p:nvSpPr>
        <p:spPr>
          <a:xfrm>
            <a:off x="7308000" y="5310000"/>
            <a:ext cx="2160000" cy="360040"/>
          </a:xfrm>
          <a:prstGeom prst="rect">
            <a:avLst/>
          </a:prstGeom>
          <a:noFill/>
        </p:spPr>
        <p:txBody>
          <a:bodyPr wrap="square" rtlCol="0" anchor="ctr" anchorCtr="0">
            <a:noAutofit/>
          </a:bodyPr>
          <a:lstStyle/>
          <a:p>
            <a:pPr lvl="0" algn="ctr">
              <a:defRPr/>
            </a:pPr>
            <a:r>
              <a:rPr lang="ja-JP" altLang="en-US" sz="1200" dirty="0">
                <a:solidFill>
                  <a:prstClr val="black"/>
                </a:solidFill>
                <a:latin typeface="游ゴシック" panose="020B0400000000000000" pitchFamily="50" charset="-128"/>
                <a:ea typeface="游ゴシック" panose="020B0400000000000000" pitchFamily="50" charset="-128"/>
              </a:rPr>
              <a:t>設置型フェンス</a:t>
            </a:r>
            <a:endParaRPr lang="en-US" altLang="ja-JP" sz="1200" dirty="0">
              <a:solidFill>
                <a:prstClr val="black"/>
              </a:solidFill>
              <a:latin typeface="游ゴシック" panose="020B0400000000000000" pitchFamily="50" charset="-128"/>
              <a:ea typeface="游ゴシック" panose="020B0400000000000000" pitchFamily="50" charset="-128"/>
            </a:endParaRPr>
          </a:p>
          <a:p>
            <a:pPr lvl="0" algn="ctr">
              <a:defRPr/>
            </a:pPr>
            <a:r>
              <a:rPr lang="en-US" altLang="ja-JP" sz="1200" dirty="0">
                <a:solidFill>
                  <a:prstClr val="black"/>
                </a:solidFill>
                <a:latin typeface="游ゴシック" panose="020B0400000000000000" pitchFamily="50" charset="-128"/>
                <a:ea typeface="游ゴシック" panose="020B0400000000000000" pitchFamily="50" charset="-128"/>
              </a:rPr>
              <a:t>(Aqua</a:t>
            </a:r>
            <a:r>
              <a:rPr lang="ja-JP" altLang="en-US" sz="1200" dirty="0">
                <a:solidFill>
                  <a:prstClr val="black"/>
                </a:solidFill>
                <a:latin typeface="游ゴシック" panose="020B0400000000000000" pitchFamily="50" charset="-128"/>
                <a:ea typeface="游ゴシック" panose="020B0400000000000000" pitchFamily="50" charset="-128"/>
              </a:rPr>
              <a:t> </a:t>
            </a:r>
            <a:r>
              <a:rPr lang="en-US" altLang="ja-JP" sz="1200" dirty="0">
                <a:solidFill>
                  <a:prstClr val="black"/>
                </a:solidFill>
                <a:latin typeface="游ゴシック" panose="020B0400000000000000" pitchFamily="50" charset="-128"/>
                <a:ea typeface="游ゴシック" panose="020B0400000000000000" pitchFamily="50" charset="-128"/>
              </a:rPr>
              <a:t>Fence)</a:t>
            </a:r>
          </a:p>
        </p:txBody>
      </p:sp>
      <p:pic>
        <p:nvPicPr>
          <p:cNvPr id="16" name="図 15">
            <a:extLst>
              <a:ext uri="{FF2B5EF4-FFF2-40B4-BE49-F238E27FC236}">
                <a16:creationId xmlns:a16="http://schemas.microsoft.com/office/drawing/2014/main" id="{F8FE62E5-2FFA-42D6-B53B-58B1B8165C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18000" y="3240000"/>
            <a:ext cx="2160000" cy="1552975"/>
          </a:xfrm>
          <a:prstGeom prst="rect">
            <a:avLst/>
          </a:prstGeom>
        </p:spPr>
      </p:pic>
      <p:pic>
        <p:nvPicPr>
          <p:cNvPr id="17" name="図 16">
            <a:extLst>
              <a:ext uri="{FF2B5EF4-FFF2-40B4-BE49-F238E27FC236}">
                <a16:creationId xmlns:a16="http://schemas.microsoft.com/office/drawing/2014/main" id="{CFA9E6BF-7856-4806-92EF-5F0651B8A7D7}"/>
              </a:ext>
            </a:extLst>
          </p:cNvPr>
          <p:cNvPicPr>
            <a:picLocks noChangeAspect="1"/>
          </p:cNvPicPr>
          <p:nvPr/>
        </p:nvPicPr>
        <p:blipFill>
          <a:blip r:embed="rId3"/>
          <a:stretch>
            <a:fillRect/>
          </a:stretch>
        </p:blipFill>
        <p:spPr>
          <a:xfrm>
            <a:off x="577350" y="1710000"/>
            <a:ext cx="1890000" cy="1714638"/>
          </a:xfrm>
          <a:prstGeom prst="rect">
            <a:avLst/>
          </a:prstGeom>
        </p:spPr>
      </p:pic>
      <p:pic>
        <p:nvPicPr>
          <p:cNvPr id="18" name="図 17">
            <a:extLst>
              <a:ext uri="{FF2B5EF4-FFF2-40B4-BE49-F238E27FC236}">
                <a16:creationId xmlns:a16="http://schemas.microsoft.com/office/drawing/2014/main" id="{8C5FDFE2-74F3-4D91-BAFB-1315B9BF03AC}"/>
              </a:ext>
            </a:extLst>
          </p:cNvPr>
          <p:cNvPicPr>
            <a:picLocks noChangeAspect="1"/>
          </p:cNvPicPr>
          <p:nvPr/>
        </p:nvPicPr>
        <p:blipFill>
          <a:blip r:embed="rId4"/>
          <a:stretch>
            <a:fillRect/>
          </a:stretch>
        </p:blipFill>
        <p:spPr>
          <a:xfrm>
            <a:off x="5022000" y="3780000"/>
            <a:ext cx="2160000" cy="1424100"/>
          </a:xfrm>
          <a:prstGeom prst="rect">
            <a:avLst/>
          </a:prstGeom>
        </p:spPr>
      </p:pic>
      <p:pic>
        <p:nvPicPr>
          <p:cNvPr id="19" name="図 18">
            <a:extLst>
              <a:ext uri="{FF2B5EF4-FFF2-40B4-BE49-F238E27FC236}">
                <a16:creationId xmlns:a16="http://schemas.microsoft.com/office/drawing/2014/main" id="{9C6051AF-1FCA-4FED-A641-C1C648B4363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19156" y="1710000"/>
            <a:ext cx="2160000" cy="1509041"/>
          </a:xfrm>
          <a:prstGeom prst="rect">
            <a:avLst/>
          </a:prstGeom>
        </p:spPr>
      </p:pic>
      <p:pic>
        <p:nvPicPr>
          <p:cNvPr id="20" name="Picture 2" descr="V1200外角コーナー 90度">
            <a:extLst>
              <a:ext uri="{FF2B5EF4-FFF2-40B4-BE49-F238E27FC236}">
                <a16:creationId xmlns:a16="http://schemas.microsoft.com/office/drawing/2014/main" id="{A1A85DEB-066F-487C-B49C-A49DA199024F}"/>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7308000" y="3780000"/>
            <a:ext cx="216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21" name="図 20">
            <a:extLst>
              <a:ext uri="{FF2B5EF4-FFF2-40B4-BE49-F238E27FC236}">
                <a16:creationId xmlns:a16="http://schemas.microsoft.com/office/drawing/2014/main" id="{29010DCB-62AA-4E99-A1F6-842D497FAEDE}"/>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022000" y="1710003"/>
            <a:ext cx="4428000" cy="1965400"/>
          </a:xfrm>
          <a:prstGeom prst="rect">
            <a:avLst/>
          </a:prstGeom>
        </p:spPr>
      </p:pic>
      <p:grpSp>
        <p:nvGrpSpPr>
          <p:cNvPr id="22" name="グループ化 21">
            <a:extLst>
              <a:ext uri="{FF2B5EF4-FFF2-40B4-BE49-F238E27FC236}">
                <a16:creationId xmlns:a16="http://schemas.microsoft.com/office/drawing/2014/main" id="{0188E83A-592B-4DCE-9031-6A670FBE1377}"/>
              </a:ext>
            </a:extLst>
          </p:cNvPr>
          <p:cNvGrpSpPr/>
          <p:nvPr/>
        </p:nvGrpSpPr>
        <p:grpSpPr>
          <a:xfrm>
            <a:off x="540000" y="5940000"/>
            <a:ext cx="8820000" cy="450000"/>
            <a:chOff x="540000" y="5940000"/>
            <a:chExt cx="8820000" cy="450000"/>
          </a:xfrm>
        </p:grpSpPr>
        <p:sp>
          <p:nvSpPr>
            <p:cNvPr id="23" name="左右矢印 29">
              <a:extLst>
                <a:ext uri="{FF2B5EF4-FFF2-40B4-BE49-F238E27FC236}">
                  <a16:creationId xmlns:a16="http://schemas.microsoft.com/office/drawing/2014/main" id="{2211EB4F-A2C9-4576-BC01-A4CD6D84129A}"/>
                </a:ext>
              </a:extLst>
            </p:cNvPr>
            <p:cNvSpPr/>
            <p:nvPr/>
          </p:nvSpPr>
          <p:spPr>
            <a:xfrm>
              <a:off x="1529825" y="5940000"/>
              <a:ext cx="6840000" cy="450000"/>
            </a:xfrm>
            <a:prstGeom prst="leftRightArrow">
              <a:avLst>
                <a:gd name="adj1" fmla="val 63821"/>
                <a:gd name="adj2" fmla="val 50000"/>
              </a:avLst>
            </a:prstGeom>
            <a:gradFill>
              <a:gsLst>
                <a:gs pos="0">
                  <a:schemeClr val="accent1">
                    <a:lumMod val="5000"/>
                    <a:lumOff val="95000"/>
                  </a:schemeClr>
                </a:gs>
                <a:gs pos="39000">
                  <a:srgbClr val="66CCFF"/>
                </a:gs>
                <a:gs pos="73000">
                  <a:srgbClr val="3399FF"/>
                </a:gs>
                <a:gs pos="100000">
                  <a:srgbClr val="0070C0"/>
                </a:gs>
              </a:gsLst>
              <a:lin ang="0" scaled="0"/>
            </a:gradFill>
            <a:ln w="9525">
              <a:solidFill>
                <a:srgbClr val="7376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srgbClr val="000000"/>
                  </a:solidFill>
                  <a:effectLst>
                    <a:glow rad="101600">
                      <a:prstClr val="white">
                        <a:alpha val="60000"/>
                      </a:prstClr>
                    </a:glow>
                  </a:effectLst>
                  <a:uLnTx/>
                  <a:uFillTx/>
                  <a:latin typeface="游ゴシック" panose="020B0400000000000000" pitchFamily="50" charset="-128"/>
                  <a:ea typeface="游ゴシック" panose="020B0400000000000000" pitchFamily="50" charset="-128"/>
                </a:rPr>
                <a:t>想定浸水深</a:t>
              </a:r>
            </a:p>
          </p:txBody>
        </p:sp>
        <p:sp>
          <p:nvSpPr>
            <p:cNvPr id="24" name="テキスト ボックス 23">
              <a:extLst>
                <a:ext uri="{FF2B5EF4-FFF2-40B4-BE49-F238E27FC236}">
                  <a16:creationId xmlns:a16="http://schemas.microsoft.com/office/drawing/2014/main" id="{0B4E1216-89D0-4975-8889-180BBBE7FED6}"/>
                </a:ext>
              </a:extLst>
            </p:cNvPr>
            <p:cNvSpPr txBox="1"/>
            <p:nvPr/>
          </p:nvSpPr>
          <p:spPr>
            <a:xfrm>
              <a:off x="8460000" y="5940000"/>
              <a:ext cx="900000" cy="450000"/>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20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深い</a:t>
              </a:r>
              <a:endParaRPr kumimoji="0" lang="en-US" altLang="ja-JP" sz="12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sp>
          <p:nvSpPr>
            <p:cNvPr id="25" name="テキスト ボックス 24">
              <a:extLst>
                <a:ext uri="{FF2B5EF4-FFF2-40B4-BE49-F238E27FC236}">
                  <a16:creationId xmlns:a16="http://schemas.microsoft.com/office/drawing/2014/main" id="{4DEBC346-934A-4616-B4DC-B3EA37BEC3B8}"/>
                </a:ext>
              </a:extLst>
            </p:cNvPr>
            <p:cNvSpPr txBox="1"/>
            <p:nvPr/>
          </p:nvSpPr>
          <p:spPr>
            <a:xfrm>
              <a:off x="540000" y="5940000"/>
              <a:ext cx="900000" cy="450000"/>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20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浅い</a:t>
              </a:r>
              <a:endParaRPr kumimoji="0" lang="en-US" altLang="ja-JP" sz="12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grpSp>
      <p:sp>
        <p:nvSpPr>
          <p:cNvPr id="26" name="スライド番号プレースホルダー 5">
            <a:extLst>
              <a:ext uri="{FF2B5EF4-FFF2-40B4-BE49-F238E27FC236}">
                <a16:creationId xmlns:a16="http://schemas.microsoft.com/office/drawing/2014/main" id="{6C161AE5-539F-4F47-8E91-A2B427FE2444}"/>
              </a:ext>
            </a:extLst>
          </p:cNvPr>
          <p:cNvSpPr txBox="1">
            <a:spLocks/>
          </p:cNvSpPr>
          <p:nvPr/>
        </p:nvSpPr>
        <p:spPr>
          <a:xfrm>
            <a:off x="9247906" y="6437312"/>
            <a:ext cx="461667" cy="268288"/>
          </a:xfrm>
          <a:prstGeom prst="rect">
            <a:avLst/>
          </a:prstGeom>
        </p:spPr>
        <p:txBody>
          <a:bodyPr lIns="0" tIns="0" rIns="0" bIns="0" anchor="b"/>
          <a:lstStyle>
            <a:defPPr>
              <a:defRPr lang="fr-FR"/>
            </a:defPPr>
            <a:lvl1pPr marL="0" algn="r" defTabSz="914400" rtl="0" eaLnBrk="1" fontAlgn="auto" latinLnBrk="0" hangingPunct="1">
              <a:spcBef>
                <a:spcPts val="0"/>
              </a:spcBef>
              <a:spcAft>
                <a:spcPts val="0"/>
              </a:spcAft>
              <a:defRPr lang="ja-JP" altLang="en-US" sz="1199" kern="1200">
                <a:solidFill>
                  <a:srgbClr val="414243"/>
                </a:solidFill>
                <a:latin typeface="Arial" pitchFamily="34" charset="0"/>
                <a:ea typeface="ＭＳ Ｐゴシック" pitchFamily="50"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3C987C2D-0993-D24A-8F17-67855EAE4BDA}" type="slidenum">
              <a:rPr kumimoji="1" lang="en-US" altLang="ja-JP" smtClean="0">
                <a:solidFill>
                  <a:schemeClr val="bg1"/>
                </a:solidFill>
                <a:latin typeface="游ゴシック" panose="020B0400000000000000" pitchFamily="50" charset="-128"/>
                <a:ea typeface="游ゴシック" panose="020B0400000000000000" pitchFamily="50" charset="-128"/>
              </a:rPr>
              <a:pPr algn="ctr"/>
              <a:t>57</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28" name="テキスト ボックス 27">
            <a:extLst>
              <a:ext uri="{FF2B5EF4-FFF2-40B4-BE49-F238E27FC236}">
                <a16:creationId xmlns:a16="http://schemas.microsoft.com/office/drawing/2014/main" id="{E0C466ED-5CB0-4FB8-80E3-219BC2698AF3}"/>
              </a:ext>
            </a:extLst>
          </p:cNvPr>
          <p:cNvSpPr txBox="1"/>
          <p:nvPr/>
        </p:nvSpPr>
        <p:spPr>
          <a:xfrm>
            <a:off x="1295400" y="371475"/>
            <a:ext cx="7239000" cy="723900"/>
          </a:xfrm>
          <a:prstGeom prst="rect">
            <a:avLst/>
          </a:prstGeom>
          <a:noFill/>
        </p:spPr>
        <p:txBody>
          <a:bodyPr lIns="91440" tIns="45720" rIns="91440" bIns="45720" rtlCol="0" anchor="ctr">
            <a:noAutofit/>
          </a:bodyPr>
          <a:lstStyle/>
          <a:p>
            <a:pPr marL="47625" marR="0" lvl="0" indent="0" algn="l" rtl="0" fontAlgn="ctr">
              <a:lnSpc>
                <a:spcPct val="100000"/>
              </a:lnSpc>
              <a:spcBef>
                <a:spcPts val="0"/>
              </a:spcBef>
              <a:spcAft>
                <a:spcPts val="0"/>
              </a:spcAft>
            </a:pPr>
            <a:r>
              <a:rPr lang="ja-JP" altLang="en-US" sz="2400" u="none" spc="0" dirty="0">
                <a:solidFill>
                  <a:srgbClr val="000000">
                    <a:alpha val="100000"/>
                  </a:srgbClr>
                </a:solidFill>
                <a:latin typeface="游ゴシック" panose="020B0400000000000000" pitchFamily="50" charset="-128"/>
                <a:ea typeface="游ゴシック" panose="020B0400000000000000" pitchFamily="50" charset="-128"/>
              </a:rPr>
              <a:t>参考情報</a:t>
            </a:r>
            <a:r>
              <a:rPr lang="en-US" altLang="ja-JP" sz="2400" u="none" spc="0" dirty="0">
                <a:solidFill>
                  <a:srgbClr val="000000">
                    <a:alpha val="100000"/>
                  </a:srgbClr>
                </a:solidFill>
                <a:latin typeface="游ゴシック" panose="020B0400000000000000" pitchFamily="50" charset="-128"/>
                <a:ea typeface="游ゴシック" panose="020B0400000000000000" pitchFamily="50" charset="-128"/>
              </a:rPr>
              <a:t>(</a:t>
            </a:r>
            <a:r>
              <a:rPr lang="ja-JP" altLang="en-US" sz="2400" u="none" spc="0" dirty="0">
                <a:solidFill>
                  <a:srgbClr val="000000">
                    <a:alpha val="100000"/>
                  </a:srgbClr>
                </a:solidFill>
                <a:latin typeface="游ゴシック" panose="020B0400000000000000" pitchFamily="50" charset="-128"/>
                <a:ea typeface="游ゴシック" panose="020B0400000000000000" pitchFamily="50" charset="-128"/>
              </a:rPr>
              <a:t>浸水深さに応じた対策資機材の例</a:t>
            </a:r>
            <a:r>
              <a:rPr lang="en-US" altLang="ja-JP" sz="2400" u="none" spc="0" dirty="0">
                <a:solidFill>
                  <a:srgbClr val="000000">
                    <a:alpha val="100000"/>
                  </a:srgbClr>
                </a:solidFill>
                <a:latin typeface="游ゴシック" panose="020B0400000000000000" pitchFamily="50" charset="-128"/>
                <a:ea typeface="游ゴシック" panose="020B0400000000000000" pitchFamily="50" charset="-128"/>
              </a:rPr>
              <a:t>)</a:t>
            </a:r>
            <a:r>
              <a:rPr lang="ja-JP" altLang="en-US" sz="2400" u="none" spc="0" dirty="0">
                <a:solidFill>
                  <a:srgbClr val="000000">
                    <a:alpha val="100000"/>
                  </a:srgbClr>
                </a:solidFill>
                <a:latin typeface="游ゴシック" panose="020B0400000000000000" pitchFamily="50" charset="-128"/>
                <a:ea typeface="游ゴシック" panose="020B0400000000000000" pitchFamily="50" charset="-128"/>
              </a:rPr>
              <a:t> </a:t>
            </a:r>
            <a:endParaRPr lang="en-US" altLang="ja-JP" sz="2400" u="none" spc="0" dirty="0">
              <a:solidFill>
                <a:srgbClr val="000000">
                  <a:alpha val="100000"/>
                </a:srgbClr>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1884179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14300" y="361950"/>
          <a:ext cx="9820275" cy="6705600"/>
          <a:chOff x="114300" y="361950"/>
          <a:chExt cx="9820275" cy="6705600"/>
        </a:xfrm>
      </p:grpSpPr>
      <p:sp>
        <p:nvSpPr>
          <p:cNvPr id="10" name="テキスト ボックス 9"/>
          <p:cNvSpPr txBox="1"/>
          <p:nvPr/>
        </p:nvSpPr>
        <p:spPr>
          <a:xfrm>
            <a:off x="8248650" y="361950"/>
            <a:ext cx="1333500" cy="180975"/>
          </a:xfrm>
          <a:prstGeom prst="rect">
            <a:avLst/>
          </a:prstGeom>
          <a:solidFill>
            <a:srgbClr val="404040">
              <a:alpha val="100000"/>
            </a:srgbClr>
          </a:solidFill>
        </p:spPr>
        <p:txBody>
          <a:bodyPr wrap="none"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Strictly Confidential</a:t>
            </a:r>
          </a:p>
        </p:txBody>
      </p:sp>
      <p:sp>
        <p:nvSpPr>
          <p:cNvPr id="2" name="テキスト ボックス 1"/>
          <p:cNvSpPr txBox="1"/>
          <p:nvPr/>
        </p:nvSpPr>
        <p:spPr>
          <a:xfrm>
            <a:off x="361950" y="371475"/>
            <a:ext cx="723900" cy="676275"/>
          </a:xfrm>
          <a:prstGeom prst="rect">
            <a:avLst/>
          </a:prstGeom>
          <a:solidFill>
            <a:srgbClr val="006659">
              <a:alpha val="100000"/>
            </a:srgbClr>
          </a:solidFill>
        </p:spPr>
        <p:txBody>
          <a:bodyPr lIns="91440" tIns="45720" rIns="91440" bIns="45720" rtlCol="0" anchor="ctr">
            <a:noAutofit/>
          </a:bodyPr>
          <a:lstStyle/>
          <a:p>
            <a:pPr marL="0" marR="0" lvl="0" indent="0" algn="ctr" rtl="0" fontAlgn="ctr">
              <a:lnSpc>
                <a:spcPct val="100000"/>
              </a:lnSpc>
              <a:spcBef>
                <a:spcPts val="0"/>
              </a:spcBef>
              <a:spcAft>
                <a:spcPts val="0"/>
              </a:spcAft>
            </a:pPr>
            <a:r>
              <a:rPr lang="en-US" sz="3200" dirty="0">
                <a:solidFill>
                  <a:srgbClr val="FFFFFF">
                    <a:alpha val="100000"/>
                  </a:srgbClr>
                </a:solidFill>
                <a:latin typeface="游ゴシック"/>
              </a:rPr>
              <a:t>8</a:t>
            </a:r>
            <a:endParaRPr lang="en-US" sz="3200" u="none" spc="0" dirty="0">
              <a:solidFill>
                <a:srgbClr val="FFFFFF">
                  <a:alpha val="100000"/>
                </a:srgbClr>
              </a:solidFill>
              <a:latin typeface="游ゴシック"/>
            </a:endParaRPr>
          </a:p>
        </p:txBody>
      </p:sp>
      <p:sp>
        <p:nvSpPr>
          <p:cNvPr id="4" name="テキスト ボックス 3"/>
          <p:cNvSpPr txBox="1"/>
          <p:nvPr/>
        </p:nvSpPr>
        <p:spPr>
          <a:xfrm>
            <a:off x="361950" y="6496050"/>
            <a:ext cx="9220200" cy="209550"/>
          </a:xfrm>
          <a:prstGeom prst="rect">
            <a:avLst/>
          </a:prstGeom>
          <a:solidFill>
            <a:srgbClr val="006659">
              <a:alpha val="100000"/>
            </a:srgbClr>
          </a:solidFill>
        </p:spPr>
        <p:txBody>
          <a:bodyPr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 MS&amp;AD InterRisk Research &amp; Consulting, Inc.</a:t>
            </a:r>
          </a:p>
        </p:txBody>
      </p:sp>
      <p:sp>
        <p:nvSpPr>
          <p:cNvPr id="6" name="正方形/長方形 5">
            <a:extLst>
              <a:ext uri="{FF2B5EF4-FFF2-40B4-BE49-F238E27FC236}">
                <a16:creationId xmlns:a16="http://schemas.microsoft.com/office/drawing/2014/main" id="{C9805AEA-19D5-432F-8EF9-5F45775444D7}"/>
              </a:ext>
            </a:extLst>
          </p:cNvPr>
          <p:cNvSpPr/>
          <p:nvPr/>
        </p:nvSpPr>
        <p:spPr>
          <a:xfrm>
            <a:off x="359825" y="1170000"/>
            <a:ext cx="9180000" cy="360000"/>
          </a:xfrm>
          <a:prstGeom prst="rect">
            <a:avLst/>
          </a:prstGeom>
        </p:spPr>
        <p:txBody>
          <a:bodyPr wrap="none" anchor="ctr" anchorCtr="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前述の水災対策資機材の例に関する画像の出典一覧</a:t>
            </a:r>
            <a:r>
              <a:rPr kumimoji="0"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endParaRPr kumimoji="0" lang="ja-JP" altLang="en-US"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sp>
        <p:nvSpPr>
          <p:cNvPr id="7" name="テキスト ボックス 6">
            <a:extLst>
              <a:ext uri="{FF2B5EF4-FFF2-40B4-BE49-F238E27FC236}">
                <a16:creationId xmlns:a16="http://schemas.microsoft.com/office/drawing/2014/main" id="{ED5FDACA-0233-420C-B06D-A398AE741FEA}"/>
              </a:ext>
            </a:extLst>
          </p:cNvPr>
          <p:cNvSpPr txBox="1"/>
          <p:nvPr/>
        </p:nvSpPr>
        <p:spPr>
          <a:xfrm>
            <a:off x="359825" y="1530000"/>
            <a:ext cx="9180000" cy="4832092"/>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吸水性簡易土</a:t>
            </a:r>
            <a:r>
              <a:rPr lang="ja-JP" altLang="en-US" sz="1400" dirty="0">
                <a:solidFill>
                  <a:prstClr val="black"/>
                </a:solidFill>
                <a:latin typeface="游ゴシック" panose="020B0400000000000000" pitchFamily="50" charset="-128"/>
                <a:ea typeface="游ゴシック" panose="020B0400000000000000" pitchFamily="50" charset="-128"/>
              </a:rPr>
              <a:t>のう</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
                <a:prstClr val="white"/>
              </a:buClr>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エコクリーン｜吸水土</a:t>
            </a:r>
            <a:r>
              <a:rPr lang="ja-JP" altLang="en-US" sz="1400" dirty="0">
                <a:solidFill>
                  <a:prstClr val="black"/>
                </a:solidFill>
                <a:latin typeface="游ゴシック" panose="020B0400000000000000" pitchFamily="50" charset="-128"/>
                <a:ea typeface="游ゴシック" panose="020B0400000000000000" pitchFamily="50" charset="-128"/>
              </a:rPr>
              <a:t>のう</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神戸メディケア</a:t>
            </a:r>
            <a:r>
              <a:rPr kumimoji="1"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HP)</a:t>
            </a:r>
            <a:r>
              <a:rPr kumimoji="1"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hlinkClick r:id="rId2"/>
              </a:rPr>
              <a:t>http://donou.jp/about/seihin.html</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止水シート</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
                <a:prstClr val="white"/>
              </a:buClr>
              <a:buSzTx/>
              <a:buFont typeface="Wingdings" panose="05000000000000000000" pitchFamily="2" charset="2"/>
              <a:buChar char="l"/>
              <a:tabLst/>
              <a:defRPr/>
            </a:pP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Flash</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wall(Aqua</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Fence</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Japan)</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hlinkClick r:id="rId3"/>
              </a:rPr>
              <a:t>https://www.aquafence.jp/furasshuuru</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簡易式止水板</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
                <a:prstClr val="white"/>
              </a:buClr>
              <a:buSzTx/>
              <a:buFont typeface="Wingdings" panose="05000000000000000000" pitchFamily="2" charset="2"/>
              <a:buChar char="l"/>
              <a:tabLst/>
              <a:defRPr/>
            </a:pP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BX</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止水板｜ラクセット</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文化シャッター</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HP)</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hlinkClick r:id="rId4"/>
              </a:rPr>
              <a:t>http://bunka-s-pro.jp/product/rakuset/</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スイング式止水板</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
                <a:prstClr val="white"/>
              </a:buClr>
              <a:buSzTx/>
              <a:buFont typeface="Wingdings" panose="05000000000000000000" pitchFamily="2" charset="2"/>
              <a:buChar char="l"/>
              <a:tabLst/>
              <a:defRPr/>
            </a:pP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JP</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防止マン｜スイング式</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日本ピット</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HP)</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hlinkClick r:id="rId5"/>
              </a:rPr>
              <a:t>http://www.nihon-pit.co.jp/HP/bousui-6swing.html</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TW"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自動昇降式</a:t>
            </a:r>
            <a:r>
              <a:rPr kumimoji="0" lang="en-US" altLang="zh-TW"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zh-TW"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浮力起動式</a:t>
            </a:r>
            <a:r>
              <a:rPr kumimoji="0" lang="en-US" altLang="zh-TW"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zh-TW"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止水板</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陸上設置型フラップゲート式可動防潮堤</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-neo </a:t>
            </a:r>
            <a:r>
              <a:rPr kumimoji="0" lang="en-US" altLang="ja-JP" sz="1400" b="0" i="0" u="none" strike="noStrike" kern="1200" cap="none" spc="0" normalizeH="0" baseline="0" noProof="0" dirty="0" err="1">
                <a:ln>
                  <a:noFill/>
                </a:ln>
                <a:solidFill>
                  <a:prstClr val="black"/>
                </a:solidFill>
                <a:effectLst/>
                <a:uLnTx/>
                <a:uFillTx/>
                <a:latin typeface="游ゴシック" panose="020B0400000000000000" pitchFamily="50" charset="-128"/>
                <a:ea typeface="游ゴシック" panose="020B0400000000000000" pitchFamily="50" charset="-128"/>
              </a:rPr>
              <a:t>RiSe</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シリーズ</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日立造船</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HP)</a:t>
            </a:r>
            <a:endPar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
                <a:prstClr val="white"/>
              </a:buClr>
              <a:buSzTx/>
              <a:buFont typeface="Wingdings" panose="05000000000000000000" pitchFamily="2" charset="2"/>
              <a:buChar char="l"/>
              <a:tabLst/>
              <a:defRPr/>
            </a:pP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hlinkClick r:id="rId6"/>
              </a:rPr>
              <a:t>https://www.hitachizosen.co.jp/products/products026.html#anc02</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脱着式止水板</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文化シャッター</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HP)</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hlinkClick r:id="rId7"/>
              </a:rPr>
              <a:t>http://bunka-s-pro.jp/product/shisui_03/</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止水ドア｜アクアード</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文化シャッター</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HP)</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hlinkClick r:id="rId8"/>
              </a:rPr>
              <a:t>http://bunka-s-pro.jp/product/aquard/</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ボックスウォール</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
                <a:prstClr val="white"/>
              </a:buClr>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次世代型緊急洪水防護システム｜ボックスウォール</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ガデリウス・インダストリー</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HP)</a:t>
            </a:r>
            <a:endPar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
                <a:prstClr val="white"/>
              </a:buClr>
              <a:buSzTx/>
              <a:buFont typeface="Wingdings" panose="05000000000000000000" pitchFamily="2" charset="2"/>
              <a:buChar char="l"/>
              <a:tabLst/>
              <a:defRPr/>
            </a:pP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hlinkClick r:id="rId9"/>
              </a:rPr>
              <a:t>http://www.gadelius.com/news/2019/news20190704.html</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チューブウォール</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
                <a:prstClr val="white"/>
              </a:buClr>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次世代型緊急洪水防護システム｜チューブウォール</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ガデリウス・インダストリー</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HP)</a:t>
            </a:r>
            <a:endPar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
                <a:prstClr val="white"/>
              </a:buClr>
              <a:buSzTx/>
              <a:buFont typeface="Wingdings" panose="05000000000000000000" pitchFamily="2" charset="2"/>
              <a:buChar char="l"/>
              <a:tabLst/>
              <a:defRPr/>
            </a:pP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hlinkClick r:id="rId9"/>
              </a:rPr>
              <a:t>http://www.gadelius.com/news/2019/news20190704.html</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水の</a:t>
            </a:r>
            <a:r>
              <a:rPr kumimoji="0" lang="ja-JP" altLang="en-US" sz="1400" b="0" i="0" u="none" strike="noStrike" kern="1200" cap="none" spc="0" normalizeH="0" baseline="0" noProof="0" dirty="0" err="1">
                <a:ln>
                  <a:noFill/>
                </a:ln>
                <a:solidFill>
                  <a:prstClr val="black"/>
                </a:solidFill>
                <a:effectLst/>
                <a:uLnTx/>
                <a:uFillTx/>
                <a:latin typeface="游ゴシック" panose="020B0400000000000000" pitchFamily="50" charset="-128"/>
                <a:ea typeface="游ゴシック" panose="020B0400000000000000" pitchFamily="50" charset="-128"/>
              </a:rPr>
              <a:t>う</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型簡易膨張ダムシステム</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タイガーダム</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p>
          <a:p>
            <a:pPr marL="285750" marR="0" lvl="0" indent="-285750" algn="l" defTabSz="457200" rtl="0" eaLnBrk="1" fontAlgn="auto" latinLnBrk="0" hangingPunct="1">
              <a:lnSpc>
                <a:spcPct val="100000"/>
              </a:lnSpc>
              <a:spcBef>
                <a:spcPts val="0"/>
              </a:spcBef>
              <a:spcAft>
                <a:spcPts val="0"/>
              </a:spcAft>
              <a:buClr>
                <a:prstClr val="white"/>
              </a:buClr>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タイガーダム</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タカミヤ</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HP)</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hlinkClick r:id="rId10"/>
              </a:rPr>
              <a:t>https://tigerdam.jp/</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設置型フェンス</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a:p>
            <a:pPr marL="285750" marR="0" lvl="0" indent="-285750" algn="l" defTabSz="457200" rtl="0" eaLnBrk="1" fontAlgn="auto" latinLnBrk="0" hangingPunct="1">
              <a:lnSpc>
                <a:spcPct val="100000"/>
              </a:lnSpc>
              <a:spcBef>
                <a:spcPts val="0"/>
              </a:spcBef>
              <a:spcAft>
                <a:spcPts val="0"/>
              </a:spcAft>
              <a:buClr>
                <a:prstClr val="white"/>
              </a:buClr>
              <a:buSzTx/>
              <a:buFont typeface="Wingdings" panose="05000000000000000000" pitchFamily="2" charset="2"/>
              <a:buChar char="l"/>
              <a:tabLst/>
              <a:defRPr/>
            </a:pP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Flash</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wall(Aqua</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Fence</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Japan)</a:t>
            </a:r>
            <a:r>
              <a:rPr kumimoji="0" lang="ja-JP" altLang="en-US"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rPr>
              <a:t>　</a:t>
            </a:r>
            <a:r>
              <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hlinkClick r:id="rId3"/>
              </a:rPr>
              <a:t>https://www.aquafence.jp/furasshuuru</a:t>
            </a:r>
            <a:endParaRPr kumimoji="0" lang="en-US" altLang="ja-JP" sz="14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endParaRPr>
          </a:p>
        </p:txBody>
      </p:sp>
      <p:sp>
        <p:nvSpPr>
          <p:cNvPr id="8" name="スライド番号プレースホルダー 5">
            <a:extLst>
              <a:ext uri="{FF2B5EF4-FFF2-40B4-BE49-F238E27FC236}">
                <a16:creationId xmlns:a16="http://schemas.microsoft.com/office/drawing/2014/main" id="{D1C29886-933D-4C0D-9F0B-9B4B74C9E1DF}"/>
              </a:ext>
            </a:extLst>
          </p:cNvPr>
          <p:cNvSpPr txBox="1">
            <a:spLocks/>
          </p:cNvSpPr>
          <p:nvPr/>
        </p:nvSpPr>
        <p:spPr>
          <a:xfrm>
            <a:off x="9247906" y="6437312"/>
            <a:ext cx="461667" cy="268288"/>
          </a:xfrm>
          <a:prstGeom prst="rect">
            <a:avLst/>
          </a:prstGeom>
        </p:spPr>
        <p:txBody>
          <a:bodyPr lIns="0" tIns="0" rIns="0" bIns="0" anchor="b"/>
          <a:lstStyle>
            <a:defPPr>
              <a:defRPr lang="fr-FR"/>
            </a:defPPr>
            <a:lvl1pPr marL="0" algn="r" defTabSz="914400" rtl="0" eaLnBrk="1" fontAlgn="auto" latinLnBrk="0" hangingPunct="1">
              <a:spcBef>
                <a:spcPts val="0"/>
              </a:spcBef>
              <a:spcAft>
                <a:spcPts val="0"/>
              </a:spcAft>
              <a:defRPr lang="ja-JP" altLang="en-US" sz="1199" kern="1200">
                <a:solidFill>
                  <a:srgbClr val="414243"/>
                </a:solidFill>
                <a:latin typeface="Arial" pitchFamily="34" charset="0"/>
                <a:ea typeface="ＭＳ Ｐゴシック" pitchFamily="50"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3C987C2D-0993-D24A-8F17-67855EAE4BDA}" type="slidenum">
              <a:rPr kumimoji="1" lang="en-US" altLang="ja-JP" smtClean="0">
                <a:solidFill>
                  <a:schemeClr val="bg1"/>
                </a:solidFill>
                <a:latin typeface="游ゴシック" panose="020B0400000000000000" pitchFamily="50" charset="-128"/>
                <a:ea typeface="游ゴシック" panose="020B0400000000000000" pitchFamily="50" charset="-128"/>
              </a:rPr>
              <a:pPr algn="ctr"/>
              <a:t>58</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11" name="テキスト ボックス 10">
            <a:extLst>
              <a:ext uri="{FF2B5EF4-FFF2-40B4-BE49-F238E27FC236}">
                <a16:creationId xmlns:a16="http://schemas.microsoft.com/office/drawing/2014/main" id="{A9A03936-DF88-4EDC-AB7C-8462FCF01ABA}"/>
              </a:ext>
            </a:extLst>
          </p:cNvPr>
          <p:cNvSpPr txBox="1"/>
          <p:nvPr/>
        </p:nvSpPr>
        <p:spPr>
          <a:xfrm>
            <a:off x="1295400" y="371475"/>
            <a:ext cx="7239000" cy="723900"/>
          </a:xfrm>
          <a:prstGeom prst="rect">
            <a:avLst/>
          </a:prstGeom>
          <a:noFill/>
        </p:spPr>
        <p:txBody>
          <a:bodyPr lIns="91440" tIns="45720" rIns="91440" bIns="45720" rtlCol="0" anchor="ctr">
            <a:noAutofit/>
          </a:bodyPr>
          <a:lstStyle/>
          <a:p>
            <a:pPr marL="47625" marR="0" lvl="0" indent="0" algn="l" rtl="0" fontAlgn="ctr">
              <a:lnSpc>
                <a:spcPct val="100000"/>
              </a:lnSpc>
              <a:spcBef>
                <a:spcPts val="0"/>
              </a:spcBef>
              <a:spcAft>
                <a:spcPts val="0"/>
              </a:spcAft>
            </a:pPr>
            <a:r>
              <a:rPr lang="ja-JP" altLang="en-US" sz="2400" u="none" spc="0" dirty="0">
                <a:solidFill>
                  <a:srgbClr val="000000">
                    <a:alpha val="100000"/>
                  </a:srgbClr>
                </a:solidFill>
                <a:latin typeface="游ゴシック" panose="020B0400000000000000" pitchFamily="50" charset="-128"/>
                <a:ea typeface="游ゴシック" panose="020B0400000000000000" pitchFamily="50" charset="-128"/>
              </a:rPr>
              <a:t>参考情報</a:t>
            </a:r>
            <a:r>
              <a:rPr lang="en-US" altLang="ja-JP" sz="2400" u="none" spc="0" dirty="0">
                <a:solidFill>
                  <a:srgbClr val="000000">
                    <a:alpha val="100000"/>
                  </a:srgbClr>
                </a:solidFill>
                <a:latin typeface="游ゴシック" panose="020B0400000000000000" pitchFamily="50" charset="-128"/>
                <a:ea typeface="游ゴシック" panose="020B0400000000000000" pitchFamily="50" charset="-128"/>
              </a:rPr>
              <a:t>(</a:t>
            </a:r>
            <a:r>
              <a:rPr lang="ja-JP" altLang="en-US" sz="2400" u="none" spc="0" dirty="0">
                <a:solidFill>
                  <a:srgbClr val="000000">
                    <a:alpha val="100000"/>
                  </a:srgbClr>
                </a:solidFill>
                <a:latin typeface="游ゴシック" panose="020B0400000000000000" pitchFamily="50" charset="-128"/>
                <a:ea typeface="游ゴシック" panose="020B0400000000000000" pitchFamily="50" charset="-128"/>
              </a:rPr>
              <a:t>浸水深さに応じた対策資機材の例</a:t>
            </a:r>
            <a:r>
              <a:rPr lang="en-US" altLang="ja-JP" sz="2400" u="none" spc="0" dirty="0">
                <a:solidFill>
                  <a:srgbClr val="000000">
                    <a:alpha val="100000"/>
                  </a:srgbClr>
                </a:solidFill>
                <a:latin typeface="游ゴシック" panose="020B0400000000000000" pitchFamily="50" charset="-128"/>
                <a:ea typeface="游ゴシック" panose="020B0400000000000000" pitchFamily="50" charset="-128"/>
              </a:rPr>
              <a:t>)</a:t>
            </a:r>
            <a:r>
              <a:rPr lang="ja-JP" altLang="en-US" sz="2400" u="none" spc="0" dirty="0">
                <a:solidFill>
                  <a:srgbClr val="000000">
                    <a:alpha val="100000"/>
                  </a:srgbClr>
                </a:solidFill>
                <a:latin typeface="游ゴシック" panose="020B0400000000000000" pitchFamily="50" charset="-128"/>
                <a:ea typeface="游ゴシック" panose="020B0400000000000000" pitchFamily="50" charset="-128"/>
              </a:rPr>
              <a:t> </a:t>
            </a:r>
            <a:endParaRPr lang="en-US" altLang="ja-JP" sz="2400" u="none" spc="0" dirty="0">
              <a:solidFill>
                <a:srgbClr val="000000">
                  <a:alpha val="100000"/>
                </a:srgbClr>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0820093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14300" y="361950"/>
          <a:ext cx="9820275" cy="6705600"/>
          <a:chOff x="114300" y="361950"/>
          <a:chExt cx="9820275" cy="6705600"/>
        </a:xfrm>
      </p:grpSpPr>
      <p:sp>
        <p:nvSpPr>
          <p:cNvPr id="10" name="テキスト ボックス 9"/>
          <p:cNvSpPr txBox="1"/>
          <p:nvPr/>
        </p:nvSpPr>
        <p:spPr>
          <a:xfrm>
            <a:off x="8248650" y="361950"/>
            <a:ext cx="1333500" cy="180975"/>
          </a:xfrm>
          <a:prstGeom prst="rect">
            <a:avLst/>
          </a:prstGeom>
          <a:solidFill>
            <a:srgbClr val="404040">
              <a:alpha val="100000"/>
            </a:srgbClr>
          </a:solidFill>
        </p:spPr>
        <p:txBody>
          <a:bodyPr wrap="none"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Strictly Confidential</a:t>
            </a:r>
          </a:p>
        </p:txBody>
      </p:sp>
      <p:sp>
        <p:nvSpPr>
          <p:cNvPr id="2" name="テキスト ボックス 1"/>
          <p:cNvSpPr txBox="1"/>
          <p:nvPr/>
        </p:nvSpPr>
        <p:spPr>
          <a:xfrm>
            <a:off x="361950" y="371475"/>
            <a:ext cx="723900" cy="676275"/>
          </a:xfrm>
          <a:prstGeom prst="rect">
            <a:avLst/>
          </a:prstGeom>
          <a:solidFill>
            <a:srgbClr val="006659">
              <a:alpha val="100000"/>
            </a:srgbClr>
          </a:solidFill>
        </p:spPr>
        <p:txBody>
          <a:bodyPr lIns="91440" tIns="45720" rIns="91440" bIns="45720" rtlCol="0" anchor="ctr">
            <a:noAutofit/>
          </a:bodyPr>
          <a:lstStyle/>
          <a:p>
            <a:pPr marL="0" marR="0" lvl="0" indent="0" algn="ctr" rtl="0" fontAlgn="ctr">
              <a:lnSpc>
                <a:spcPct val="100000"/>
              </a:lnSpc>
              <a:spcBef>
                <a:spcPts val="0"/>
              </a:spcBef>
              <a:spcAft>
                <a:spcPts val="0"/>
              </a:spcAft>
            </a:pPr>
            <a:r>
              <a:rPr lang="en-US" sz="3200" u="none" spc="0" dirty="0">
                <a:solidFill>
                  <a:srgbClr val="FFFFFF">
                    <a:alpha val="100000"/>
                  </a:srgbClr>
                </a:solidFill>
                <a:latin typeface="游ゴシック"/>
              </a:rPr>
              <a:t>8</a:t>
            </a:r>
          </a:p>
        </p:txBody>
      </p:sp>
      <p:sp>
        <p:nvSpPr>
          <p:cNvPr id="3" name="テキスト ボックス 2"/>
          <p:cNvSpPr txBox="1"/>
          <p:nvPr/>
        </p:nvSpPr>
        <p:spPr>
          <a:xfrm>
            <a:off x="1295400" y="371475"/>
            <a:ext cx="7239000" cy="723900"/>
          </a:xfrm>
          <a:prstGeom prst="rect">
            <a:avLst/>
          </a:prstGeom>
          <a:noFill/>
        </p:spPr>
        <p:txBody>
          <a:bodyPr lIns="91440" tIns="45720" rIns="91440" bIns="45720" rtlCol="0" anchor="ctr">
            <a:noAutofit/>
          </a:bodyPr>
          <a:lstStyle/>
          <a:p>
            <a:pPr marL="47625" algn="l" fontAlgn="ctr"/>
            <a:r>
              <a:rPr sz="2400" b="0" dirty="0" err="1">
                <a:latin typeface="+mn-ea"/>
                <a:ea typeface="+mn-ea"/>
              </a:rPr>
              <a:t>参考情報</a:t>
            </a:r>
            <a:r>
              <a:rPr sz="2400" b="0" dirty="0">
                <a:latin typeface="+mn-ea"/>
                <a:ea typeface="+mn-ea"/>
              </a:rPr>
              <a:t>(</a:t>
            </a:r>
            <a:r>
              <a:rPr sz="2400" b="0" dirty="0" err="1">
                <a:latin typeface="+mn-ea"/>
                <a:ea typeface="+mn-ea"/>
              </a:rPr>
              <a:t>地震による</a:t>
            </a:r>
            <a:r>
              <a:rPr lang="ja-JP" altLang="en-US" sz="2400" dirty="0">
                <a:latin typeface="+mn-ea"/>
                <a:ea typeface="+mn-ea"/>
              </a:rPr>
              <a:t>天井</a:t>
            </a:r>
            <a:r>
              <a:rPr sz="2400" b="0" dirty="0" err="1">
                <a:latin typeface="+mn-ea"/>
                <a:ea typeface="+mn-ea"/>
              </a:rPr>
              <a:t>クレーンの被害</a:t>
            </a:r>
            <a:r>
              <a:rPr sz="2400" b="0" dirty="0">
                <a:latin typeface="+mn-ea"/>
                <a:ea typeface="+mn-ea"/>
              </a:rPr>
              <a:t>)</a:t>
            </a:r>
          </a:p>
        </p:txBody>
      </p:sp>
      <p:sp>
        <p:nvSpPr>
          <p:cNvPr id="4" name="テキスト ボックス 3"/>
          <p:cNvSpPr txBox="1"/>
          <p:nvPr/>
        </p:nvSpPr>
        <p:spPr>
          <a:xfrm>
            <a:off x="361950" y="6496050"/>
            <a:ext cx="9220200" cy="209550"/>
          </a:xfrm>
          <a:prstGeom prst="rect">
            <a:avLst/>
          </a:prstGeom>
          <a:solidFill>
            <a:srgbClr val="006659">
              <a:alpha val="100000"/>
            </a:srgbClr>
          </a:solidFill>
        </p:spPr>
        <p:txBody>
          <a:bodyPr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 MS&amp;AD InterRisk Research &amp; Consulting, Inc.</a:t>
            </a:r>
          </a:p>
        </p:txBody>
      </p:sp>
      <p:sp>
        <p:nvSpPr>
          <p:cNvPr id="16" name="テキスト ボックス 7">
            <a:extLst>
              <a:ext uri="{FF2B5EF4-FFF2-40B4-BE49-F238E27FC236}">
                <a16:creationId xmlns:a16="http://schemas.microsoft.com/office/drawing/2014/main" id="{13614222-AAE6-4663-A3FE-2EF5AF98A617}"/>
              </a:ext>
            </a:extLst>
          </p:cNvPr>
          <p:cNvSpPr txBox="1">
            <a:spLocks noChangeArrowheads="1"/>
          </p:cNvSpPr>
          <p:nvPr/>
        </p:nvSpPr>
        <p:spPr bwMode="auto">
          <a:xfrm>
            <a:off x="361950" y="1157473"/>
            <a:ext cx="9180000" cy="824736"/>
          </a:xfrm>
          <a:prstGeom prst="rect">
            <a:avLst/>
          </a:prstGeom>
          <a:solidFill>
            <a:srgbClr val="CCE0DE"/>
          </a:solidFill>
          <a:ln>
            <a:noFill/>
          </a:ln>
        </p:spPr>
        <p:txBody>
          <a:bodyPr wrap="square" anchor="t"/>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marL="0" marR="0" lvl="0" indent="0" algn="l" defTabSz="914400" rtl="0" eaLnBrk="1" fontAlgn="base" latinLnBrk="0" hangingPunct="1">
              <a:lnSpc>
                <a:spcPct val="125000"/>
              </a:lnSpc>
              <a:spcBef>
                <a:spcPct val="0"/>
              </a:spcBef>
              <a:spcAft>
                <a:spcPct val="0"/>
              </a:spcAft>
              <a:buClrTx/>
              <a:buSzTx/>
              <a:buFontTx/>
              <a:buNone/>
              <a:tabLst/>
              <a:defRPr/>
            </a:pPr>
            <a:r>
              <a:rPr sz="1400" b="0" dirty="0" err="1">
                <a:latin typeface="+mn-ea"/>
                <a:ea typeface="+mn-ea"/>
              </a:rPr>
              <a:t>天井クレーンは建屋上部の高所に位置する重量物であり、地震時には建屋の応答が増幅された揺れを受けます</a:t>
            </a:r>
            <a:r>
              <a:rPr lang="ja-JP" altLang="en-US" sz="1400" b="0" dirty="0">
                <a:latin typeface="+mn-ea"/>
                <a:ea typeface="+mn-ea"/>
              </a:rPr>
              <a:t>。</a:t>
            </a:r>
            <a:r>
              <a:rPr sz="1400" b="0" dirty="0">
                <a:latin typeface="+mn-ea"/>
                <a:ea typeface="+mn-ea"/>
              </a:rPr>
              <a:t>主な被害形態は、走行装置の浮上りによる脱輪・落下、レール固定部の破損によるレールごとの落下、走行方向への逸走・端部衝突、つり荷の振れ・落下の4つに整理されます。</a:t>
            </a:r>
            <a:endPar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endParaRPr>
          </a:p>
        </p:txBody>
      </p:sp>
      <p:sp>
        <p:nvSpPr>
          <p:cNvPr id="43" name="スライド番号プレースホルダー 5">
            <a:extLst>
              <a:ext uri="{FF2B5EF4-FFF2-40B4-BE49-F238E27FC236}">
                <a16:creationId xmlns:a16="http://schemas.microsoft.com/office/drawing/2014/main" id="{D233D7F0-F29C-4330-8D45-4430BCDCB425}"/>
              </a:ext>
            </a:extLst>
          </p:cNvPr>
          <p:cNvSpPr txBox="1">
            <a:spLocks/>
          </p:cNvSpPr>
          <p:nvPr/>
        </p:nvSpPr>
        <p:spPr>
          <a:xfrm>
            <a:off x="9247906" y="6437312"/>
            <a:ext cx="461667" cy="268288"/>
          </a:xfrm>
          <a:prstGeom prst="rect">
            <a:avLst/>
          </a:prstGeom>
        </p:spPr>
        <p:txBody>
          <a:bodyPr lIns="0" tIns="0" rIns="0" bIns="0" anchor="b"/>
          <a:lstStyle>
            <a:defPPr>
              <a:defRPr lang="fr-FR"/>
            </a:defPPr>
            <a:lvl1pPr marL="0" algn="r" defTabSz="914400" rtl="0" eaLnBrk="1" fontAlgn="auto" latinLnBrk="0" hangingPunct="1">
              <a:spcBef>
                <a:spcPts val="0"/>
              </a:spcBef>
              <a:spcAft>
                <a:spcPts val="0"/>
              </a:spcAft>
              <a:defRPr lang="ja-JP" altLang="en-US" sz="1199" kern="1200">
                <a:solidFill>
                  <a:srgbClr val="414243"/>
                </a:solidFill>
                <a:latin typeface="Arial" pitchFamily="34" charset="0"/>
                <a:ea typeface="ＭＳ Ｐゴシック" pitchFamily="50"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3C987C2D-0993-D24A-8F17-67855EAE4BDA}" type="slidenum">
              <a:rPr kumimoji="1" lang="en-US" altLang="ja-JP" smtClean="0">
                <a:solidFill>
                  <a:schemeClr val="bg1"/>
                </a:solidFill>
                <a:latin typeface="游ゴシック" panose="020B0400000000000000" pitchFamily="50" charset="-128"/>
                <a:ea typeface="游ゴシック" panose="020B0400000000000000" pitchFamily="50" charset="-128"/>
              </a:rPr>
              <a:pPr algn="ctr"/>
              <a:t>59</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pic>
        <p:nvPicPr>
          <p:cNvPr id="44" name="Picture 43" descr="fig_cran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5760" y="1969548"/>
            <a:ext cx="4617719" cy="3101783"/>
          </a:xfrm>
          <a:prstGeom prst="rect">
            <a:avLst/>
          </a:prstGeom>
        </p:spPr>
      </p:pic>
      <p:sp>
        <p:nvSpPr>
          <p:cNvPr id="45" name="Rounded Rectangle 44"/>
          <p:cNvSpPr/>
          <p:nvPr/>
        </p:nvSpPr>
        <p:spPr>
          <a:xfrm>
            <a:off x="5189982" y="2115794"/>
            <a:ext cx="4334256" cy="731520"/>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lnSpc>
                <a:spcPct val="115000"/>
              </a:lnSpc>
            </a:pPr>
            <a:r>
              <a:rPr sz="1400" b="1" dirty="0">
                <a:solidFill>
                  <a:schemeClr val="tx1"/>
                </a:solidFill>
                <a:latin typeface="+mn-ea"/>
                <a:ea typeface="+mn-ea"/>
              </a:rPr>
              <a:t>① </a:t>
            </a:r>
            <a:r>
              <a:rPr sz="1400" b="1" dirty="0" err="1">
                <a:solidFill>
                  <a:schemeClr val="tx1"/>
                </a:solidFill>
                <a:latin typeface="+mn-ea"/>
                <a:ea typeface="+mn-ea"/>
              </a:rPr>
              <a:t>走行装置の浮上り・脱輪</a:t>
            </a:r>
            <a:endParaRPr sz="1400" b="1" dirty="0">
              <a:solidFill>
                <a:schemeClr val="tx1"/>
              </a:solidFill>
              <a:latin typeface="+mn-ea"/>
              <a:ea typeface="+mn-ea"/>
            </a:endParaRPr>
          </a:p>
          <a:p>
            <a:pPr algn="l">
              <a:lnSpc>
                <a:spcPct val="120000"/>
              </a:lnSpc>
              <a:spcBef>
                <a:spcPts val="300"/>
              </a:spcBef>
            </a:pPr>
            <a:r>
              <a:rPr sz="1050" b="0" dirty="0" err="1">
                <a:solidFill>
                  <a:schemeClr val="tx1"/>
                </a:solidFill>
                <a:latin typeface="+mn-ea"/>
                <a:ea typeface="+mn-ea"/>
              </a:rPr>
              <a:t>上下動により車輪がレールから浮き上がり、水平動と重なって脱輪。最悪の場合、クレーン本体が落下</a:t>
            </a:r>
            <a:r>
              <a:rPr lang="ja-JP" altLang="en-US" sz="1050" dirty="0">
                <a:solidFill>
                  <a:schemeClr val="tx1"/>
                </a:solidFill>
                <a:latin typeface="+mn-ea"/>
              </a:rPr>
              <a:t>します。</a:t>
            </a:r>
            <a:endParaRPr sz="1050" b="0" dirty="0">
              <a:solidFill>
                <a:srgbClr val="333333"/>
              </a:solidFill>
              <a:latin typeface="+mn-ea"/>
              <a:ea typeface="+mn-ea"/>
            </a:endParaRPr>
          </a:p>
        </p:txBody>
      </p:sp>
      <p:sp>
        <p:nvSpPr>
          <p:cNvPr id="46" name="Rounded Rectangle 45"/>
          <p:cNvSpPr/>
          <p:nvPr/>
        </p:nvSpPr>
        <p:spPr>
          <a:xfrm>
            <a:off x="5189982" y="2902322"/>
            <a:ext cx="4334256" cy="731520"/>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lnSpc>
                <a:spcPct val="115000"/>
              </a:lnSpc>
            </a:pPr>
            <a:r>
              <a:rPr sz="1400" b="1" dirty="0">
                <a:solidFill>
                  <a:schemeClr val="tx1"/>
                </a:solidFill>
                <a:latin typeface="+mn-ea"/>
                <a:ea typeface="+mn-ea"/>
              </a:rPr>
              <a:t>② </a:t>
            </a:r>
            <a:r>
              <a:rPr sz="1400" b="1" dirty="0" err="1">
                <a:solidFill>
                  <a:schemeClr val="tx1"/>
                </a:solidFill>
                <a:latin typeface="+mn-ea"/>
                <a:ea typeface="+mn-ea"/>
              </a:rPr>
              <a:t>レール固定部の破損</a:t>
            </a:r>
            <a:endParaRPr sz="1400" b="1" dirty="0">
              <a:solidFill>
                <a:schemeClr val="tx1"/>
              </a:solidFill>
              <a:latin typeface="+mn-ea"/>
              <a:ea typeface="+mn-ea"/>
            </a:endParaRPr>
          </a:p>
          <a:p>
            <a:pPr algn="l">
              <a:lnSpc>
                <a:spcPct val="120000"/>
              </a:lnSpc>
              <a:spcBef>
                <a:spcPts val="300"/>
              </a:spcBef>
            </a:pPr>
            <a:r>
              <a:rPr sz="1050" b="0" dirty="0" err="1">
                <a:solidFill>
                  <a:schemeClr val="tx1"/>
                </a:solidFill>
                <a:latin typeface="+mn-ea"/>
                <a:ea typeface="+mn-ea"/>
              </a:rPr>
              <a:t>レールをフックボルトで固定している場合、地震時にボルトが伸びてレールがガーダから外れ、レールごと落下した事例があ</a:t>
            </a:r>
            <a:r>
              <a:rPr lang="ja-JP" altLang="en-US" sz="1050" b="0" dirty="0">
                <a:solidFill>
                  <a:schemeClr val="tx1"/>
                </a:solidFill>
                <a:latin typeface="+mn-ea"/>
                <a:ea typeface="+mn-ea"/>
              </a:rPr>
              <a:t>ります</a:t>
            </a:r>
            <a:r>
              <a:rPr sz="1050" b="0" dirty="0">
                <a:solidFill>
                  <a:schemeClr val="tx1"/>
                </a:solidFill>
                <a:latin typeface="+mn-ea"/>
                <a:ea typeface="+mn-ea"/>
              </a:rPr>
              <a:t>。</a:t>
            </a:r>
          </a:p>
        </p:txBody>
      </p:sp>
      <p:sp>
        <p:nvSpPr>
          <p:cNvPr id="47" name="Rounded Rectangle 46"/>
          <p:cNvSpPr/>
          <p:nvPr/>
        </p:nvSpPr>
        <p:spPr>
          <a:xfrm>
            <a:off x="5189982" y="3725282"/>
            <a:ext cx="4334256" cy="731520"/>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lnSpc>
                <a:spcPct val="115000"/>
              </a:lnSpc>
            </a:pPr>
            <a:r>
              <a:rPr sz="1400" b="1" dirty="0">
                <a:solidFill>
                  <a:schemeClr val="tx1"/>
                </a:solidFill>
                <a:latin typeface="+mn-ea"/>
                <a:ea typeface="+mn-ea"/>
              </a:rPr>
              <a:t>③ </a:t>
            </a:r>
            <a:r>
              <a:rPr sz="1400" b="1" dirty="0" err="1">
                <a:solidFill>
                  <a:schemeClr val="tx1"/>
                </a:solidFill>
                <a:latin typeface="+mn-ea"/>
                <a:ea typeface="+mn-ea"/>
              </a:rPr>
              <a:t>走行方向への逸走・衝突</a:t>
            </a:r>
            <a:endParaRPr sz="1400" b="1" dirty="0">
              <a:solidFill>
                <a:schemeClr val="tx1"/>
              </a:solidFill>
              <a:latin typeface="+mn-ea"/>
              <a:ea typeface="+mn-ea"/>
            </a:endParaRPr>
          </a:p>
          <a:p>
            <a:pPr algn="l">
              <a:lnSpc>
                <a:spcPct val="120000"/>
              </a:lnSpc>
              <a:spcBef>
                <a:spcPts val="300"/>
              </a:spcBef>
            </a:pPr>
            <a:r>
              <a:rPr sz="1050" b="0" dirty="0" err="1">
                <a:solidFill>
                  <a:schemeClr val="tx1"/>
                </a:solidFill>
                <a:latin typeface="+mn-ea"/>
                <a:ea typeface="+mn-ea"/>
              </a:rPr>
              <a:t>ブレーキの保持力を超えて走行し、端部ストッパーに激突。衝撃で上部構造が倒壊した災害事例があ</a:t>
            </a:r>
            <a:r>
              <a:rPr lang="ja-JP" altLang="en-US" sz="1050" b="0" dirty="0">
                <a:solidFill>
                  <a:schemeClr val="tx1"/>
                </a:solidFill>
                <a:latin typeface="+mn-ea"/>
                <a:ea typeface="+mn-ea"/>
              </a:rPr>
              <a:t>ります</a:t>
            </a:r>
            <a:r>
              <a:rPr sz="1050" b="0" dirty="0">
                <a:solidFill>
                  <a:schemeClr val="tx1"/>
                </a:solidFill>
                <a:latin typeface="+mn-ea"/>
                <a:ea typeface="+mn-ea"/>
              </a:rPr>
              <a:t>。</a:t>
            </a:r>
          </a:p>
        </p:txBody>
      </p:sp>
      <p:sp>
        <p:nvSpPr>
          <p:cNvPr id="48" name="Rounded Rectangle 47"/>
          <p:cNvSpPr/>
          <p:nvPr/>
        </p:nvSpPr>
        <p:spPr>
          <a:xfrm>
            <a:off x="5189982" y="4548242"/>
            <a:ext cx="4334256" cy="731520"/>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lnSpc>
                <a:spcPct val="115000"/>
              </a:lnSpc>
            </a:pPr>
            <a:r>
              <a:rPr sz="1400" b="1" dirty="0">
                <a:solidFill>
                  <a:schemeClr val="tx1"/>
                </a:solidFill>
                <a:latin typeface="+mn-ea"/>
                <a:ea typeface="+mn-ea"/>
              </a:rPr>
              <a:t>④ </a:t>
            </a:r>
            <a:r>
              <a:rPr sz="1400" b="1" dirty="0" err="1">
                <a:solidFill>
                  <a:schemeClr val="tx1"/>
                </a:solidFill>
                <a:latin typeface="+mn-ea"/>
                <a:ea typeface="+mn-ea"/>
              </a:rPr>
              <a:t>つり荷の振れ・落下</a:t>
            </a:r>
            <a:endParaRPr sz="1400" b="1" dirty="0">
              <a:solidFill>
                <a:schemeClr val="tx1"/>
              </a:solidFill>
              <a:latin typeface="+mn-ea"/>
              <a:ea typeface="+mn-ea"/>
            </a:endParaRPr>
          </a:p>
          <a:p>
            <a:pPr algn="l">
              <a:lnSpc>
                <a:spcPct val="120000"/>
              </a:lnSpc>
              <a:spcBef>
                <a:spcPts val="300"/>
              </a:spcBef>
            </a:pPr>
            <a:r>
              <a:rPr sz="1050" b="0" dirty="0" err="1">
                <a:solidFill>
                  <a:schemeClr val="tx1"/>
                </a:solidFill>
                <a:latin typeface="+mn-ea"/>
                <a:ea typeface="+mn-ea"/>
              </a:rPr>
              <a:t>つり荷を保持したまま被災すると、荷の振れによる周辺設備の損傷や玉掛け部の外れによ</a:t>
            </a:r>
            <a:r>
              <a:rPr lang="ja-JP" altLang="en-US" sz="1050" b="0" dirty="0">
                <a:solidFill>
                  <a:schemeClr val="tx1"/>
                </a:solidFill>
                <a:latin typeface="+mn-ea"/>
                <a:ea typeface="+mn-ea"/>
              </a:rPr>
              <a:t>って</a:t>
            </a:r>
            <a:r>
              <a:rPr sz="1050" b="0" dirty="0" err="1">
                <a:solidFill>
                  <a:schemeClr val="tx1"/>
                </a:solidFill>
                <a:latin typeface="+mn-ea"/>
                <a:ea typeface="+mn-ea"/>
              </a:rPr>
              <a:t>落下</a:t>
            </a:r>
            <a:r>
              <a:rPr lang="ja-JP" altLang="en-US" sz="1050" dirty="0">
                <a:solidFill>
                  <a:schemeClr val="tx1"/>
                </a:solidFill>
                <a:latin typeface="+mn-ea"/>
              </a:rPr>
              <a:t>する</a:t>
            </a:r>
            <a:r>
              <a:rPr lang="ja-JP" altLang="en-US" sz="1050" b="0" dirty="0">
                <a:solidFill>
                  <a:schemeClr val="tx1"/>
                </a:solidFill>
                <a:latin typeface="+mn-ea"/>
                <a:ea typeface="+mn-ea"/>
              </a:rPr>
              <a:t>おそれがあります</a:t>
            </a:r>
            <a:r>
              <a:rPr sz="1050" b="0" dirty="0">
                <a:solidFill>
                  <a:schemeClr val="tx1"/>
                </a:solidFill>
                <a:latin typeface="+mn-ea"/>
                <a:ea typeface="+mn-ea"/>
              </a:rPr>
              <a:t>。</a:t>
            </a:r>
          </a:p>
        </p:txBody>
      </p:sp>
      <p:sp>
        <p:nvSpPr>
          <p:cNvPr id="49" name="Rounded Rectangle 48"/>
          <p:cNvSpPr/>
          <p:nvPr/>
        </p:nvSpPr>
        <p:spPr>
          <a:xfrm>
            <a:off x="361950" y="5511895"/>
            <a:ext cx="9162288" cy="716985"/>
          </a:xfrm>
          <a:prstGeom prst="roundRect">
            <a:avLst>
              <a:gd name="adj" fmla="val 6000"/>
            </a:avLst>
          </a:prstGeom>
          <a:solidFill>
            <a:srgbClr val="CCE0DE"/>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400" b="1" dirty="0" err="1">
                <a:solidFill>
                  <a:srgbClr val="004C40"/>
                </a:solidFill>
                <a:latin typeface="+mn-ea"/>
                <a:ea typeface="+mn-ea"/>
              </a:rPr>
              <a:t>想定される事業への影響</a:t>
            </a:r>
            <a:endParaRPr sz="1400" b="1" dirty="0">
              <a:solidFill>
                <a:srgbClr val="004C40"/>
              </a:solidFill>
              <a:latin typeface="+mn-ea"/>
              <a:ea typeface="+mn-ea"/>
            </a:endParaRPr>
          </a:p>
          <a:p>
            <a:pPr algn="l">
              <a:lnSpc>
                <a:spcPct val="120000"/>
              </a:lnSpc>
              <a:spcBef>
                <a:spcPts val="200"/>
              </a:spcBef>
            </a:pPr>
            <a:r>
              <a:rPr sz="1100" b="0" dirty="0">
                <a:solidFill>
                  <a:schemeClr val="tx1"/>
                </a:solidFill>
                <a:latin typeface="+mn-ea"/>
                <a:ea typeface="+mn-ea"/>
              </a:rPr>
              <a:t>・</a:t>
            </a:r>
            <a:r>
              <a:rPr sz="1100" b="0" dirty="0" err="1">
                <a:solidFill>
                  <a:schemeClr val="tx1"/>
                </a:solidFill>
                <a:latin typeface="+mn-ea"/>
                <a:ea typeface="+mn-ea"/>
              </a:rPr>
              <a:t>クレーン下部で作業する従業員の</a:t>
            </a:r>
            <a:r>
              <a:rPr lang="ja-JP" altLang="en-US" sz="1100" b="0" dirty="0">
                <a:solidFill>
                  <a:schemeClr val="tx1"/>
                </a:solidFill>
                <a:latin typeface="+mn-ea"/>
                <a:ea typeface="+mn-ea"/>
              </a:rPr>
              <a:t>人的</a:t>
            </a:r>
            <a:r>
              <a:rPr lang="ja-JP" altLang="en-US" sz="1100" dirty="0">
                <a:solidFill>
                  <a:schemeClr val="tx1"/>
                </a:solidFill>
                <a:latin typeface="+mn-ea"/>
              </a:rPr>
              <a:t>被害</a:t>
            </a:r>
            <a:r>
              <a:rPr sz="1100" b="0" dirty="0">
                <a:solidFill>
                  <a:schemeClr val="tx1"/>
                </a:solidFill>
                <a:latin typeface="+mn-ea"/>
                <a:ea typeface="+mn-ea"/>
              </a:rPr>
              <a:t>　・</a:t>
            </a:r>
            <a:r>
              <a:rPr sz="1100" b="0" dirty="0" err="1">
                <a:solidFill>
                  <a:schemeClr val="tx1"/>
                </a:solidFill>
                <a:latin typeface="+mn-ea"/>
                <a:ea typeface="+mn-ea"/>
              </a:rPr>
              <a:t>落下による建屋・下部の重要設備への二次被害</a:t>
            </a:r>
            <a:endParaRPr sz="1100" b="0" dirty="0">
              <a:solidFill>
                <a:schemeClr val="tx1"/>
              </a:solidFill>
              <a:latin typeface="+mn-ea"/>
              <a:ea typeface="+mn-ea"/>
            </a:endParaRPr>
          </a:p>
          <a:p>
            <a:pPr algn="l">
              <a:lnSpc>
                <a:spcPct val="120000"/>
              </a:lnSpc>
              <a:spcBef>
                <a:spcPts val="200"/>
              </a:spcBef>
            </a:pPr>
            <a:r>
              <a:rPr sz="1100" b="0" dirty="0">
                <a:solidFill>
                  <a:schemeClr val="tx1"/>
                </a:solidFill>
                <a:latin typeface="+mn-ea"/>
                <a:ea typeface="+mn-ea"/>
              </a:rPr>
              <a:t>・</a:t>
            </a:r>
            <a:r>
              <a:rPr sz="1100" b="0" dirty="0" err="1">
                <a:solidFill>
                  <a:schemeClr val="tx1"/>
                </a:solidFill>
                <a:latin typeface="+mn-ea"/>
                <a:ea typeface="+mn-ea"/>
              </a:rPr>
              <a:t>クレーン</a:t>
            </a:r>
            <a:r>
              <a:rPr lang="ja-JP" altLang="en-US" sz="1100" b="0" dirty="0">
                <a:solidFill>
                  <a:schemeClr val="tx1"/>
                </a:solidFill>
                <a:latin typeface="+mn-ea"/>
                <a:ea typeface="+mn-ea"/>
              </a:rPr>
              <a:t>の</a:t>
            </a:r>
            <a:r>
              <a:rPr sz="1100" b="0" dirty="0" err="1">
                <a:solidFill>
                  <a:schemeClr val="tx1"/>
                </a:solidFill>
                <a:latin typeface="+mn-ea"/>
                <a:ea typeface="+mn-ea"/>
              </a:rPr>
              <a:t>代替手段が乏しく、復旧までの間、当該工場の生産が長期停止</a:t>
            </a:r>
            <a:endParaRPr sz="1100" b="0" dirty="0">
              <a:solidFill>
                <a:schemeClr val="tx1"/>
              </a:solidFill>
              <a:latin typeface="+mn-ea"/>
              <a:ea typeface="+mn-ea"/>
            </a:endParaRPr>
          </a:p>
        </p:txBody>
      </p:sp>
      <p:sp>
        <p:nvSpPr>
          <p:cNvPr id="15" name="テキスト ボックス 14">
            <a:extLst>
              <a:ext uri="{FF2B5EF4-FFF2-40B4-BE49-F238E27FC236}">
                <a16:creationId xmlns:a16="http://schemas.microsoft.com/office/drawing/2014/main" id="{A52A815E-4207-4AEC-BA05-D411D98F32B9}"/>
              </a:ext>
            </a:extLst>
          </p:cNvPr>
          <p:cNvSpPr txBox="1"/>
          <p:nvPr/>
        </p:nvSpPr>
        <p:spPr>
          <a:xfrm>
            <a:off x="-115381" y="5066227"/>
            <a:ext cx="5580000" cy="360000"/>
          </a:xfrm>
          <a:prstGeom prst="rect">
            <a:avLst/>
          </a:prstGeom>
          <a:noFill/>
        </p:spPr>
        <p:txBody>
          <a:bodyPr wrap="none" rtlCol="0" anchor="ctr" anchorCtr="0">
            <a:noAutofit/>
          </a:bodyPr>
          <a:lstStyle/>
          <a:p>
            <a:pPr algn="ctr"/>
            <a:r>
              <a:rPr kumimoji="1" lang="ja-JP" altLang="en-US" sz="1400" dirty="0">
                <a:latin typeface="游ゴシック" panose="020B0400000000000000" pitchFamily="50" charset="-128"/>
                <a:ea typeface="游ゴシック" panose="020B0400000000000000" pitchFamily="50" charset="-128"/>
              </a:rPr>
              <a:t>図：地震によるクレーンの被害例</a:t>
            </a:r>
          </a:p>
        </p:txBody>
      </p:sp>
      <p:pic>
        <p:nvPicPr>
          <p:cNvPr id="6" name="図 5">
            <a:extLst>
              <a:ext uri="{FF2B5EF4-FFF2-40B4-BE49-F238E27FC236}">
                <a16:creationId xmlns:a16="http://schemas.microsoft.com/office/drawing/2014/main" id="{E17A7B24-7E3F-4A2C-9293-D2D1C9104EA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0306050" y="534099"/>
            <a:ext cx="5181600" cy="2727633"/>
          </a:xfrm>
          <a:prstGeom prst="rect">
            <a:avLst/>
          </a:prstGeom>
        </p:spPr>
      </p:pic>
      <p:sp>
        <p:nvSpPr>
          <p:cNvPr id="7" name="テキスト ボックス 6">
            <a:extLst>
              <a:ext uri="{FF2B5EF4-FFF2-40B4-BE49-F238E27FC236}">
                <a16:creationId xmlns:a16="http://schemas.microsoft.com/office/drawing/2014/main" id="{462FFCB9-24A2-4656-A4BA-35D87EF2AACF}"/>
              </a:ext>
            </a:extLst>
          </p:cNvPr>
          <p:cNvSpPr txBox="1"/>
          <p:nvPr/>
        </p:nvSpPr>
        <p:spPr>
          <a:xfrm>
            <a:off x="10109200" y="-95250"/>
            <a:ext cx="5012250" cy="914400"/>
          </a:xfrm>
          <a:prstGeom prst="rect">
            <a:avLst/>
          </a:prstGeom>
          <a:noFill/>
        </p:spPr>
        <p:txBody>
          <a:bodyPr wrap="none" rtlCol="0">
            <a:noAutofit/>
          </a:bodyPr>
          <a:lstStyle/>
          <a:p>
            <a:r>
              <a:rPr kumimoji="1" lang="ja-JP" altLang="en-US" sz="1200" dirty="0"/>
              <a:t>① 「天井クレーン用 地震対策製品」</a:t>
            </a:r>
          </a:p>
          <a:p>
            <a:r>
              <a:rPr kumimoji="1" lang="ja-JP" altLang="en-US" sz="1200" dirty="0"/>
              <a:t>   株式会社今井鉄工所</a:t>
            </a:r>
          </a:p>
          <a:p>
            <a:r>
              <a:rPr kumimoji="1" lang="ja-JP" altLang="en-US" sz="1200" dirty="0"/>
              <a:t>   </a:t>
            </a:r>
            <a:r>
              <a:rPr kumimoji="1" lang="en-US" altLang="ja-JP" sz="1200" dirty="0"/>
              <a:t>https://pr.mono.ipros.com/imaitekkosho/product/detail/2000408762/</a:t>
            </a:r>
            <a:endParaRPr kumimoji="1" lang="ja-JP" altLang="en-US" sz="1200" dirty="0"/>
          </a:p>
        </p:txBody>
      </p:sp>
      <p:pic>
        <p:nvPicPr>
          <p:cNvPr id="9" name="図 8">
            <a:extLst>
              <a:ext uri="{FF2B5EF4-FFF2-40B4-BE49-F238E27FC236}">
                <a16:creationId xmlns:a16="http://schemas.microsoft.com/office/drawing/2014/main" id="{DCA8C8F4-A51D-411C-A11D-D07BE2E3DFD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0306050" y="4032576"/>
            <a:ext cx="5346700" cy="3198181"/>
          </a:xfrm>
          <a:prstGeom prst="rect">
            <a:avLst/>
          </a:prstGeom>
        </p:spPr>
      </p:pic>
      <p:sp>
        <p:nvSpPr>
          <p:cNvPr id="21" name="テキスト ボックス 20">
            <a:extLst>
              <a:ext uri="{FF2B5EF4-FFF2-40B4-BE49-F238E27FC236}">
                <a16:creationId xmlns:a16="http://schemas.microsoft.com/office/drawing/2014/main" id="{4157D2D5-F714-4946-94F3-D7C0A0646013}"/>
              </a:ext>
            </a:extLst>
          </p:cNvPr>
          <p:cNvSpPr txBox="1"/>
          <p:nvPr/>
        </p:nvSpPr>
        <p:spPr>
          <a:xfrm>
            <a:off x="10248138" y="3433881"/>
            <a:ext cx="5012250" cy="914400"/>
          </a:xfrm>
          <a:prstGeom prst="rect">
            <a:avLst/>
          </a:prstGeom>
          <a:noFill/>
        </p:spPr>
        <p:txBody>
          <a:bodyPr wrap="none" rtlCol="0">
            <a:noAutofit/>
          </a:bodyPr>
          <a:lstStyle/>
          <a:p>
            <a:r>
              <a:rPr lang="ja-JP" altLang="en-US" sz="1200" dirty="0"/>
              <a:t>②</a:t>
            </a:r>
            <a:r>
              <a:rPr kumimoji="1" lang="ja-JP" altLang="en-US" sz="1200" dirty="0"/>
              <a:t>「クレーン地震対策（クレーングリッパー）」</a:t>
            </a:r>
          </a:p>
          <a:p>
            <a:r>
              <a:rPr kumimoji="1" lang="ja-JP" altLang="en-US" sz="1200" dirty="0"/>
              <a:t>   不二工業株式会社</a:t>
            </a:r>
          </a:p>
          <a:p>
            <a:r>
              <a:rPr kumimoji="1" lang="ja-JP" altLang="en-US" sz="1200" dirty="0"/>
              <a:t>   </a:t>
            </a:r>
            <a:r>
              <a:rPr kumimoji="1" lang="en-US" altLang="ja-JP" sz="1200" dirty="0"/>
              <a:t>https://www.fuji-kougyo.co.jp/cranegripper/</a:t>
            </a:r>
            <a:endParaRPr kumimoji="1" lang="ja-JP" altLang="en-US" sz="1200" dirty="0"/>
          </a:p>
        </p:txBody>
      </p:sp>
      <p:pic>
        <p:nvPicPr>
          <p:cNvPr id="12" name="図 11">
            <a:extLst>
              <a:ext uri="{FF2B5EF4-FFF2-40B4-BE49-F238E27FC236}">
                <a16:creationId xmlns:a16="http://schemas.microsoft.com/office/drawing/2014/main" id="{5C38F578-B5D9-41FA-BFF0-D307F30F58DC}"/>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15733150" y="534099"/>
            <a:ext cx="6999548" cy="1464333"/>
          </a:xfrm>
          <a:prstGeom prst="rect">
            <a:avLst/>
          </a:prstGeom>
        </p:spPr>
      </p:pic>
      <p:sp>
        <p:nvSpPr>
          <p:cNvPr id="24" name="テキスト ボックス 23">
            <a:extLst>
              <a:ext uri="{FF2B5EF4-FFF2-40B4-BE49-F238E27FC236}">
                <a16:creationId xmlns:a16="http://schemas.microsoft.com/office/drawing/2014/main" id="{A83F84A9-4D9C-444B-9F57-A6CFF4AA59B1}"/>
              </a:ext>
            </a:extLst>
          </p:cNvPr>
          <p:cNvSpPr txBox="1"/>
          <p:nvPr/>
        </p:nvSpPr>
        <p:spPr>
          <a:xfrm>
            <a:off x="15648500" y="-107950"/>
            <a:ext cx="5012250" cy="914400"/>
          </a:xfrm>
          <a:prstGeom prst="rect">
            <a:avLst/>
          </a:prstGeom>
          <a:noFill/>
        </p:spPr>
        <p:txBody>
          <a:bodyPr wrap="none" rtlCol="0">
            <a:noAutofit/>
          </a:bodyPr>
          <a:lstStyle/>
          <a:p>
            <a:r>
              <a:rPr lang="ja-JP" altLang="en-US" sz="1200" dirty="0"/>
              <a:t>③</a:t>
            </a:r>
            <a:r>
              <a:rPr kumimoji="1" lang="ja-JP" altLang="en-US" sz="1200" dirty="0"/>
              <a:t> 「令和</a:t>
            </a:r>
            <a:r>
              <a:rPr kumimoji="1" lang="en-US" altLang="ja-JP" sz="1200" dirty="0"/>
              <a:t>2</a:t>
            </a:r>
            <a:r>
              <a:rPr kumimoji="1" lang="ja-JP" altLang="en-US" sz="1200" dirty="0"/>
              <a:t>年におけるクレーン等の災害発生状況」</a:t>
            </a:r>
          </a:p>
          <a:p>
            <a:r>
              <a:rPr kumimoji="1" lang="ja-JP" altLang="en-US" sz="1200" dirty="0"/>
              <a:t>   一般社団法人 ボイラ・クレーン安全協会</a:t>
            </a:r>
          </a:p>
          <a:p>
            <a:r>
              <a:rPr kumimoji="1" lang="ja-JP" altLang="en-US" sz="1200" dirty="0"/>
              <a:t>   </a:t>
            </a:r>
            <a:r>
              <a:rPr kumimoji="1" lang="en-US" altLang="ja-JP" sz="1200" dirty="0"/>
              <a:t>https://www.bcsa.or.jp/kakushuzhoho/R2_crane.pdf</a:t>
            </a:r>
            <a:endParaRPr kumimoji="1" lang="ja-JP" altLang="en-US" sz="1200" dirty="0"/>
          </a:p>
        </p:txBody>
      </p:sp>
    </p:spTree>
    <p:extLst>
      <p:ext uri="{BB962C8B-B14F-4D97-AF65-F5344CB8AC3E}">
        <p14:creationId xmlns:p14="http://schemas.microsoft.com/office/powerpoint/2010/main" val="21274481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14300" y="361950"/>
          <a:ext cx="9820275" cy="6705600"/>
          <a:chOff x="114300" y="361950"/>
          <a:chExt cx="9820275" cy="6705600"/>
        </a:xfrm>
      </p:grpSpPr>
      <p:sp>
        <p:nvSpPr>
          <p:cNvPr id="10" name="テキスト ボックス 9"/>
          <p:cNvSpPr txBox="1"/>
          <p:nvPr/>
        </p:nvSpPr>
        <p:spPr>
          <a:xfrm>
            <a:off x="8248650" y="361950"/>
            <a:ext cx="1333500" cy="180975"/>
          </a:xfrm>
          <a:prstGeom prst="rect">
            <a:avLst/>
          </a:prstGeom>
          <a:solidFill>
            <a:srgbClr val="404040">
              <a:alpha val="100000"/>
            </a:srgbClr>
          </a:solidFill>
        </p:spPr>
        <p:txBody>
          <a:bodyPr wrap="none"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Strictly Confidential</a:t>
            </a:r>
          </a:p>
        </p:txBody>
      </p:sp>
      <p:sp>
        <p:nvSpPr>
          <p:cNvPr id="2" name="テキスト ボックス 1"/>
          <p:cNvSpPr txBox="1"/>
          <p:nvPr/>
        </p:nvSpPr>
        <p:spPr>
          <a:xfrm>
            <a:off x="361950" y="371475"/>
            <a:ext cx="723900" cy="676275"/>
          </a:xfrm>
          <a:prstGeom prst="rect">
            <a:avLst/>
          </a:prstGeom>
          <a:solidFill>
            <a:srgbClr val="006659">
              <a:alpha val="100000"/>
            </a:srgbClr>
          </a:solidFill>
        </p:spPr>
        <p:txBody>
          <a:bodyPr lIns="91440" tIns="45720" rIns="91440" bIns="45720" rtlCol="0" anchor="ctr">
            <a:noAutofit/>
          </a:bodyPr>
          <a:lstStyle/>
          <a:p>
            <a:pPr marL="0" marR="0" lvl="0" indent="0" algn="ctr" rtl="0" fontAlgn="ctr">
              <a:lnSpc>
                <a:spcPct val="100000"/>
              </a:lnSpc>
              <a:spcBef>
                <a:spcPts val="0"/>
              </a:spcBef>
              <a:spcAft>
                <a:spcPts val="0"/>
              </a:spcAft>
            </a:pPr>
            <a:r>
              <a:rPr lang="en-US" sz="3200" u="none" spc="0" dirty="0">
                <a:solidFill>
                  <a:srgbClr val="FFFFFF">
                    <a:alpha val="100000"/>
                  </a:srgbClr>
                </a:solidFill>
                <a:latin typeface="游ゴシック"/>
              </a:rPr>
              <a:t>8</a:t>
            </a:r>
          </a:p>
        </p:txBody>
      </p:sp>
      <p:sp>
        <p:nvSpPr>
          <p:cNvPr id="3" name="テキスト ボックス 2"/>
          <p:cNvSpPr txBox="1"/>
          <p:nvPr/>
        </p:nvSpPr>
        <p:spPr>
          <a:xfrm>
            <a:off x="1295400" y="371475"/>
            <a:ext cx="7239000" cy="723900"/>
          </a:xfrm>
          <a:prstGeom prst="rect">
            <a:avLst/>
          </a:prstGeom>
          <a:noFill/>
        </p:spPr>
        <p:txBody>
          <a:bodyPr lIns="91440" tIns="45720" rIns="91440" bIns="45720" rtlCol="0" anchor="ctr">
            <a:noAutofit/>
          </a:bodyPr>
          <a:lstStyle/>
          <a:p>
            <a:pPr marL="47625" algn="l" fontAlgn="ctr"/>
            <a:r>
              <a:rPr sz="2400" b="0" dirty="0" err="1">
                <a:latin typeface="+mn-ea"/>
                <a:ea typeface="+mn-ea"/>
              </a:rPr>
              <a:t>参考情報</a:t>
            </a:r>
            <a:r>
              <a:rPr sz="2400" b="0" dirty="0">
                <a:latin typeface="+mn-ea"/>
                <a:ea typeface="+mn-ea"/>
              </a:rPr>
              <a:t>(</a:t>
            </a:r>
            <a:r>
              <a:rPr lang="ja-JP" altLang="en-US" sz="2400" dirty="0">
                <a:latin typeface="+mn-ea"/>
                <a:ea typeface="+mn-ea"/>
              </a:rPr>
              <a:t>天井</a:t>
            </a:r>
            <a:r>
              <a:rPr sz="2400" b="0" dirty="0" err="1">
                <a:latin typeface="+mn-ea"/>
                <a:ea typeface="+mn-ea"/>
              </a:rPr>
              <a:t>クレーンの地震対策</a:t>
            </a:r>
            <a:r>
              <a:rPr sz="2400" b="0" dirty="0">
                <a:latin typeface="+mn-ea"/>
                <a:ea typeface="+mn-ea"/>
              </a:rPr>
              <a:t>(</a:t>
            </a:r>
            <a:r>
              <a:rPr lang="ja-JP" altLang="en-US" sz="2400" b="0" dirty="0">
                <a:latin typeface="+mn-ea"/>
                <a:ea typeface="+mn-ea"/>
              </a:rPr>
              <a:t>ハード</a:t>
            </a:r>
            <a:r>
              <a:rPr sz="2400" b="0" dirty="0">
                <a:latin typeface="+mn-ea"/>
                <a:ea typeface="+mn-ea"/>
              </a:rPr>
              <a:t>面))</a:t>
            </a:r>
          </a:p>
        </p:txBody>
      </p:sp>
      <p:sp>
        <p:nvSpPr>
          <p:cNvPr id="4" name="テキスト ボックス 3"/>
          <p:cNvSpPr txBox="1"/>
          <p:nvPr/>
        </p:nvSpPr>
        <p:spPr>
          <a:xfrm>
            <a:off x="361950" y="6496050"/>
            <a:ext cx="9220200" cy="209550"/>
          </a:xfrm>
          <a:prstGeom prst="rect">
            <a:avLst/>
          </a:prstGeom>
          <a:solidFill>
            <a:srgbClr val="006659">
              <a:alpha val="100000"/>
            </a:srgbClr>
          </a:solidFill>
        </p:spPr>
        <p:txBody>
          <a:bodyPr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 MS&amp;AD InterRisk Research &amp; Consulting, Inc.</a:t>
            </a:r>
          </a:p>
        </p:txBody>
      </p:sp>
      <p:sp>
        <p:nvSpPr>
          <p:cNvPr id="16" name="テキスト ボックス 7">
            <a:extLst>
              <a:ext uri="{FF2B5EF4-FFF2-40B4-BE49-F238E27FC236}">
                <a16:creationId xmlns:a16="http://schemas.microsoft.com/office/drawing/2014/main" id="{13614222-AAE6-4663-A3FE-2EF5AF98A617}"/>
              </a:ext>
            </a:extLst>
          </p:cNvPr>
          <p:cNvSpPr txBox="1">
            <a:spLocks noChangeArrowheads="1"/>
          </p:cNvSpPr>
          <p:nvPr/>
        </p:nvSpPr>
        <p:spPr bwMode="auto">
          <a:xfrm>
            <a:off x="359825" y="1143000"/>
            <a:ext cx="9180000" cy="640078"/>
          </a:xfrm>
          <a:prstGeom prst="rect">
            <a:avLst/>
          </a:prstGeom>
          <a:solidFill>
            <a:srgbClr val="CCE0DE"/>
          </a:solidFill>
          <a:ln>
            <a:noFill/>
          </a:ln>
        </p:spPr>
        <p:txBody>
          <a:bodyPr wrap="square" anchor="t"/>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marL="0" marR="0" lvl="0" indent="0" algn="l" defTabSz="914400" rtl="0" eaLnBrk="1" fontAlgn="base" latinLnBrk="0" hangingPunct="1">
              <a:lnSpc>
                <a:spcPct val="125000"/>
              </a:lnSpc>
              <a:spcBef>
                <a:spcPct val="0"/>
              </a:spcBef>
              <a:spcAft>
                <a:spcPct val="0"/>
              </a:spcAft>
              <a:buClrTx/>
              <a:buSzTx/>
              <a:buFontTx/>
              <a:buNone/>
              <a:tabLst/>
              <a:defRPr/>
            </a:pPr>
            <a:r>
              <a:rPr lang="ja-JP" altLang="en-US" sz="1400" b="0" dirty="0">
                <a:latin typeface="+mn-ea"/>
                <a:ea typeface="+mn-ea"/>
              </a:rPr>
              <a:t>ハード</a:t>
            </a:r>
            <a:r>
              <a:rPr sz="1400" b="0" dirty="0" err="1">
                <a:latin typeface="+mn-ea"/>
                <a:ea typeface="+mn-ea"/>
              </a:rPr>
              <a:t>対策は「落とさない（脱輪・落下の防止</a:t>
            </a:r>
            <a:r>
              <a:rPr sz="1400" b="0" dirty="0">
                <a:latin typeface="+mn-ea"/>
                <a:ea typeface="+mn-ea"/>
              </a:rPr>
              <a:t>）」</a:t>
            </a:r>
            <a:r>
              <a:rPr sz="1400" b="0" dirty="0" err="1">
                <a:latin typeface="+mn-ea"/>
                <a:ea typeface="+mn-ea"/>
              </a:rPr>
              <a:t>と「壊さない（構造の耐震性確保</a:t>
            </a:r>
            <a:r>
              <a:rPr sz="1400" b="0" dirty="0">
                <a:latin typeface="+mn-ea"/>
                <a:ea typeface="+mn-ea"/>
              </a:rPr>
              <a:t>）」</a:t>
            </a:r>
            <a:r>
              <a:rPr sz="1400" b="0" dirty="0" err="1">
                <a:latin typeface="+mn-ea"/>
                <a:ea typeface="+mn-ea"/>
              </a:rPr>
              <a:t>に大別されます。既設クレーンにも後付け可能な装置があるため、費用対効果の高い対策から段階的に実施することが現実的です</a:t>
            </a:r>
            <a:r>
              <a:rPr sz="1400" b="0" dirty="0">
                <a:latin typeface="+mn-ea"/>
                <a:ea typeface="+mn-ea"/>
              </a:rPr>
              <a:t>。</a:t>
            </a:r>
            <a:endPar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endParaRPr>
          </a:p>
        </p:txBody>
      </p:sp>
      <p:sp>
        <p:nvSpPr>
          <p:cNvPr id="43" name="スライド番号プレースホルダー 5">
            <a:extLst>
              <a:ext uri="{FF2B5EF4-FFF2-40B4-BE49-F238E27FC236}">
                <a16:creationId xmlns:a16="http://schemas.microsoft.com/office/drawing/2014/main" id="{D233D7F0-F29C-4330-8D45-4430BCDCB425}"/>
              </a:ext>
            </a:extLst>
          </p:cNvPr>
          <p:cNvSpPr txBox="1">
            <a:spLocks/>
          </p:cNvSpPr>
          <p:nvPr/>
        </p:nvSpPr>
        <p:spPr>
          <a:xfrm>
            <a:off x="9247906" y="6437312"/>
            <a:ext cx="461667" cy="268288"/>
          </a:xfrm>
          <a:prstGeom prst="rect">
            <a:avLst/>
          </a:prstGeom>
        </p:spPr>
        <p:txBody>
          <a:bodyPr lIns="0" tIns="0" rIns="0" bIns="0" anchor="b"/>
          <a:lstStyle>
            <a:defPPr>
              <a:defRPr lang="fr-FR"/>
            </a:defPPr>
            <a:lvl1pPr marL="0" algn="r" defTabSz="914400" rtl="0" eaLnBrk="1" fontAlgn="auto" latinLnBrk="0" hangingPunct="1">
              <a:spcBef>
                <a:spcPts val="0"/>
              </a:spcBef>
              <a:spcAft>
                <a:spcPts val="0"/>
              </a:spcAft>
              <a:defRPr lang="ja-JP" altLang="en-US" sz="1199" kern="1200">
                <a:solidFill>
                  <a:srgbClr val="414243"/>
                </a:solidFill>
                <a:latin typeface="Arial" pitchFamily="34" charset="0"/>
                <a:ea typeface="ＭＳ Ｐゴシック" pitchFamily="50"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3C987C2D-0993-D24A-8F17-67855EAE4BDA}" type="slidenum">
              <a:rPr kumimoji="1" lang="en-US" altLang="ja-JP" smtClean="0">
                <a:solidFill>
                  <a:schemeClr val="bg1"/>
                </a:solidFill>
                <a:latin typeface="游ゴシック" panose="020B0400000000000000" pitchFamily="50" charset="-128"/>
                <a:ea typeface="游ゴシック" panose="020B0400000000000000" pitchFamily="50" charset="-128"/>
              </a:rPr>
              <a:pPr algn="ctr"/>
              <a:t>60</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44" name="Rounded Rectangle 43"/>
          <p:cNvSpPr/>
          <p:nvPr/>
        </p:nvSpPr>
        <p:spPr>
          <a:xfrm>
            <a:off x="365760" y="1874518"/>
            <a:ext cx="4480560" cy="1280160"/>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lnSpc>
                <a:spcPct val="115000"/>
              </a:lnSpc>
            </a:pPr>
            <a:r>
              <a:rPr sz="1400" b="1" dirty="0">
                <a:solidFill>
                  <a:schemeClr val="tx1"/>
                </a:solidFill>
                <a:latin typeface="+mn-ea"/>
                <a:ea typeface="+mn-ea"/>
              </a:rPr>
              <a:t>① </a:t>
            </a:r>
            <a:r>
              <a:rPr sz="1400" b="1" dirty="0" err="1">
                <a:solidFill>
                  <a:schemeClr val="tx1"/>
                </a:solidFill>
                <a:latin typeface="+mn-ea"/>
                <a:ea typeface="+mn-ea"/>
              </a:rPr>
              <a:t>脱輪・落下防止装置の設置</a:t>
            </a:r>
            <a:endParaRPr lang="en-US" sz="1400" b="1" dirty="0">
              <a:solidFill>
                <a:schemeClr val="tx1"/>
              </a:solidFill>
              <a:latin typeface="+mn-ea"/>
              <a:ea typeface="+mn-ea"/>
            </a:endParaRPr>
          </a:p>
          <a:p>
            <a:pPr>
              <a:lnSpc>
                <a:spcPct val="115000"/>
              </a:lnSpc>
            </a:pPr>
            <a:r>
              <a:rPr lang="ja-JP" altLang="en-US" sz="1100" b="0" dirty="0">
                <a:solidFill>
                  <a:schemeClr val="tx1"/>
                </a:solidFill>
                <a:latin typeface="+mn-ea"/>
                <a:ea typeface="+mn-ea"/>
              </a:rPr>
              <a:t>クレーンのサドル部に取り付ける安全装置です。爪のような部品で走行レールを左右からつかみ、クレーンが浮き上がったときでも、脱輪や急な落下を防ぎます。レールとの適切なすき間を保ちながら保持するため、通常の走行にも支障がありません。また、既設クレーンに後から取り付けることも可能です。</a:t>
            </a:r>
          </a:p>
          <a:p>
            <a:pPr algn="l">
              <a:lnSpc>
                <a:spcPct val="115000"/>
              </a:lnSpc>
            </a:pPr>
            <a:endParaRPr sz="1100" b="1" dirty="0">
              <a:solidFill>
                <a:srgbClr val="004C40"/>
              </a:solidFill>
              <a:latin typeface="+mn-ea"/>
              <a:ea typeface="+mn-ea"/>
            </a:endParaRPr>
          </a:p>
        </p:txBody>
      </p:sp>
      <p:sp>
        <p:nvSpPr>
          <p:cNvPr id="45" name="Rounded Rectangle 44"/>
          <p:cNvSpPr/>
          <p:nvPr/>
        </p:nvSpPr>
        <p:spPr>
          <a:xfrm>
            <a:off x="5047488" y="1874519"/>
            <a:ext cx="4480560" cy="1280160"/>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lnSpc>
                <a:spcPct val="115000"/>
              </a:lnSpc>
            </a:pPr>
            <a:r>
              <a:rPr sz="1400" b="1" dirty="0">
                <a:solidFill>
                  <a:schemeClr val="tx1"/>
                </a:solidFill>
                <a:latin typeface="+mn-ea"/>
                <a:ea typeface="+mn-ea"/>
              </a:rPr>
              <a:t>② </a:t>
            </a:r>
            <a:r>
              <a:rPr sz="1400" b="1" dirty="0" err="1">
                <a:solidFill>
                  <a:schemeClr val="tx1"/>
                </a:solidFill>
                <a:latin typeface="+mn-ea"/>
                <a:ea typeface="+mn-ea"/>
              </a:rPr>
              <a:t>レール固定部の耐震化</a:t>
            </a:r>
            <a:endParaRPr lang="en-US" sz="1400" b="1" dirty="0">
              <a:solidFill>
                <a:schemeClr val="tx1"/>
              </a:solidFill>
              <a:latin typeface="+mn-ea"/>
              <a:ea typeface="+mn-ea"/>
            </a:endParaRPr>
          </a:p>
          <a:p>
            <a:pPr algn="l">
              <a:lnSpc>
                <a:spcPct val="115000"/>
              </a:lnSpc>
            </a:pPr>
            <a:r>
              <a:rPr lang="ja-JP" altLang="en-US" sz="1100" b="0" i="0" dirty="0">
                <a:solidFill>
                  <a:schemeClr val="tx1"/>
                </a:solidFill>
                <a:effectLst/>
                <a:latin typeface="Source Sans"/>
              </a:rPr>
              <a:t>地震時には、レールを固定するフックボルトが伸びたり緩んだりして、レールごとクレーンが落下するおそれがあります。</a:t>
            </a:r>
            <a:br>
              <a:rPr lang="ja-JP" altLang="en-US" sz="1100" dirty="0">
                <a:solidFill>
                  <a:schemeClr val="tx1"/>
                </a:solidFill>
              </a:rPr>
            </a:br>
            <a:r>
              <a:rPr lang="ja-JP" altLang="en-US" sz="1100" b="0" i="0" dirty="0">
                <a:solidFill>
                  <a:schemeClr val="tx1"/>
                </a:solidFill>
                <a:effectLst/>
                <a:latin typeface="Source Sans"/>
              </a:rPr>
              <a:t>そのため、耐震型フックボルトへの交換や締結装置の追加を行い、固定部を強化します。</a:t>
            </a:r>
            <a:endParaRPr sz="1100" b="1" dirty="0">
              <a:solidFill>
                <a:schemeClr val="tx1"/>
              </a:solidFill>
              <a:latin typeface="+mn-ea"/>
              <a:ea typeface="+mn-ea"/>
            </a:endParaRPr>
          </a:p>
        </p:txBody>
      </p:sp>
      <p:sp>
        <p:nvSpPr>
          <p:cNvPr id="46" name="Rounded Rectangle 45"/>
          <p:cNvSpPr/>
          <p:nvPr/>
        </p:nvSpPr>
        <p:spPr>
          <a:xfrm>
            <a:off x="365760" y="3240384"/>
            <a:ext cx="4480560" cy="1285896"/>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lnSpc>
                <a:spcPct val="115000"/>
              </a:lnSpc>
            </a:pPr>
            <a:r>
              <a:rPr sz="1400" b="1" dirty="0">
                <a:solidFill>
                  <a:schemeClr val="tx1"/>
                </a:solidFill>
                <a:latin typeface="+mn-ea"/>
                <a:ea typeface="+mn-ea"/>
              </a:rPr>
              <a:t>③ </a:t>
            </a:r>
            <a:r>
              <a:rPr sz="1400" b="1" dirty="0" err="1">
                <a:solidFill>
                  <a:schemeClr val="tx1"/>
                </a:solidFill>
                <a:latin typeface="+mn-ea"/>
                <a:ea typeface="+mn-ea"/>
              </a:rPr>
              <a:t>走行端部のストッパ</a:t>
            </a:r>
            <a:r>
              <a:rPr sz="1400" b="1" dirty="0">
                <a:solidFill>
                  <a:schemeClr val="tx1"/>
                </a:solidFill>
                <a:latin typeface="+mn-ea"/>
                <a:ea typeface="+mn-ea"/>
              </a:rPr>
              <a:t>ー・</a:t>
            </a:r>
            <a:r>
              <a:rPr sz="1400" b="1" dirty="0" err="1">
                <a:solidFill>
                  <a:schemeClr val="tx1"/>
                </a:solidFill>
                <a:latin typeface="+mn-ea"/>
                <a:ea typeface="+mn-ea"/>
              </a:rPr>
              <a:t>緩衝装置</a:t>
            </a:r>
            <a:r>
              <a:rPr lang="ja-JP" altLang="en-US" sz="1400" b="1" dirty="0">
                <a:solidFill>
                  <a:schemeClr val="tx1"/>
                </a:solidFill>
                <a:latin typeface="+mn-ea"/>
                <a:ea typeface="+mn-ea"/>
              </a:rPr>
              <a:t>の確認</a:t>
            </a:r>
            <a:endParaRPr sz="1400" b="1" dirty="0">
              <a:solidFill>
                <a:schemeClr val="tx1"/>
              </a:solidFill>
              <a:latin typeface="+mn-ea"/>
              <a:ea typeface="+mn-ea"/>
            </a:endParaRPr>
          </a:p>
          <a:p>
            <a:pPr algn="l">
              <a:lnSpc>
                <a:spcPct val="120000"/>
              </a:lnSpc>
              <a:spcBef>
                <a:spcPts val="300"/>
              </a:spcBef>
            </a:pPr>
            <a:r>
              <a:rPr lang="ja-JP" altLang="en-US" sz="1100" b="0" dirty="0">
                <a:solidFill>
                  <a:schemeClr val="tx1"/>
                </a:solidFill>
                <a:latin typeface="+mn-ea"/>
                <a:ea typeface="+mn-ea"/>
              </a:rPr>
              <a:t>クレーン逸走時の衝突に備え、端部ストッパーや緩衝材の設置状況と劣化の有無を確認します。ストッパーへの衝突で上部構造が倒壊した災害事例もあるため、安全性の確認が重要です。</a:t>
            </a:r>
            <a:endParaRPr sz="1100" b="0" dirty="0">
              <a:solidFill>
                <a:schemeClr val="tx1"/>
              </a:solidFill>
              <a:latin typeface="+mn-ea"/>
              <a:ea typeface="+mn-ea"/>
            </a:endParaRPr>
          </a:p>
        </p:txBody>
      </p:sp>
      <p:sp>
        <p:nvSpPr>
          <p:cNvPr id="47" name="Rounded Rectangle 46"/>
          <p:cNvSpPr/>
          <p:nvPr/>
        </p:nvSpPr>
        <p:spPr>
          <a:xfrm>
            <a:off x="5047488" y="3246120"/>
            <a:ext cx="4480560" cy="1280160"/>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lnSpc>
                <a:spcPct val="115000"/>
              </a:lnSpc>
            </a:pPr>
            <a:r>
              <a:rPr sz="1400" b="1" dirty="0">
                <a:solidFill>
                  <a:schemeClr val="tx1"/>
                </a:solidFill>
                <a:latin typeface="+mn-ea"/>
                <a:ea typeface="+mn-ea"/>
              </a:rPr>
              <a:t>④ </a:t>
            </a:r>
            <a:r>
              <a:rPr sz="1400" b="1" dirty="0" err="1">
                <a:solidFill>
                  <a:schemeClr val="tx1"/>
                </a:solidFill>
                <a:latin typeface="+mn-ea"/>
                <a:ea typeface="+mn-ea"/>
              </a:rPr>
              <a:t>耐震診断の実施</a:t>
            </a:r>
            <a:endParaRPr sz="1400" b="1" dirty="0">
              <a:solidFill>
                <a:schemeClr val="tx1"/>
              </a:solidFill>
              <a:latin typeface="+mn-ea"/>
              <a:ea typeface="+mn-ea"/>
            </a:endParaRPr>
          </a:p>
          <a:p>
            <a:pPr algn="l">
              <a:lnSpc>
                <a:spcPct val="120000"/>
              </a:lnSpc>
              <a:spcBef>
                <a:spcPts val="300"/>
              </a:spcBef>
            </a:pPr>
            <a:r>
              <a:rPr sz="1100" b="0" dirty="0">
                <a:solidFill>
                  <a:schemeClr val="tx1"/>
                </a:solidFill>
                <a:latin typeface="+mn-ea"/>
                <a:ea typeface="+mn-ea"/>
              </a:rPr>
              <a:t>JIS B 8842:2020「クレーン－耐震設計に関する原則」</a:t>
            </a:r>
            <a:r>
              <a:rPr lang="en-US" sz="1100" b="0" dirty="0">
                <a:solidFill>
                  <a:schemeClr val="tx1"/>
                </a:solidFill>
                <a:latin typeface="+mn-ea"/>
                <a:ea typeface="+mn-ea"/>
              </a:rPr>
              <a:t>5</a:t>
            </a:r>
            <a:r>
              <a:rPr lang="ja-JP" altLang="en-US" sz="1100" b="0" dirty="0">
                <a:solidFill>
                  <a:schemeClr val="tx1"/>
                </a:solidFill>
                <a:latin typeface="+mn-ea"/>
                <a:ea typeface="+mn-ea"/>
              </a:rPr>
              <a:t>章</a:t>
            </a:r>
            <a:r>
              <a:rPr sz="1100" b="0" dirty="0" err="1">
                <a:solidFill>
                  <a:schemeClr val="tx1"/>
                </a:solidFill>
                <a:latin typeface="+mn-ea"/>
                <a:ea typeface="+mn-ea"/>
              </a:rPr>
              <a:t>では、修正震度法により水平・垂直の設計震度を設定して地震設計荷重を算定する方法が規定されてい</a:t>
            </a:r>
            <a:r>
              <a:rPr lang="ja-JP" altLang="en-US" sz="1100" b="0" dirty="0">
                <a:solidFill>
                  <a:schemeClr val="tx1"/>
                </a:solidFill>
                <a:latin typeface="+mn-ea"/>
                <a:ea typeface="+mn-ea"/>
              </a:rPr>
              <a:t>ます</a:t>
            </a:r>
            <a:r>
              <a:rPr sz="1100" b="0" dirty="0">
                <a:solidFill>
                  <a:schemeClr val="tx1"/>
                </a:solidFill>
                <a:latin typeface="+mn-ea"/>
                <a:ea typeface="+mn-ea"/>
              </a:rPr>
              <a:t>。</a:t>
            </a:r>
          </a:p>
        </p:txBody>
      </p:sp>
      <p:sp>
        <p:nvSpPr>
          <p:cNvPr id="50" name="TextBox 49"/>
          <p:cNvSpPr txBox="1"/>
          <p:nvPr/>
        </p:nvSpPr>
        <p:spPr>
          <a:xfrm>
            <a:off x="359825" y="6290564"/>
            <a:ext cx="9162288" cy="223138"/>
          </a:xfrm>
          <a:prstGeom prst="rect">
            <a:avLst/>
          </a:prstGeom>
          <a:noFill/>
        </p:spPr>
        <p:txBody>
          <a:bodyPr wrap="square">
            <a:spAutoFit/>
          </a:bodyPr>
          <a:lstStyle/>
          <a:p>
            <a:pPr algn="r"/>
            <a:r>
              <a:rPr sz="850" b="0" dirty="0">
                <a:latin typeface="+mn-ea"/>
                <a:ea typeface="+mn-ea"/>
              </a:rPr>
              <a:t>（</a:t>
            </a:r>
            <a:r>
              <a:rPr sz="850" b="0" dirty="0" err="1">
                <a:latin typeface="+mn-ea"/>
                <a:ea typeface="+mn-ea"/>
              </a:rPr>
              <a:t>出典</a:t>
            </a:r>
            <a:r>
              <a:rPr sz="850" b="0" dirty="0">
                <a:latin typeface="+mn-ea"/>
                <a:ea typeface="+mn-ea"/>
              </a:rPr>
              <a:t>：</a:t>
            </a:r>
            <a:r>
              <a:rPr lang="ja-JP" altLang="en-US" sz="850" b="0" dirty="0">
                <a:latin typeface="+mn-ea"/>
                <a:ea typeface="+mn-ea"/>
              </a:rPr>
              <a:t>富士工業株式会社</a:t>
            </a:r>
            <a:r>
              <a:rPr lang="en-US" altLang="ja-JP" sz="850" b="0" dirty="0">
                <a:latin typeface="+mn-ea"/>
                <a:ea typeface="+mn-ea"/>
              </a:rPr>
              <a:t>HP</a:t>
            </a:r>
            <a:r>
              <a:rPr lang="ja-JP" altLang="en-US" sz="850" b="0" dirty="0">
                <a:latin typeface="+mn-ea"/>
                <a:ea typeface="+mn-ea"/>
              </a:rPr>
              <a:t>より</a:t>
            </a:r>
            <a:r>
              <a:rPr sz="850" b="0" dirty="0">
                <a:latin typeface="+mn-ea"/>
                <a:ea typeface="+mn-ea"/>
              </a:rPr>
              <a:t>）</a:t>
            </a:r>
          </a:p>
        </p:txBody>
      </p:sp>
      <p:pic>
        <p:nvPicPr>
          <p:cNvPr id="6" name="図 5">
            <a:extLst>
              <a:ext uri="{FF2B5EF4-FFF2-40B4-BE49-F238E27FC236}">
                <a16:creationId xmlns:a16="http://schemas.microsoft.com/office/drawing/2014/main" id="{03BAE57B-4772-4285-84EA-38AC19E52C0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156705" y="4576835"/>
            <a:ext cx="2326132" cy="1500288"/>
          </a:xfrm>
          <a:prstGeom prst="rect">
            <a:avLst/>
          </a:prstGeom>
        </p:spPr>
      </p:pic>
      <p:sp>
        <p:nvSpPr>
          <p:cNvPr id="17" name="テキスト ボックス 16">
            <a:extLst>
              <a:ext uri="{FF2B5EF4-FFF2-40B4-BE49-F238E27FC236}">
                <a16:creationId xmlns:a16="http://schemas.microsoft.com/office/drawing/2014/main" id="{878BBC6B-56E3-47F3-9248-1A9AF228CF1C}"/>
              </a:ext>
            </a:extLst>
          </p:cNvPr>
          <p:cNvSpPr txBox="1"/>
          <p:nvPr/>
        </p:nvSpPr>
        <p:spPr>
          <a:xfrm>
            <a:off x="4497768" y="5983586"/>
            <a:ext cx="5580000" cy="360000"/>
          </a:xfrm>
          <a:prstGeom prst="rect">
            <a:avLst/>
          </a:prstGeom>
          <a:noFill/>
        </p:spPr>
        <p:txBody>
          <a:bodyPr wrap="none" rtlCol="0" anchor="ctr" anchorCtr="0">
            <a:noAutofit/>
          </a:bodyPr>
          <a:lstStyle/>
          <a:p>
            <a:pPr algn="ctr"/>
            <a:r>
              <a:rPr kumimoji="1" lang="ja-JP" altLang="en-US" sz="1400" dirty="0">
                <a:latin typeface="游ゴシック" panose="020B0400000000000000" pitchFamily="50" charset="-128"/>
                <a:ea typeface="游ゴシック" panose="020B0400000000000000" pitchFamily="50" charset="-128"/>
              </a:rPr>
              <a:t>図：耐震型フックボルトの設置例</a:t>
            </a:r>
          </a:p>
        </p:txBody>
      </p:sp>
      <p:sp>
        <p:nvSpPr>
          <p:cNvPr id="18" name="TextBox 49">
            <a:extLst>
              <a:ext uri="{FF2B5EF4-FFF2-40B4-BE49-F238E27FC236}">
                <a16:creationId xmlns:a16="http://schemas.microsoft.com/office/drawing/2014/main" id="{F5B7A641-8039-445C-B0AD-1DD8DCC0FE60}"/>
              </a:ext>
            </a:extLst>
          </p:cNvPr>
          <p:cNvSpPr txBox="1"/>
          <p:nvPr/>
        </p:nvSpPr>
        <p:spPr>
          <a:xfrm>
            <a:off x="-3999711" y="6288532"/>
            <a:ext cx="9162288" cy="223138"/>
          </a:xfrm>
          <a:prstGeom prst="rect">
            <a:avLst/>
          </a:prstGeom>
          <a:noFill/>
        </p:spPr>
        <p:txBody>
          <a:bodyPr wrap="square">
            <a:spAutoFit/>
          </a:bodyPr>
          <a:lstStyle/>
          <a:p>
            <a:pPr algn="r"/>
            <a:r>
              <a:rPr sz="850" b="0" dirty="0">
                <a:latin typeface="+mn-ea"/>
                <a:ea typeface="+mn-ea"/>
              </a:rPr>
              <a:t>（</a:t>
            </a:r>
            <a:r>
              <a:rPr sz="850" b="0" dirty="0" err="1">
                <a:latin typeface="+mn-ea"/>
                <a:ea typeface="+mn-ea"/>
              </a:rPr>
              <a:t>出典</a:t>
            </a:r>
            <a:r>
              <a:rPr sz="850" b="0" dirty="0">
                <a:latin typeface="+mn-ea"/>
                <a:ea typeface="+mn-ea"/>
              </a:rPr>
              <a:t>：</a:t>
            </a:r>
            <a:r>
              <a:rPr lang="ja-JP" altLang="en-US" sz="850" b="0" dirty="0">
                <a:latin typeface="+mn-ea"/>
                <a:ea typeface="+mn-ea"/>
              </a:rPr>
              <a:t>富士工業株式会社</a:t>
            </a:r>
            <a:r>
              <a:rPr lang="en-US" altLang="ja-JP" sz="850" b="0" dirty="0">
                <a:latin typeface="+mn-ea"/>
                <a:ea typeface="+mn-ea"/>
              </a:rPr>
              <a:t>HP</a:t>
            </a:r>
            <a:r>
              <a:rPr lang="ja-JP" altLang="en-US" sz="850" b="0" dirty="0">
                <a:latin typeface="+mn-ea"/>
                <a:ea typeface="+mn-ea"/>
              </a:rPr>
              <a:t>より</a:t>
            </a:r>
            <a:r>
              <a:rPr sz="850" b="0" dirty="0">
                <a:latin typeface="+mn-ea"/>
                <a:ea typeface="+mn-ea"/>
              </a:rPr>
              <a:t>）</a:t>
            </a:r>
          </a:p>
        </p:txBody>
      </p:sp>
      <p:sp>
        <p:nvSpPr>
          <p:cNvPr id="20" name="テキスト ボックス 19">
            <a:extLst>
              <a:ext uri="{FF2B5EF4-FFF2-40B4-BE49-F238E27FC236}">
                <a16:creationId xmlns:a16="http://schemas.microsoft.com/office/drawing/2014/main" id="{D96CCF2E-EC67-48ED-AEF0-C6E77B0C373B}"/>
              </a:ext>
            </a:extLst>
          </p:cNvPr>
          <p:cNvSpPr txBox="1"/>
          <p:nvPr/>
        </p:nvSpPr>
        <p:spPr>
          <a:xfrm>
            <a:off x="184235" y="5983331"/>
            <a:ext cx="5580000" cy="358032"/>
          </a:xfrm>
          <a:prstGeom prst="rect">
            <a:avLst/>
          </a:prstGeom>
          <a:noFill/>
        </p:spPr>
        <p:txBody>
          <a:bodyPr wrap="none" rtlCol="0" anchor="ctr" anchorCtr="0">
            <a:noAutofit/>
          </a:bodyPr>
          <a:lstStyle/>
          <a:p>
            <a:pPr algn="ctr"/>
            <a:r>
              <a:rPr kumimoji="1" lang="ja-JP" altLang="en-US" sz="1400" dirty="0">
                <a:latin typeface="游ゴシック" panose="020B0400000000000000" pitchFamily="50" charset="-128"/>
                <a:ea typeface="游ゴシック" panose="020B0400000000000000" pitchFamily="50" charset="-128"/>
              </a:rPr>
              <a:t>図：脱輪・落下防止装置の設置例</a:t>
            </a:r>
          </a:p>
        </p:txBody>
      </p:sp>
      <p:pic>
        <p:nvPicPr>
          <p:cNvPr id="8" name="図 7">
            <a:extLst>
              <a:ext uri="{FF2B5EF4-FFF2-40B4-BE49-F238E27FC236}">
                <a16:creationId xmlns:a16="http://schemas.microsoft.com/office/drawing/2014/main" id="{D002C0CA-073C-43A3-8D24-5D945A12868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870994" y="4585018"/>
            <a:ext cx="2377695" cy="1409834"/>
          </a:xfrm>
          <a:prstGeom prst="rect">
            <a:avLst/>
          </a:prstGeom>
        </p:spPr>
      </p:pic>
    </p:spTree>
    <p:extLst>
      <p:ext uri="{BB962C8B-B14F-4D97-AF65-F5344CB8AC3E}">
        <p14:creationId xmlns:p14="http://schemas.microsoft.com/office/powerpoint/2010/main" val="21404308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14300" y="361950"/>
          <a:ext cx="9820275" cy="6705600"/>
          <a:chOff x="114300" y="361950"/>
          <a:chExt cx="9820275" cy="6705600"/>
        </a:xfrm>
      </p:grpSpPr>
      <p:sp>
        <p:nvSpPr>
          <p:cNvPr id="10" name="テキスト ボックス 9"/>
          <p:cNvSpPr txBox="1"/>
          <p:nvPr/>
        </p:nvSpPr>
        <p:spPr>
          <a:xfrm>
            <a:off x="8248650" y="361950"/>
            <a:ext cx="1333500" cy="180975"/>
          </a:xfrm>
          <a:prstGeom prst="rect">
            <a:avLst/>
          </a:prstGeom>
          <a:solidFill>
            <a:srgbClr val="404040">
              <a:alpha val="100000"/>
            </a:srgbClr>
          </a:solidFill>
        </p:spPr>
        <p:txBody>
          <a:bodyPr wrap="none"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Strictly Confidential</a:t>
            </a:r>
          </a:p>
        </p:txBody>
      </p:sp>
      <p:sp>
        <p:nvSpPr>
          <p:cNvPr id="2" name="テキスト ボックス 1"/>
          <p:cNvSpPr txBox="1"/>
          <p:nvPr/>
        </p:nvSpPr>
        <p:spPr>
          <a:xfrm>
            <a:off x="361950" y="371475"/>
            <a:ext cx="723900" cy="676275"/>
          </a:xfrm>
          <a:prstGeom prst="rect">
            <a:avLst/>
          </a:prstGeom>
          <a:solidFill>
            <a:srgbClr val="006659">
              <a:alpha val="100000"/>
            </a:srgbClr>
          </a:solidFill>
        </p:spPr>
        <p:txBody>
          <a:bodyPr lIns="91440" tIns="45720" rIns="91440" bIns="45720" rtlCol="0" anchor="ctr">
            <a:noAutofit/>
          </a:bodyPr>
          <a:lstStyle/>
          <a:p>
            <a:pPr marL="0" marR="0" lvl="0" indent="0" algn="ctr" rtl="0" fontAlgn="ctr">
              <a:lnSpc>
                <a:spcPct val="100000"/>
              </a:lnSpc>
              <a:spcBef>
                <a:spcPts val="0"/>
              </a:spcBef>
              <a:spcAft>
                <a:spcPts val="0"/>
              </a:spcAft>
            </a:pPr>
            <a:r>
              <a:rPr lang="en-US" sz="3200" u="none" spc="0" dirty="0">
                <a:solidFill>
                  <a:srgbClr val="FFFFFF">
                    <a:alpha val="100000"/>
                  </a:srgbClr>
                </a:solidFill>
                <a:latin typeface="游ゴシック"/>
              </a:rPr>
              <a:t>8</a:t>
            </a:r>
          </a:p>
        </p:txBody>
      </p:sp>
      <p:sp>
        <p:nvSpPr>
          <p:cNvPr id="3" name="テキスト ボックス 2"/>
          <p:cNvSpPr txBox="1"/>
          <p:nvPr/>
        </p:nvSpPr>
        <p:spPr>
          <a:xfrm>
            <a:off x="1295400" y="371475"/>
            <a:ext cx="7239000" cy="723900"/>
          </a:xfrm>
          <a:prstGeom prst="rect">
            <a:avLst/>
          </a:prstGeom>
          <a:noFill/>
        </p:spPr>
        <p:txBody>
          <a:bodyPr lIns="91440" tIns="45720" rIns="91440" bIns="45720" rtlCol="0" anchor="ctr">
            <a:noAutofit/>
          </a:bodyPr>
          <a:lstStyle/>
          <a:p>
            <a:pPr marL="47625" algn="l" fontAlgn="ctr"/>
            <a:r>
              <a:rPr sz="2400" b="0" dirty="0" err="1">
                <a:latin typeface="+mn-ea"/>
                <a:ea typeface="+mn-ea"/>
              </a:rPr>
              <a:t>参考情報</a:t>
            </a:r>
            <a:r>
              <a:rPr sz="2400" b="0" dirty="0">
                <a:latin typeface="+mn-ea"/>
                <a:ea typeface="+mn-ea"/>
              </a:rPr>
              <a:t>(</a:t>
            </a:r>
            <a:r>
              <a:rPr lang="ja-JP" altLang="en-US" sz="2400" dirty="0">
                <a:latin typeface="+mn-ea"/>
                <a:ea typeface="+mn-ea"/>
              </a:rPr>
              <a:t>天井</a:t>
            </a:r>
            <a:r>
              <a:rPr sz="2400" b="0" dirty="0" err="1">
                <a:latin typeface="+mn-ea"/>
                <a:ea typeface="+mn-ea"/>
              </a:rPr>
              <a:t>クレーンの地震対策</a:t>
            </a:r>
            <a:r>
              <a:rPr sz="2400" b="0" dirty="0">
                <a:latin typeface="+mn-ea"/>
                <a:ea typeface="+mn-ea"/>
              </a:rPr>
              <a:t>(</a:t>
            </a:r>
            <a:r>
              <a:rPr sz="2400" b="0" dirty="0" err="1">
                <a:latin typeface="+mn-ea"/>
                <a:ea typeface="+mn-ea"/>
              </a:rPr>
              <a:t>点検・運用面</a:t>
            </a:r>
            <a:r>
              <a:rPr sz="2400" b="0" dirty="0">
                <a:latin typeface="+mn-ea"/>
                <a:ea typeface="+mn-ea"/>
              </a:rPr>
              <a:t>))</a:t>
            </a:r>
          </a:p>
        </p:txBody>
      </p:sp>
      <p:sp>
        <p:nvSpPr>
          <p:cNvPr id="4" name="テキスト ボックス 3"/>
          <p:cNvSpPr txBox="1"/>
          <p:nvPr/>
        </p:nvSpPr>
        <p:spPr>
          <a:xfrm>
            <a:off x="361950" y="6496050"/>
            <a:ext cx="9220200" cy="209550"/>
          </a:xfrm>
          <a:prstGeom prst="rect">
            <a:avLst/>
          </a:prstGeom>
          <a:solidFill>
            <a:srgbClr val="006659">
              <a:alpha val="100000"/>
            </a:srgbClr>
          </a:solidFill>
        </p:spPr>
        <p:txBody>
          <a:bodyPr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 MS&amp;AD InterRisk Research &amp; Consulting, Inc.</a:t>
            </a:r>
          </a:p>
        </p:txBody>
      </p:sp>
      <p:sp>
        <p:nvSpPr>
          <p:cNvPr id="16" name="テキスト ボックス 7">
            <a:extLst>
              <a:ext uri="{FF2B5EF4-FFF2-40B4-BE49-F238E27FC236}">
                <a16:creationId xmlns:a16="http://schemas.microsoft.com/office/drawing/2014/main" id="{13614222-AAE6-4663-A3FE-2EF5AF98A617}"/>
              </a:ext>
            </a:extLst>
          </p:cNvPr>
          <p:cNvSpPr txBox="1">
            <a:spLocks noChangeArrowheads="1"/>
          </p:cNvSpPr>
          <p:nvPr/>
        </p:nvSpPr>
        <p:spPr bwMode="auto">
          <a:xfrm>
            <a:off x="359825" y="1143000"/>
            <a:ext cx="9180000" cy="868680"/>
          </a:xfrm>
          <a:prstGeom prst="rect">
            <a:avLst/>
          </a:prstGeom>
          <a:solidFill>
            <a:srgbClr val="CCE0DE"/>
          </a:solidFill>
          <a:ln>
            <a:noFill/>
          </a:ln>
        </p:spPr>
        <p:txBody>
          <a:bodyPr wrap="square" anchor="t"/>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marL="0" marR="0" lvl="0" indent="0" algn="l" defTabSz="914400" rtl="0" eaLnBrk="1" fontAlgn="base" latinLnBrk="0" hangingPunct="1">
              <a:lnSpc>
                <a:spcPct val="125000"/>
              </a:lnSpc>
              <a:spcBef>
                <a:spcPct val="0"/>
              </a:spcBef>
              <a:spcAft>
                <a:spcPct val="0"/>
              </a:spcAft>
              <a:buClrTx/>
              <a:buSzTx/>
              <a:buFontTx/>
              <a:buNone/>
              <a:tabLst/>
              <a:defRPr/>
            </a:pPr>
            <a:r>
              <a:rPr lang="ja-JP" altLang="en-US" sz="1400" b="0" dirty="0">
                <a:latin typeface="+mn-ea"/>
                <a:ea typeface="+mn-ea"/>
              </a:rPr>
              <a:t>震度</a:t>
            </a:r>
            <a:r>
              <a:rPr lang="en-US" altLang="ja-JP" sz="1400" b="0" dirty="0">
                <a:latin typeface="+mn-ea"/>
                <a:ea typeface="+mn-ea"/>
              </a:rPr>
              <a:t>4</a:t>
            </a:r>
            <a:r>
              <a:rPr lang="ja-JP" altLang="en-US" sz="1400" b="0" dirty="0">
                <a:latin typeface="+mn-ea"/>
                <a:ea typeface="+mn-ea"/>
              </a:rPr>
              <a:t>（中震）以上の地震後にクレーンを使用して作業を行う際は、労働安全衛生法に基づくクレーン等安全規則第</a:t>
            </a:r>
            <a:r>
              <a:rPr lang="en-US" altLang="ja-JP" sz="1400" b="0" dirty="0">
                <a:latin typeface="+mn-ea"/>
                <a:ea typeface="+mn-ea"/>
              </a:rPr>
              <a:t>37</a:t>
            </a:r>
            <a:r>
              <a:rPr lang="ja-JP" altLang="en-US" sz="1400" b="0" dirty="0">
                <a:latin typeface="+mn-ea"/>
                <a:ea typeface="+mn-ea"/>
              </a:rPr>
              <a:t>条により、あらかじめ各部に異常がないか点検することが義務付けられています。点検手順を事前に整備しておくことは、早期かつ安全な操業再開につながります。</a:t>
            </a:r>
            <a:endParaRPr kumimoji="1" lang="en-US" altLang="ja-JP" sz="1400" b="0" i="0" u="none" strike="noStrike" kern="1200" cap="none" spc="0" normalizeH="0" baseline="0" noProof="0" dirty="0">
              <a:ln>
                <a:noFill/>
              </a:ln>
              <a:effectLst/>
              <a:uLnTx/>
              <a:uFillTx/>
              <a:latin typeface="游ゴシック" panose="020B0400000000000000" pitchFamily="50" charset="-128"/>
              <a:ea typeface="游ゴシック" panose="020B0400000000000000" pitchFamily="50" charset="-128"/>
            </a:endParaRPr>
          </a:p>
        </p:txBody>
      </p:sp>
      <p:sp>
        <p:nvSpPr>
          <p:cNvPr id="43" name="スライド番号プレースホルダー 5">
            <a:extLst>
              <a:ext uri="{FF2B5EF4-FFF2-40B4-BE49-F238E27FC236}">
                <a16:creationId xmlns:a16="http://schemas.microsoft.com/office/drawing/2014/main" id="{D233D7F0-F29C-4330-8D45-4430BCDCB425}"/>
              </a:ext>
            </a:extLst>
          </p:cNvPr>
          <p:cNvSpPr txBox="1">
            <a:spLocks/>
          </p:cNvSpPr>
          <p:nvPr/>
        </p:nvSpPr>
        <p:spPr>
          <a:xfrm>
            <a:off x="9247906" y="6437312"/>
            <a:ext cx="461667" cy="268288"/>
          </a:xfrm>
          <a:prstGeom prst="rect">
            <a:avLst/>
          </a:prstGeom>
        </p:spPr>
        <p:txBody>
          <a:bodyPr lIns="0" tIns="0" rIns="0" bIns="0" anchor="b"/>
          <a:lstStyle>
            <a:defPPr>
              <a:defRPr lang="fr-FR"/>
            </a:defPPr>
            <a:lvl1pPr marL="0" algn="r" defTabSz="914400" rtl="0" eaLnBrk="1" fontAlgn="auto" latinLnBrk="0" hangingPunct="1">
              <a:spcBef>
                <a:spcPts val="0"/>
              </a:spcBef>
              <a:spcAft>
                <a:spcPts val="0"/>
              </a:spcAft>
              <a:defRPr lang="ja-JP" altLang="en-US" sz="1199" kern="1200">
                <a:solidFill>
                  <a:srgbClr val="414243"/>
                </a:solidFill>
                <a:latin typeface="Arial" pitchFamily="34" charset="0"/>
                <a:ea typeface="ＭＳ Ｐゴシック" pitchFamily="50"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3C987C2D-0993-D24A-8F17-67855EAE4BDA}" type="slidenum">
              <a:rPr kumimoji="1" lang="en-US" altLang="ja-JP" smtClean="0">
                <a:solidFill>
                  <a:schemeClr val="bg1"/>
                </a:solidFill>
                <a:latin typeface="游ゴシック" panose="020B0400000000000000" pitchFamily="50" charset="-128"/>
                <a:ea typeface="游ゴシック" panose="020B0400000000000000" pitchFamily="50" charset="-128"/>
              </a:rPr>
              <a:pPr algn="ctr"/>
              <a:t>61</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44" name="Rounded Rectangle 43"/>
          <p:cNvSpPr/>
          <p:nvPr/>
        </p:nvSpPr>
        <p:spPr>
          <a:xfrm>
            <a:off x="359825" y="2114204"/>
            <a:ext cx="4866640" cy="1859280"/>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400" b="1" dirty="0" err="1">
                <a:solidFill>
                  <a:schemeClr val="tx1"/>
                </a:solidFill>
                <a:latin typeface="+mn-ea"/>
                <a:ea typeface="+mn-ea"/>
              </a:rPr>
              <a:t>関係法令（クレーン等安全規則</a:t>
            </a:r>
            <a:r>
              <a:rPr sz="1400" b="1" dirty="0">
                <a:solidFill>
                  <a:schemeClr val="tx1"/>
                </a:solidFill>
                <a:latin typeface="+mn-ea"/>
                <a:ea typeface="+mn-ea"/>
              </a:rPr>
              <a:t>）</a:t>
            </a:r>
          </a:p>
          <a:p>
            <a:pPr algn="l">
              <a:lnSpc>
                <a:spcPct val="120000"/>
              </a:lnSpc>
              <a:spcBef>
                <a:spcPts val="300"/>
              </a:spcBef>
            </a:pPr>
            <a:r>
              <a:rPr sz="1400" b="0" dirty="0">
                <a:solidFill>
                  <a:srgbClr val="333333"/>
                </a:solidFill>
                <a:latin typeface="+mn-ea"/>
                <a:ea typeface="+mn-ea"/>
              </a:rPr>
              <a:t>・第</a:t>
            </a:r>
            <a:r>
              <a:rPr sz="1400" b="0" dirty="0">
                <a:solidFill>
                  <a:schemeClr val="tx1"/>
                </a:solidFill>
                <a:latin typeface="+mn-ea"/>
                <a:ea typeface="+mn-ea"/>
              </a:rPr>
              <a:t>37条（暴風後等の点検）：中震（震度4）以上の地震</a:t>
            </a:r>
            <a:r>
              <a:rPr lang="en-US" sz="1400" b="0" dirty="0">
                <a:solidFill>
                  <a:schemeClr val="tx1"/>
                </a:solidFill>
                <a:latin typeface="+mn-ea"/>
                <a:ea typeface="+mn-ea"/>
              </a:rPr>
              <a:t>   </a:t>
            </a:r>
          </a:p>
          <a:p>
            <a:pPr algn="l">
              <a:lnSpc>
                <a:spcPct val="120000"/>
              </a:lnSpc>
              <a:spcBef>
                <a:spcPts val="300"/>
              </a:spcBef>
            </a:pPr>
            <a:r>
              <a:rPr lang="en-US" sz="1400" dirty="0">
                <a:solidFill>
                  <a:schemeClr val="tx1"/>
                </a:solidFill>
                <a:latin typeface="+mn-ea"/>
              </a:rPr>
              <a:t>   </a:t>
            </a:r>
            <a:r>
              <a:rPr sz="1400" b="0" dirty="0" err="1">
                <a:solidFill>
                  <a:schemeClr val="tx1"/>
                </a:solidFill>
                <a:latin typeface="+mn-ea"/>
                <a:ea typeface="+mn-ea"/>
              </a:rPr>
              <a:t>の後に作業を行うときは、あらかじめクレーン各部分の</a:t>
            </a:r>
            <a:endParaRPr lang="en-US" sz="1400" b="0" dirty="0">
              <a:solidFill>
                <a:schemeClr val="tx1"/>
              </a:solidFill>
              <a:latin typeface="+mn-ea"/>
              <a:ea typeface="+mn-ea"/>
            </a:endParaRPr>
          </a:p>
          <a:p>
            <a:pPr algn="l">
              <a:lnSpc>
                <a:spcPct val="120000"/>
              </a:lnSpc>
              <a:spcBef>
                <a:spcPts val="300"/>
              </a:spcBef>
            </a:pPr>
            <a:r>
              <a:rPr lang="en-US" sz="1400" dirty="0">
                <a:solidFill>
                  <a:schemeClr val="tx1"/>
                </a:solidFill>
                <a:latin typeface="+mn-ea"/>
              </a:rPr>
              <a:t>   </a:t>
            </a:r>
            <a:r>
              <a:rPr sz="1400" b="0" dirty="0" err="1">
                <a:solidFill>
                  <a:schemeClr val="tx1"/>
                </a:solidFill>
                <a:latin typeface="+mn-ea"/>
                <a:ea typeface="+mn-ea"/>
              </a:rPr>
              <a:t>異常の有無を点検</a:t>
            </a:r>
            <a:endParaRPr sz="1400" b="0" dirty="0">
              <a:solidFill>
                <a:schemeClr val="tx1"/>
              </a:solidFill>
              <a:latin typeface="+mn-ea"/>
              <a:ea typeface="+mn-ea"/>
            </a:endParaRPr>
          </a:p>
          <a:p>
            <a:pPr algn="l">
              <a:lnSpc>
                <a:spcPct val="120000"/>
              </a:lnSpc>
              <a:spcBef>
                <a:spcPts val="300"/>
              </a:spcBef>
            </a:pPr>
            <a:r>
              <a:rPr sz="1400" b="0" dirty="0">
                <a:solidFill>
                  <a:schemeClr val="tx1"/>
                </a:solidFill>
                <a:latin typeface="+mn-ea"/>
                <a:ea typeface="+mn-ea"/>
              </a:rPr>
              <a:t>・第39条：点検で異常を認めたときは直ちに補修</a:t>
            </a:r>
          </a:p>
          <a:p>
            <a:pPr algn="l">
              <a:lnSpc>
                <a:spcPct val="120000"/>
              </a:lnSpc>
              <a:spcBef>
                <a:spcPts val="300"/>
              </a:spcBef>
            </a:pPr>
            <a:r>
              <a:rPr sz="1400" b="0" dirty="0">
                <a:solidFill>
                  <a:schemeClr val="tx1"/>
                </a:solidFill>
                <a:latin typeface="+mn-ea"/>
                <a:ea typeface="+mn-ea"/>
              </a:rPr>
              <a:t>・第38条：点検結果を記録し3年間保存</a:t>
            </a:r>
          </a:p>
        </p:txBody>
      </p:sp>
      <p:sp>
        <p:nvSpPr>
          <p:cNvPr id="46" name="Rounded Rectangle 45"/>
          <p:cNvSpPr/>
          <p:nvPr/>
        </p:nvSpPr>
        <p:spPr>
          <a:xfrm>
            <a:off x="5391371" y="2103120"/>
            <a:ext cx="4087368" cy="3906520"/>
          </a:xfrm>
          <a:prstGeom prst="roundRect">
            <a:avLst>
              <a:gd name="adj" fmla="val 6000"/>
            </a:avLst>
          </a:prstGeom>
          <a:solidFill>
            <a:srgbClr val="E8F1F0"/>
          </a:solidFill>
          <a:ln w="12700">
            <a:solidFill>
              <a:srgbClr val="B6CFC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400" b="1" dirty="0" err="1">
                <a:solidFill>
                  <a:schemeClr val="tx1"/>
                </a:solidFill>
                <a:latin typeface="+mn-ea"/>
                <a:ea typeface="+mn-ea"/>
              </a:rPr>
              <a:t>地震後点検の主なチェックポイント</a:t>
            </a:r>
            <a:endParaRPr sz="1400" b="1" dirty="0">
              <a:solidFill>
                <a:schemeClr val="tx1"/>
              </a:solidFill>
              <a:latin typeface="+mn-ea"/>
              <a:ea typeface="+mn-ea"/>
            </a:endParaRPr>
          </a:p>
          <a:p>
            <a:pPr>
              <a:lnSpc>
                <a:spcPct val="120000"/>
              </a:lnSpc>
              <a:spcBef>
                <a:spcPts val="400"/>
              </a:spcBef>
            </a:pPr>
            <a:r>
              <a:rPr sz="1100" dirty="0">
                <a:solidFill>
                  <a:srgbClr val="333333"/>
                </a:solidFill>
                <a:latin typeface="+mn-ea"/>
                <a:ea typeface="+mn-ea"/>
              </a:rPr>
              <a:t>■</a:t>
            </a:r>
            <a:r>
              <a:rPr sz="1100" dirty="0" err="1">
                <a:solidFill>
                  <a:schemeClr val="tx1"/>
                </a:solidFill>
                <a:latin typeface="+mn-ea"/>
                <a:ea typeface="+mn-ea"/>
              </a:rPr>
              <a:t>走行装置：車輪のレールからのずれ・脱輪、車輪フランジの摩耗・損傷、ガイドローラの状態</a:t>
            </a:r>
            <a:r>
              <a:rPr lang="ja-JP" altLang="en-US" sz="1100" dirty="0">
                <a:solidFill>
                  <a:schemeClr val="tx1"/>
                </a:solidFill>
                <a:latin typeface="+mn-ea"/>
                <a:ea typeface="+mn-ea"/>
              </a:rPr>
              <a:t>点検</a:t>
            </a:r>
            <a:endParaRPr sz="1100" dirty="0">
              <a:solidFill>
                <a:schemeClr val="tx1"/>
              </a:solidFill>
              <a:latin typeface="+mn-ea"/>
              <a:ea typeface="+mn-ea"/>
            </a:endParaRPr>
          </a:p>
          <a:p>
            <a:pPr>
              <a:lnSpc>
                <a:spcPct val="120000"/>
              </a:lnSpc>
              <a:spcBef>
                <a:spcPts val="400"/>
              </a:spcBef>
            </a:pPr>
            <a:r>
              <a:rPr sz="1100" dirty="0">
                <a:solidFill>
                  <a:schemeClr val="tx1"/>
                </a:solidFill>
                <a:latin typeface="+mn-ea"/>
                <a:ea typeface="+mn-ea"/>
              </a:rPr>
              <a:t>■</a:t>
            </a:r>
            <a:r>
              <a:rPr sz="1100" dirty="0" err="1">
                <a:solidFill>
                  <a:schemeClr val="tx1"/>
                </a:solidFill>
                <a:latin typeface="+mn-ea"/>
                <a:ea typeface="+mn-ea"/>
              </a:rPr>
              <a:t>走行レール・固定部：レールの曲り・通り・レベルの変化、継目の段差・隙間、取付ボルト／固定金具の緩み・伸び・脱落</a:t>
            </a:r>
            <a:r>
              <a:rPr lang="ja-JP" altLang="en-US" sz="1100" dirty="0">
                <a:solidFill>
                  <a:schemeClr val="tx1"/>
                </a:solidFill>
                <a:latin typeface="+mn-ea"/>
                <a:ea typeface="+mn-ea"/>
              </a:rPr>
              <a:t>確認</a:t>
            </a:r>
            <a:endParaRPr sz="1100" dirty="0">
              <a:solidFill>
                <a:schemeClr val="tx1"/>
              </a:solidFill>
              <a:latin typeface="+mn-ea"/>
              <a:ea typeface="+mn-ea"/>
            </a:endParaRPr>
          </a:p>
          <a:p>
            <a:pPr>
              <a:lnSpc>
                <a:spcPct val="120000"/>
              </a:lnSpc>
              <a:spcBef>
                <a:spcPts val="400"/>
              </a:spcBef>
            </a:pPr>
            <a:r>
              <a:rPr sz="1100" dirty="0">
                <a:solidFill>
                  <a:schemeClr val="tx1"/>
                </a:solidFill>
                <a:latin typeface="+mn-ea"/>
                <a:ea typeface="+mn-ea"/>
              </a:rPr>
              <a:t>■</a:t>
            </a:r>
            <a:r>
              <a:rPr sz="1100" dirty="0" err="1">
                <a:solidFill>
                  <a:schemeClr val="tx1"/>
                </a:solidFill>
                <a:latin typeface="+mn-ea"/>
                <a:ea typeface="+mn-ea"/>
              </a:rPr>
              <a:t>構造部材：ガーダ・サドルの変形・亀裂、溶接部の割れ・剥離、キャンバ（上反り）の変化、ガーダの水平度</a:t>
            </a:r>
            <a:r>
              <a:rPr lang="ja-JP" altLang="en-US" sz="1100" dirty="0">
                <a:solidFill>
                  <a:schemeClr val="tx1"/>
                </a:solidFill>
                <a:latin typeface="+mn-ea"/>
                <a:ea typeface="+mn-ea"/>
              </a:rPr>
              <a:t>確認</a:t>
            </a:r>
            <a:endParaRPr sz="1100" dirty="0">
              <a:solidFill>
                <a:schemeClr val="tx1"/>
              </a:solidFill>
              <a:latin typeface="+mn-ea"/>
              <a:ea typeface="+mn-ea"/>
            </a:endParaRPr>
          </a:p>
          <a:p>
            <a:pPr>
              <a:lnSpc>
                <a:spcPct val="120000"/>
              </a:lnSpc>
              <a:spcBef>
                <a:spcPts val="400"/>
              </a:spcBef>
            </a:pPr>
            <a:r>
              <a:rPr sz="1100" dirty="0">
                <a:solidFill>
                  <a:schemeClr val="tx1"/>
                </a:solidFill>
                <a:latin typeface="+mn-ea"/>
                <a:ea typeface="+mn-ea"/>
              </a:rPr>
              <a:t>■</a:t>
            </a:r>
            <a:r>
              <a:rPr sz="1100" dirty="0" err="1">
                <a:solidFill>
                  <a:schemeClr val="tx1"/>
                </a:solidFill>
                <a:latin typeface="+mn-ea"/>
                <a:ea typeface="+mn-ea"/>
              </a:rPr>
              <a:t>走行端部：エンドストッパ</a:t>
            </a:r>
            <a:r>
              <a:rPr sz="1100" dirty="0">
                <a:solidFill>
                  <a:schemeClr val="tx1"/>
                </a:solidFill>
                <a:latin typeface="+mn-ea"/>
                <a:ea typeface="+mn-ea"/>
              </a:rPr>
              <a:t>ー・</a:t>
            </a:r>
            <a:r>
              <a:rPr sz="1100" dirty="0" err="1">
                <a:solidFill>
                  <a:schemeClr val="tx1"/>
                </a:solidFill>
                <a:latin typeface="+mn-ea"/>
                <a:ea typeface="+mn-ea"/>
              </a:rPr>
              <a:t>緩衝装置の変形、取付部の損傷</a:t>
            </a:r>
            <a:r>
              <a:rPr lang="ja-JP" altLang="en-US" sz="1100" dirty="0">
                <a:solidFill>
                  <a:schemeClr val="tx1"/>
                </a:solidFill>
                <a:latin typeface="+mn-ea"/>
                <a:ea typeface="+mn-ea"/>
              </a:rPr>
              <a:t>確認</a:t>
            </a:r>
            <a:endParaRPr sz="1100" dirty="0">
              <a:solidFill>
                <a:schemeClr val="tx1"/>
              </a:solidFill>
              <a:latin typeface="+mn-ea"/>
              <a:ea typeface="+mn-ea"/>
            </a:endParaRPr>
          </a:p>
          <a:p>
            <a:pPr>
              <a:lnSpc>
                <a:spcPct val="120000"/>
              </a:lnSpc>
              <a:spcBef>
                <a:spcPts val="400"/>
              </a:spcBef>
            </a:pPr>
            <a:r>
              <a:rPr sz="1100" dirty="0">
                <a:solidFill>
                  <a:schemeClr val="tx1"/>
                </a:solidFill>
                <a:latin typeface="+mn-ea"/>
                <a:ea typeface="+mn-ea"/>
              </a:rPr>
              <a:t>■</a:t>
            </a:r>
            <a:r>
              <a:rPr sz="1100" dirty="0" err="1">
                <a:solidFill>
                  <a:schemeClr val="tx1"/>
                </a:solidFill>
                <a:latin typeface="+mn-ea"/>
                <a:ea typeface="+mn-ea"/>
              </a:rPr>
              <a:t>巻上装置：ワイヤロープの乱巻き・素線切れ・ねじれ、フック・玉掛用具の変形、ブレーキの効き</a:t>
            </a:r>
            <a:r>
              <a:rPr lang="ja-JP" altLang="en-US" sz="1100" dirty="0">
                <a:solidFill>
                  <a:schemeClr val="tx1"/>
                </a:solidFill>
                <a:latin typeface="+mn-ea"/>
                <a:ea typeface="+mn-ea"/>
              </a:rPr>
              <a:t>確認</a:t>
            </a:r>
            <a:endParaRPr sz="1100" dirty="0">
              <a:solidFill>
                <a:schemeClr val="tx1"/>
              </a:solidFill>
              <a:latin typeface="+mn-ea"/>
              <a:ea typeface="+mn-ea"/>
            </a:endParaRPr>
          </a:p>
          <a:p>
            <a:pPr>
              <a:lnSpc>
                <a:spcPct val="120000"/>
              </a:lnSpc>
              <a:spcBef>
                <a:spcPts val="400"/>
              </a:spcBef>
            </a:pPr>
            <a:r>
              <a:rPr sz="1100" dirty="0">
                <a:solidFill>
                  <a:schemeClr val="tx1"/>
                </a:solidFill>
                <a:latin typeface="+mn-ea"/>
                <a:ea typeface="+mn-ea"/>
              </a:rPr>
              <a:t>■</a:t>
            </a:r>
            <a:r>
              <a:rPr sz="1100" dirty="0" err="1">
                <a:solidFill>
                  <a:schemeClr val="tx1"/>
                </a:solidFill>
                <a:latin typeface="+mn-ea"/>
                <a:ea typeface="+mn-ea"/>
              </a:rPr>
              <a:t>電気設備：集電装置・トロリ線の損傷、制御盤・リミットスイッチの作動確認</a:t>
            </a:r>
            <a:endParaRPr lang="en-US" sz="1100" dirty="0">
              <a:solidFill>
                <a:schemeClr val="tx1"/>
              </a:solidFill>
              <a:latin typeface="+mn-ea"/>
              <a:ea typeface="+mn-ea"/>
            </a:endParaRPr>
          </a:p>
          <a:p>
            <a:pPr>
              <a:lnSpc>
                <a:spcPct val="120000"/>
              </a:lnSpc>
              <a:spcBef>
                <a:spcPts val="400"/>
              </a:spcBef>
            </a:pPr>
            <a:r>
              <a:rPr lang="en-US" altLang="ja-JP" sz="1100" dirty="0">
                <a:solidFill>
                  <a:schemeClr val="tx1"/>
                </a:solidFill>
                <a:latin typeface="+mn-ea"/>
              </a:rPr>
              <a:t>※</a:t>
            </a:r>
            <a:r>
              <a:rPr lang="ja-JP" altLang="en-US" sz="1100" dirty="0">
                <a:solidFill>
                  <a:schemeClr val="tx1"/>
                </a:solidFill>
                <a:latin typeface="+mn-ea"/>
              </a:rPr>
              <a:t>一般社団法人 ボイラ・クレーン安全協会より発表されている地震後クレーン点検チェックリストを次頁に記載しますのでご参考ください。</a:t>
            </a:r>
            <a:endParaRPr lang="en-US" sz="1100" dirty="0">
              <a:solidFill>
                <a:schemeClr val="tx1"/>
              </a:solidFill>
              <a:latin typeface="+mn-ea"/>
            </a:endParaRPr>
          </a:p>
        </p:txBody>
      </p:sp>
      <p:pic>
        <p:nvPicPr>
          <p:cNvPr id="6" name="図 5">
            <a:extLst>
              <a:ext uri="{FF2B5EF4-FFF2-40B4-BE49-F238E27FC236}">
                <a16:creationId xmlns:a16="http://schemas.microsoft.com/office/drawing/2014/main" id="{DF855A68-A7F8-4503-B562-007F109E367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071100" y="1732280"/>
            <a:ext cx="2819400" cy="3906520"/>
          </a:xfrm>
          <a:prstGeom prst="rect">
            <a:avLst/>
          </a:prstGeom>
        </p:spPr>
      </p:pic>
    </p:spTree>
    <p:extLst>
      <p:ext uri="{BB962C8B-B14F-4D97-AF65-F5344CB8AC3E}">
        <p14:creationId xmlns:p14="http://schemas.microsoft.com/office/powerpoint/2010/main" val="35767134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14300" y="361950"/>
          <a:ext cx="9820275" cy="6705600"/>
          <a:chOff x="114300" y="361950"/>
          <a:chExt cx="9820275" cy="6705600"/>
        </a:xfrm>
      </p:grpSpPr>
      <p:sp>
        <p:nvSpPr>
          <p:cNvPr id="10" name="テキスト ボックス 9"/>
          <p:cNvSpPr txBox="1"/>
          <p:nvPr/>
        </p:nvSpPr>
        <p:spPr>
          <a:xfrm>
            <a:off x="8248650" y="361950"/>
            <a:ext cx="1333500" cy="180975"/>
          </a:xfrm>
          <a:prstGeom prst="rect">
            <a:avLst/>
          </a:prstGeom>
          <a:solidFill>
            <a:srgbClr val="404040">
              <a:alpha val="100000"/>
            </a:srgbClr>
          </a:solidFill>
        </p:spPr>
        <p:txBody>
          <a:bodyPr wrap="none"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Strictly Confidential</a:t>
            </a:r>
          </a:p>
        </p:txBody>
      </p:sp>
      <p:sp>
        <p:nvSpPr>
          <p:cNvPr id="2" name="テキスト ボックス 1"/>
          <p:cNvSpPr txBox="1"/>
          <p:nvPr/>
        </p:nvSpPr>
        <p:spPr>
          <a:xfrm>
            <a:off x="361950" y="371475"/>
            <a:ext cx="723900" cy="676275"/>
          </a:xfrm>
          <a:prstGeom prst="rect">
            <a:avLst/>
          </a:prstGeom>
          <a:solidFill>
            <a:srgbClr val="006659">
              <a:alpha val="100000"/>
            </a:srgbClr>
          </a:solidFill>
        </p:spPr>
        <p:txBody>
          <a:bodyPr lIns="91440" tIns="45720" rIns="91440" bIns="45720" rtlCol="0" anchor="ctr">
            <a:noAutofit/>
          </a:bodyPr>
          <a:lstStyle/>
          <a:p>
            <a:pPr marL="0" marR="0" lvl="0" indent="0" algn="ctr" rtl="0" fontAlgn="ctr">
              <a:lnSpc>
                <a:spcPct val="100000"/>
              </a:lnSpc>
              <a:spcBef>
                <a:spcPts val="0"/>
              </a:spcBef>
              <a:spcAft>
                <a:spcPts val="0"/>
              </a:spcAft>
            </a:pPr>
            <a:r>
              <a:rPr lang="en-US" sz="3200" u="none" spc="0" dirty="0">
                <a:solidFill>
                  <a:srgbClr val="FFFFFF">
                    <a:alpha val="100000"/>
                  </a:srgbClr>
                </a:solidFill>
                <a:latin typeface="游ゴシック"/>
              </a:rPr>
              <a:t>8</a:t>
            </a:r>
          </a:p>
        </p:txBody>
      </p:sp>
      <p:sp>
        <p:nvSpPr>
          <p:cNvPr id="3" name="テキスト ボックス 2"/>
          <p:cNvSpPr txBox="1"/>
          <p:nvPr/>
        </p:nvSpPr>
        <p:spPr>
          <a:xfrm>
            <a:off x="1295400" y="371475"/>
            <a:ext cx="7239000" cy="723900"/>
          </a:xfrm>
          <a:prstGeom prst="rect">
            <a:avLst/>
          </a:prstGeom>
          <a:noFill/>
        </p:spPr>
        <p:txBody>
          <a:bodyPr lIns="91440" tIns="45720" rIns="91440" bIns="45720" rtlCol="0" anchor="ctr">
            <a:noAutofit/>
          </a:bodyPr>
          <a:lstStyle/>
          <a:p>
            <a:pPr marL="47625" algn="l" fontAlgn="ctr"/>
            <a:r>
              <a:rPr sz="2400" b="0" dirty="0" err="1">
                <a:latin typeface="+mn-ea"/>
                <a:ea typeface="+mn-ea"/>
              </a:rPr>
              <a:t>参考情報</a:t>
            </a:r>
            <a:r>
              <a:rPr sz="2400" b="0" dirty="0">
                <a:latin typeface="+mn-ea"/>
                <a:ea typeface="+mn-ea"/>
              </a:rPr>
              <a:t>(</a:t>
            </a:r>
            <a:r>
              <a:rPr lang="ja-JP" altLang="en-US" sz="2400" dirty="0">
                <a:latin typeface="+mn-ea"/>
                <a:ea typeface="+mn-ea"/>
              </a:rPr>
              <a:t>天井</a:t>
            </a:r>
            <a:r>
              <a:rPr lang="ja-JP" altLang="en-US" sz="2400" b="0" dirty="0">
                <a:latin typeface="+mn-ea"/>
                <a:ea typeface="+mn-ea"/>
              </a:rPr>
              <a:t>クレーンの地震後</a:t>
            </a:r>
            <a:r>
              <a:rPr lang="ja-JP" altLang="en-US" sz="2400" dirty="0">
                <a:latin typeface="+mn-ea"/>
                <a:ea typeface="+mn-ea"/>
              </a:rPr>
              <a:t>チェックリスト</a:t>
            </a:r>
            <a:r>
              <a:rPr sz="2400" b="0" dirty="0">
                <a:latin typeface="+mn-ea"/>
                <a:ea typeface="+mn-ea"/>
              </a:rPr>
              <a:t>)</a:t>
            </a:r>
          </a:p>
        </p:txBody>
      </p:sp>
      <p:sp>
        <p:nvSpPr>
          <p:cNvPr id="4" name="テキスト ボックス 3"/>
          <p:cNvSpPr txBox="1"/>
          <p:nvPr/>
        </p:nvSpPr>
        <p:spPr>
          <a:xfrm>
            <a:off x="361950" y="6496050"/>
            <a:ext cx="9220200" cy="209550"/>
          </a:xfrm>
          <a:prstGeom prst="rect">
            <a:avLst/>
          </a:prstGeom>
          <a:solidFill>
            <a:srgbClr val="006659">
              <a:alpha val="100000"/>
            </a:srgbClr>
          </a:solidFill>
        </p:spPr>
        <p:txBody>
          <a:bodyPr lIns="91440" tIns="45720" rIns="91440" bIns="45720" rtlCol="0" anchor="ctr">
            <a:noAutofit/>
          </a:bodyPr>
          <a:lstStyle/>
          <a:p>
            <a:pPr marL="47625" marR="0" lvl="0" indent="0" algn="l" rtl="0" fontAlgn="ctr">
              <a:lnSpc>
                <a:spcPct val="100000"/>
              </a:lnSpc>
              <a:spcBef>
                <a:spcPts val="0"/>
              </a:spcBef>
              <a:spcAft>
                <a:spcPts val="0"/>
              </a:spcAft>
            </a:pPr>
            <a:r>
              <a:rPr lang="en-US" sz="1000" u="none" spc="0">
                <a:solidFill>
                  <a:srgbClr val="FFFFFF">
                    <a:alpha val="100000"/>
                  </a:srgbClr>
                </a:solidFill>
                <a:latin typeface="游ゴシック"/>
              </a:rPr>
              <a:t>© MS&amp;AD InterRisk Research &amp; Consulting, Inc.</a:t>
            </a:r>
          </a:p>
        </p:txBody>
      </p:sp>
      <p:sp>
        <p:nvSpPr>
          <p:cNvPr id="43" name="スライド番号プレースホルダー 5">
            <a:extLst>
              <a:ext uri="{FF2B5EF4-FFF2-40B4-BE49-F238E27FC236}">
                <a16:creationId xmlns:a16="http://schemas.microsoft.com/office/drawing/2014/main" id="{D233D7F0-F29C-4330-8D45-4430BCDCB425}"/>
              </a:ext>
            </a:extLst>
          </p:cNvPr>
          <p:cNvSpPr txBox="1">
            <a:spLocks/>
          </p:cNvSpPr>
          <p:nvPr/>
        </p:nvSpPr>
        <p:spPr>
          <a:xfrm>
            <a:off x="9247906" y="6437312"/>
            <a:ext cx="461667" cy="268288"/>
          </a:xfrm>
          <a:prstGeom prst="rect">
            <a:avLst/>
          </a:prstGeom>
        </p:spPr>
        <p:txBody>
          <a:bodyPr lIns="0" tIns="0" rIns="0" bIns="0" anchor="b"/>
          <a:lstStyle>
            <a:defPPr>
              <a:defRPr lang="fr-FR"/>
            </a:defPPr>
            <a:lvl1pPr marL="0" algn="r" defTabSz="914400" rtl="0" eaLnBrk="1" fontAlgn="auto" latinLnBrk="0" hangingPunct="1">
              <a:spcBef>
                <a:spcPts val="0"/>
              </a:spcBef>
              <a:spcAft>
                <a:spcPts val="0"/>
              </a:spcAft>
              <a:defRPr lang="ja-JP" altLang="en-US" sz="1199" kern="1200">
                <a:solidFill>
                  <a:srgbClr val="414243"/>
                </a:solidFill>
                <a:latin typeface="Arial" pitchFamily="34" charset="0"/>
                <a:ea typeface="ＭＳ Ｐゴシック" pitchFamily="50"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3C987C2D-0993-D24A-8F17-67855EAE4BDA}" type="slidenum">
              <a:rPr kumimoji="1" lang="en-US" altLang="ja-JP" smtClean="0">
                <a:solidFill>
                  <a:schemeClr val="bg1"/>
                </a:solidFill>
                <a:latin typeface="游ゴシック" panose="020B0400000000000000" pitchFamily="50" charset="-128"/>
                <a:ea typeface="游ゴシック" panose="020B0400000000000000" pitchFamily="50" charset="-128"/>
              </a:rPr>
              <a:pPr algn="ctr"/>
              <a:t>62</a:t>
            </a:fld>
            <a:endParaRPr kumimoji="1" lang="ja-JP" altLang="en-US" dirty="0">
              <a:solidFill>
                <a:schemeClr val="bg1"/>
              </a:solidFill>
              <a:latin typeface="游ゴシック" panose="020B0400000000000000" pitchFamily="50" charset="-128"/>
              <a:ea typeface="游ゴシック" panose="020B0400000000000000" pitchFamily="50" charset="-128"/>
            </a:endParaRPr>
          </a:p>
        </p:txBody>
      </p:sp>
      <p:sp>
        <p:nvSpPr>
          <p:cNvPr id="47" name="TextBox 46"/>
          <p:cNvSpPr txBox="1"/>
          <p:nvPr/>
        </p:nvSpPr>
        <p:spPr>
          <a:xfrm>
            <a:off x="547285" y="6244802"/>
            <a:ext cx="9162288" cy="261610"/>
          </a:xfrm>
          <a:prstGeom prst="rect">
            <a:avLst/>
          </a:prstGeom>
          <a:noFill/>
        </p:spPr>
        <p:txBody>
          <a:bodyPr wrap="square">
            <a:spAutoFit/>
          </a:bodyPr>
          <a:lstStyle/>
          <a:p>
            <a:pPr algn="r"/>
            <a:r>
              <a:rPr sz="1100" b="0" dirty="0">
                <a:latin typeface="+mn-ea"/>
                <a:ea typeface="+mn-ea"/>
              </a:rPr>
              <a:t>（</a:t>
            </a:r>
            <a:r>
              <a:rPr sz="1100" b="0" dirty="0" err="1">
                <a:latin typeface="+mn-ea"/>
                <a:ea typeface="+mn-ea"/>
              </a:rPr>
              <a:t>出典</a:t>
            </a:r>
            <a:r>
              <a:rPr sz="1100" b="0" dirty="0">
                <a:latin typeface="+mn-ea"/>
                <a:ea typeface="+mn-ea"/>
              </a:rPr>
              <a:t>：</a:t>
            </a:r>
            <a:r>
              <a:rPr lang="ja-JP" altLang="en-US" sz="1100" dirty="0">
                <a:latin typeface="+mn-ea"/>
                <a:ea typeface="+mn-ea"/>
              </a:rPr>
              <a:t>公益社団法人</a:t>
            </a:r>
            <a:r>
              <a:rPr lang="ja-JP" altLang="en-US" sz="1100" b="0" dirty="0">
                <a:latin typeface="+mn-ea"/>
                <a:ea typeface="+mn-ea"/>
              </a:rPr>
              <a:t>ボイラ・クレーン安全協会</a:t>
            </a:r>
            <a:r>
              <a:rPr lang="en-US" altLang="ja-JP" sz="1100" b="0" dirty="0">
                <a:latin typeface="+mn-ea"/>
                <a:ea typeface="+mn-ea"/>
              </a:rPr>
              <a:t>HP </a:t>
            </a:r>
            <a:r>
              <a:rPr lang="ja-JP" altLang="en-US" sz="1100" b="0" dirty="0">
                <a:latin typeface="+mn-ea"/>
                <a:ea typeface="+mn-ea"/>
              </a:rPr>
              <a:t> </a:t>
            </a:r>
            <a:r>
              <a:rPr lang="en-US" altLang="ja-JP" sz="1100" b="0" dirty="0">
                <a:latin typeface="+mn-ea"/>
                <a:ea typeface="+mn-ea"/>
              </a:rPr>
              <a:t>https://bcsa.or.jp/kensa/youshiki/post-3.html</a:t>
            </a:r>
            <a:r>
              <a:rPr sz="1100" b="0" dirty="0">
                <a:latin typeface="+mn-ea"/>
                <a:ea typeface="+mn-ea"/>
              </a:rPr>
              <a:t>）</a:t>
            </a:r>
          </a:p>
        </p:txBody>
      </p:sp>
      <p:pic>
        <p:nvPicPr>
          <p:cNvPr id="7" name="図 6">
            <a:extLst>
              <a:ext uri="{FF2B5EF4-FFF2-40B4-BE49-F238E27FC236}">
                <a16:creationId xmlns:a16="http://schemas.microsoft.com/office/drawing/2014/main" id="{F9111815-7FD1-4E1F-BF67-C3D26A9F4BA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871561" y="947302"/>
            <a:ext cx="4010395" cy="4992796"/>
          </a:xfrm>
          <a:prstGeom prst="rect">
            <a:avLst/>
          </a:prstGeom>
        </p:spPr>
      </p:pic>
      <p:sp>
        <p:nvSpPr>
          <p:cNvPr id="17" name="テキスト ボックス 16">
            <a:extLst>
              <a:ext uri="{FF2B5EF4-FFF2-40B4-BE49-F238E27FC236}">
                <a16:creationId xmlns:a16="http://schemas.microsoft.com/office/drawing/2014/main" id="{C6C3604E-E04C-4CD3-9424-B94FC9687723}"/>
              </a:ext>
            </a:extLst>
          </p:cNvPr>
          <p:cNvSpPr txBox="1"/>
          <p:nvPr/>
        </p:nvSpPr>
        <p:spPr>
          <a:xfrm>
            <a:off x="2294886" y="5940098"/>
            <a:ext cx="5580000" cy="360000"/>
          </a:xfrm>
          <a:prstGeom prst="rect">
            <a:avLst/>
          </a:prstGeom>
          <a:noFill/>
        </p:spPr>
        <p:txBody>
          <a:bodyPr wrap="none" rtlCol="0" anchor="ctr" anchorCtr="0">
            <a:noAutofit/>
          </a:bodyPr>
          <a:lstStyle/>
          <a:p>
            <a:pPr algn="ctr"/>
            <a:r>
              <a:rPr kumimoji="1" lang="ja-JP" altLang="en-US" sz="1400" dirty="0">
                <a:latin typeface="游ゴシック" panose="020B0400000000000000" pitchFamily="50" charset="-128"/>
                <a:ea typeface="游ゴシック" panose="020B0400000000000000" pitchFamily="50" charset="-128"/>
              </a:rPr>
              <a:t>図：地震後クレーン点検チェックリスト</a:t>
            </a:r>
          </a:p>
        </p:txBody>
      </p:sp>
    </p:spTree>
    <p:extLst>
      <p:ext uri="{BB962C8B-B14F-4D97-AF65-F5344CB8AC3E}">
        <p14:creationId xmlns:p14="http://schemas.microsoft.com/office/powerpoint/2010/main" val="15094857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BC78A136-3B56-4A13-B0FD-C4D25E8EF32E}"/>
              </a:ext>
            </a:extLst>
          </p:cNvPr>
          <p:cNvSpPr txBox="1">
            <a:spLocks noChangeArrowheads="1"/>
          </p:cNvSpPr>
          <p:nvPr/>
        </p:nvSpPr>
        <p:spPr bwMode="auto">
          <a:xfrm>
            <a:off x="535066" y="863027"/>
            <a:ext cx="8839200" cy="3544216"/>
          </a:xfrm>
          <a:prstGeom prst="rect">
            <a:avLst/>
          </a:prstGeom>
          <a:noFill/>
          <a:ln w="9525">
            <a:solidFill>
              <a:schemeClr val="bg1">
                <a:lumMod val="75000"/>
              </a:schemeClr>
            </a:solidFill>
            <a:miter lim="800000"/>
            <a:headEnd/>
            <a:tailEnd/>
          </a:ln>
          <a:extLst>
            <a:ext uri="{909E8E84-426E-40dd-AFC4-6F175D3DCCD1}">
              <a14:hiddenFill xmlns:a14="http://schemas.microsoft.com/office/drawing/2010/main" xmlns="">
                <a:solidFill>
                  <a:srgbClr val="FFFFFF"/>
                </a:solidFill>
              </a14:hiddenFill>
            </a:ext>
          </a:extLst>
        </p:spPr>
        <p:txBody>
          <a:bodyPr anchor="t" anchorCtr="0"/>
          <a:lstStyle>
            <a:lvl1pPr eaLnBrk="0" hangingPunct="0">
              <a:buClr>
                <a:srgbClr val="AAAAAA"/>
              </a:buClr>
              <a:buSzPct val="100000"/>
              <a:buFont typeface="Wingdings" pitchFamily="2" charset="2"/>
              <a:buChar char="n"/>
              <a:defRPr kumimoji="1" sz="1000">
                <a:solidFill>
                  <a:schemeClr val="tx1"/>
                </a:solidFill>
                <a:latin typeface="Arial" charset="0"/>
                <a:ea typeface="ＭＳ Ｐゴシック" charset="-128"/>
              </a:defRPr>
            </a:lvl1pPr>
            <a:lvl2pPr marL="742950" indent="-285750" eaLnBrk="0" hangingPunct="0">
              <a:buClr>
                <a:srgbClr val="AAAAAA"/>
              </a:buClr>
              <a:buSzPct val="120000"/>
              <a:buFont typeface="Arial" charset="0"/>
              <a:buChar char="»"/>
              <a:defRPr kumimoji="1" sz="1000">
                <a:solidFill>
                  <a:schemeClr val="tx1"/>
                </a:solidFill>
                <a:latin typeface="Arial" charset="0"/>
                <a:ea typeface="ＭＳ Ｐゴシック" charset="-128"/>
              </a:defRPr>
            </a:lvl2pPr>
            <a:lvl3pPr marL="1143000" indent="-228600" eaLnBrk="0" hangingPunct="0">
              <a:buClr>
                <a:srgbClr val="AAAAAA"/>
              </a:buClr>
              <a:buSzPct val="100000"/>
              <a:buFont typeface="Arial" charset="0"/>
              <a:buChar char="-"/>
              <a:defRPr kumimoji="1" sz="1000">
                <a:solidFill>
                  <a:schemeClr val="tx1"/>
                </a:solidFill>
                <a:latin typeface="Arial" charset="0"/>
                <a:ea typeface="ＭＳ Ｐゴシック" charset="-128"/>
              </a:defRPr>
            </a:lvl3pPr>
            <a:lvl4pPr marL="1600200" indent="-228600" eaLnBrk="0" hangingPunct="0">
              <a:buClr>
                <a:srgbClr val="AAAAAA"/>
              </a:buClr>
              <a:buSzPct val="100000"/>
              <a:buFont typeface="Arial" charset="0"/>
              <a:buChar char="-"/>
              <a:defRPr kumimoji="1" sz="1000">
                <a:solidFill>
                  <a:schemeClr val="tx1"/>
                </a:solidFill>
                <a:latin typeface="Arial" charset="0"/>
                <a:ea typeface="ＭＳ Ｐゴシック" charset="-128"/>
              </a:defRPr>
            </a:lvl4pPr>
            <a:lvl5pPr marL="2057400" indent="-228600" eaLnBrk="0" hangingPunct="0">
              <a:buClr>
                <a:srgbClr val="AAAAAA"/>
              </a:buClr>
              <a:buSzPct val="100000"/>
              <a:buFont typeface="Arial" charset="0"/>
              <a:buChar char="-"/>
              <a:defRPr kumimoji="1" sz="1000">
                <a:solidFill>
                  <a:schemeClr val="tx1"/>
                </a:solidFill>
                <a:latin typeface="Arial" charset="0"/>
                <a:ea typeface="ＭＳ Ｐゴシック" charset="-128"/>
              </a:defRPr>
            </a:lvl5pPr>
            <a:lvl6pPr marL="2514600" indent="-228600" eaLnBrk="0" fontAlgn="base" hangingPunct="0">
              <a:spcBef>
                <a:spcPct val="0"/>
              </a:spcBef>
              <a:spcAft>
                <a:spcPct val="0"/>
              </a:spcAft>
              <a:buClr>
                <a:srgbClr val="AAAAAA"/>
              </a:buClr>
              <a:buSzPct val="100000"/>
              <a:buFont typeface="Arial" charset="0"/>
              <a:buChar char="-"/>
              <a:defRPr kumimoji="1" sz="1000">
                <a:solidFill>
                  <a:schemeClr val="tx1"/>
                </a:solidFill>
                <a:latin typeface="Arial" charset="0"/>
                <a:ea typeface="ＭＳ Ｐゴシック" charset="-128"/>
              </a:defRPr>
            </a:lvl6pPr>
            <a:lvl7pPr marL="2971800" indent="-228600" eaLnBrk="0" fontAlgn="base" hangingPunct="0">
              <a:spcBef>
                <a:spcPct val="0"/>
              </a:spcBef>
              <a:spcAft>
                <a:spcPct val="0"/>
              </a:spcAft>
              <a:buClr>
                <a:srgbClr val="AAAAAA"/>
              </a:buClr>
              <a:buSzPct val="100000"/>
              <a:buFont typeface="Arial" charset="0"/>
              <a:buChar char="-"/>
              <a:defRPr kumimoji="1" sz="1000">
                <a:solidFill>
                  <a:schemeClr val="tx1"/>
                </a:solidFill>
                <a:latin typeface="Arial" charset="0"/>
                <a:ea typeface="ＭＳ Ｐゴシック" charset="-128"/>
              </a:defRPr>
            </a:lvl7pPr>
            <a:lvl8pPr marL="3429000" indent="-228600" eaLnBrk="0" fontAlgn="base" hangingPunct="0">
              <a:spcBef>
                <a:spcPct val="0"/>
              </a:spcBef>
              <a:spcAft>
                <a:spcPct val="0"/>
              </a:spcAft>
              <a:buClr>
                <a:srgbClr val="AAAAAA"/>
              </a:buClr>
              <a:buSzPct val="100000"/>
              <a:buFont typeface="Arial" charset="0"/>
              <a:buChar char="-"/>
              <a:defRPr kumimoji="1" sz="1000">
                <a:solidFill>
                  <a:schemeClr val="tx1"/>
                </a:solidFill>
                <a:latin typeface="Arial" charset="0"/>
                <a:ea typeface="ＭＳ Ｐゴシック" charset="-128"/>
              </a:defRPr>
            </a:lvl8pPr>
            <a:lvl9pPr marL="3886200" indent="-228600" eaLnBrk="0" fontAlgn="base" hangingPunct="0">
              <a:spcBef>
                <a:spcPct val="0"/>
              </a:spcBef>
              <a:spcAft>
                <a:spcPct val="0"/>
              </a:spcAft>
              <a:buClr>
                <a:srgbClr val="AAAAAA"/>
              </a:buClr>
              <a:buSzPct val="100000"/>
              <a:buFont typeface="Arial" charset="0"/>
              <a:buChar char="-"/>
              <a:defRPr kumimoji="1" sz="1000">
                <a:solidFill>
                  <a:schemeClr val="tx1"/>
                </a:solidFill>
                <a:latin typeface="Arial" charset="0"/>
                <a:ea typeface="ＭＳ Ｐゴシック" charset="-128"/>
              </a:defRPr>
            </a:lvl9pPr>
          </a:lstStyle>
          <a:p>
            <a:pPr marL="432000" indent="-457200" algn="just" eaLnBrk="1" hangingPunct="1">
              <a:buClrTx/>
              <a:buSzTx/>
              <a:buFont typeface="Wingdings" pitchFamily="2" charset="2"/>
              <a:buNone/>
              <a:defRPr/>
            </a:pPr>
            <a:r>
              <a:rPr lang="ja-JP" altLang="en-US" sz="1400" baseline="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rPr>
              <a:t>＜免責事項＞</a:t>
            </a:r>
            <a:endParaRPr lang="en-US" altLang="ja-JP" sz="1400" baseline="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endParaRPr>
          </a:p>
          <a:p>
            <a:pPr marL="432000" indent="-457200" algn="just" eaLnBrk="1" hangingPunct="1">
              <a:buClrTx/>
              <a:buSzTx/>
              <a:buFont typeface="+mj-lt"/>
              <a:buAutoNum type="arabicPeriod"/>
              <a:defRPr/>
            </a:pPr>
            <a:endParaRPr lang="en-US" altLang="ja-JP" sz="1400" baseline="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endParaRPr>
          </a:p>
          <a:p>
            <a:pPr marL="432000" indent="-457200" algn="just" eaLnBrk="1" hangingPunct="1">
              <a:buClrTx/>
              <a:buSzTx/>
              <a:buFont typeface="+mj-lt"/>
              <a:buAutoNum type="arabicPeriod"/>
              <a:defRPr/>
            </a:pPr>
            <a:r>
              <a:rPr lang="ja-JP" altLang="en-US" sz="1400" baseline="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rPr>
              <a:t>本報告書は、貴法人・管理者・公的機関その他から提供された情報に基づいて作成しております。当社としては、その正確性および完全性の検証ができないため、ご提供いただいた情報の齟齬による報告結果の不的確さについての責任は負いません。</a:t>
            </a:r>
            <a:endParaRPr lang="en-US" altLang="ja-JP" sz="1400" baseline="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endParaRPr>
          </a:p>
          <a:p>
            <a:pPr marL="432000" indent="-457200" algn="just" eaLnBrk="1" hangingPunct="1">
              <a:buClrTx/>
              <a:buSzTx/>
              <a:buFont typeface="+mj-lt"/>
              <a:buAutoNum type="arabicPeriod"/>
              <a:defRPr/>
            </a:pPr>
            <a:endParaRPr lang="en-US" altLang="ja-JP" sz="1400" baseline="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Meiryo UI" panose="020B0604030504040204" pitchFamily="50" charset="-128"/>
            </a:endParaRPr>
          </a:p>
          <a:p>
            <a:pPr marL="432000" indent="-457200" algn="just" eaLnBrk="1" hangingPunct="1">
              <a:buClrTx/>
              <a:buSzTx/>
              <a:buFont typeface="+mj-lt"/>
              <a:buAutoNum type="arabicPeriod"/>
              <a:defRPr/>
            </a:pPr>
            <a:r>
              <a:rPr lang="ja-JP" altLang="en-US" sz="1400" baseline="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rPr>
              <a:t>本報告書は、調査・分析の対象物に係わる全てのリスクを洗い出していること、もしくは他にリスクが存在しないことを保証するものではありません。</a:t>
            </a:r>
            <a:endParaRPr lang="en-US" altLang="ja-JP" sz="1400" baseline="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endParaRPr>
          </a:p>
          <a:p>
            <a:pPr marL="432000" indent="-457200" algn="just" eaLnBrk="1" hangingPunct="1">
              <a:buClrTx/>
              <a:buSzTx/>
              <a:buFont typeface="+mj-lt"/>
              <a:buAutoNum type="arabicPeriod"/>
              <a:defRPr/>
            </a:pPr>
            <a:endParaRPr lang="en-US" altLang="ja-JP" sz="140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endParaRPr>
          </a:p>
          <a:p>
            <a:pPr marL="432000" indent="-457200" algn="just" eaLnBrk="1" hangingPunct="1">
              <a:buClrTx/>
              <a:buSzTx/>
              <a:buFont typeface="+mj-lt"/>
              <a:buAutoNum type="arabicPeriod"/>
              <a:defRPr/>
            </a:pPr>
            <a:r>
              <a:rPr lang="ja-JP" altLang="en-US" sz="140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rPr>
              <a:t>本報告書作成に用いた評価方法は、評価モデルの構成等に多くの仮定がなされています。また分析に使用している情報も限られたものとなっております。従って、分析結果には然るべき予測誤差が含まれ、その使用方法によっては予測誤差が使用目的の許容範囲を超える場合もあります。本評価結果の使用に際しましては、この点を十分ご留意下さい。</a:t>
            </a:r>
            <a:endParaRPr lang="en-US" altLang="ja-JP" sz="140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endParaRPr>
          </a:p>
          <a:p>
            <a:pPr marL="432000" indent="-457200" algn="just" eaLnBrk="1" hangingPunct="1">
              <a:buClrTx/>
              <a:buSzTx/>
              <a:buFont typeface="+mj-lt"/>
              <a:buAutoNum type="arabicPeriod"/>
              <a:defRPr/>
            </a:pPr>
            <a:endParaRPr lang="en-US" altLang="ja-JP" sz="1400" baseline="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endParaRPr>
          </a:p>
          <a:p>
            <a:pPr marL="432000" indent="-457200" algn="just" eaLnBrk="1" hangingPunct="1">
              <a:buClrTx/>
              <a:buSzTx/>
              <a:buFont typeface="+mj-lt"/>
              <a:buAutoNum type="arabicPeriod"/>
              <a:defRPr/>
            </a:pPr>
            <a:r>
              <a:rPr lang="ja-JP" altLang="en-US" sz="1400" baseline="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rPr>
              <a:t>本報告書に基いて貴法人が決定された事項およびその結果につきましては、</a:t>
            </a:r>
            <a:r>
              <a:rPr lang="ja-JP" altLang="en-US" sz="140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rPr>
              <a:t>当社は</a:t>
            </a:r>
            <a:r>
              <a:rPr lang="ja-JP" altLang="en-US" sz="1400" baseline="0" dirty="0">
                <a:solidFill>
                  <a:prstClr val="black"/>
                </a:solidFill>
                <a:effectLst>
                  <a:glow rad="101600">
                    <a:schemeClr val="bg1">
                      <a:alpha val="60000"/>
                    </a:schemeClr>
                  </a:glow>
                </a:effectLst>
                <a:latin typeface="游ゴシック" panose="020B0400000000000000" pitchFamily="50" charset="-128"/>
                <a:ea typeface="游ゴシック" panose="020B0400000000000000" pitchFamily="50" charset="-128"/>
                <a:cs typeface="メイリオ" pitchFamily="50" charset="-128"/>
              </a:rPr>
              <a:t>一切その責任を負わないものとします。</a:t>
            </a:r>
          </a:p>
        </p:txBody>
      </p:sp>
      <p:sp>
        <p:nvSpPr>
          <p:cNvPr id="3" name="テキスト ボックス 2"/>
          <p:cNvSpPr txBox="1">
            <a:spLocks noChangeArrowheads="1"/>
          </p:cNvSpPr>
          <p:nvPr/>
        </p:nvSpPr>
        <p:spPr bwMode="auto">
          <a:xfrm>
            <a:off x="535066" y="4972050"/>
            <a:ext cx="4724400" cy="1349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0" rIns="0" bIns="0" anchor="b"/>
          <a:lstStyle>
            <a:lvl1pPr eaLnBrk="0" hangingPunct="0">
              <a:buClr>
                <a:srgbClr val="AAAAAA"/>
              </a:buClr>
              <a:buSzPct val="100000"/>
              <a:buFont typeface="Wingdings" pitchFamily="2" charset="2"/>
              <a:buChar char="n"/>
              <a:tabLst>
                <a:tab pos="357188" algn="l"/>
              </a:tabLst>
              <a:defRPr kumimoji="1" sz="1000">
                <a:solidFill>
                  <a:schemeClr val="tx1"/>
                </a:solidFill>
                <a:latin typeface="Arial" charset="0"/>
                <a:ea typeface="ＭＳ Ｐゴシック" charset="-128"/>
              </a:defRPr>
            </a:lvl1pPr>
            <a:lvl2pPr marL="742950" indent="-285750" eaLnBrk="0" hangingPunct="0">
              <a:buClr>
                <a:srgbClr val="AAAAAA"/>
              </a:buClr>
              <a:buSzPct val="120000"/>
              <a:buFont typeface="Arial" charset="0"/>
              <a:buChar char="»"/>
              <a:tabLst>
                <a:tab pos="357188" algn="l"/>
              </a:tabLst>
              <a:defRPr kumimoji="1" sz="1000">
                <a:solidFill>
                  <a:schemeClr val="tx1"/>
                </a:solidFill>
                <a:latin typeface="Arial" charset="0"/>
                <a:ea typeface="ＭＳ Ｐゴシック" charset="-128"/>
              </a:defRPr>
            </a:lvl2pPr>
            <a:lvl3pPr marL="1143000" indent="-228600" eaLnBrk="0" hangingPunct="0">
              <a:buClr>
                <a:srgbClr val="AAAAAA"/>
              </a:buClr>
              <a:buSzPct val="100000"/>
              <a:buFont typeface="Arial" charset="0"/>
              <a:buChar char="-"/>
              <a:tabLst>
                <a:tab pos="357188" algn="l"/>
              </a:tabLst>
              <a:defRPr kumimoji="1" sz="1000">
                <a:solidFill>
                  <a:schemeClr val="tx1"/>
                </a:solidFill>
                <a:latin typeface="Arial" charset="0"/>
                <a:ea typeface="ＭＳ Ｐゴシック" charset="-128"/>
              </a:defRPr>
            </a:lvl3pPr>
            <a:lvl4pPr marL="1600200" indent="-228600" eaLnBrk="0" hangingPunct="0">
              <a:buClr>
                <a:srgbClr val="AAAAAA"/>
              </a:buClr>
              <a:buSzPct val="100000"/>
              <a:buFont typeface="Arial" charset="0"/>
              <a:buChar char="-"/>
              <a:tabLst>
                <a:tab pos="357188" algn="l"/>
              </a:tabLst>
              <a:defRPr kumimoji="1" sz="1000">
                <a:solidFill>
                  <a:schemeClr val="tx1"/>
                </a:solidFill>
                <a:latin typeface="Arial" charset="0"/>
                <a:ea typeface="ＭＳ Ｐゴシック" charset="-128"/>
              </a:defRPr>
            </a:lvl4pPr>
            <a:lvl5pPr marL="2057400" indent="-228600" eaLnBrk="0" hangingPunct="0">
              <a:buClr>
                <a:srgbClr val="AAAAAA"/>
              </a:buClr>
              <a:buSzPct val="100000"/>
              <a:buFont typeface="Arial" charset="0"/>
              <a:buChar char="-"/>
              <a:tabLst>
                <a:tab pos="357188" algn="l"/>
              </a:tabLst>
              <a:defRPr kumimoji="1" sz="1000">
                <a:solidFill>
                  <a:schemeClr val="tx1"/>
                </a:solidFill>
                <a:latin typeface="Arial" charset="0"/>
                <a:ea typeface="ＭＳ Ｐゴシック" charset="-128"/>
              </a:defRPr>
            </a:lvl5pPr>
            <a:lvl6pPr marL="2514600" indent="-228600" eaLnBrk="0" fontAlgn="base" hangingPunct="0">
              <a:spcBef>
                <a:spcPct val="0"/>
              </a:spcBef>
              <a:spcAft>
                <a:spcPct val="0"/>
              </a:spcAft>
              <a:buClr>
                <a:srgbClr val="AAAAAA"/>
              </a:buClr>
              <a:buSzPct val="100000"/>
              <a:buFont typeface="Arial" charset="0"/>
              <a:buChar char="-"/>
              <a:tabLst>
                <a:tab pos="357188" algn="l"/>
              </a:tabLst>
              <a:defRPr kumimoji="1" sz="1000">
                <a:solidFill>
                  <a:schemeClr val="tx1"/>
                </a:solidFill>
                <a:latin typeface="Arial" charset="0"/>
                <a:ea typeface="ＭＳ Ｐゴシック" charset="-128"/>
              </a:defRPr>
            </a:lvl6pPr>
            <a:lvl7pPr marL="2971800" indent="-228600" eaLnBrk="0" fontAlgn="base" hangingPunct="0">
              <a:spcBef>
                <a:spcPct val="0"/>
              </a:spcBef>
              <a:spcAft>
                <a:spcPct val="0"/>
              </a:spcAft>
              <a:buClr>
                <a:srgbClr val="AAAAAA"/>
              </a:buClr>
              <a:buSzPct val="100000"/>
              <a:buFont typeface="Arial" charset="0"/>
              <a:buChar char="-"/>
              <a:tabLst>
                <a:tab pos="357188" algn="l"/>
              </a:tabLst>
              <a:defRPr kumimoji="1" sz="1000">
                <a:solidFill>
                  <a:schemeClr val="tx1"/>
                </a:solidFill>
                <a:latin typeface="Arial" charset="0"/>
                <a:ea typeface="ＭＳ Ｐゴシック" charset="-128"/>
              </a:defRPr>
            </a:lvl7pPr>
            <a:lvl8pPr marL="3429000" indent="-228600" eaLnBrk="0" fontAlgn="base" hangingPunct="0">
              <a:spcBef>
                <a:spcPct val="0"/>
              </a:spcBef>
              <a:spcAft>
                <a:spcPct val="0"/>
              </a:spcAft>
              <a:buClr>
                <a:srgbClr val="AAAAAA"/>
              </a:buClr>
              <a:buSzPct val="100000"/>
              <a:buFont typeface="Arial" charset="0"/>
              <a:buChar char="-"/>
              <a:tabLst>
                <a:tab pos="357188" algn="l"/>
              </a:tabLst>
              <a:defRPr kumimoji="1" sz="1000">
                <a:solidFill>
                  <a:schemeClr val="tx1"/>
                </a:solidFill>
                <a:latin typeface="Arial" charset="0"/>
                <a:ea typeface="ＭＳ Ｐゴシック" charset="-128"/>
              </a:defRPr>
            </a:lvl8pPr>
            <a:lvl9pPr marL="3886200" indent="-228600" eaLnBrk="0" fontAlgn="base" hangingPunct="0">
              <a:spcBef>
                <a:spcPct val="0"/>
              </a:spcBef>
              <a:spcAft>
                <a:spcPct val="0"/>
              </a:spcAft>
              <a:buClr>
                <a:srgbClr val="AAAAAA"/>
              </a:buClr>
              <a:buSzPct val="100000"/>
              <a:buFont typeface="Arial" charset="0"/>
              <a:buChar char="-"/>
              <a:tabLst>
                <a:tab pos="357188" algn="l"/>
              </a:tabLst>
              <a:defRPr kumimoji="1" sz="1000">
                <a:solidFill>
                  <a:schemeClr val="tx1"/>
                </a:solidFill>
                <a:latin typeface="Arial" charset="0"/>
                <a:ea typeface="ＭＳ Ｐゴシック" charset="-128"/>
              </a:defRPr>
            </a:lvl9pPr>
          </a:lstStyle>
          <a:p>
            <a:pPr fontAlgn="auto">
              <a:spcBef>
                <a:spcPts val="0"/>
              </a:spcBef>
              <a:spcAft>
                <a:spcPts val="0"/>
              </a:spcAft>
              <a:buFont typeface="Wingdings" pitchFamily="2" charset="2"/>
              <a:buNone/>
              <a:defRPr/>
            </a:pPr>
            <a:r>
              <a:rPr lang="ja-JP" altLang="en-US" sz="1200" b="1" kern="0" dirty="0">
                <a:solidFill>
                  <a:srgbClr val="006C60"/>
                </a:solidFill>
                <a:latin typeface="游ゴシック" panose="020B0400000000000000" pitchFamily="50" charset="-128"/>
                <a:ea typeface="游ゴシック" panose="020B0400000000000000" pitchFamily="50" charset="-128"/>
                <a:cs typeface="メイリオ" panose="020B0604030504040204" pitchFamily="50" charset="-128"/>
              </a:rPr>
              <a:t>ＭＳ＆ＡＤインターリスク総研株式会社 </a:t>
            </a:r>
            <a:endParaRPr lang="en-US" altLang="ja-JP" sz="1200" b="1" kern="0" dirty="0">
              <a:solidFill>
                <a:srgbClr val="006C60"/>
              </a:solidFill>
              <a:latin typeface="游ゴシック" panose="020B0400000000000000" pitchFamily="50" charset="-128"/>
              <a:ea typeface="游ゴシック" panose="020B0400000000000000" pitchFamily="50" charset="-128"/>
              <a:cs typeface="メイリオ" panose="020B0604030504040204" pitchFamily="50" charset="-128"/>
            </a:endParaRPr>
          </a:p>
          <a:p>
            <a:pPr fontAlgn="auto">
              <a:spcBef>
                <a:spcPts val="0"/>
              </a:spcBef>
              <a:spcAft>
                <a:spcPts val="0"/>
              </a:spcAft>
              <a:buFont typeface="Wingdings" pitchFamily="2" charset="2"/>
              <a:buNone/>
              <a:defRPr/>
            </a:pPr>
            <a:r>
              <a:rPr lang="en-US" altLang="ja-JP" sz="1200" kern="0" dirty="0">
                <a:solidFill>
                  <a:prstClr val="black"/>
                </a:solidFill>
                <a:latin typeface="游ゴシック" panose="020B0400000000000000" pitchFamily="50" charset="-128"/>
                <a:ea typeface="游ゴシック" panose="020B0400000000000000" pitchFamily="50" charset="-128"/>
                <a:cs typeface="メイリオ" panose="020B0604030504040204" pitchFamily="50" charset="-128"/>
              </a:rPr>
              <a:t>101-0063</a:t>
            </a:r>
          </a:p>
          <a:p>
            <a:pPr fontAlgn="auto">
              <a:spcBef>
                <a:spcPts val="0"/>
              </a:spcBef>
              <a:spcAft>
                <a:spcPts val="0"/>
              </a:spcAft>
              <a:buFont typeface="Wingdings" pitchFamily="2" charset="2"/>
              <a:buNone/>
              <a:defRPr/>
            </a:pPr>
            <a:r>
              <a:rPr lang="ja-JP" altLang="en-US" sz="1200" kern="0" dirty="0">
                <a:solidFill>
                  <a:prstClr val="black"/>
                </a:solidFill>
                <a:latin typeface="游ゴシック" panose="020B0400000000000000" pitchFamily="50" charset="-128"/>
                <a:ea typeface="游ゴシック" panose="020B0400000000000000" pitchFamily="50" charset="-128"/>
                <a:cs typeface="メイリオ" panose="020B0604030504040204" pitchFamily="50" charset="-128"/>
              </a:rPr>
              <a:t>東京都千代田区神田淡路町</a:t>
            </a:r>
            <a:r>
              <a:rPr lang="en-US" altLang="ja-JP" sz="1200" kern="0" dirty="0">
                <a:solidFill>
                  <a:prstClr val="black"/>
                </a:solidFill>
                <a:latin typeface="游ゴシック" panose="020B0400000000000000" pitchFamily="50" charset="-128"/>
                <a:ea typeface="游ゴシック" panose="020B0400000000000000" pitchFamily="50" charset="-128"/>
                <a:cs typeface="メイリオ" panose="020B0604030504040204" pitchFamily="50" charset="-128"/>
              </a:rPr>
              <a:t>2-105</a:t>
            </a:r>
          </a:p>
          <a:p>
            <a:pPr fontAlgn="auto">
              <a:spcBef>
                <a:spcPts val="0"/>
              </a:spcBef>
              <a:spcAft>
                <a:spcPts val="0"/>
              </a:spcAft>
              <a:buFont typeface="Wingdings" pitchFamily="2" charset="2"/>
              <a:buNone/>
              <a:defRPr/>
            </a:pPr>
            <a:r>
              <a:rPr lang="ja-JP" altLang="en-US" sz="1200" kern="0" dirty="0">
                <a:solidFill>
                  <a:prstClr val="black"/>
                </a:solidFill>
                <a:latin typeface="游ゴシック" panose="020B0400000000000000" pitchFamily="50" charset="-128"/>
                <a:ea typeface="游ゴシック" panose="020B0400000000000000" pitchFamily="50" charset="-128"/>
                <a:cs typeface="メイリオ" panose="020B0604030504040204" pitchFamily="50" charset="-128"/>
              </a:rPr>
              <a:t>ワテラスアネックス</a:t>
            </a:r>
            <a:endParaRPr lang="en-US" altLang="ja-JP" sz="1200" kern="0" dirty="0">
              <a:solidFill>
                <a:prstClr val="black"/>
              </a:solidFill>
              <a:latin typeface="游ゴシック" panose="020B0400000000000000" pitchFamily="50" charset="-128"/>
              <a:ea typeface="游ゴシック" panose="020B0400000000000000" pitchFamily="50" charset="-128"/>
              <a:cs typeface="メイリオ" panose="020B0604030504040204" pitchFamily="50" charset="-128"/>
            </a:endParaRPr>
          </a:p>
          <a:p>
            <a:pPr fontAlgn="auto">
              <a:spcBef>
                <a:spcPts val="0"/>
              </a:spcBef>
              <a:spcAft>
                <a:spcPts val="0"/>
              </a:spcAft>
              <a:buFont typeface="Wingdings" pitchFamily="2" charset="2"/>
              <a:buNone/>
              <a:defRPr/>
            </a:pPr>
            <a:r>
              <a:rPr lang="ja-JP" altLang="en-US" sz="1200" kern="0" dirty="0">
                <a:solidFill>
                  <a:prstClr val="black"/>
                </a:solidFill>
                <a:latin typeface="游ゴシック" panose="020B0400000000000000" pitchFamily="50" charset="-128"/>
                <a:ea typeface="游ゴシック" panose="020B0400000000000000" pitchFamily="50" charset="-128"/>
                <a:cs typeface="メイリオ" panose="020B0604030504040204" pitchFamily="50" charset="-128"/>
              </a:rPr>
              <a:t>リスクマネジメント第一部　リスクエンジニアリング第二グループ</a:t>
            </a:r>
          </a:p>
          <a:p>
            <a:pPr fontAlgn="auto">
              <a:spcBef>
                <a:spcPts val="0"/>
              </a:spcBef>
              <a:spcAft>
                <a:spcPts val="0"/>
              </a:spcAft>
              <a:buFont typeface="Wingdings" pitchFamily="2" charset="2"/>
              <a:buNone/>
              <a:defRPr/>
            </a:pPr>
            <a:r>
              <a:rPr lang="en-US" altLang="ja-JP" sz="1200" kern="0" dirty="0">
                <a:solidFill>
                  <a:prstClr val="black"/>
                </a:solidFill>
                <a:latin typeface="游ゴシック" panose="020B0400000000000000" pitchFamily="50" charset="-128"/>
                <a:ea typeface="游ゴシック" panose="020B0400000000000000" pitchFamily="50" charset="-128"/>
                <a:cs typeface="メイリオ" panose="020B0604030504040204" pitchFamily="50" charset="-128"/>
              </a:rPr>
              <a:t>Phone: 03-5296-8917</a:t>
            </a:r>
          </a:p>
        </p:txBody>
      </p:sp>
    </p:spTree>
    <p:extLst>
      <p:ext uri="{BB962C8B-B14F-4D97-AF65-F5344CB8AC3E}">
        <p14:creationId xmlns:p14="http://schemas.microsoft.com/office/powerpoint/2010/main" val="3550193457"/>
      </p:ext>
    </p:extLst>
  </p:cSld>
  <p:clrMapOvr>
    <a:masterClrMapping/>
  </p:clrMapOvr>
</p:sld>
</file>

<file path=ppt/theme/theme1.xml><?xml version="1.0" encoding="utf-8"?>
<a:theme xmlns:a="http://schemas.openxmlformats.org/drawingml/2006/main" name="テーマ1">
  <a:themeElements>
    <a:clrScheme name="シック">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ユーザー定義 1">
      <a:majorFont>
        <a:latin typeface="游ゴシック"/>
        <a:ea typeface="游ゴシック"/>
        <a:cs typeface=""/>
      </a:majorFont>
      <a:minorFont>
        <a:latin typeface="游ゴシック"/>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rgbClr val="737677"/>
          </a:solidFill>
        </a:ln>
        <a:extLst>
          <a:ext uri="{909E8E84-426E-40DD-AFC4-6F175D3DCCD1}">
            <a14:hiddenFill xmlns:a14="http://schemas.microsoft.com/office/drawing/2010/main">
              <a:solidFill>
                <a:srgbClr val="D2D3D3"/>
              </a:solidFill>
            </a14:hiddenFill>
          </a:ext>
        </a:extLst>
      </a:spPr>
      <a:bodyPr rtlCol="0" anchor="ctr"/>
      <a:lstStyle>
        <a:defPPr algn="ctr">
          <a:defRPr kumimoji="1" sz="1200" dirty="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noAutofit/>
      </a:bodyPr>
      <a:lstStyle>
        <a:defPPr>
          <a:defRPr kumimoji="1" sz="1200" dirty="0"/>
        </a:defPPr>
      </a:lstStyle>
    </a:txDef>
  </a:objectDefaults>
  <a:extraClrSchemeLst/>
  <a:extLst>
    <a:ext uri="{05A4C25C-085E-4340-85A3-A5531E510DB2}">
      <thm15:themeFamily xmlns:thm15="http://schemas.microsoft.com/office/thememl/2012/main" name="テーマ1" id="{0DA15044-AEDC-4D22-ACB4-67721FB2C76F}" vid="{81D6549C-52BD-40ED-BDED-82F44506F727}"/>
    </a:ext>
  </a:ext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テーマ1</Template>
  <TotalTime>16609</TotalTime>
  <Words>8803</Words>
  <Application>Microsoft Office PowerPoint</Application>
  <PresentationFormat>ユーザー設定</PresentationFormat>
  <Paragraphs>1344</Paragraphs>
  <Slides>63</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63</vt:i4>
      </vt:variant>
    </vt:vector>
  </HeadingPairs>
  <TitlesOfParts>
    <vt:vector size="70" baseType="lpstr">
      <vt:lpstr>Meiryo UI</vt:lpstr>
      <vt:lpstr>ＭＳ 明朝</vt:lpstr>
      <vt:lpstr>Source Sans</vt:lpstr>
      <vt:lpstr>游ゴシック</vt:lpstr>
      <vt:lpstr>Arial</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TWW106</dc:creator>
  <cp:lastModifiedBy>伊藤竜平_A6Y42</cp:lastModifiedBy>
  <cp:revision>1307</cp:revision>
  <cp:lastPrinted>2020-09-29T09:26:42Z</cp:lastPrinted>
  <dcterms:created xsi:type="dcterms:W3CDTF">2020-06-24T05:52:28Z</dcterms:created>
  <dcterms:modified xsi:type="dcterms:W3CDTF">2026-10-09T12:29:55Z</dcterms:modified>
</cp:coreProperties>
</file>